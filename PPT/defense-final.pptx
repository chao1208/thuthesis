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theme/theme2.xml" ContentType="application/vnd.openxmlformats-officedocument.theme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970" r:id="rId2"/>
    <p:sldMasterId id="2147484008" r:id="rId3"/>
  </p:sldMasterIdLst>
  <p:notesMasterIdLst>
    <p:notesMasterId r:id="rId24"/>
  </p:notesMasterIdLst>
  <p:handoutMasterIdLst>
    <p:handoutMasterId r:id="rId25"/>
  </p:handoutMasterIdLst>
  <p:sldIdLst>
    <p:sldId id="349" r:id="rId4"/>
    <p:sldId id="366" r:id="rId5"/>
    <p:sldId id="282" r:id="rId6"/>
    <p:sldId id="344" r:id="rId7"/>
    <p:sldId id="309" r:id="rId8"/>
    <p:sldId id="355" r:id="rId9"/>
    <p:sldId id="275" r:id="rId10"/>
    <p:sldId id="356" r:id="rId11"/>
    <p:sldId id="280" r:id="rId12"/>
    <p:sldId id="357" r:id="rId13"/>
    <p:sldId id="358" r:id="rId14"/>
    <p:sldId id="359" r:id="rId15"/>
    <p:sldId id="360" r:id="rId16"/>
    <p:sldId id="365" r:id="rId17"/>
    <p:sldId id="310" r:id="rId18"/>
    <p:sldId id="361" r:id="rId19"/>
    <p:sldId id="362" r:id="rId20"/>
    <p:sldId id="363" r:id="rId21"/>
    <p:sldId id="364" r:id="rId22"/>
    <p:sldId id="354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" id="{6BF0C24E-6AAB-44D8-8EC8-93180E85F93F}">
          <p14:sldIdLst>
            <p14:sldId id="349"/>
            <p14:sldId id="366"/>
          </p14:sldIdLst>
        </p14:section>
        <p14:section name="内容页" id="{BDB4CD63-28B2-41AA-9BC9-DD737B2D8058}">
          <p14:sldIdLst>
            <p14:sldId id="282"/>
          </p14:sldIdLst>
        </p14:section>
        <p14:section name="目录页" id="{B8BDDB40-E582-4EA5-8621-5432E2FE3F71}">
          <p14:sldIdLst>
            <p14:sldId id="344"/>
          </p14:sldIdLst>
        </p14:section>
        <p14:section name="过渡页" id="{F50ECEE8-95DF-409F-A4C5-ECF4B57D451E}">
          <p14:sldIdLst>
            <p14:sldId id="309"/>
            <p14:sldId id="355"/>
            <p14:sldId id="275"/>
            <p14:sldId id="356"/>
            <p14:sldId id="280"/>
            <p14:sldId id="357"/>
            <p14:sldId id="358"/>
            <p14:sldId id="359"/>
            <p14:sldId id="360"/>
            <p14:sldId id="365"/>
            <p14:sldId id="310"/>
            <p14:sldId id="361"/>
            <p14:sldId id="362"/>
            <p14:sldId id="363"/>
            <p14:sldId id="364"/>
          </p14:sldIdLst>
        </p14:section>
        <p14:section name="结束页" id="{66E26F6E-29BA-4608-85C0-6E49BFFE0266}">
          <p14:sldIdLst>
            <p14:sldId id="35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9B6"/>
    <a:srgbClr val="321830"/>
    <a:srgbClr val="6C2280"/>
    <a:srgbClr val="262626"/>
    <a:srgbClr val="441351"/>
    <a:srgbClr val="68A4C6"/>
    <a:srgbClr val="C5DCE9"/>
    <a:srgbClr val="912C8D"/>
    <a:srgbClr val="7561D6"/>
    <a:srgbClr val="C4B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9" autoAdjust="0"/>
    <p:restoredTop sz="94341" autoAdjust="0"/>
  </p:normalViewPr>
  <p:slideViewPr>
    <p:cSldViewPr snapToGrid="0">
      <p:cViewPr varScale="1">
        <p:scale>
          <a:sx n="123" d="100"/>
          <a:sy n="123" d="100"/>
        </p:scale>
        <p:origin x="5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472"/>
    </p:cViewPr>
  </p:sorterViewPr>
  <p:notesViewPr>
    <p:cSldViewPr snapToGrid="0">
      <p:cViewPr varScale="1">
        <p:scale>
          <a:sx n="60" d="100"/>
          <a:sy n="60" d="100"/>
        </p:scale>
        <p:origin x="2283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C80C5-3B3B-4EBE-9239-7EEA8FA4ED60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FC8FE-0CEA-4281-A382-DDBEEA4A8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5135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517DE-0672-45D7-9C8F-3257FB3FEF9B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C2D9E-0316-48FF-B314-CE474C84D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220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开场</a:t>
            </a:r>
            <a:r>
              <a:rPr dirty="0"/>
              <a:t> · 30秒】</a:t>
            </a:r>
          </a:p>
          <a:p>
            <a:r>
              <a:rPr dirty="0" err="1"/>
              <a:t>各位评委老师上午好，我是李超，学号</a:t>
            </a:r>
            <a:r>
              <a:rPr dirty="0"/>
              <a:t> 2023211534。</a:t>
            </a:r>
          </a:p>
          <a:p>
            <a:r>
              <a:rPr dirty="0" err="1"/>
              <a:t>今天答辩的题目是《互联网公司研发管理面临的困境及应对策略研究</a:t>
            </a:r>
            <a:r>
              <a:rPr dirty="0"/>
              <a:t>——</a:t>
            </a:r>
            <a:r>
              <a:rPr dirty="0" err="1"/>
              <a:t>以B公司为例</a:t>
            </a:r>
            <a:r>
              <a:rPr dirty="0"/>
              <a:t>》，</a:t>
            </a:r>
            <a:r>
              <a:rPr dirty="0" err="1"/>
              <a:t>指导教师肖勇波教授</a:t>
            </a:r>
            <a:r>
              <a:rPr dirty="0"/>
              <a:t>。</a:t>
            </a:r>
          </a:p>
          <a:p>
            <a:r>
              <a:rPr dirty="0" err="1"/>
              <a:t>我将用约</a:t>
            </a:r>
            <a:r>
              <a:rPr dirty="0"/>
              <a:t> </a:t>
            </a:r>
            <a:r>
              <a:rPr lang="en-US" altLang="zh-CN" dirty="0"/>
              <a:t>15</a:t>
            </a:r>
            <a:r>
              <a:rPr lang="zh-CN" altLang="en-US" dirty="0"/>
              <a:t> </a:t>
            </a:r>
            <a:r>
              <a:rPr dirty="0" err="1"/>
              <a:t>分钟汇报四部分内容：研究背景与问题、理论框架、B</a:t>
            </a:r>
            <a:r>
              <a:rPr dirty="0"/>
              <a:t> </a:t>
            </a:r>
            <a:r>
              <a:rPr dirty="0" err="1"/>
              <a:t>公司案例、以及诊断与对策</a:t>
            </a:r>
            <a:r>
              <a:rPr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006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【悬念开场 · 45秒】</a:t>
            </a:r>
          </a:p>
          <a:p>
            <a:r>
              <a:t>各位评委，请先看一组数据。</a:t>
            </a:r>
          </a:p>
          <a:p>
            <a:r>
              <a:t>这是三家中国头部互联网公司 2019 年的研发强度，也就是研发投入占营收的比重。</a:t>
            </a:r>
          </a:p>
          <a:p>
            <a:r>
              <a:t>A 公司 17%，B 公司 8.1%，C 公司 8.6%——A 公司几乎是另外两家的两倍，研发投入强度在全行业都是佼佼者。</a:t>
            </a:r>
          </a:p>
          <a:p>
            <a:r>
              <a:t>请各位老师心里想一个答案：这三家里，2019 年营收增速最快的，是哪一家？</a:t>
            </a:r>
          </a:p>
          <a:p>
            <a:r>
              <a:t>先给大家一点时间思考。下一页，答案揭晓。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【揭晓答案 · 1分钟】</a:t>
            </a:r>
          </a:p>
          <a:p>
            <a:r>
              <a:t>答案揭晓——A 公司就是百度，B 公司是腾讯，C 公司是阿里。</a:t>
            </a:r>
          </a:p>
          <a:p>
            <a:r>
              <a:t>研发强度最高的百度，2019 年营收增速只有 5.1%；研发强度只有百度一半的阿里，营收增速却达到 50.6%；腾讯 8.1% 的研发强度对应 20.6% 的增速，也跑赢百度四倍。</a:t>
            </a:r>
          </a:p>
          <a:p>
            <a:r>
              <a:t>这不是偶然，是持续多年的结构性现象——投入最多的，恰恰不是增长最快的。</a:t>
            </a:r>
          </a:p>
          <a:p>
            <a:r>
              <a:t>答案不在"投入多少"，而在"投入如何流动"——这就是本研究的核心抓手：技术资产周转率 η_TA。</a:t>
            </a:r>
          </a:p>
          <a:p>
            <a:r>
              <a:t>请记住这个指标，第三章我会系统讲它。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633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【目录 · 20秒】</a:t>
            </a:r>
          </a:p>
          <a:p>
            <a:r>
              <a:t>汇报按四章展开，形成"问题—理论—案例—对策"的完整闭环：</a:t>
            </a:r>
          </a:p>
          <a:p>
            <a:r>
              <a:t>第一章定位研究问题；第二章搭建四组分析工具构成的三位一体框架；第三章以 B 公司为样本做实证分析；第四章回到诊断、对策与结论。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0097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【第一章过渡 · 10秒】</a:t>
            </a:r>
          </a:p>
          <a:p>
            <a:r>
              <a:t>进入第一章，研究背景与问题。</a:t>
            </a:r>
          </a:p>
          <a:p>
            <a:r>
              <a:t>这一章回答：为什么现在要研究互联网大厂的研发管理？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355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【行业拐点 + 三问 · 2分钟】</a:t>
            </a:r>
          </a:p>
          <a:p>
            <a:r>
              <a:t>三条主线交汇：</a:t>
            </a:r>
          </a:p>
          <a:p>
            <a:r>
              <a:t>一是增长拐点——网民增速从 12% 跌到 2%，行业从增量红利转入存量博弈；</a:t>
            </a:r>
          </a:p>
          <a:p>
            <a:r>
              <a:t>二是 AI 冲击——生成式 AI 把代码生产效率提升一倍以上，研发范式正在重写；</a:t>
            </a:r>
          </a:p>
          <a:p>
            <a:r>
              <a:t>三是组织缺陷——传统职能型架构在协作、响应、技术负债三方面集中暴露。</a:t>
            </a:r>
          </a:p>
          <a:p>
            <a:r>
              <a:t>三个条件叠加，倒逼研发管理范式转型。</a:t>
            </a:r>
          </a:p>
          <a:p>
            <a:r>
              <a:t>由此提出三问：Q1 组织如何从职能型演进到产品型；Q2 如何用可观测指标量化转型；Q3 技术资产如何从沉没成本变为可复用价值。</a:t>
            </a:r>
          </a:p>
          <a:p>
            <a:r>
              <a:t>研究意义在于：把软件工程领域的产品型组织理论，系统引入管理学研究框架。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【第二章过渡 · 10秒】</a:t>
            </a:r>
          </a:p>
          <a:p>
            <a:r>
              <a:t>进入第二章，理论框架与分析工具。</a:t>
            </a:r>
          </a:p>
          <a:p>
            <a:r>
              <a:t>强调一句：不是堆砌理论，而是四组工具互相咬合构成闭环。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999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【四工具 + 三位一体 · 2分钟】</a:t>
            </a:r>
          </a:p>
          <a:p>
            <a:r>
              <a:t>本研究选用四组工具：</a:t>
            </a:r>
          </a:p>
          <a:p>
            <a:r>
              <a:t>① TA/TD 技术资产与技术负债（Cunningham 1993、Kruchten 2012）——价值存量视角；</a:t>
            </a:r>
          </a:p>
          <a:p>
            <a:r>
              <a:t>② Team Topologies 四类团队（Skelton &amp; Pais 2019）——组织设计视角；</a:t>
            </a:r>
          </a:p>
          <a:p>
            <a:r>
              <a:t>③ DORA 四指标（Forsgren et al. 2018）——效能度量视角；</a:t>
            </a:r>
          </a:p>
          <a:p>
            <a:r>
              <a:t>④ Conway's Law 及其反向形式（Conway 1968）——组织与架构同构。</a:t>
            </a:r>
          </a:p>
          <a:p>
            <a:r>
              <a:t>它们分别对应"组织拓扑、效能度量、资产治理"三个环节，构成互馈闭环：</a:t>
            </a:r>
          </a:p>
          <a:p>
            <a:r>
              <a:t>组织重构 → 效能反馈 → 资产沉淀 → 反哺组织。</a:t>
            </a:r>
          </a:p>
          <a:p>
            <a:r>
              <a:t>任一环节断裂，转型就会失速。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【第三章过渡 · 10秒】</a:t>
            </a:r>
          </a:p>
          <a:p>
            <a:r>
              <a:t>进入第三章，B 公司案例分析。</a:t>
            </a:r>
          </a:p>
          <a:p>
            <a:r>
              <a:t>以 B 公司为样本，用第二章框架做系统实证。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970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【组织演变 · 2分钟】</a:t>
            </a:r>
          </a:p>
          <a:p>
            <a:r>
              <a:t>B 公司研发组织的关键节点梳理：</a:t>
            </a:r>
          </a:p>
          <a:p>
            <a:r>
              <a:t>2013 前后，Apollo 事业部成立，直属集团 IDG，技术序列汇报，无人车当时行业第一；</a:t>
            </a:r>
          </a:p>
          <a:p>
            <a:r>
              <a:t>此后的关键转折是汇报线由技术序列调整到业务序列——看似只是汇报关系变化，实则资源分配逻辑的范式切换；</a:t>
            </a:r>
          </a:p>
          <a:p>
            <a:r>
              <a:t>2015 年起人才出走浪潮：余凯去地平线，彭军、楼天城去小马智行——这不是偶然，是制度性压力下的理性选择；</a:t>
            </a:r>
          </a:p>
          <a:p>
            <a:r>
              <a:t>近年 TPG 重组为 BMU + AMU 双 BU，加上技术委员会承担赋能角色——这是"反向康威"的一次主动实践。</a:t>
            </a:r>
          </a:p>
          <a:p>
            <a:r>
              <a:t>核心洞察：汇报线的每一次调整，都在重塑技术资产的生产与流动机制。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【TT </a:t>
            </a:r>
            <a:r>
              <a:rPr dirty="0" err="1"/>
              <a:t>映射</a:t>
            </a:r>
            <a:r>
              <a:rPr dirty="0"/>
              <a:t> + </a:t>
            </a:r>
            <a:r>
              <a:rPr dirty="0" err="1"/>
              <a:t>反向康威</a:t>
            </a:r>
            <a:r>
              <a:rPr dirty="0"/>
              <a:t> · 2分钟】</a:t>
            </a:r>
          </a:p>
          <a:p>
            <a:r>
              <a:rPr dirty="0"/>
              <a:t>Team Topologies </a:t>
            </a:r>
            <a:r>
              <a:rPr dirty="0" err="1"/>
              <a:t>四类团队</a:t>
            </a:r>
            <a:r>
              <a:rPr dirty="0"/>
              <a:t>：</a:t>
            </a:r>
          </a:p>
          <a:p>
            <a:r>
              <a:rPr dirty="0"/>
              <a:t>BMU </a:t>
            </a:r>
            <a:r>
              <a:rPr dirty="0" err="1"/>
              <a:t>基础模型与理解</a:t>
            </a:r>
            <a:r>
              <a:rPr dirty="0"/>
              <a:t> = Platform Team </a:t>
            </a:r>
            <a:r>
              <a:rPr dirty="0" err="1"/>
              <a:t>平台团队，集中生产和标准化输出技术资产</a:t>
            </a:r>
            <a:r>
              <a:rPr dirty="0"/>
              <a:t>；</a:t>
            </a:r>
          </a:p>
          <a:p>
            <a:r>
              <a:rPr dirty="0"/>
              <a:t>AMU </a:t>
            </a:r>
            <a:r>
              <a:rPr dirty="0" err="1"/>
              <a:t>应用与多模态</a:t>
            </a:r>
            <a:r>
              <a:rPr dirty="0"/>
              <a:t> = Stream-aligned Teams </a:t>
            </a:r>
            <a:r>
              <a:rPr dirty="0" err="1"/>
              <a:t>流对齐团队集合，直接对接业务价值流</a:t>
            </a:r>
            <a:r>
              <a:rPr dirty="0"/>
              <a:t>；</a:t>
            </a:r>
          </a:p>
          <a:p>
            <a:r>
              <a:rPr dirty="0" err="1"/>
              <a:t>技术委员会</a:t>
            </a:r>
            <a:r>
              <a:rPr dirty="0"/>
              <a:t> = Enabling Team </a:t>
            </a:r>
            <a:r>
              <a:rPr dirty="0" err="1"/>
              <a:t>赋能团队，跨</a:t>
            </a:r>
            <a:r>
              <a:rPr dirty="0"/>
              <a:t> BU </a:t>
            </a:r>
            <a:r>
              <a:rPr dirty="0" err="1"/>
              <a:t>传递标准与实践</a:t>
            </a:r>
            <a:r>
              <a:rPr dirty="0"/>
              <a:t>；</a:t>
            </a:r>
          </a:p>
          <a:p>
            <a:r>
              <a:rPr dirty="0" err="1"/>
              <a:t>底层基础设施</a:t>
            </a:r>
            <a:r>
              <a:rPr dirty="0"/>
              <a:t> = Complicated-subsystem </a:t>
            </a:r>
            <a:r>
              <a:rPr dirty="0" err="1"/>
              <a:t>复杂子系统团队</a:t>
            </a:r>
            <a:r>
              <a:rPr dirty="0"/>
              <a:t>。</a:t>
            </a:r>
          </a:p>
          <a:p>
            <a:r>
              <a:rPr dirty="0" err="1"/>
              <a:t>再讲反向康威：传统</a:t>
            </a:r>
            <a:r>
              <a:rPr dirty="0"/>
              <a:t> Conway </a:t>
            </a:r>
            <a:r>
              <a:rPr dirty="0" err="1"/>
              <a:t>是系统架构被动映射组织结构；Inverse</a:t>
            </a:r>
            <a:r>
              <a:rPr dirty="0"/>
              <a:t> Conway Maneuver </a:t>
            </a:r>
            <a:r>
              <a:rPr dirty="0" err="1"/>
              <a:t>反过来</a:t>
            </a:r>
            <a:r>
              <a:rPr dirty="0"/>
              <a:t>——</a:t>
            </a:r>
            <a:r>
              <a:rPr dirty="0" err="1"/>
              <a:t>先设计期望的系统边界，再按此重构团队拓扑，技术架构自然收敛</a:t>
            </a:r>
            <a:r>
              <a:rPr dirty="0"/>
              <a:t>。</a:t>
            </a:r>
          </a:p>
          <a:p>
            <a:r>
              <a:rPr dirty="0"/>
              <a:t>B </a:t>
            </a:r>
            <a:r>
              <a:rPr dirty="0" err="1"/>
              <a:t>公司的这次双</a:t>
            </a:r>
            <a:r>
              <a:rPr dirty="0"/>
              <a:t> BU </a:t>
            </a:r>
            <a:r>
              <a:rPr dirty="0" err="1"/>
              <a:t>重构，本质就是反向康威的一次主动实践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【DORA </a:t>
            </a:r>
            <a:r>
              <a:rPr dirty="0" err="1"/>
              <a:t>四指标</a:t>
            </a:r>
            <a:r>
              <a:rPr dirty="0"/>
              <a:t> · 1.5分钟】</a:t>
            </a:r>
          </a:p>
          <a:p>
            <a:r>
              <a:rPr dirty="0" err="1"/>
              <a:t>引用</a:t>
            </a:r>
            <a:r>
              <a:rPr dirty="0"/>
              <a:t> </a:t>
            </a:r>
            <a:r>
              <a:rPr dirty="0" err="1"/>
              <a:t>Forsgren</a:t>
            </a:r>
            <a:r>
              <a:rPr dirty="0"/>
              <a:t> </a:t>
            </a:r>
            <a:r>
              <a:rPr dirty="0" err="1"/>
              <a:t>等《Accelerate》的四项指标，对转型前后做行业基准对标</a:t>
            </a:r>
            <a:r>
              <a:rPr dirty="0"/>
              <a:t>：</a:t>
            </a:r>
          </a:p>
          <a:p>
            <a:r>
              <a:rPr dirty="0" err="1"/>
              <a:t>部署频率：月</a:t>
            </a:r>
            <a:r>
              <a:rPr dirty="0"/>
              <a:t>/</a:t>
            </a:r>
            <a:r>
              <a:rPr dirty="0" err="1"/>
              <a:t>季度</a:t>
            </a:r>
            <a:r>
              <a:rPr dirty="0"/>
              <a:t> → 日级，8–30 </a:t>
            </a:r>
            <a:r>
              <a:rPr dirty="0" err="1"/>
              <a:t>倍提升</a:t>
            </a:r>
            <a:r>
              <a:rPr dirty="0"/>
              <a:t>；</a:t>
            </a:r>
          </a:p>
          <a:p>
            <a:r>
              <a:rPr dirty="0" err="1"/>
              <a:t>变更前置时间：数周</a:t>
            </a:r>
            <a:r>
              <a:rPr dirty="0"/>
              <a:t> → 3–7 </a:t>
            </a:r>
            <a:r>
              <a:rPr dirty="0" err="1"/>
              <a:t>天，下降</a:t>
            </a:r>
            <a:r>
              <a:rPr dirty="0"/>
              <a:t> 70% </a:t>
            </a:r>
            <a:r>
              <a:rPr dirty="0" err="1"/>
              <a:t>以上</a:t>
            </a:r>
            <a:r>
              <a:rPr dirty="0"/>
              <a:t>；</a:t>
            </a:r>
          </a:p>
          <a:p>
            <a:r>
              <a:rPr dirty="0"/>
              <a:t>MTTR </a:t>
            </a:r>
            <a:r>
              <a:rPr dirty="0" err="1"/>
              <a:t>平均故障恢复：小时级</a:t>
            </a:r>
            <a:r>
              <a:rPr dirty="0"/>
              <a:t> → 分钟级，10 </a:t>
            </a:r>
            <a:r>
              <a:rPr dirty="0" err="1"/>
              <a:t>倍优化</a:t>
            </a:r>
            <a:r>
              <a:rPr dirty="0"/>
              <a:t>；</a:t>
            </a:r>
          </a:p>
          <a:p>
            <a:r>
              <a:rPr dirty="0"/>
              <a:t>变更失败率：15–25% → 5% 以下，4 </a:t>
            </a:r>
            <a:r>
              <a:rPr dirty="0" err="1"/>
              <a:t>倍下降</a:t>
            </a:r>
            <a:r>
              <a:rPr dirty="0"/>
              <a:t>。</a:t>
            </a:r>
          </a:p>
          <a:p>
            <a:r>
              <a:rPr dirty="0"/>
              <a:t>四指标同步改善，说明组织调整真正穿透到"</a:t>
            </a:r>
            <a:r>
              <a:rPr dirty="0" err="1"/>
              <a:t>交付层面</a:t>
            </a:r>
            <a:r>
              <a:rPr dirty="0"/>
              <a:t>"，</a:t>
            </a:r>
            <a:r>
              <a:rPr dirty="0" err="1"/>
              <a:t>不是只停在组织图</a:t>
            </a:r>
            <a:r>
              <a:rPr dirty="0"/>
              <a:t>。</a:t>
            </a:r>
          </a:p>
          <a:p>
            <a:r>
              <a:rPr dirty="0" err="1"/>
              <a:t>一个诚实声明：这里是行业公开基准的量级估计，不是严格的前后对照统计，详见论文</a:t>
            </a:r>
            <a:r>
              <a:rPr dirty="0"/>
              <a:t> §4.5 </a:t>
            </a:r>
            <a:r>
              <a:rPr dirty="0" err="1"/>
              <a:t>稳健性说明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η_TA</a:t>
            </a:r>
            <a:r>
              <a:rPr dirty="0"/>
              <a:t> </a:t>
            </a:r>
            <a:r>
              <a:rPr dirty="0" err="1"/>
              <a:t>原创指标</a:t>
            </a:r>
            <a:r>
              <a:rPr dirty="0"/>
              <a:t> · 2分钟】</a:t>
            </a:r>
          </a:p>
          <a:p>
            <a:r>
              <a:rPr dirty="0" err="1"/>
              <a:t>第三章的理论贡献</a:t>
            </a:r>
            <a:r>
              <a:rPr dirty="0"/>
              <a:t>——</a:t>
            </a:r>
            <a:r>
              <a:rPr dirty="0" err="1"/>
              <a:t>提出</a:t>
            </a:r>
            <a:r>
              <a:rPr dirty="0"/>
              <a:t> </a:t>
            </a:r>
            <a:r>
              <a:rPr dirty="0" err="1"/>
              <a:t>η_TA</a:t>
            </a:r>
            <a:r>
              <a:rPr dirty="0"/>
              <a:t> </a:t>
            </a:r>
            <a:r>
              <a:rPr dirty="0" err="1"/>
              <a:t>技术资产周转率指标</a:t>
            </a:r>
            <a:r>
              <a:rPr dirty="0"/>
              <a:t>。</a:t>
            </a:r>
          </a:p>
          <a:p>
            <a:r>
              <a:rPr dirty="0" err="1"/>
              <a:t>定义由三要素构成：分子是复用次数</a:t>
            </a:r>
            <a:r>
              <a:rPr dirty="0"/>
              <a:t> × </a:t>
            </a:r>
            <a:r>
              <a:rPr dirty="0" err="1"/>
              <a:t>价值系数，分母是资产的生产与维护综合成本</a:t>
            </a:r>
            <a:r>
              <a:rPr dirty="0"/>
              <a:t>。</a:t>
            </a:r>
          </a:p>
          <a:p>
            <a:r>
              <a:rPr dirty="0"/>
              <a:t>B </a:t>
            </a:r>
            <a:r>
              <a:rPr dirty="0" err="1"/>
              <a:t>公司的四个应用场景</a:t>
            </a:r>
            <a:r>
              <a:rPr dirty="0"/>
              <a:t>：</a:t>
            </a:r>
          </a:p>
          <a:p>
            <a:r>
              <a:rPr dirty="0" err="1"/>
              <a:t>季度评估</a:t>
            </a:r>
            <a:r>
              <a:rPr dirty="0"/>
              <a:t>——BMU </a:t>
            </a:r>
            <a:r>
              <a:rPr dirty="0" err="1"/>
              <a:t>平台团队按季度评估</a:t>
            </a:r>
            <a:r>
              <a:rPr dirty="0"/>
              <a:t> </a:t>
            </a:r>
            <a:r>
              <a:rPr dirty="0" err="1"/>
              <a:t>η_TA</a:t>
            </a:r>
            <a:r>
              <a:rPr dirty="0"/>
              <a:t> </a:t>
            </a:r>
            <a:r>
              <a:rPr dirty="0" err="1"/>
              <a:t>分布</a:t>
            </a:r>
            <a:r>
              <a:rPr dirty="0"/>
              <a:t>；</a:t>
            </a:r>
          </a:p>
          <a:p>
            <a:r>
              <a:rPr dirty="0" err="1"/>
              <a:t>投入决策</a:t>
            </a:r>
            <a:r>
              <a:rPr dirty="0"/>
              <a:t>——</a:t>
            </a:r>
            <a:r>
              <a:rPr dirty="0" err="1"/>
              <a:t>低</a:t>
            </a:r>
            <a:r>
              <a:rPr dirty="0"/>
              <a:t> </a:t>
            </a:r>
            <a:r>
              <a:rPr dirty="0" err="1"/>
              <a:t>η_TA</a:t>
            </a:r>
            <a:r>
              <a:rPr dirty="0"/>
              <a:t> </a:t>
            </a:r>
            <a:r>
              <a:rPr dirty="0" err="1"/>
              <a:t>组件停止追加投入或下架</a:t>
            </a:r>
            <a:r>
              <a:rPr dirty="0"/>
              <a:t>；</a:t>
            </a:r>
          </a:p>
          <a:p>
            <a:r>
              <a:rPr dirty="0" err="1"/>
              <a:t>绩效校准</a:t>
            </a:r>
            <a:r>
              <a:rPr dirty="0"/>
              <a:t>——</a:t>
            </a:r>
            <a:r>
              <a:rPr dirty="0" err="1"/>
              <a:t>高</a:t>
            </a:r>
            <a:r>
              <a:rPr dirty="0"/>
              <a:t> </a:t>
            </a:r>
            <a:r>
              <a:rPr dirty="0" err="1"/>
              <a:t>η_TA</a:t>
            </a:r>
            <a:r>
              <a:rPr dirty="0"/>
              <a:t> </a:t>
            </a:r>
            <a:r>
              <a:rPr dirty="0" err="1"/>
              <a:t>贡献者在</a:t>
            </a:r>
            <a:r>
              <a:rPr dirty="0"/>
              <a:t> OKR </a:t>
            </a:r>
            <a:r>
              <a:rPr dirty="0" err="1"/>
              <a:t>中加权</a:t>
            </a:r>
            <a:r>
              <a:rPr dirty="0"/>
              <a:t>；</a:t>
            </a:r>
          </a:p>
          <a:p>
            <a:r>
              <a:rPr dirty="0" err="1"/>
              <a:t>预算分配</a:t>
            </a:r>
            <a:r>
              <a:rPr dirty="0"/>
              <a:t>——</a:t>
            </a:r>
            <a:r>
              <a:rPr dirty="0" err="1"/>
              <a:t>中台预算流向</a:t>
            </a:r>
            <a:r>
              <a:rPr dirty="0"/>
              <a:t> </a:t>
            </a:r>
            <a:r>
              <a:rPr dirty="0" err="1"/>
              <a:t>η_TA</a:t>
            </a:r>
            <a:r>
              <a:rPr dirty="0"/>
              <a:t> </a:t>
            </a:r>
            <a:r>
              <a:rPr dirty="0" err="1"/>
              <a:t>持续提升的领域</a:t>
            </a:r>
            <a:r>
              <a:rPr dirty="0"/>
              <a:t>。</a:t>
            </a:r>
          </a:p>
          <a:p>
            <a:r>
              <a:rPr dirty="0" err="1"/>
              <a:t>为什么重要：传统研发度量只看"生产侧</a:t>
            </a:r>
            <a:r>
              <a:rPr dirty="0"/>
              <a:t>"——</a:t>
            </a:r>
            <a:r>
              <a:rPr dirty="0" err="1"/>
              <a:t>代码行、功能点、成本，忽视了"流动侧</a:t>
            </a:r>
            <a:r>
              <a:rPr dirty="0"/>
              <a:t>"——</a:t>
            </a:r>
            <a:r>
              <a:rPr dirty="0" err="1"/>
              <a:t>资产生产出来之后被复用了多少次、创造了多少价值。η_TA</a:t>
            </a:r>
            <a:r>
              <a:rPr dirty="0"/>
              <a:t> </a:t>
            </a:r>
            <a:r>
              <a:rPr dirty="0" err="1"/>
              <a:t>就是填补这个度量空白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η_TA</a:t>
            </a:r>
            <a:r>
              <a:rPr dirty="0"/>
              <a:t> </a:t>
            </a:r>
            <a:r>
              <a:rPr dirty="0" err="1"/>
              <a:t>实证对标</a:t>
            </a:r>
            <a:r>
              <a:rPr dirty="0"/>
              <a:t> · 2分钟】</a:t>
            </a:r>
          </a:p>
          <a:p>
            <a:r>
              <a:rPr dirty="0" err="1"/>
              <a:t>用</a:t>
            </a:r>
            <a:r>
              <a:rPr dirty="0"/>
              <a:t> </a:t>
            </a:r>
            <a:r>
              <a:rPr dirty="0" err="1"/>
              <a:t>η_TA</a:t>
            </a:r>
            <a:r>
              <a:rPr dirty="0"/>
              <a:t> </a:t>
            </a:r>
            <a:r>
              <a:rPr dirty="0" err="1"/>
              <a:t>做七家上市互联网企业</a:t>
            </a:r>
            <a:r>
              <a:rPr dirty="0"/>
              <a:t> 2019–2024 </a:t>
            </a:r>
            <a:r>
              <a:rPr dirty="0" err="1"/>
              <a:t>年对标</a:t>
            </a:r>
            <a:r>
              <a:rPr dirty="0"/>
              <a:t>。</a:t>
            </a:r>
          </a:p>
          <a:p>
            <a:r>
              <a:rPr dirty="0"/>
              <a:t>B 公司：1.31× → 1.12×，</a:t>
            </a:r>
            <a:r>
              <a:rPr dirty="0" err="1"/>
              <a:t>六年持续下滑</a:t>
            </a:r>
            <a:r>
              <a:rPr dirty="0"/>
              <a:t>——</a:t>
            </a:r>
            <a:r>
              <a:rPr dirty="0" err="1"/>
              <a:t>研发强度行业最高，但</a:t>
            </a:r>
            <a:r>
              <a:rPr dirty="0"/>
              <a:t> TA </a:t>
            </a:r>
            <a:r>
              <a:rPr dirty="0" err="1"/>
              <a:t>流动效率却低于阿里、京东、拼多多</a:t>
            </a:r>
            <a:r>
              <a:rPr dirty="0"/>
              <a:t>。</a:t>
            </a:r>
          </a:p>
          <a:p>
            <a:r>
              <a:rPr dirty="0" err="1"/>
              <a:t>行业标杆：京东稳态</a:t>
            </a:r>
            <a:r>
              <a:rPr dirty="0"/>
              <a:t> 13–14 </a:t>
            </a:r>
            <a:r>
              <a:rPr dirty="0" err="1"/>
              <a:t>倍；拼多多从</a:t>
            </a:r>
            <a:r>
              <a:rPr dirty="0"/>
              <a:t> 1.75× </a:t>
            </a:r>
            <a:r>
              <a:rPr dirty="0" err="1"/>
              <a:t>跃升到</a:t>
            </a:r>
            <a:r>
              <a:rPr dirty="0"/>
              <a:t> 8.25×，</a:t>
            </a:r>
            <a:r>
              <a:rPr dirty="0" err="1"/>
              <a:t>六年增长</a:t>
            </a:r>
            <a:r>
              <a:rPr dirty="0"/>
              <a:t> 4.7 </a:t>
            </a:r>
            <a:r>
              <a:rPr dirty="0" err="1"/>
              <a:t>倍；阿里</a:t>
            </a:r>
            <a:r>
              <a:rPr dirty="0"/>
              <a:t> 2.8× → 4.3×；</a:t>
            </a:r>
            <a:r>
              <a:rPr dirty="0" err="1"/>
              <a:t>哔哩哔哩、网易、携程普遍在</a:t>
            </a:r>
            <a:r>
              <a:rPr dirty="0"/>
              <a:t> 1.6× </a:t>
            </a:r>
            <a:r>
              <a:rPr dirty="0" err="1"/>
              <a:t>以上</a:t>
            </a:r>
            <a:r>
              <a:rPr dirty="0"/>
              <a:t>。</a:t>
            </a:r>
          </a:p>
          <a:p>
            <a:r>
              <a:rPr dirty="0" err="1"/>
              <a:t>核心判读三条：第一，研发强度不等于研发效率；第二，高</a:t>
            </a:r>
            <a:r>
              <a:rPr dirty="0"/>
              <a:t> TA </a:t>
            </a:r>
            <a:r>
              <a:rPr dirty="0" err="1"/>
              <a:t>存量不等于高</a:t>
            </a:r>
            <a:r>
              <a:rPr dirty="0"/>
              <a:t> TA </a:t>
            </a:r>
            <a:r>
              <a:rPr dirty="0" err="1"/>
              <a:t>流动；第三，η_TA</a:t>
            </a:r>
            <a:r>
              <a:rPr dirty="0"/>
              <a:t> </a:t>
            </a:r>
            <a:r>
              <a:rPr dirty="0" err="1"/>
              <a:t>揭示的关键结论</a:t>
            </a:r>
            <a:r>
              <a:rPr dirty="0"/>
              <a:t>——问题不在"</a:t>
            </a:r>
            <a:r>
              <a:rPr dirty="0" err="1"/>
              <a:t>投入不足</a:t>
            </a:r>
            <a:r>
              <a:rPr dirty="0"/>
              <a:t>"，</a:t>
            </a:r>
            <a:r>
              <a:rPr dirty="0" err="1"/>
              <a:t>而在"流动不畅</a:t>
            </a:r>
            <a:r>
              <a:rPr dirty="0"/>
              <a:t>"。</a:t>
            </a:r>
          </a:p>
          <a:p>
            <a:r>
              <a:rPr dirty="0" err="1"/>
              <a:t>这一页正好回应开场提问：为什么投入最多的不是增长最快的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【第四章过渡 · 10秒】</a:t>
            </a:r>
          </a:p>
          <a:p>
            <a:r>
              <a:t>进入第四章，诊断、对策与结论。</a:t>
            </a:r>
          </a:p>
          <a:p>
            <a:r>
              <a:t>组织图已经改了，为什么效果没充分释放？答案在制度层。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5421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【三重制度失效 · 2分钟】</a:t>
            </a:r>
          </a:p>
          <a:p>
            <a:r>
              <a:t>诊断得到三重制度失效：</a:t>
            </a:r>
          </a:p>
          <a:p>
            <a:r>
              <a:t>① 运动式研发——高价值工程师被动员去做低水平工作，造成人力资产错配，TA 积累停滞，人才激励受损，年度直接成本约 10.8–14.4 亿元；</a:t>
            </a:r>
          </a:p>
          <a:p>
            <a:r>
              <a:t>② 应结尽结机制——内部服务按成本分摊，不按价值定价，制度本身就在压制 TA 周转；</a:t>
            </a:r>
          </a:p>
          <a:p>
            <a:r>
              <a:t>③ 人才流失——汇报线调整引发委托代理失效，自动驾驶领域出现人才雪崩。</a:t>
            </a:r>
          </a:p>
          <a:p>
            <a:r>
              <a:t>一句话概括：组织图改了，激励机制、资源流转规则、成本核算逻辑没改——问题从"结构层"转入"制度层"。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【稳健性分析 · 1.5分钟】</a:t>
            </a:r>
          </a:p>
          <a:p>
            <a:r>
              <a:t>针对评审专家关于参数取值的意见，做三档情景分析：</a:t>
            </a:r>
          </a:p>
          <a:p>
            <a:r>
              <a:t>保守情景 r = 10%，约 600 人，7.2 亿元；</a:t>
            </a:r>
          </a:p>
          <a:p>
            <a:r>
              <a:t>基准情景 r = 15%–20%，900–1200 人，10.8–14.4 亿元；</a:t>
            </a:r>
          </a:p>
          <a:p>
            <a:r>
              <a:t>激进情景 r = 25%，约 1500 人，18 亿元。</a:t>
            </a:r>
          </a:p>
          <a:p>
            <a:r>
              <a:t>敏感性测算：错配比例 r 每变动 ±5 个百分点，年度损失相应变动 ±3.6 亿元，是温和线性敏感。</a:t>
            </a:r>
          </a:p>
          <a:p>
            <a:r>
              <a:t>关键结论：即便最保守情景，年度损失也不低于 7 亿元量级，"运动式研发具有显著经济代价"这一核心结论对参数取值不敏感、稳健成立。</a:t>
            </a:r>
          </a:p>
          <a:p>
            <a:r>
              <a:t>参数来源都已脚注标注：拉勾/智联公开职级数据，加上行业常规薪酬加成系数。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【对策 + 结论 · 2分钟】</a:t>
            </a:r>
          </a:p>
          <a:p>
            <a:r>
              <a:t>制度重构四项建议：</a:t>
            </a:r>
          </a:p>
          <a:p>
            <a:r>
              <a:t>① 建立 TA 价值核算体系——从"成本会计"升级为"资产管理";</a:t>
            </a:r>
          </a:p>
          <a:p>
            <a:r>
              <a:t>② η_TA 和 DORA 纳入核心 KPI——进入季度述职;</a:t>
            </a:r>
          </a:p>
          <a:p>
            <a:r>
              <a:t>③ 运动式研发资源配置约束——高级工程师降级使用必须触发审批；</a:t>
            </a:r>
          </a:p>
          <a:p>
            <a:r>
              <a:t>④ 自由预算引入 TA 输出率考核——防止"无外部压力就自娱自乐"。</a:t>
            </a:r>
          </a:p>
          <a:p>
            <a:r>
              <a:t>四条研究结论：组织重构是效能提升的结构性前提；DORA 是常态化度量基准；TA 管理须上升为战略级议题；激励机制改革必须与组织形态匹配。</a:t>
            </a:r>
          </a:p>
          <a:p>
            <a:r>
              <a:t>核心命题：组织图可以一夜重画，但激励机制、资源流转规则、成本核算逻辑的重构，需要系统性的制度再设计。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【贡献 · 启示 · 局限 · 2分钟】</a:t>
            </a:r>
          </a:p>
          <a:p>
            <a:r>
              <a:t>理论贡献四点：整合 Team Topologies + 反向康威 + TA/TD 三重理论；提出 η_TA 填补"流动侧"度量空白；提出"运动式研发"和"应结尽结"两个分析范畴；将产品型组织理论引入管理学框架。</a:t>
            </a:r>
          </a:p>
          <a:p>
            <a:r>
              <a:t>实践启示四点：为中国互联网大厂提供可落地参考路径；CTO 层七条制度重构建议；引入"高密度超级 IC"模式，向 5–15 人精英突击队转型；建立 TA 全生命周期管理。</a:t>
            </a:r>
          </a:p>
          <a:p>
            <a:r>
              <a:t>研究局限四点：单案例研究、外推需谨慎；DORA 指标是量级估计；生成式 AI 长期影响有待追踪；未来可扩展多案例和定量验证。</a:t>
            </a:r>
          </a:p>
          <a:p>
            <a:r>
              <a:t>核心价值：为中国互联网企业研发管理转型提供"理论—实证—对策"完整链条。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【结束 · 20秒】</a:t>
            </a:r>
          </a:p>
          <a:p>
            <a:r>
              <a:t>以上是我全部汇报内容。</a:t>
            </a:r>
          </a:p>
          <a:p>
            <a:r>
              <a:t>感谢肖勇波老师在开题、中期到答辩全过程的耐心指导；感谢各位评委老师审阅论文。</a:t>
            </a:r>
          </a:p>
          <a:p>
            <a:r>
              <a:t>请各位老师批评指正，谢谢！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6178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381B0-DB39-757B-1A3A-91F82DEEC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2D8B7B-CCF3-EDAD-D2CB-DDE6F447A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02A19-0B7A-7494-3DF5-87FFD816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0552B-B23D-6F94-6AC8-62E098DD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FDEF9-645B-624F-B9C9-D884D1EB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815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6EDD6-F8E2-B164-A9B5-DC22D7C20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B68C5-1C29-B002-5E3C-58C7F11F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77D1D-9BFC-327A-4AE3-922CBA2A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5F529-DFB2-55B5-DC6E-8F6FBC4C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AA28F-67A0-3DAE-7C3B-1E2A3D05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80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D234F-336D-9B01-FD8F-6570FDEDD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7145BF-0ECB-ABF9-68EF-BB4C6B2DE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BFDEF5-E7AB-4935-95C5-3C581CF6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2C556-54BA-40D9-BD30-468D419B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FE63F1-2624-2100-F50E-EFC55CAB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673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13DDA-6E07-9B1D-E59C-16259249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9546C-B0C7-D8A6-1AEA-647BEE374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85B6EC-7EAD-8F7C-3020-97DD56701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16EF6B-2D28-6DCD-CA2D-76875541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31C7CE-70C9-CD7F-854E-FC14E1FA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B86A00-E9E6-E417-DBFF-2CFB408C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757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60ED9-CEF6-EDC6-BDFF-5EB174F48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17456F-165A-7A33-6931-663C4DCDE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B5192-3CB9-1EE8-FBC4-18487683E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E39816-5AC5-05F8-0C2F-2382B5BB3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50CB35-2353-E877-03A7-056762DBA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4DC91F-421C-A590-530A-3B857B56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7B2739-D81C-9C55-DA49-BE1CDE33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C1737B-AE0B-24C6-75D6-3F219CCC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79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A7874-44E7-BDA6-FECC-AD926F11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BAA7-3FCE-3ABF-05C2-1044A6D9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1DD9E1-4EDE-B43C-0306-3B258599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037AEF-2E10-368A-D939-FFCBD6E5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577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5E2E19-349C-FB00-6CAB-5795238F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4DAE97-B03A-4E8B-4C7E-E409B29C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2C5279-157D-0F78-EED2-1DFBBE6E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087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92F5-6E5C-FB83-93E9-D546B6503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131BF7-47BD-BAD5-9BA2-83994A7E7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750EAD-4BAC-5C85-8028-60182F6A2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B1549A-5FC4-709B-A0A9-3BD96A24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C88EC9-880C-1299-6B69-A5C41EBC4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237FB-0522-6717-5C62-798F1879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321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83311-0C61-F474-17DA-DCD99602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F7287C-E405-A276-2AE8-CDB8E1E6E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0B3676-C8EF-89D5-1F43-32A768A78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69902D-C530-F0A9-8C76-A25AF3BD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41CEAC-4660-C7F1-E492-CA4D9B4B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B93C4F-9A62-1BEC-2692-47FAC73F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406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E63F5-AB14-307E-A117-BB7B9BE0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28416D-578D-31E4-8A6B-522C636CC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9D001-C98D-F27C-ECAB-4B36BABF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04E997-E50C-2F99-8BF2-06E6E626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393BD8-2F3E-60ED-213D-490DD864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0870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2DFE68-BF3A-5D96-4440-1D4B4FCD0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EE67DE-D707-3499-0047-BE4D5E135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5237D-F9A9-54A4-F9EA-FC45BED9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4EAF7-397A-083B-2E46-C00ED752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74D8F-8711-B28F-4511-D17E8000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966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6EBAB3-660E-949B-E61F-9CFA9BA6CC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0676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444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523047-2D2B-1F0E-354D-C34337C485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888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  <p:extLst>
      <p:ext uri="{BB962C8B-B14F-4D97-AF65-F5344CB8AC3E}">
        <p14:creationId xmlns:p14="http://schemas.microsoft.com/office/powerpoint/2010/main" val="304242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FFFA23C-39ED-FA90-23AF-F8398FC87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548495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764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39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5A286E-8732-4118-5223-D56411302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64DE79-268F-4C1A-8933-263129D2AF90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504E9A-43B6-0072-136E-54C939903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516053-4FA2-359E-0D11-FD1C862F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79A9FBF-5855-CABA-A7F7-C81EA14EE6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89"/>
          <a:stretch/>
        </p:blipFill>
        <p:spPr>
          <a:xfrm>
            <a:off x="0" y="0"/>
            <a:ext cx="11774078" cy="6858000"/>
          </a:xfrm>
          <a:prstGeom prst="rect">
            <a:avLst/>
          </a:prstGeom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C8351839-C2A3-B428-318B-00167E18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922" y="327419"/>
            <a:ext cx="11097138" cy="511567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91207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021640" y="341423"/>
            <a:ext cx="852379" cy="852379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77086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06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101608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97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1629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12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1629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447726" y="2373720"/>
            <a:ext cx="2559388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83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10331" y="1822427"/>
            <a:ext cx="2894076" cy="2485018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2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069731" y="114301"/>
            <a:ext cx="2894076" cy="4193144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83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>
            <a:spLocks/>
          </p:cNvSpPr>
          <p:nvPr userDrawn="1"/>
        </p:nvSpPr>
        <p:spPr bwMode="auto">
          <a:xfrm>
            <a:off x="414671" y="0"/>
            <a:ext cx="11777328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90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>
            <a:spLocks/>
          </p:cNvSpPr>
          <p:nvPr userDrawn="1"/>
        </p:nvSpPr>
        <p:spPr bwMode="auto">
          <a:xfrm flipV="1">
            <a:off x="-2" y="0"/>
            <a:ext cx="1184467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46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3275" y="4814948"/>
            <a:ext cx="1220091" cy="122009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77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48967" y="1154519"/>
            <a:ext cx="3840527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8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8125" y="4739930"/>
            <a:ext cx="3857625" cy="1882543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44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8125" y="1746947"/>
            <a:ext cx="4151369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59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8125" y="2599372"/>
            <a:ext cx="7176175" cy="214390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4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802505" y="1154519"/>
            <a:ext cx="3840527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61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065563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5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222898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484021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745144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006267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9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6" grpId="0"/>
      <p:bldP spid="7" grpId="0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823599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85423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547247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8409071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0270893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95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6" grpId="0"/>
      <p:bldP spid="7" grpId="0"/>
      <p:bldP spid="9" grpId="0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9420281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781277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600779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6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  <p:bldP spid="8" grpId="0"/>
      <p:bldP spid="9" grpId="0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065563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0065563" y="269655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5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135946" y="3905161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706460" y="5365661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2298031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2295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042295" y="1685962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042295" y="2933858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42295" y="4181754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42295" y="5429649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9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3" grpId="0"/>
      <p:bldP spid="14" grpId="0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2295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07632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772969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138306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503643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868979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3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  <p:bldP spid="12" grpId="0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2295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295681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549067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02453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055839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309225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562611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815997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1069380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0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  <p:bldP spid="12" grpId="0"/>
      <p:bldP spid="10" grpId="0"/>
      <p:bldP spid="13" grpId="0"/>
      <p:bldP spid="14" grpId="0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70559" y="201168"/>
            <a:ext cx="1141320" cy="114132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1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70559" y="277056"/>
            <a:ext cx="1065432" cy="106543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895968" y="364329"/>
            <a:ext cx="3998925" cy="2292373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45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915401" y="239152"/>
            <a:ext cx="2973298" cy="2168644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060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09242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478776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65128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251480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63783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02418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41053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13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  <p:bldP spid="12" grpId="0"/>
      <p:bldP spid="10" grpId="0"/>
      <p:bldP spid="13" grpId="0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57597" y="277056"/>
            <a:ext cx="1065432" cy="106543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89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40642" y="4726915"/>
            <a:ext cx="1631058" cy="16310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399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31630" y="329594"/>
            <a:ext cx="1319584" cy="131958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83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93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3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93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5514896" y="2333995"/>
            <a:ext cx="897534" cy="8975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514896" y="5341077"/>
            <a:ext cx="897534" cy="8975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645491" y="3916616"/>
            <a:ext cx="843502" cy="84350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58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  <p:bldP spid="11" grpId="0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334251" y="192505"/>
            <a:ext cx="4648199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alpha val="2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2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7137400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6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179945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47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DEA5B68-7D93-3DBF-3794-DBFB72FF18FD}"/>
              </a:ext>
            </a:extLst>
          </p:cNvPr>
          <p:cNvSpPr txBox="1"/>
          <p:nvPr userDrawn="1"/>
        </p:nvSpPr>
        <p:spPr>
          <a:xfrm>
            <a:off x="9224576" y="6316195"/>
            <a:ext cx="2753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/>
                <a:ea typeface="黑体" panose="02010609060101010101" pitchFamily="49" charset="-122"/>
                <a:cs typeface="+mn-cs"/>
              </a:rPr>
              <a:t>Dashboard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96062-5C5C-0405-A2B3-E1170584EA83}"/>
              </a:ext>
            </a:extLst>
          </p:cNvPr>
          <p:cNvSpPr txBox="1"/>
          <p:nvPr userDrawn="1"/>
        </p:nvSpPr>
        <p:spPr>
          <a:xfrm rot="10800000" flipV="1">
            <a:off x="10462197" y="199982"/>
            <a:ext cx="1515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0E2A6B-A809-4840-BF14-8648BC0BDF87}" type="slidenum">
              <a:rPr kumimoji="0" lang="id-ID" sz="4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/>
                <a:ea typeface="Roboto Condensed" panose="02000000000000000000" pitchFamily="2" charset="0"/>
                <a:cs typeface="Segoe UI" panose="020B0502040204020203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d-ID" sz="13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72542"/>
      </p:ext>
    </p:extLst>
  </p:cSld>
  <p:clrMapOvr>
    <a:masterClrMapping/>
  </p:clrMapOvr>
  <p:transition spd="slow" advClick="0">
    <p:push dir="u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450975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62411" y="33878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62411" y="113590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462411" y="193301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462411" y="273013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462411" y="432436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462411" y="512147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462411" y="352724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462411" y="5918591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13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675113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2718756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762399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806042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5849685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893328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7936971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8980614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10024257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11067904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9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1675113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0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2718756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3762399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2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4806042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3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849685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82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29" grpId="0"/>
      <p:bldP spid="30" grpId="0"/>
      <p:bldP spid="31" grpId="0"/>
      <p:bldP spid="32" grpId="0"/>
      <p:bldP spid="33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114032" y="42438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247788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4886766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514728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706154" y="3619826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706154" y="6142690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706154" y="3000204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09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8" grpId="0"/>
      <p:bldP spid="9" grpId="0"/>
      <p:bldP spid="14" grpId="0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620567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317646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068294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738589" y="4688395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529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725483" y="195942"/>
            <a:ext cx="1921092" cy="1907177"/>
          </a:xfrm>
          <a:prstGeom prst="round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311938" y="195942"/>
            <a:ext cx="1921092" cy="1907177"/>
          </a:xfrm>
          <a:prstGeom prst="round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6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461968" y="485386"/>
            <a:ext cx="2160000" cy="21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05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79961" y="1419064"/>
            <a:ext cx="3230005" cy="2917080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9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04969" y="2710543"/>
            <a:ext cx="6916518" cy="3421498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97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10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04384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896132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387880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74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2" grpId="0"/>
          <p:bldP spid="13" grpId="0"/>
        </p:bldLst>
      </p:timing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324359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704820" y="166513"/>
            <a:ext cx="325064" cy="324420"/>
          </a:xfrm>
          <a:prstGeom prst="roundRect">
            <a:avLst>
              <a:gd name="adj" fmla="val 26678"/>
            </a:avLst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715763" y="1969477"/>
            <a:ext cx="3445762" cy="344576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4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23629" y="1182968"/>
            <a:ext cx="2160000" cy="21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88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324359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704820" y="166513"/>
            <a:ext cx="325064" cy="324420"/>
          </a:xfrm>
          <a:prstGeom prst="roundRect">
            <a:avLst>
              <a:gd name="adj" fmla="val 26678"/>
            </a:avLst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285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93913" y="2328345"/>
            <a:ext cx="1413880" cy="14138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70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236372" y="2364343"/>
            <a:ext cx="650161" cy="650161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2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98874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98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31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235165" y="39652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81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65053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294941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74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80897" y="732054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2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091307" y="901873"/>
            <a:ext cx="3260906" cy="3730285"/>
          </a:xfrm>
          <a:prstGeom prst="roundRect">
            <a:avLst>
              <a:gd name="adj" fmla="val 813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4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80897" y="4038925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592141" y="4038925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68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34272" y="901873"/>
            <a:ext cx="3260906" cy="4559475"/>
          </a:xfrm>
          <a:prstGeom prst="roundRect">
            <a:avLst>
              <a:gd name="adj" fmla="val 813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37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-1330036" y="-569718"/>
            <a:ext cx="6003556" cy="6003556"/>
          </a:xfrm>
          <a:prstGeom prst="ellipse">
            <a:avLst/>
          </a:prstGeom>
          <a:noFill/>
          <a:ln w="254000" cap="rnd">
            <a:noFill/>
            <a:prstDash val="solid"/>
          </a:ln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00259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31371" y="1318133"/>
            <a:ext cx="3710746" cy="4221734"/>
          </a:xfrm>
          <a:prstGeom prst="roundRect">
            <a:avLst>
              <a:gd name="adj" fmla="val 14855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895156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143" y="1659467"/>
            <a:ext cx="5125770" cy="1220211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38199" y="3958018"/>
            <a:ext cx="2444263" cy="2278660"/>
          </a:xfrm>
          <a:prstGeom prst="roundRect">
            <a:avLst>
              <a:gd name="adj" fmla="val 10723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481438" y="3482939"/>
            <a:ext cx="2385106" cy="2749357"/>
          </a:xfrm>
          <a:prstGeom prst="roundRect">
            <a:avLst>
              <a:gd name="adj" fmla="val 9006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065519" y="4270159"/>
            <a:ext cx="2731794" cy="1962137"/>
          </a:xfrm>
          <a:prstGeom prst="roundRect">
            <a:avLst>
              <a:gd name="adj" fmla="val 9006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8996289" y="4037745"/>
            <a:ext cx="2357512" cy="2194552"/>
          </a:xfrm>
          <a:prstGeom prst="roundRect">
            <a:avLst>
              <a:gd name="adj" fmla="val 9006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80903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31371" y="1519518"/>
            <a:ext cx="3710746" cy="371074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46611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32264" y="0"/>
            <a:ext cx="4594254" cy="4594254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268785" y="4172147"/>
            <a:ext cx="1921320" cy="1921320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14522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381905" y="1291994"/>
            <a:ext cx="1203355" cy="120335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04746" y="-712079"/>
            <a:ext cx="3101210" cy="673005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17646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870416" y="2537443"/>
            <a:ext cx="1203355" cy="120335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06888" y="2373943"/>
            <a:ext cx="4629858" cy="261676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20452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484018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83569" y="2497016"/>
            <a:ext cx="4846648" cy="4078964"/>
          </a:xfrm>
          <a:prstGeom prst="mathMultiply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428678"/>
      </p:ext>
    </p:extLst>
  </p:cSld>
  <p:clrMapOvr>
    <a:masterClrMapping/>
  </p:clrMapOvr>
  <p:transition spd="slow">
    <p:comb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</p:bldLst>
      </p:timing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52617" y="1363019"/>
            <a:ext cx="4192030" cy="5890397"/>
          </a:xfrm>
          <a:prstGeom prst="roundRect">
            <a:avLst>
              <a:gd name="adj" fmla="val 10723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92811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961359" y="2923267"/>
            <a:ext cx="2242630" cy="2242630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480732"/>
            <a:ext cx="10537825" cy="333148"/>
          </a:xfrm>
        </p:spPr>
        <p:txBody>
          <a:bodyPr anchor="ctr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17410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686260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044413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448994" y="2459201"/>
            <a:ext cx="1716589" cy="3448788"/>
          </a:xfrm>
          <a:prstGeom prst="roundRect">
            <a:avLst>
              <a:gd name="adj" fmla="val 4841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5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127190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92335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</p:bld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480732"/>
            <a:ext cx="10537825" cy="333148"/>
          </a:xfrm>
        </p:spPr>
        <p:txBody>
          <a:bodyPr anchor="ctr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475150" y="1224988"/>
            <a:ext cx="2779014" cy="6030840"/>
          </a:xfrm>
          <a:prstGeom prst="roundRect">
            <a:avLst>
              <a:gd name="adj" fmla="val 9499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2250" y="-517327"/>
            <a:ext cx="1783109" cy="3869590"/>
          </a:xfrm>
          <a:prstGeom prst="roundRect">
            <a:avLst>
              <a:gd name="adj" fmla="val 9499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93970"/>
      </p:ext>
    </p:extLst>
  </p:cSld>
  <p:clrMapOvr>
    <a:masterClrMapping/>
  </p:clrMapOvr>
  <p:transition spd="slow">
    <p:comb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</p:bldLst>
      </p:timing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044928" y="1389818"/>
            <a:ext cx="1680048" cy="3654072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384990" y="1537841"/>
            <a:ext cx="1680048" cy="3422560"/>
          </a:xfrm>
          <a:prstGeom prst="roundRect">
            <a:avLst>
              <a:gd name="adj" fmla="val 4946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4842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93143" y="1659467"/>
            <a:ext cx="4394858" cy="1005775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5951872"/>
      </p:ext>
    </p:extLst>
  </p:cSld>
  <p:clrMapOvr>
    <a:masterClrMapping/>
  </p:clrMapOvr>
  <p:transition spd="slow">
    <p:comb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94229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55707" y="91494"/>
            <a:ext cx="11833095" cy="6698044"/>
            <a:chOff x="155707" y="91494"/>
            <a:chExt cx="11833095" cy="6698044"/>
          </a:xfrm>
          <a:solidFill>
            <a:schemeClr val="tx1">
              <a:alpha val="20000"/>
            </a:schemeClr>
          </a:solidFill>
        </p:grpSpPr>
        <p:grpSp>
          <p:nvGrpSpPr>
            <p:cNvPr id="3" name="Group 2"/>
            <p:cNvGrpSpPr/>
            <p:nvPr/>
          </p:nvGrpSpPr>
          <p:grpSpPr>
            <a:xfrm>
              <a:off x="1264778" y="1582176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464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5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6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7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8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9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2746370" y="3550345"/>
              <a:ext cx="218527" cy="218527"/>
              <a:chOff x="1797771" y="1582176"/>
              <a:chExt cx="218527" cy="218527"/>
            </a:xfrm>
            <a:grpFill/>
          </p:grpSpPr>
          <p:sp>
            <p:nvSpPr>
              <p:cNvPr id="458" name="Freeform 11"/>
              <p:cNvSpPr>
                <a:spLocks noEditPoints="1"/>
              </p:cNvSpPr>
              <p:nvPr/>
            </p:nvSpPr>
            <p:spPr bwMode="auto">
              <a:xfrm>
                <a:off x="1884383" y="1714092"/>
                <a:ext cx="43972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9" name="Freeform 12"/>
              <p:cNvSpPr>
                <a:spLocks noEditPoints="1"/>
              </p:cNvSpPr>
              <p:nvPr/>
            </p:nvSpPr>
            <p:spPr bwMode="auto">
              <a:xfrm>
                <a:off x="1841743" y="1634143"/>
                <a:ext cx="51967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0" name="Oval 13"/>
              <p:cNvSpPr>
                <a:spLocks noChangeArrowheads="1"/>
              </p:cNvSpPr>
              <p:nvPr/>
            </p:nvSpPr>
            <p:spPr bwMode="auto">
              <a:xfrm>
                <a:off x="185906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1" name="Freeform 14"/>
              <p:cNvSpPr>
                <a:spLocks noEditPoints="1"/>
              </p:cNvSpPr>
              <p:nvPr/>
            </p:nvSpPr>
            <p:spPr bwMode="auto">
              <a:xfrm>
                <a:off x="1797771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2" name="Freeform 15"/>
              <p:cNvSpPr>
                <a:spLocks noEditPoints="1"/>
              </p:cNvSpPr>
              <p:nvPr/>
            </p:nvSpPr>
            <p:spPr bwMode="auto">
              <a:xfrm>
                <a:off x="1920359" y="1634143"/>
                <a:ext cx="51967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3" name="Oval 16"/>
              <p:cNvSpPr>
                <a:spLocks noChangeArrowheads="1"/>
              </p:cNvSpPr>
              <p:nvPr/>
            </p:nvSpPr>
            <p:spPr bwMode="auto">
              <a:xfrm>
                <a:off x="193768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3104088" y="817980"/>
              <a:ext cx="473986" cy="476875"/>
              <a:chOff x="2330764" y="1579511"/>
              <a:chExt cx="218527" cy="219859"/>
            </a:xfrm>
            <a:grpFill/>
          </p:grpSpPr>
          <p:sp>
            <p:nvSpPr>
              <p:cNvPr id="454" name="Freeform 17"/>
              <p:cNvSpPr>
                <a:spLocks noEditPoints="1"/>
              </p:cNvSpPr>
              <p:nvPr/>
            </p:nvSpPr>
            <p:spPr bwMode="auto">
              <a:xfrm>
                <a:off x="2330764" y="1579511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9 w 100"/>
                  <a:gd name="T13" fmla="*/ 25 h 100"/>
                  <a:gd name="T14" fmla="*/ 79 w 100"/>
                  <a:gd name="T15" fmla="*/ 31 h 100"/>
                  <a:gd name="T16" fmla="*/ 68 w 100"/>
                  <a:gd name="T17" fmla="*/ 24 h 100"/>
                  <a:gd name="T18" fmla="*/ 57 w 100"/>
                  <a:gd name="T19" fmla="*/ 33 h 100"/>
                  <a:gd name="T20" fmla="*/ 43 w 100"/>
                  <a:gd name="T21" fmla="*/ 33 h 100"/>
                  <a:gd name="T22" fmla="*/ 32 w 100"/>
                  <a:gd name="T23" fmla="*/ 24 h 100"/>
                  <a:gd name="T24" fmla="*/ 21 w 100"/>
                  <a:gd name="T25" fmla="*/ 31 h 100"/>
                  <a:gd name="T26" fmla="*/ 11 w 100"/>
                  <a:gd name="T27" fmla="*/ 25 h 100"/>
                  <a:gd name="T28" fmla="*/ 50 w 100"/>
                  <a:gd name="T29" fmla="*/ 4 h 100"/>
                  <a:gd name="T30" fmla="*/ 76 w 100"/>
                  <a:gd name="T31" fmla="*/ 36 h 100"/>
                  <a:gd name="T32" fmla="*/ 68 w 100"/>
                  <a:gd name="T33" fmla="*/ 44 h 100"/>
                  <a:gd name="T34" fmla="*/ 60 w 100"/>
                  <a:gd name="T35" fmla="*/ 36 h 100"/>
                  <a:gd name="T36" fmla="*/ 68 w 100"/>
                  <a:gd name="T37" fmla="*/ 28 h 100"/>
                  <a:gd name="T38" fmla="*/ 76 w 100"/>
                  <a:gd name="T39" fmla="*/ 36 h 100"/>
                  <a:gd name="T40" fmla="*/ 40 w 100"/>
                  <a:gd name="T41" fmla="*/ 36 h 100"/>
                  <a:gd name="T42" fmla="*/ 32 w 100"/>
                  <a:gd name="T43" fmla="*/ 44 h 100"/>
                  <a:gd name="T44" fmla="*/ 24 w 100"/>
                  <a:gd name="T45" fmla="*/ 36 h 100"/>
                  <a:gd name="T46" fmla="*/ 32 w 100"/>
                  <a:gd name="T47" fmla="*/ 28 h 100"/>
                  <a:gd name="T48" fmla="*/ 40 w 100"/>
                  <a:gd name="T49" fmla="*/ 36 h 100"/>
                  <a:gd name="T50" fmla="*/ 50 w 100"/>
                  <a:gd name="T51" fmla="*/ 96 h 100"/>
                  <a:gd name="T52" fmla="*/ 4 w 100"/>
                  <a:gd name="T53" fmla="*/ 50 h 100"/>
                  <a:gd name="T54" fmla="*/ 9 w 100"/>
                  <a:gd name="T55" fmla="*/ 28 h 100"/>
                  <a:gd name="T56" fmla="*/ 20 w 100"/>
                  <a:gd name="T57" fmla="*/ 35 h 100"/>
                  <a:gd name="T58" fmla="*/ 20 w 100"/>
                  <a:gd name="T59" fmla="*/ 36 h 100"/>
                  <a:gd name="T60" fmla="*/ 32 w 100"/>
                  <a:gd name="T61" fmla="*/ 48 h 100"/>
                  <a:gd name="T62" fmla="*/ 44 w 100"/>
                  <a:gd name="T63" fmla="*/ 37 h 100"/>
                  <a:gd name="T64" fmla="*/ 56 w 100"/>
                  <a:gd name="T65" fmla="*/ 37 h 100"/>
                  <a:gd name="T66" fmla="*/ 68 w 100"/>
                  <a:gd name="T67" fmla="*/ 48 h 100"/>
                  <a:gd name="T68" fmla="*/ 80 w 100"/>
                  <a:gd name="T69" fmla="*/ 36 h 100"/>
                  <a:gd name="T70" fmla="*/ 80 w 100"/>
                  <a:gd name="T71" fmla="*/ 35 h 100"/>
                  <a:gd name="T72" fmla="*/ 91 w 100"/>
                  <a:gd name="T73" fmla="*/ 28 h 100"/>
                  <a:gd name="T74" fmla="*/ 96 w 100"/>
                  <a:gd name="T75" fmla="*/ 50 h 100"/>
                  <a:gd name="T76" fmla="*/ 50 w 100"/>
                  <a:gd name="T77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7"/>
                      <a:pt x="22" y="100"/>
                      <a:pt x="50" y="100"/>
                    </a:cubicBezTo>
                    <a:cubicBezTo>
                      <a:pt x="78" y="100"/>
                      <a:pt x="100" y="77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9" y="25"/>
                    </a:cubicBezTo>
                    <a:cubicBezTo>
                      <a:pt x="79" y="31"/>
                      <a:pt x="79" y="31"/>
                      <a:pt x="79" y="31"/>
                    </a:cubicBezTo>
                    <a:cubicBezTo>
                      <a:pt x="77" y="27"/>
                      <a:pt x="73" y="24"/>
                      <a:pt x="68" y="24"/>
                    </a:cubicBezTo>
                    <a:cubicBezTo>
                      <a:pt x="63" y="24"/>
                      <a:pt x="58" y="29"/>
                      <a:pt x="57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2" y="29"/>
                      <a:pt x="37" y="24"/>
                      <a:pt x="32" y="24"/>
                    </a:cubicBezTo>
                    <a:cubicBezTo>
                      <a:pt x="27" y="24"/>
                      <a:pt x="23" y="27"/>
                      <a:pt x="21" y="31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76" y="36"/>
                    </a:moveTo>
                    <a:cubicBezTo>
                      <a:pt x="76" y="40"/>
                      <a:pt x="72" y="44"/>
                      <a:pt x="68" y="44"/>
                    </a:cubicBezTo>
                    <a:cubicBezTo>
                      <a:pt x="64" y="44"/>
                      <a:pt x="60" y="40"/>
                      <a:pt x="60" y="36"/>
                    </a:cubicBezTo>
                    <a:cubicBezTo>
                      <a:pt x="60" y="31"/>
                      <a:pt x="64" y="28"/>
                      <a:pt x="68" y="28"/>
                    </a:cubicBezTo>
                    <a:cubicBezTo>
                      <a:pt x="72" y="28"/>
                      <a:pt x="76" y="31"/>
                      <a:pt x="76" y="36"/>
                    </a:cubicBezTo>
                    <a:close/>
                    <a:moveTo>
                      <a:pt x="40" y="36"/>
                    </a:moveTo>
                    <a:cubicBezTo>
                      <a:pt x="40" y="40"/>
                      <a:pt x="36" y="44"/>
                      <a:pt x="32" y="44"/>
                    </a:cubicBezTo>
                    <a:cubicBezTo>
                      <a:pt x="28" y="44"/>
                      <a:pt x="24" y="40"/>
                      <a:pt x="24" y="36"/>
                    </a:cubicBezTo>
                    <a:cubicBezTo>
                      <a:pt x="24" y="31"/>
                      <a:pt x="28" y="28"/>
                      <a:pt x="32" y="28"/>
                    </a:cubicBezTo>
                    <a:cubicBezTo>
                      <a:pt x="36" y="28"/>
                      <a:pt x="40" y="31"/>
                      <a:pt x="40" y="36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2"/>
                      <a:pt x="6" y="35"/>
                      <a:pt x="9" y="28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0" y="35"/>
                      <a:pt x="20" y="35"/>
                      <a:pt x="20" y="36"/>
                    </a:cubicBezTo>
                    <a:cubicBezTo>
                      <a:pt x="20" y="42"/>
                      <a:pt x="25" y="48"/>
                      <a:pt x="32" y="48"/>
                    </a:cubicBezTo>
                    <a:cubicBezTo>
                      <a:pt x="39" y="48"/>
                      <a:pt x="44" y="41"/>
                      <a:pt x="44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6" y="41"/>
                      <a:pt x="61" y="48"/>
                      <a:pt x="68" y="48"/>
                    </a:cubicBezTo>
                    <a:cubicBezTo>
                      <a:pt x="75" y="48"/>
                      <a:pt x="80" y="43"/>
                      <a:pt x="80" y="36"/>
                    </a:cubicBezTo>
                    <a:cubicBezTo>
                      <a:pt x="80" y="36"/>
                      <a:pt x="80" y="35"/>
                      <a:pt x="80" y="35"/>
                    </a:cubicBezTo>
                    <a:cubicBezTo>
                      <a:pt x="91" y="28"/>
                      <a:pt x="91" y="28"/>
                      <a:pt x="91" y="28"/>
                    </a:cubicBezTo>
                    <a:cubicBezTo>
                      <a:pt x="94" y="35"/>
                      <a:pt x="96" y="42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5" name="Oval 18"/>
              <p:cNvSpPr>
                <a:spLocks noChangeArrowheads="1"/>
              </p:cNvSpPr>
              <p:nvPr/>
            </p:nvSpPr>
            <p:spPr bwMode="auto">
              <a:xfrm>
                <a:off x="2392058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6" name="Oval 19"/>
              <p:cNvSpPr>
                <a:spLocks noChangeArrowheads="1"/>
              </p:cNvSpPr>
              <p:nvPr/>
            </p:nvSpPr>
            <p:spPr bwMode="auto">
              <a:xfrm>
                <a:off x="2470675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7" name="Freeform 20"/>
              <p:cNvSpPr>
                <a:spLocks noEditPoints="1"/>
              </p:cNvSpPr>
              <p:nvPr/>
            </p:nvSpPr>
            <p:spPr bwMode="auto">
              <a:xfrm>
                <a:off x="2417376" y="1711427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20"/>
                      <a:pt x="10" y="20"/>
                    </a:cubicBezTo>
                    <a:cubicBezTo>
                      <a:pt x="16" y="20"/>
                      <a:pt x="20" y="15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6"/>
                      <a:pt x="7" y="4"/>
                      <a:pt x="10" y="4"/>
                    </a:cubicBezTo>
                    <a:cubicBezTo>
                      <a:pt x="13" y="4"/>
                      <a:pt x="16" y="6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574717" y="245562"/>
              <a:ext cx="218527" cy="218527"/>
              <a:chOff x="2863757" y="1582176"/>
              <a:chExt cx="218527" cy="218527"/>
            </a:xfrm>
            <a:grpFill/>
          </p:grpSpPr>
          <p:sp>
            <p:nvSpPr>
              <p:cNvPr id="451" name="Oval 450"/>
              <p:cNvSpPr>
                <a:spLocks noChangeArrowheads="1"/>
              </p:cNvSpPr>
              <p:nvPr/>
            </p:nvSpPr>
            <p:spPr bwMode="auto">
              <a:xfrm>
                <a:off x="3003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2" name="Oval 451"/>
              <p:cNvSpPr>
                <a:spLocks noChangeArrowheads="1"/>
              </p:cNvSpPr>
              <p:nvPr/>
            </p:nvSpPr>
            <p:spPr bwMode="auto">
              <a:xfrm>
                <a:off x="292505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/>
              <p:cNvSpPr>
                <a:spLocks noEditPoints="1"/>
              </p:cNvSpPr>
              <p:nvPr/>
            </p:nvSpPr>
            <p:spPr bwMode="auto">
              <a:xfrm>
                <a:off x="2863757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396750" y="1582176"/>
              <a:ext cx="218527" cy="218527"/>
              <a:chOff x="3396750" y="1582176"/>
              <a:chExt cx="218527" cy="218527"/>
            </a:xfrm>
            <a:grpFill/>
          </p:grpSpPr>
          <p:sp>
            <p:nvSpPr>
              <p:cNvPr id="447" name="Rectangle 24"/>
              <p:cNvSpPr>
                <a:spLocks noChangeArrowheads="1"/>
              </p:cNvSpPr>
              <p:nvPr/>
            </p:nvSpPr>
            <p:spPr bwMode="auto">
              <a:xfrm>
                <a:off x="3466039" y="1731414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8" name="Oval 25"/>
              <p:cNvSpPr>
                <a:spLocks noChangeArrowheads="1"/>
              </p:cNvSpPr>
              <p:nvPr/>
            </p:nvSpPr>
            <p:spPr bwMode="auto">
              <a:xfrm>
                <a:off x="345804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9" name="Freeform 26"/>
              <p:cNvSpPr>
                <a:spLocks noEditPoints="1"/>
              </p:cNvSpPr>
              <p:nvPr/>
            </p:nvSpPr>
            <p:spPr bwMode="auto">
              <a:xfrm>
                <a:off x="3396750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0" name="Oval 27"/>
              <p:cNvSpPr>
                <a:spLocks noChangeArrowheads="1"/>
              </p:cNvSpPr>
              <p:nvPr/>
            </p:nvSpPr>
            <p:spPr bwMode="auto">
              <a:xfrm>
                <a:off x="353666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155707" y="1147908"/>
              <a:ext cx="218527" cy="218527"/>
              <a:chOff x="3929743" y="1582176"/>
              <a:chExt cx="218527" cy="218527"/>
            </a:xfrm>
            <a:grpFill/>
          </p:grpSpPr>
          <p:sp>
            <p:nvSpPr>
              <p:cNvPr id="443" name="Freeform 28"/>
              <p:cNvSpPr>
                <a:spLocks/>
              </p:cNvSpPr>
              <p:nvPr/>
            </p:nvSpPr>
            <p:spPr bwMode="auto">
              <a:xfrm>
                <a:off x="3991038" y="1722087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4" name="Oval 29"/>
              <p:cNvSpPr>
                <a:spLocks noChangeArrowheads="1"/>
              </p:cNvSpPr>
              <p:nvPr/>
            </p:nvSpPr>
            <p:spPr bwMode="auto">
              <a:xfrm>
                <a:off x="399103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5" name="Freeform 30"/>
              <p:cNvSpPr>
                <a:spLocks noEditPoints="1"/>
              </p:cNvSpPr>
              <p:nvPr/>
            </p:nvSpPr>
            <p:spPr bwMode="auto">
              <a:xfrm>
                <a:off x="3929743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6" name="Oval 31"/>
              <p:cNvSpPr>
                <a:spLocks noChangeArrowheads="1"/>
              </p:cNvSpPr>
              <p:nvPr/>
            </p:nvSpPr>
            <p:spPr bwMode="auto">
              <a:xfrm>
                <a:off x="406965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828906" y="3733030"/>
              <a:ext cx="218527" cy="218527"/>
              <a:chOff x="4462736" y="1582176"/>
              <a:chExt cx="218527" cy="218527"/>
            </a:xfrm>
            <a:grpFill/>
          </p:grpSpPr>
          <p:sp>
            <p:nvSpPr>
              <p:cNvPr id="439" name="Freeform 32"/>
              <p:cNvSpPr>
                <a:spLocks/>
              </p:cNvSpPr>
              <p:nvPr/>
            </p:nvSpPr>
            <p:spPr bwMode="auto">
              <a:xfrm>
                <a:off x="4524031" y="1722087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0" name="Oval 33"/>
              <p:cNvSpPr>
                <a:spLocks noChangeArrowheads="1"/>
              </p:cNvSpPr>
              <p:nvPr/>
            </p:nvSpPr>
            <p:spPr bwMode="auto">
              <a:xfrm>
                <a:off x="4602648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1" name="Oval 34"/>
              <p:cNvSpPr>
                <a:spLocks noChangeArrowheads="1"/>
              </p:cNvSpPr>
              <p:nvPr/>
            </p:nvSpPr>
            <p:spPr bwMode="auto">
              <a:xfrm>
                <a:off x="4524031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2" name="Freeform 35"/>
              <p:cNvSpPr>
                <a:spLocks noEditPoints="1"/>
              </p:cNvSpPr>
              <p:nvPr/>
            </p:nvSpPr>
            <p:spPr bwMode="auto">
              <a:xfrm>
                <a:off x="446273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221164" y="161006"/>
              <a:ext cx="218527" cy="218527"/>
              <a:chOff x="4995729" y="1582176"/>
              <a:chExt cx="218527" cy="218527"/>
            </a:xfrm>
            <a:grpFill/>
          </p:grpSpPr>
          <p:sp>
            <p:nvSpPr>
              <p:cNvPr id="435" name="Freeform 36"/>
              <p:cNvSpPr>
                <a:spLocks noEditPoints="1"/>
              </p:cNvSpPr>
              <p:nvPr/>
            </p:nvSpPr>
            <p:spPr bwMode="auto">
              <a:xfrm>
                <a:off x="5083673" y="1714092"/>
                <a:ext cx="42639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6" name="Oval 37"/>
              <p:cNvSpPr>
                <a:spLocks noChangeArrowheads="1"/>
              </p:cNvSpPr>
              <p:nvPr/>
            </p:nvSpPr>
            <p:spPr bwMode="auto">
              <a:xfrm>
                <a:off x="505702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7" name="Freeform 38"/>
              <p:cNvSpPr>
                <a:spLocks noEditPoints="1"/>
              </p:cNvSpPr>
              <p:nvPr/>
            </p:nvSpPr>
            <p:spPr bwMode="auto">
              <a:xfrm>
                <a:off x="4995729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8" name="Oval 39"/>
              <p:cNvSpPr>
                <a:spLocks noChangeArrowheads="1"/>
              </p:cNvSpPr>
              <p:nvPr/>
            </p:nvSpPr>
            <p:spPr bwMode="auto">
              <a:xfrm>
                <a:off x="513564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5528723" y="1578179"/>
              <a:ext cx="218527" cy="218527"/>
              <a:chOff x="5528723" y="1578179"/>
              <a:chExt cx="218527" cy="218527"/>
            </a:xfrm>
            <a:grpFill/>
          </p:grpSpPr>
          <p:sp>
            <p:nvSpPr>
              <p:cNvPr id="431" name="Oval 40"/>
              <p:cNvSpPr>
                <a:spLocks noChangeArrowheads="1"/>
              </p:cNvSpPr>
              <p:nvPr/>
            </p:nvSpPr>
            <p:spPr bwMode="auto">
              <a:xfrm>
                <a:off x="5590017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2" name="Freeform 41"/>
              <p:cNvSpPr>
                <a:spLocks noEditPoints="1"/>
              </p:cNvSpPr>
              <p:nvPr/>
            </p:nvSpPr>
            <p:spPr bwMode="auto">
              <a:xfrm>
                <a:off x="5599345" y="1708762"/>
                <a:ext cx="78617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5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5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3" name="Freeform 42"/>
              <p:cNvSpPr>
                <a:spLocks noEditPoints="1"/>
              </p:cNvSpPr>
              <p:nvPr/>
            </p:nvSpPr>
            <p:spPr bwMode="auto">
              <a:xfrm>
                <a:off x="5528723" y="1578179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4" name="Oval 43"/>
              <p:cNvSpPr>
                <a:spLocks noChangeArrowheads="1"/>
              </p:cNvSpPr>
              <p:nvPr/>
            </p:nvSpPr>
            <p:spPr bwMode="auto">
              <a:xfrm>
                <a:off x="5668634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131671" y="245562"/>
              <a:ext cx="218527" cy="218527"/>
              <a:chOff x="6061716" y="1582176"/>
              <a:chExt cx="218527" cy="218527"/>
            </a:xfrm>
            <a:grpFill/>
          </p:grpSpPr>
          <p:sp>
            <p:nvSpPr>
              <p:cNvPr id="427" name="Freeform 44"/>
              <p:cNvSpPr>
                <a:spLocks/>
              </p:cNvSpPr>
              <p:nvPr/>
            </p:nvSpPr>
            <p:spPr bwMode="auto">
              <a:xfrm>
                <a:off x="6132338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8" name="Rectangle 45"/>
              <p:cNvSpPr>
                <a:spLocks noChangeArrowheads="1"/>
              </p:cNvSpPr>
              <p:nvPr/>
            </p:nvSpPr>
            <p:spPr bwMode="auto">
              <a:xfrm>
                <a:off x="6123010" y="1660793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9" name="Oval 46"/>
              <p:cNvSpPr>
                <a:spLocks noChangeArrowheads="1"/>
              </p:cNvSpPr>
              <p:nvPr/>
            </p:nvSpPr>
            <p:spPr bwMode="auto">
              <a:xfrm>
                <a:off x="6201627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0" name="Freeform 47"/>
              <p:cNvSpPr>
                <a:spLocks noEditPoints="1"/>
              </p:cNvSpPr>
              <p:nvPr/>
            </p:nvSpPr>
            <p:spPr bwMode="auto">
              <a:xfrm>
                <a:off x="606171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986140" y="1302986"/>
              <a:ext cx="382203" cy="382203"/>
              <a:chOff x="6597374" y="1582176"/>
              <a:chExt cx="218527" cy="218527"/>
            </a:xfrm>
            <a:grpFill/>
          </p:grpSpPr>
          <p:sp>
            <p:nvSpPr>
              <p:cNvPr id="423" name="Oval 48"/>
              <p:cNvSpPr>
                <a:spLocks noChangeArrowheads="1"/>
              </p:cNvSpPr>
              <p:nvPr/>
            </p:nvSpPr>
            <p:spPr bwMode="auto">
              <a:xfrm>
                <a:off x="6658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4" name="Oval 49"/>
              <p:cNvSpPr>
                <a:spLocks noChangeArrowheads="1"/>
              </p:cNvSpPr>
              <p:nvPr/>
            </p:nvSpPr>
            <p:spPr bwMode="auto">
              <a:xfrm>
                <a:off x="673728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5" name="Freeform 50"/>
              <p:cNvSpPr>
                <a:spLocks noEditPoints="1"/>
              </p:cNvSpPr>
              <p:nvPr/>
            </p:nvSpPr>
            <p:spPr bwMode="auto">
              <a:xfrm>
                <a:off x="6597374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6" name="Freeform 51"/>
              <p:cNvSpPr>
                <a:spLocks noEditPoints="1"/>
              </p:cNvSpPr>
              <p:nvPr/>
            </p:nvSpPr>
            <p:spPr bwMode="auto">
              <a:xfrm>
                <a:off x="6641346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6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6" y="4"/>
                      <a:pt x="6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632609" y="2123120"/>
              <a:ext cx="218527" cy="218527"/>
              <a:chOff x="7127702" y="1582176"/>
              <a:chExt cx="218527" cy="218527"/>
            </a:xfrm>
            <a:grpFill/>
          </p:grpSpPr>
          <p:sp>
            <p:nvSpPr>
              <p:cNvPr id="419" name="Rectangle 52"/>
              <p:cNvSpPr>
                <a:spLocks noChangeArrowheads="1"/>
              </p:cNvSpPr>
              <p:nvPr/>
            </p:nvSpPr>
            <p:spPr bwMode="auto">
              <a:xfrm>
                <a:off x="7181001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0" name="Rectangle 53"/>
              <p:cNvSpPr>
                <a:spLocks noChangeArrowheads="1"/>
              </p:cNvSpPr>
              <p:nvPr/>
            </p:nvSpPr>
            <p:spPr bwMode="auto">
              <a:xfrm>
                <a:off x="7259618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1" name="Freeform 54"/>
              <p:cNvSpPr>
                <a:spLocks noEditPoints="1"/>
              </p:cNvSpPr>
              <p:nvPr/>
            </p:nvSpPr>
            <p:spPr bwMode="auto">
              <a:xfrm>
                <a:off x="7171674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2" name="Freeform 55"/>
              <p:cNvSpPr>
                <a:spLocks noEditPoints="1"/>
              </p:cNvSpPr>
              <p:nvPr/>
            </p:nvSpPr>
            <p:spPr bwMode="auto">
              <a:xfrm>
                <a:off x="7127702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7920440" y="1337989"/>
              <a:ext cx="218527" cy="218527"/>
              <a:chOff x="7660695" y="1582176"/>
              <a:chExt cx="218527" cy="218527"/>
            </a:xfrm>
            <a:grpFill/>
          </p:grpSpPr>
          <p:sp>
            <p:nvSpPr>
              <p:cNvPr id="415" name="Freeform 56"/>
              <p:cNvSpPr>
                <a:spLocks/>
              </p:cNvSpPr>
              <p:nvPr/>
            </p:nvSpPr>
            <p:spPr bwMode="auto">
              <a:xfrm>
                <a:off x="7721989" y="1652798"/>
                <a:ext cx="35977" cy="17322"/>
              </a:xfrm>
              <a:custGeom>
                <a:avLst/>
                <a:gdLst>
                  <a:gd name="T0" fmla="*/ 12 w 16"/>
                  <a:gd name="T1" fmla="*/ 8 h 8"/>
                  <a:gd name="T2" fmla="*/ 16 w 16"/>
                  <a:gd name="T3" fmla="*/ 4 h 8"/>
                  <a:gd name="T4" fmla="*/ 12 w 16"/>
                  <a:gd name="T5" fmla="*/ 0 h 8"/>
                  <a:gd name="T6" fmla="*/ 0 w 16"/>
                  <a:gd name="T7" fmla="*/ 0 h 8"/>
                  <a:gd name="T8" fmla="*/ 0 w 16"/>
                  <a:gd name="T9" fmla="*/ 4 h 8"/>
                  <a:gd name="T10" fmla="*/ 8 w 16"/>
                  <a:gd name="T11" fmla="*/ 4 h 8"/>
                  <a:gd name="T12" fmla="*/ 12 w 1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8"/>
                    </a:move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6" name="Freeform 57"/>
              <p:cNvSpPr>
                <a:spLocks noEditPoints="1"/>
              </p:cNvSpPr>
              <p:nvPr/>
            </p:nvSpPr>
            <p:spPr bwMode="auto">
              <a:xfrm>
                <a:off x="7660695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7" name="Freeform 58"/>
              <p:cNvSpPr>
                <a:spLocks/>
              </p:cNvSpPr>
              <p:nvPr/>
            </p:nvSpPr>
            <p:spPr bwMode="auto">
              <a:xfrm>
                <a:off x="7731317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8" name="Freeform 59"/>
              <p:cNvSpPr>
                <a:spLocks/>
              </p:cNvSpPr>
              <p:nvPr/>
            </p:nvSpPr>
            <p:spPr bwMode="auto">
              <a:xfrm>
                <a:off x="7783283" y="1652798"/>
                <a:ext cx="34645" cy="17322"/>
              </a:xfrm>
              <a:custGeom>
                <a:avLst/>
                <a:gdLst>
                  <a:gd name="T0" fmla="*/ 12 w 16"/>
                  <a:gd name="T1" fmla="*/ 0 h 8"/>
                  <a:gd name="T2" fmla="*/ 0 w 16"/>
                  <a:gd name="T3" fmla="*/ 0 h 8"/>
                  <a:gd name="T4" fmla="*/ 0 w 16"/>
                  <a:gd name="T5" fmla="*/ 4 h 8"/>
                  <a:gd name="T6" fmla="*/ 8 w 16"/>
                  <a:gd name="T7" fmla="*/ 4 h 8"/>
                  <a:gd name="T8" fmla="*/ 12 w 16"/>
                  <a:gd name="T9" fmla="*/ 8 h 8"/>
                  <a:gd name="T10" fmla="*/ 16 w 16"/>
                  <a:gd name="T11" fmla="*/ 4 h 8"/>
                  <a:gd name="T12" fmla="*/ 12 w 1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549929" y="6210355"/>
              <a:ext cx="218527" cy="218527"/>
              <a:chOff x="1264778" y="2116502"/>
              <a:chExt cx="218527" cy="218527"/>
            </a:xfrm>
            <a:grpFill/>
          </p:grpSpPr>
          <p:sp>
            <p:nvSpPr>
              <p:cNvPr id="411" name="Freeform 60"/>
              <p:cNvSpPr>
                <a:spLocks/>
              </p:cNvSpPr>
              <p:nvPr/>
            </p:nvSpPr>
            <p:spPr bwMode="auto">
              <a:xfrm>
                <a:off x="1395361" y="2177796"/>
                <a:ext cx="34645" cy="26650"/>
              </a:xfrm>
              <a:custGeom>
                <a:avLst/>
                <a:gdLst>
                  <a:gd name="T0" fmla="*/ 0 w 26"/>
                  <a:gd name="T1" fmla="*/ 15 h 20"/>
                  <a:gd name="T2" fmla="*/ 3 w 26"/>
                  <a:gd name="T3" fmla="*/ 20 h 20"/>
                  <a:gd name="T4" fmla="*/ 26 w 26"/>
                  <a:gd name="T5" fmla="*/ 5 h 20"/>
                  <a:gd name="T6" fmla="*/ 23 w 26"/>
                  <a:gd name="T7" fmla="*/ 0 h 20"/>
                  <a:gd name="T8" fmla="*/ 0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15"/>
                    </a:move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2" name="Rectangle 61"/>
              <p:cNvSpPr>
                <a:spLocks noChangeArrowheads="1"/>
              </p:cNvSpPr>
              <p:nvPr/>
            </p:nvSpPr>
            <p:spPr bwMode="auto">
              <a:xfrm>
                <a:off x="1334067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3" name="Freeform 62"/>
              <p:cNvSpPr>
                <a:spLocks/>
              </p:cNvSpPr>
              <p:nvPr/>
            </p:nvSpPr>
            <p:spPr bwMode="auto">
              <a:xfrm>
                <a:off x="1316745" y="2177796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4" name="Freeform 63"/>
              <p:cNvSpPr>
                <a:spLocks noEditPoints="1"/>
              </p:cNvSpPr>
              <p:nvPr/>
            </p:nvSpPr>
            <p:spPr bwMode="auto">
              <a:xfrm>
                <a:off x="126477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797771" y="2116502"/>
              <a:ext cx="218527" cy="218527"/>
              <a:chOff x="1797771" y="2116502"/>
              <a:chExt cx="218527" cy="218527"/>
            </a:xfrm>
            <a:grpFill/>
          </p:grpSpPr>
          <p:sp>
            <p:nvSpPr>
              <p:cNvPr id="407" name="Rectangle 64"/>
              <p:cNvSpPr>
                <a:spLocks noChangeArrowheads="1"/>
              </p:cNvSpPr>
              <p:nvPr/>
            </p:nvSpPr>
            <p:spPr bwMode="auto">
              <a:xfrm>
                <a:off x="1849738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8" name="Rectangle 65"/>
              <p:cNvSpPr>
                <a:spLocks noChangeArrowheads="1"/>
              </p:cNvSpPr>
              <p:nvPr/>
            </p:nvSpPr>
            <p:spPr bwMode="auto">
              <a:xfrm>
                <a:off x="192835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9" name="Rectangle 66"/>
              <p:cNvSpPr>
                <a:spLocks noChangeArrowheads="1"/>
              </p:cNvSpPr>
              <p:nvPr/>
            </p:nvSpPr>
            <p:spPr bwMode="auto">
              <a:xfrm>
                <a:off x="1867060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0" name="Freeform 67"/>
              <p:cNvSpPr>
                <a:spLocks noEditPoints="1"/>
              </p:cNvSpPr>
              <p:nvPr/>
            </p:nvSpPr>
            <p:spPr bwMode="auto">
              <a:xfrm>
                <a:off x="1797771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1477149" y="2626842"/>
              <a:ext cx="218527" cy="218527"/>
              <a:chOff x="2330764" y="2116502"/>
              <a:chExt cx="218527" cy="218527"/>
            </a:xfrm>
            <a:grpFill/>
          </p:grpSpPr>
          <p:sp>
            <p:nvSpPr>
              <p:cNvPr id="403" name="Rectangle 68"/>
              <p:cNvSpPr>
                <a:spLocks noChangeArrowheads="1"/>
              </p:cNvSpPr>
              <p:nvPr/>
            </p:nvSpPr>
            <p:spPr bwMode="auto">
              <a:xfrm>
                <a:off x="238273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4" name="Freeform 69"/>
              <p:cNvSpPr>
                <a:spLocks/>
              </p:cNvSpPr>
              <p:nvPr/>
            </p:nvSpPr>
            <p:spPr bwMode="auto">
              <a:xfrm>
                <a:off x="2392058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5" name="Freeform 70"/>
              <p:cNvSpPr>
                <a:spLocks noEditPoints="1"/>
              </p:cNvSpPr>
              <p:nvPr/>
            </p:nvSpPr>
            <p:spPr bwMode="auto">
              <a:xfrm>
                <a:off x="2330764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6" name="Rectangle 71"/>
              <p:cNvSpPr>
                <a:spLocks noChangeArrowheads="1"/>
              </p:cNvSpPr>
              <p:nvPr/>
            </p:nvSpPr>
            <p:spPr bwMode="auto">
              <a:xfrm>
                <a:off x="2461347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8486318" y="6291379"/>
              <a:ext cx="218527" cy="218527"/>
              <a:chOff x="2863757" y="2116502"/>
              <a:chExt cx="218527" cy="218527"/>
            </a:xfrm>
            <a:grpFill/>
          </p:grpSpPr>
          <p:sp>
            <p:nvSpPr>
              <p:cNvPr id="399" name="Rectangle 72"/>
              <p:cNvSpPr>
                <a:spLocks noChangeArrowheads="1"/>
              </p:cNvSpPr>
              <p:nvPr/>
            </p:nvSpPr>
            <p:spPr bwMode="auto">
              <a:xfrm>
                <a:off x="299434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0" name="Freeform 73"/>
              <p:cNvSpPr>
                <a:spLocks/>
              </p:cNvSpPr>
              <p:nvPr/>
            </p:nvSpPr>
            <p:spPr bwMode="auto">
              <a:xfrm>
                <a:off x="2925051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1" name="Rectangle 74"/>
              <p:cNvSpPr>
                <a:spLocks noChangeArrowheads="1"/>
              </p:cNvSpPr>
              <p:nvPr/>
            </p:nvSpPr>
            <p:spPr bwMode="auto">
              <a:xfrm>
                <a:off x="291572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2" name="Freeform 75"/>
              <p:cNvSpPr>
                <a:spLocks noEditPoints="1"/>
              </p:cNvSpPr>
              <p:nvPr/>
            </p:nvSpPr>
            <p:spPr bwMode="auto">
              <a:xfrm>
                <a:off x="286375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10052307" y="1932705"/>
              <a:ext cx="485603" cy="485603"/>
              <a:chOff x="3396750" y="2116502"/>
              <a:chExt cx="218527" cy="218527"/>
            </a:xfrm>
            <a:grpFill/>
          </p:grpSpPr>
          <p:sp>
            <p:nvSpPr>
              <p:cNvPr id="393" name="Freeform 76"/>
              <p:cNvSpPr>
                <a:spLocks/>
              </p:cNvSpPr>
              <p:nvPr/>
            </p:nvSpPr>
            <p:spPr bwMode="auto">
              <a:xfrm>
                <a:off x="3458044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4" name="Oval 77"/>
              <p:cNvSpPr>
                <a:spLocks noChangeArrowheads="1"/>
              </p:cNvSpPr>
              <p:nvPr/>
            </p:nvSpPr>
            <p:spPr bwMode="auto">
              <a:xfrm>
                <a:off x="345804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5" name="Freeform 78"/>
              <p:cNvSpPr>
                <a:spLocks/>
              </p:cNvSpPr>
              <p:nvPr/>
            </p:nvSpPr>
            <p:spPr bwMode="auto">
              <a:xfrm>
                <a:off x="3440723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6" name="Freeform 79"/>
              <p:cNvSpPr>
                <a:spLocks/>
              </p:cNvSpPr>
              <p:nvPr/>
            </p:nvSpPr>
            <p:spPr bwMode="auto">
              <a:xfrm>
                <a:off x="353666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7" name="Freeform 80"/>
              <p:cNvSpPr>
                <a:spLocks noEditPoints="1"/>
              </p:cNvSpPr>
              <p:nvPr/>
            </p:nvSpPr>
            <p:spPr bwMode="auto">
              <a:xfrm>
                <a:off x="3396750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8" name="Oval 81"/>
              <p:cNvSpPr>
                <a:spLocks noChangeArrowheads="1"/>
              </p:cNvSpPr>
              <p:nvPr/>
            </p:nvSpPr>
            <p:spPr bwMode="auto">
              <a:xfrm>
                <a:off x="353666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3886558" y="3523100"/>
              <a:ext cx="218527" cy="218527"/>
              <a:chOff x="3932408" y="2116502"/>
              <a:chExt cx="218527" cy="218527"/>
            </a:xfrm>
            <a:grpFill/>
          </p:grpSpPr>
          <p:sp>
            <p:nvSpPr>
              <p:cNvPr id="389" name="Freeform 82"/>
              <p:cNvSpPr>
                <a:spLocks/>
              </p:cNvSpPr>
              <p:nvPr/>
            </p:nvSpPr>
            <p:spPr bwMode="auto">
              <a:xfrm>
                <a:off x="400169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0" name="Rectangle 83"/>
              <p:cNvSpPr>
                <a:spLocks noChangeArrowheads="1"/>
              </p:cNvSpPr>
              <p:nvPr/>
            </p:nvSpPr>
            <p:spPr bwMode="auto">
              <a:xfrm>
                <a:off x="3981711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1" name="Rectangle 84"/>
              <p:cNvSpPr>
                <a:spLocks noChangeArrowheads="1"/>
              </p:cNvSpPr>
              <p:nvPr/>
            </p:nvSpPr>
            <p:spPr bwMode="auto">
              <a:xfrm>
                <a:off x="4060327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2" name="Freeform 85"/>
              <p:cNvSpPr>
                <a:spLocks noEditPoints="1"/>
              </p:cNvSpPr>
              <p:nvPr/>
            </p:nvSpPr>
            <p:spPr bwMode="auto">
              <a:xfrm>
                <a:off x="393240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4462736" y="2116502"/>
              <a:ext cx="218527" cy="218527"/>
              <a:chOff x="4462736" y="2116502"/>
              <a:chExt cx="218527" cy="218527"/>
            </a:xfrm>
            <a:grpFill/>
          </p:grpSpPr>
          <p:sp>
            <p:nvSpPr>
              <p:cNvPr id="383" name="Freeform 86"/>
              <p:cNvSpPr>
                <a:spLocks/>
              </p:cNvSpPr>
              <p:nvPr/>
            </p:nvSpPr>
            <p:spPr bwMode="auto">
              <a:xfrm>
                <a:off x="4524031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4" name="Freeform 87"/>
              <p:cNvSpPr>
                <a:spLocks/>
              </p:cNvSpPr>
              <p:nvPr/>
            </p:nvSpPr>
            <p:spPr bwMode="auto">
              <a:xfrm>
                <a:off x="4506709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5" name="Oval 88"/>
              <p:cNvSpPr>
                <a:spLocks noChangeArrowheads="1"/>
              </p:cNvSpPr>
              <p:nvPr/>
            </p:nvSpPr>
            <p:spPr bwMode="auto">
              <a:xfrm>
                <a:off x="4602648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6" name="Oval 89"/>
              <p:cNvSpPr>
                <a:spLocks noChangeArrowheads="1"/>
              </p:cNvSpPr>
              <p:nvPr/>
            </p:nvSpPr>
            <p:spPr bwMode="auto">
              <a:xfrm>
                <a:off x="452403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7" name="Freeform 90"/>
              <p:cNvSpPr>
                <a:spLocks/>
              </p:cNvSpPr>
              <p:nvPr/>
            </p:nvSpPr>
            <p:spPr bwMode="auto">
              <a:xfrm>
                <a:off x="4602648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8" name="Freeform 91"/>
              <p:cNvSpPr>
                <a:spLocks noEditPoints="1"/>
              </p:cNvSpPr>
              <p:nvPr/>
            </p:nvSpPr>
            <p:spPr bwMode="auto">
              <a:xfrm>
                <a:off x="446273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8337080" y="5632647"/>
              <a:ext cx="218527" cy="218527"/>
              <a:chOff x="4995729" y="2116502"/>
              <a:chExt cx="218527" cy="218527"/>
            </a:xfrm>
            <a:grpFill/>
          </p:grpSpPr>
          <p:sp>
            <p:nvSpPr>
              <p:cNvPr id="377" name="Rectangle 92"/>
              <p:cNvSpPr>
                <a:spLocks noChangeArrowheads="1"/>
              </p:cNvSpPr>
              <p:nvPr/>
            </p:nvSpPr>
            <p:spPr bwMode="auto">
              <a:xfrm>
                <a:off x="5066351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8" name="Oval 93"/>
              <p:cNvSpPr>
                <a:spLocks noChangeArrowheads="1"/>
              </p:cNvSpPr>
              <p:nvPr/>
            </p:nvSpPr>
            <p:spPr bwMode="auto">
              <a:xfrm>
                <a:off x="505702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9" name="Freeform 94"/>
              <p:cNvSpPr>
                <a:spLocks/>
              </p:cNvSpPr>
              <p:nvPr/>
            </p:nvSpPr>
            <p:spPr bwMode="auto">
              <a:xfrm>
                <a:off x="5039702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0" name="Freeform 95"/>
              <p:cNvSpPr>
                <a:spLocks/>
              </p:cNvSpPr>
              <p:nvPr/>
            </p:nvSpPr>
            <p:spPr bwMode="auto">
              <a:xfrm>
                <a:off x="513564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1" name="Freeform 96"/>
              <p:cNvSpPr>
                <a:spLocks noEditPoints="1"/>
              </p:cNvSpPr>
              <p:nvPr/>
            </p:nvSpPr>
            <p:spPr bwMode="auto">
              <a:xfrm>
                <a:off x="4995729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2" name="Oval 97"/>
              <p:cNvSpPr>
                <a:spLocks noChangeArrowheads="1"/>
              </p:cNvSpPr>
              <p:nvPr/>
            </p:nvSpPr>
            <p:spPr bwMode="auto">
              <a:xfrm>
                <a:off x="513564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528723" y="2116502"/>
              <a:ext cx="218527" cy="218527"/>
              <a:chOff x="5528723" y="2116502"/>
              <a:chExt cx="218527" cy="218527"/>
            </a:xfrm>
            <a:grpFill/>
          </p:grpSpPr>
          <p:sp>
            <p:nvSpPr>
              <p:cNvPr id="371" name="Oval 98"/>
              <p:cNvSpPr>
                <a:spLocks noChangeArrowheads="1"/>
              </p:cNvSpPr>
              <p:nvPr/>
            </p:nvSpPr>
            <p:spPr bwMode="auto">
              <a:xfrm>
                <a:off x="559001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2" name="Freeform 99"/>
              <p:cNvSpPr>
                <a:spLocks/>
              </p:cNvSpPr>
              <p:nvPr/>
            </p:nvSpPr>
            <p:spPr bwMode="auto">
              <a:xfrm>
                <a:off x="5651311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3" name="Freeform 100"/>
              <p:cNvSpPr>
                <a:spLocks/>
              </p:cNvSpPr>
              <p:nvPr/>
            </p:nvSpPr>
            <p:spPr bwMode="auto">
              <a:xfrm>
                <a:off x="5590017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4" name="Rectangle 101"/>
              <p:cNvSpPr>
                <a:spLocks noChangeArrowheads="1"/>
              </p:cNvSpPr>
              <p:nvPr/>
            </p:nvSpPr>
            <p:spPr bwMode="auto">
              <a:xfrm>
                <a:off x="5599345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5" name="Oval 102"/>
              <p:cNvSpPr>
                <a:spLocks noChangeArrowheads="1"/>
              </p:cNvSpPr>
              <p:nvPr/>
            </p:nvSpPr>
            <p:spPr bwMode="auto">
              <a:xfrm>
                <a:off x="566863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6" name="Freeform 103"/>
              <p:cNvSpPr>
                <a:spLocks noEditPoints="1"/>
              </p:cNvSpPr>
              <p:nvPr/>
            </p:nvSpPr>
            <p:spPr bwMode="auto">
              <a:xfrm>
                <a:off x="5528723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629923" y="3662071"/>
              <a:ext cx="218527" cy="218527"/>
              <a:chOff x="6061716" y="2116502"/>
              <a:chExt cx="218527" cy="218527"/>
            </a:xfrm>
            <a:grpFill/>
          </p:grpSpPr>
          <p:sp>
            <p:nvSpPr>
              <p:cNvPr id="365" name="Oval 104"/>
              <p:cNvSpPr>
                <a:spLocks noChangeArrowheads="1"/>
              </p:cNvSpPr>
              <p:nvPr/>
            </p:nvSpPr>
            <p:spPr bwMode="auto">
              <a:xfrm>
                <a:off x="6123010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6" name="Freeform 105"/>
              <p:cNvSpPr>
                <a:spLocks/>
              </p:cNvSpPr>
              <p:nvPr/>
            </p:nvSpPr>
            <p:spPr bwMode="auto">
              <a:xfrm>
                <a:off x="6132338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7" name="Rectangle 106"/>
              <p:cNvSpPr>
                <a:spLocks noChangeArrowheads="1"/>
              </p:cNvSpPr>
              <p:nvPr/>
            </p:nvSpPr>
            <p:spPr bwMode="auto">
              <a:xfrm>
                <a:off x="6115015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8" name="Oval 107"/>
              <p:cNvSpPr>
                <a:spLocks noChangeArrowheads="1"/>
              </p:cNvSpPr>
              <p:nvPr/>
            </p:nvSpPr>
            <p:spPr bwMode="auto">
              <a:xfrm>
                <a:off x="620162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9" name="Freeform 108"/>
              <p:cNvSpPr>
                <a:spLocks noEditPoints="1"/>
              </p:cNvSpPr>
              <p:nvPr/>
            </p:nvSpPr>
            <p:spPr bwMode="auto">
              <a:xfrm>
                <a:off x="606171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0" name="Rectangle 109"/>
              <p:cNvSpPr>
                <a:spLocks noChangeArrowheads="1"/>
              </p:cNvSpPr>
              <p:nvPr/>
            </p:nvSpPr>
            <p:spPr bwMode="auto">
              <a:xfrm>
                <a:off x="6193632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6593377" y="2116502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361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2" name="Freeform 111"/>
              <p:cNvSpPr>
                <a:spLocks/>
              </p:cNvSpPr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3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4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083487" y="3016974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355" name="Freeform 114"/>
              <p:cNvSpPr>
                <a:spLocks/>
              </p:cNvSpPr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6" name="Freeform 115"/>
              <p:cNvSpPr>
                <a:spLocks/>
              </p:cNvSpPr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7" name="Freeform 116"/>
              <p:cNvSpPr>
                <a:spLocks/>
              </p:cNvSpPr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8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9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0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0076581" y="3680007"/>
              <a:ext cx="218527" cy="218527"/>
              <a:chOff x="7660695" y="2116502"/>
              <a:chExt cx="218527" cy="218527"/>
            </a:xfrm>
            <a:grpFill/>
          </p:grpSpPr>
          <p:sp>
            <p:nvSpPr>
              <p:cNvPr id="351" name="Oval 120"/>
              <p:cNvSpPr>
                <a:spLocks noChangeArrowheads="1"/>
              </p:cNvSpPr>
              <p:nvPr/>
            </p:nvSpPr>
            <p:spPr bwMode="auto">
              <a:xfrm>
                <a:off x="7800606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2" name="Oval 121"/>
              <p:cNvSpPr>
                <a:spLocks noChangeArrowheads="1"/>
              </p:cNvSpPr>
              <p:nvPr/>
            </p:nvSpPr>
            <p:spPr bwMode="auto">
              <a:xfrm>
                <a:off x="7721989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3" name="Freeform 122"/>
              <p:cNvSpPr>
                <a:spLocks/>
              </p:cNvSpPr>
              <p:nvPr/>
            </p:nvSpPr>
            <p:spPr bwMode="auto">
              <a:xfrm>
                <a:off x="773131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4" name="Freeform 123"/>
              <p:cNvSpPr>
                <a:spLocks noEditPoints="1"/>
              </p:cNvSpPr>
              <p:nvPr/>
            </p:nvSpPr>
            <p:spPr bwMode="auto">
              <a:xfrm>
                <a:off x="7660695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264778" y="2649495"/>
              <a:ext cx="218527" cy="218527"/>
              <a:chOff x="1264778" y="2649495"/>
              <a:chExt cx="218527" cy="218527"/>
            </a:xfrm>
            <a:grpFill/>
          </p:grpSpPr>
          <p:sp>
            <p:nvSpPr>
              <p:cNvPr id="347" name="Freeform 124"/>
              <p:cNvSpPr>
                <a:spLocks/>
              </p:cNvSpPr>
              <p:nvPr/>
            </p:nvSpPr>
            <p:spPr bwMode="auto">
              <a:xfrm>
                <a:off x="1334067" y="2789406"/>
                <a:ext cx="78617" cy="25317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8" name="Oval 125"/>
              <p:cNvSpPr>
                <a:spLocks noChangeArrowheads="1"/>
              </p:cNvSpPr>
              <p:nvPr/>
            </p:nvSpPr>
            <p:spPr bwMode="auto">
              <a:xfrm>
                <a:off x="1326072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9" name="Oval 126"/>
              <p:cNvSpPr>
                <a:spLocks noChangeArrowheads="1"/>
              </p:cNvSpPr>
              <p:nvPr/>
            </p:nvSpPr>
            <p:spPr bwMode="auto">
              <a:xfrm>
                <a:off x="1404689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0" name="Freeform 127"/>
              <p:cNvSpPr>
                <a:spLocks noEditPoints="1"/>
              </p:cNvSpPr>
              <p:nvPr/>
            </p:nvSpPr>
            <p:spPr bwMode="auto">
              <a:xfrm>
                <a:off x="1264778" y="2649495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3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3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6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6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9048348" y="1118811"/>
              <a:ext cx="218527" cy="219859"/>
              <a:chOff x="1797771" y="2650828"/>
              <a:chExt cx="218527" cy="219859"/>
            </a:xfrm>
            <a:grpFill/>
          </p:grpSpPr>
          <p:sp>
            <p:nvSpPr>
              <p:cNvPr id="341" name="Freeform 128"/>
              <p:cNvSpPr>
                <a:spLocks/>
              </p:cNvSpPr>
              <p:nvPr/>
            </p:nvSpPr>
            <p:spPr bwMode="auto">
              <a:xfrm>
                <a:off x="1867060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2" name="Freeform 129"/>
              <p:cNvSpPr>
                <a:spLocks noEditPoints="1"/>
              </p:cNvSpPr>
              <p:nvPr/>
            </p:nvSpPr>
            <p:spPr bwMode="auto">
              <a:xfrm>
                <a:off x="1797771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3" name="Rectangle 130"/>
              <p:cNvSpPr>
                <a:spLocks noChangeArrowheads="1"/>
              </p:cNvSpPr>
              <p:nvPr/>
            </p:nvSpPr>
            <p:spPr bwMode="auto">
              <a:xfrm>
                <a:off x="1849738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4" name="Oval 131"/>
              <p:cNvSpPr>
                <a:spLocks noChangeArrowheads="1"/>
              </p:cNvSpPr>
              <p:nvPr/>
            </p:nvSpPr>
            <p:spPr bwMode="auto">
              <a:xfrm>
                <a:off x="185906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5" name="Oval 132"/>
              <p:cNvSpPr>
                <a:spLocks noChangeArrowheads="1"/>
              </p:cNvSpPr>
              <p:nvPr/>
            </p:nvSpPr>
            <p:spPr bwMode="auto">
              <a:xfrm>
                <a:off x="1937682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6" name="Rectangle 133"/>
              <p:cNvSpPr>
                <a:spLocks noChangeArrowheads="1"/>
              </p:cNvSpPr>
              <p:nvPr/>
            </p:nvSpPr>
            <p:spPr bwMode="auto">
              <a:xfrm>
                <a:off x="1928354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2783421" y="5204209"/>
              <a:ext cx="218527" cy="219859"/>
              <a:chOff x="2330764" y="2650828"/>
              <a:chExt cx="218527" cy="219859"/>
            </a:xfrm>
            <a:grpFill/>
          </p:grpSpPr>
          <p:sp>
            <p:nvSpPr>
              <p:cNvPr id="335" name="Freeform 134"/>
              <p:cNvSpPr>
                <a:spLocks/>
              </p:cNvSpPr>
              <p:nvPr/>
            </p:nvSpPr>
            <p:spPr bwMode="auto">
              <a:xfrm>
                <a:off x="2374736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6" name="Oval 135"/>
              <p:cNvSpPr>
                <a:spLocks noChangeArrowheads="1"/>
              </p:cNvSpPr>
              <p:nvPr/>
            </p:nvSpPr>
            <p:spPr bwMode="auto">
              <a:xfrm>
                <a:off x="239205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7" name="Freeform 136"/>
              <p:cNvSpPr>
                <a:spLocks/>
              </p:cNvSpPr>
              <p:nvPr/>
            </p:nvSpPr>
            <p:spPr bwMode="auto">
              <a:xfrm>
                <a:off x="2400053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8" name="Freeform 137"/>
              <p:cNvSpPr>
                <a:spLocks noEditPoints="1"/>
              </p:cNvSpPr>
              <p:nvPr/>
            </p:nvSpPr>
            <p:spPr bwMode="auto">
              <a:xfrm>
                <a:off x="2330764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9" name="Oval 138"/>
              <p:cNvSpPr>
                <a:spLocks noChangeArrowheads="1"/>
              </p:cNvSpPr>
              <p:nvPr/>
            </p:nvSpPr>
            <p:spPr bwMode="auto">
              <a:xfrm>
                <a:off x="247067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0" name="Freeform 139"/>
              <p:cNvSpPr>
                <a:spLocks/>
              </p:cNvSpPr>
              <p:nvPr/>
            </p:nvSpPr>
            <p:spPr bwMode="auto">
              <a:xfrm>
                <a:off x="2470675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4401443" y="5888928"/>
              <a:ext cx="218527" cy="219859"/>
              <a:chOff x="2863757" y="2650828"/>
              <a:chExt cx="218527" cy="219859"/>
            </a:xfrm>
            <a:grpFill/>
          </p:grpSpPr>
          <p:sp>
            <p:nvSpPr>
              <p:cNvPr id="329" name="Oval 140"/>
              <p:cNvSpPr>
                <a:spLocks noChangeArrowheads="1"/>
              </p:cNvSpPr>
              <p:nvPr/>
            </p:nvSpPr>
            <p:spPr bwMode="auto">
              <a:xfrm>
                <a:off x="292505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0" name="Freeform 141"/>
              <p:cNvSpPr>
                <a:spLocks/>
              </p:cNvSpPr>
              <p:nvPr/>
            </p:nvSpPr>
            <p:spPr bwMode="auto">
              <a:xfrm>
                <a:off x="2907730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1" name="Freeform 142"/>
              <p:cNvSpPr>
                <a:spLocks/>
              </p:cNvSpPr>
              <p:nvPr/>
            </p:nvSpPr>
            <p:spPr bwMode="auto">
              <a:xfrm>
                <a:off x="2933046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2" name="Freeform 143"/>
              <p:cNvSpPr>
                <a:spLocks noEditPoints="1"/>
              </p:cNvSpPr>
              <p:nvPr/>
            </p:nvSpPr>
            <p:spPr bwMode="auto">
              <a:xfrm>
                <a:off x="2863757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3" name="Oval 144"/>
              <p:cNvSpPr>
                <a:spLocks noChangeArrowheads="1"/>
              </p:cNvSpPr>
              <p:nvPr/>
            </p:nvSpPr>
            <p:spPr bwMode="auto">
              <a:xfrm>
                <a:off x="300366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4" name="Freeform 145"/>
              <p:cNvSpPr>
                <a:spLocks/>
              </p:cNvSpPr>
              <p:nvPr/>
            </p:nvSpPr>
            <p:spPr bwMode="auto">
              <a:xfrm>
                <a:off x="3003668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9869" y="2107404"/>
              <a:ext cx="722470" cy="726874"/>
              <a:chOff x="3396750" y="2650828"/>
              <a:chExt cx="218527" cy="219859"/>
            </a:xfrm>
            <a:grpFill/>
          </p:grpSpPr>
          <p:sp>
            <p:nvSpPr>
              <p:cNvPr id="325" name="Oval 146"/>
              <p:cNvSpPr>
                <a:spLocks noChangeArrowheads="1"/>
              </p:cNvSpPr>
              <p:nvPr/>
            </p:nvSpPr>
            <p:spPr bwMode="auto">
              <a:xfrm>
                <a:off x="345804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6" name="Freeform 147"/>
              <p:cNvSpPr>
                <a:spLocks noEditPoints="1"/>
              </p:cNvSpPr>
              <p:nvPr/>
            </p:nvSpPr>
            <p:spPr bwMode="auto">
              <a:xfrm>
                <a:off x="3458044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7" name="Oval 148"/>
              <p:cNvSpPr>
                <a:spLocks noChangeArrowheads="1"/>
              </p:cNvSpPr>
              <p:nvPr/>
            </p:nvSpPr>
            <p:spPr bwMode="auto">
              <a:xfrm>
                <a:off x="353666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8" name="Freeform 149"/>
              <p:cNvSpPr>
                <a:spLocks noEditPoints="1"/>
              </p:cNvSpPr>
              <p:nvPr/>
            </p:nvSpPr>
            <p:spPr bwMode="auto">
              <a:xfrm>
                <a:off x="3396750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0279919" y="5722368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321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2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3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4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4977992" y="2656823"/>
              <a:ext cx="218527" cy="219859"/>
              <a:chOff x="4462736" y="2650828"/>
              <a:chExt cx="218527" cy="219859"/>
            </a:xfrm>
            <a:grpFill/>
          </p:grpSpPr>
          <p:sp>
            <p:nvSpPr>
              <p:cNvPr id="317" name="Oval 154"/>
              <p:cNvSpPr>
                <a:spLocks noChangeArrowheads="1"/>
              </p:cNvSpPr>
              <p:nvPr/>
            </p:nvSpPr>
            <p:spPr bwMode="auto">
              <a:xfrm>
                <a:off x="4602648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8" name="Oval 155"/>
              <p:cNvSpPr>
                <a:spLocks noChangeArrowheads="1"/>
              </p:cNvSpPr>
              <p:nvPr/>
            </p:nvSpPr>
            <p:spPr bwMode="auto">
              <a:xfrm>
                <a:off x="452403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9" name="Freeform 156"/>
              <p:cNvSpPr>
                <a:spLocks/>
              </p:cNvSpPr>
              <p:nvPr/>
            </p:nvSpPr>
            <p:spPr bwMode="auto">
              <a:xfrm>
                <a:off x="4524031" y="2786741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0" name="Freeform 157"/>
              <p:cNvSpPr>
                <a:spLocks noEditPoints="1"/>
              </p:cNvSpPr>
              <p:nvPr/>
            </p:nvSpPr>
            <p:spPr bwMode="auto">
              <a:xfrm>
                <a:off x="446273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6182520" y="5292152"/>
              <a:ext cx="218527" cy="219859"/>
              <a:chOff x="4995729" y="2650828"/>
              <a:chExt cx="218527" cy="219859"/>
            </a:xfrm>
            <a:grpFill/>
          </p:grpSpPr>
          <p:sp>
            <p:nvSpPr>
              <p:cNvPr id="311" name="Rectangle 158"/>
              <p:cNvSpPr>
                <a:spLocks noChangeArrowheads="1"/>
              </p:cNvSpPr>
              <p:nvPr/>
            </p:nvSpPr>
            <p:spPr bwMode="auto">
              <a:xfrm>
                <a:off x="5047697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2" name="Oval 159"/>
              <p:cNvSpPr>
                <a:spLocks noChangeArrowheads="1"/>
              </p:cNvSpPr>
              <p:nvPr/>
            </p:nvSpPr>
            <p:spPr bwMode="auto">
              <a:xfrm>
                <a:off x="505702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3" name="Rectangle 160"/>
              <p:cNvSpPr>
                <a:spLocks noChangeArrowheads="1"/>
              </p:cNvSpPr>
              <p:nvPr/>
            </p:nvSpPr>
            <p:spPr bwMode="auto">
              <a:xfrm>
                <a:off x="5126313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4" name="Oval 161"/>
              <p:cNvSpPr>
                <a:spLocks noChangeArrowheads="1"/>
              </p:cNvSpPr>
              <p:nvPr/>
            </p:nvSpPr>
            <p:spPr bwMode="auto">
              <a:xfrm>
                <a:off x="513564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5" name="Freeform 162"/>
              <p:cNvSpPr>
                <a:spLocks noEditPoints="1"/>
              </p:cNvSpPr>
              <p:nvPr/>
            </p:nvSpPr>
            <p:spPr bwMode="auto">
              <a:xfrm>
                <a:off x="499572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6" name="Freeform 163"/>
              <p:cNvSpPr>
                <a:spLocks noEditPoints="1"/>
              </p:cNvSpPr>
              <p:nvPr/>
            </p:nvSpPr>
            <p:spPr bwMode="auto">
              <a:xfrm>
                <a:off x="5047697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7532778" y="6479095"/>
              <a:ext cx="218527" cy="219859"/>
              <a:chOff x="5528723" y="2650828"/>
              <a:chExt cx="218527" cy="219859"/>
            </a:xfrm>
            <a:grpFill/>
          </p:grpSpPr>
          <p:sp>
            <p:nvSpPr>
              <p:cNvPr id="305" name="Freeform 164"/>
              <p:cNvSpPr>
                <a:spLocks/>
              </p:cNvSpPr>
              <p:nvPr/>
            </p:nvSpPr>
            <p:spPr bwMode="auto">
              <a:xfrm>
                <a:off x="5590017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6" name="Oval 165"/>
              <p:cNvSpPr>
                <a:spLocks noChangeArrowheads="1"/>
              </p:cNvSpPr>
              <p:nvPr/>
            </p:nvSpPr>
            <p:spPr bwMode="auto">
              <a:xfrm>
                <a:off x="559001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7" name="Freeform 166"/>
              <p:cNvSpPr>
                <a:spLocks/>
              </p:cNvSpPr>
              <p:nvPr/>
            </p:nvSpPr>
            <p:spPr bwMode="auto">
              <a:xfrm>
                <a:off x="5651311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8" name="Oval 167"/>
              <p:cNvSpPr>
                <a:spLocks noChangeArrowheads="1"/>
              </p:cNvSpPr>
              <p:nvPr/>
            </p:nvSpPr>
            <p:spPr bwMode="auto">
              <a:xfrm>
                <a:off x="566863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9" name="Freeform 168"/>
              <p:cNvSpPr>
                <a:spLocks noEditPoints="1"/>
              </p:cNvSpPr>
              <p:nvPr/>
            </p:nvSpPr>
            <p:spPr bwMode="auto">
              <a:xfrm>
                <a:off x="5580690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0" name="Freeform 169"/>
              <p:cNvSpPr>
                <a:spLocks noEditPoints="1"/>
              </p:cNvSpPr>
              <p:nvPr/>
            </p:nvSpPr>
            <p:spPr bwMode="auto">
              <a:xfrm>
                <a:off x="552872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10266595" y="2929031"/>
              <a:ext cx="218527" cy="219859"/>
              <a:chOff x="6061716" y="2650828"/>
              <a:chExt cx="218527" cy="219859"/>
            </a:xfrm>
            <a:grpFill/>
          </p:grpSpPr>
          <p:sp>
            <p:nvSpPr>
              <p:cNvPr id="299" name="Oval 170"/>
              <p:cNvSpPr>
                <a:spLocks noChangeArrowheads="1"/>
              </p:cNvSpPr>
              <p:nvPr/>
            </p:nvSpPr>
            <p:spPr bwMode="auto">
              <a:xfrm>
                <a:off x="612301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0" name="Rectangle 171"/>
              <p:cNvSpPr>
                <a:spLocks noChangeArrowheads="1"/>
              </p:cNvSpPr>
              <p:nvPr/>
            </p:nvSpPr>
            <p:spPr bwMode="auto">
              <a:xfrm>
                <a:off x="6115015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1" name="Freeform 172"/>
              <p:cNvSpPr>
                <a:spLocks noEditPoints="1"/>
              </p:cNvSpPr>
              <p:nvPr/>
            </p:nvSpPr>
            <p:spPr bwMode="auto">
              <a:xfrm>
                <a:off x="6149659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2" name="Freeform 173"/>
              <p:cNvSpPr>
                <a:spLocks noEditPoints="1"/>
              </p:cNvSpPr>
              <p:nvPr/>
            </p:nvSpPr>
            <p:spPr bwMode="auto">
              <a:xfrm>
                <a:off x="606171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3" name="Oval 174"/>
              <p:cNvSpPr>
                <a:spLocks noChangeArrowheads="1"/>
              </p:cNvSpPr>
              <p:nvPr/>
            </p:nvSpPr>
            <p:spPr bwMode="auto">
              <a:xfrm>
                <a:off x="620162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4" name="Rectangle 175"/>
              <p:cNvSpPr>
                <a:spLocks noChangeArrowheads="1"/>
              </p:cNvSpPr>
              <p:nvPr/>
            </p:nvSpPr>
            <p:spPr bwMode="auto">
              <a:xfrm>
                <a:off x="6193632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11319916" y="5170755"/>
              <a:ext cx="218527" cy="219859"/>
              <a:chOff x="6594709" y="2650828"/>
              <a:chExt cx="218527" cy="219859"/>
            </a:xfrm>
            <a:grpFill/>
          </p:grpSpPr>
          <p:sp>
            <p:nvSpPr>
              <p:cNvPr id="293" name="Oval 176"/>
              <p:cNvSpPr>
                <a:spLocks noChangeArrowheads="1"/>
              </p:cNvSpPr>
              <p:nvPr/>
            </p:nvSpPr>
            <p:spPr bwMode="auto">
              <a:xfrm>
                <a:off x="665600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4" name="Freeform 177"/>
              <p:cNvSpPr>
                <a:spLocks/>
              </p:cNvSpPr>
              <p:nvPr/>
            </p:nvSpPr>
            <p:spPr bwMode="auto">
              <a:xfrm>
                <a:off x="6638681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5" name="Freeform 178"/>
              <p:cNvSpPr>
                <a:spLocks noEditPoints="1"/>
              </p:cNvSpPr>
              <p:nvPr/>
            </p:nvSpPr>
            <p:spPr bwMode="auto">
              <a:xfrm>
                <a:off x="6682653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6" name="Freeform 179"/>
              <p:cNvSpPr>
                <a:spLocks noEditPoints="1"/>
              </p:cNvSpPr>
              <p:nvPr/>
            </p:nvSpPr>
            <p:spPr bwMode="auto">
              <a:xfrm>
                <a:off x="659470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7" name="Freeform 180"/>
              <p:cNvSpPr>
                <a:spLocks/>
              </p:cNvSpPr>
              <p:nvPr/>
            </p:nvSpPr>
            <p:spPr bwMode="auto">
              <a:xfrm>
                <a:off x="6734620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8" name="Oval 181"/>
              <p:cNvSpPr>
                <a:spLocks noChangeArrowheads="1"/>
              </p:cNvSpPr>
              <p:nvPr/>
            </p:nvSpPr>
            <p:spPr bwMode="auto">
              <a:xfrm>
                <a:off x="673462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6732975" y="5851174"/>
              <a:ext cx="218527" cy="219859"/>
              <a:chOff x="7127702" y="2650828"/>
              <a:chExt cx="218527" cy="219859"/>
            </a:xfrm>
            <a:grpFill/>
          </p:grpSpPr>
          <p:sp>
            <p:nvSpPr>
              <p:cNvPr id="287" name="Oval 182"/>
              <p:cNvSpPr>
                <a:spLocks noChangeArrowheads="1"/>
              </p:cNvSpPr>
              <p:nvPr/>
            </p:nvSpPr>
            <p:spPr bwMode="auto">
              <a:xfrm>
                <a:off x="7188996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8" name="Freeform 183"/>
              <p:cNvSpPr>
                <a:spLocks/>
              </p:cNvSpPr>
              <p:nvPr/>
            </p:nvSpPr>
            <p:spPr bwMode="auto">
              <a:xfrm>
                <a:off x="7250290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9" name="Freeform 184"/>
              <p:cNvSpPr>
                <a:spLocks/>
              </p:cNvSpPr>
              <p:nvPr/>
            </p:nvSpPr>
            <p:spPr bwMode="auto">
              <a:xfrm>
                <a:off x="7188996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0" name="Oval 185"/>
              <p:cNvSpPr>
                <a:spLocks noChangeArrowheads="1"/>
              </p:cNvSpPr>
              <p:nvPr/>
            </p:nvSpPr>
            <p:spPr bwMode="auto">
              <a:xfrm>
                <a:off x="726761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1" name="Freeform 186"/>
              <p:cNvSpPr>
                <a:spLocks noEditPoints="1"/>
              </p:cNvSpPr>
              <p:nvPr/>
            </p:nvSpPr>
            <p:spPr bwMode="auto">
              <a:xfrm>
                <a:off x="7127702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2" name="Freeform 187"/>
              <p:cNvSpPr>
                <a:spLocks noEditPoints="1"/>
              </p:cNvSpPr>
              <p:nvPr/>
            </p:nvSpPr>
            <p:spPr bwMode="auto">
              <a:xfrm>
                <a:off x="7215646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7660695" y="2650828"/>
              <a:ext cx="218527" cy="219859"/>
              <a:chOff x="7660695" y="2650828"/>
              <a:chExt cx="218527" cy="219859"/>
            </a:xfrm>
            <a:grpFill/>
          </p:grpSpPr>
          <p:sp>
            <p:nvSpPr>
              <p:cNvPr id="283" name="Freeform 188"/>
              <p:cNvSpPr>
                <a:spLocks/>
              </p:cNvSpPr>
              <p:nvPr/>
            </p:nvSpPr>
            <p:spPr bwMode="auto">
              <a:xfrm>
                <a:off x="7731317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4" name="Freeform 189"/>
              <p:cNvSpPr>
                <a:spLocks/>
              </p:cNvSpPr>
              <p:nvPr/>
            </p:nvSpPr>
            <p:spPr bwMode="auto">
              <a:xfrm>
                <a:off x="7720657" y="2712122"/>
                <a:ext cx="30648" cy="47969"/>
              </a:xfrm>
              <a:custGeom>
                <a:avLst/>
                <a:gdLst>
                  <a:gd name="T0" fmla="*/ 5 w 23"/>
                  <a:gd name="T1" fmla="*/ 0 h 36"/>
                  <a:gd name="T2" fmla="*/ 0 w 23"/>
                  <a:gd name="T3" fmla="*/ 3 h 36"/>
                  <a:gd name="T4" fmla="*/ 13 w 23"/>
                  <a:gd name="T5" fmla="*/ 18 h 36"/>
                  <a:gd name="T6" fmla="*/ 0 w 23"/>
                  <a:gd name="T7" fmla="*/ 31 h 36"/>
                  <a:gd name="T8" fmla="*/ 5 w 23"/>
                  <a:gd name="T9" fmla="*/ 36 h 36"/>
                  <a:gd name="T10" fmla="*/ 23 w 23"/>
                  <a:gd name="T11" fmla="*/ 18 h 36"/>
                  <a:gd name="T12" fmla="*/ 5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5" y="0"/>
                    </a:moveTo>
                    <a:lnTo>
                      <a:pt x="0" y="3"/>
                    </a:lnTo>
                    <a:lnTo>
                      <a:pt x="13" y="18"/>
                    </a:lnTo>
                    <a:lnTo>
                      <a:pt x="0" y="31"/>
                    </a:lnTo>
                    <a:lnTo>
                      <a:pt x="5" y="36"/>
                    </a:lnTo>
                    <a:lnTo>
                      <a:pt x="23" y="18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5" name="Freeform 190"/>
              <p:cNvSpPr>
                <a:spLocks noEditPoints="1"/>
              </p:cNvSpPr>
              <p:nvPr/>
            </p:nvSpPr>
            <p:spPr bwMode="auto">
              <a:xfrm>
                <a:off x="7660695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6" name="Freeform 191"/>
              <p:cNvSpPr>
                <a:spLocks/>
              </p:cNvSpPr>
              <p:nvPr/>
            </p:nvSpPr>
            <p:spPr bwMode="auto">
              <a:xfrm>
                <a:off x="7789946" y="2712122"/>
                <a:ext cx="30648" cy="47969"/>
              </a:xfrm>
              <a:custGeom>
                <a:avLst/>
                <a:gdLst>
                  <a:gd name="T0" fmla="*/ 18 w 23"/>
                  <a:gd name="T1" fmla="*/ 0 h 36"/>
                  <a:gd name="T2" fmla="*/ 0 w 23"/>
                  <a:gd name="T3" fmla="*/ 18 h 36"/>
                  <a:gd name="T4" fmla="*/ 18 w 23"/>
                  <a:gd name="T5" fmla="*/ 36 h 36"/>
                  <a:gd name="T6" fmla="*/ 23 w 23"/>
                  <a:gd name="T7" fmla="*/ 31 h 36"/>
                  <a:gd name="T8" fmla="*/ 10 w 23"/>
                  <a:gd name="T9" fmla="*/ 18 h 36"/>
                  <a:gd name="T10" fmla="*/ 23 w 23"/>
                  <a:gd name="T11" fmla="*/ 3 h 36"/>
                  <a:gd name="T12" fmla="*/ 18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lnTo>
                      <a:pt x="0" y="18"/>
                    </a:lnTo>
                    <a:lnTo>
                      <a:pt x="18" y="36"/>
                    </a:lnTo>
                    <a:lnTo>
                      <a:pt x="23" y="31"/>
                    </a:lnTo>
                    <a:lnTo>
                      <a:pt x="10" y="18"/>
                    </a:lnTo>
                    <a:lnTo>
                      <a:pt x="23" y="3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1358163" y="3536727"/>
              <a:ext cx="218527" cy="219859"/>
              <a:chOff x="1264778" y="3185154"/>
              <a:chExt cx="218527" cy="219859"/>
            </a:xfrm>
            <a:grpFill/>
          </p:grpSpPr>
          <p:sp>
            <p:nvSpPr>
              <p:cNvPr id="279" name="Freeform 192"/>
              <p:cNvSpPr>
                <a:spLocks/>
              </p:cNvSpPr>
              <p:nvPr/>
            </p:nvSpPr>
            <p:spPr bwMode="auto">
              <a:xfrm>
                <a:off x="1326072" y="3326397"/>
                <a:ext cx="95939" cy="25317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0" name="Freeform 193"/>
              <p:cNvSpPr>
                <a:spLocks/>
              </p:cNvSpPr>
              <p:nvPr/>
            </p:nvSpPr>
            <p:spPr bwMode="auto">
              <a:xfrm>
                <a:off x="1323407" y="3246448"/>
                <a:ext cx="30648" cy="49301"/>
              </a:xfrm>
              <a:custGeom>
                <a:avLst/>
                <a:gdLst>
                  <a:gd name="T0" fmla="*/ 5 w 23"/>
                  <a:gd name="T1" fmla="*/ 37 h 37"/>
                  <a:gd name="T2" fmla="*/ 23 w 23"/>
                  <a:gd name="T3" fmla="*/ 18 h 37"/>
                  <a:gd name="T4" fmla="*/ 5 w 23"/>
                  <a:gd name="T5" fmla="*/ 0 h 37"/>
                  <a:gd name="T6" fmla="*/ 0 w 23"/>
                  <a:gd name="T7" fmla="*/ 4 h 37"/>
                  <a:gd name="T8" fmla="*/ 13 w 23"/>
                  <a:gd name="T9" fmla="*/ 18 h 37"/>
                  <a:gd name="T10" fmla="*/ 0 w 23"/>
                  <a:gd name="T11" fmla="*/ 32 h 37"/>
                  <a:gd name="T12" fmla="*/ 5 w 23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5" y="37"/>
                    </a:moveTo>
                    <a:lnTo>
                      <a:pt x="23" y="18"/>
                    </a:lnTo>
                    <a:lnTo>
                      <a:pt x="5" y="0"/>
                    </a:lnTo>
                    <a:lnTo>
                      <a:pt x="0" y="4"/>
                    </a:lnTo>
                    <a:lnTo>
                      <a:pt x="13" y="18"/>
                    </a:lnTo>
                    <a:lnTo>
                      <a:pt x="0" y="32"/>
                    </a:lnTo>
                    <a:lnTo>
                      <a:pt x="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1" name="Freeform 194"/>
              <p:cNvSpPr>
                <a:spLocks/>
              </p:cNvSpPr>
              <p:nvPr/>
            </p:nvSpPr>
            <p:spPr bwMode="auto">
              <a:xfrm>
                <a:off x="1392696" y="3246448"/>
                <a:ext cx="30648" cy="49301"/>
              </a:xfrm>
              <a:custGeom>
                <a:avLst/>
                <a:gdLst>
                  <a:gd name="T0" fmla="*/ 18 w 23"/>
                  <a:gd name="T1" fmla="*/ 0 h 37"/>
                  <a:gd name="T2" fmla="*/ 0 w 23"/>
                  <a:gd name="T3" fmla="*/ 18 h 37"/>
                  <a:gd name="T4" fmla="*/ 18 w 23"/>
                  <a:gd name="T5" fmla="*/ 37 h 37"/>
                  <a:gd name="T6" fmla="*/ 23 w 23"/>
                  <a:gd name="T7" fmla="*/ 32 h 37"/>
                  <a:gd name="T8" fmla="*/ 10 w 23"/>
                  <a:gd name="T9" fmla="*/ 18 h 37"/>
                  <a:gd name="T10" fmla="*/ 23 w 23"/>
                  <a:gd name="T11" fmla="*/ 4 h 37"/>
                  <a:gd name="T12" fmla="*/ 18 w 23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18" y="0"/>
                    </a:moveTo>
                    <a:lnTo>
                      <a:pt x="0" y="18"/>
                    </a:lnTo>
                    <a:lnTo>
                      <a:pt x="18" y="37"/>
                    </a:lnTo>
                    <a:lnTo>
                      <a:pt x="23" y="32"/>
                    </a:lnTo>
                    <a:lnTo>
                      <a:pt x="10" y="18"/>
                    </a:lnTo>
                    <a:lnTo>
                      <a:pt x="23" y="4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2" name="Freeform 195"/>
              <p:cNvSpPr>
                <a:spLocks noEditPoints="1"/>
              </p:cNvSpPr>
              <p:nvPr/>
            </p:nvSpPr>
            <p:spPr bwMode="auto">
              <a:xfrm>
                <a:off x="1264778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069162" y="5726412"/>
              <a:ext cx="511528" cy="514646"/>
              <a:chOff x="1797771" y="3185154"/>
              <a:chExt cx="218527" cy="219859"/>
            </a:xfrm>
            <a:grpFill/>
          </p:grpSpPr>
          <p:sp>
            <p:nvSpPr>
              <p:cNvPr id="273" name="Freeform 196"/>
              <p:cNvSpPr>
                <a:spLocks/>
              </p:cNvSpPr>
              <p:nvPr/>
            </p:nvSpPr>
            <p:spPr bwMode="auto">
              <a:xfrm>
                <a:off x="1859065" y="3321067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4" name="Oval 197"/>
              <p:cNvSpPr>
                <a:spLocks noChangeArrowheads="1"/>
              </p:cNvSpPr>
              <p:nvPr/>
            </p:nvSpPr>
            <p:spPr bwMode="auto">
              <a:xfrm>
                <a:off x="1859065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5" name="Rectangle 198"/>
              <p:cNvSpPr>
                <a:spLocks noChangeArrowheads="1"/>
              </p:cNvSpPr>
              <p:nvPr/>
            </p:nvSpPr>
            <p:spPr bwMode="auto">
              <a:xfrm>
                <a:off x="1849738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6" name="Oval 199"/>
              <p:cNvSpPr>
                <a:spLocks noChangeArrowheads="1"/>
              </p:cNvSpPr>
              <p:nvPr/>
            </p:nvSpPr>
            <p:spPr bwMode="auto">
              <a:xfrm>
                <a:off x="1937682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7" name="Freeform 200"/>
              <p:cNvSpPr>
                <a:spLocks noEditPoints="1"/>
              </p:cNvSpPr>
              <p:nvPr/>
            </p:nvSpPr>
            <p:spPr bwMode="auto">
              <a:xfrm>
                <a:off x="1797771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8" name="Rectangle 201"/>
              <p:cNvSpPr>
                <a:spLocks noChangeArrowheads="1"/>
              </p:cNvSpPr>
              <p:nvPr/>
            </p:nvSpPr>
            <p:spPr bwMode="auto">
              <a:xfrm>
                <a:off x="1928354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261117" y="5120236"/>
              <a:ext cx="218527" cy="219859"/>
              <a:chOff x="2330764" y="3185154"/>
              <a:chExt cx="218527" cy="219859"/>
            </a:xfrm>
            <a:grpFill/>
          </p:grpSpPr>
          <p:sp>
            <p:nvSpPr>
              <p:cNvPr id="269" name="Freeform 202"/>
              <p:cNvSpPr>
                <a:spLocks/>
              </p:cNvSpPr>
              <p:nvPr/>
            </p:nvSpPr>
            <p:spPr bwMode="auto">
              <a:xfrm>
                <a:off x="2400053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0" name="Rectangle 203"/>
              <p:cNvSpPr>
                <a:spLocks noChangeArrowheads="1"/>
              </p:cNvSpPr>
              <p:nvPr/>
            </p:nvSpPr>
            <p:spPr bwMode="auto">
              <a:xfrm>
                <a:off x="2382731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1" name="Freeform 204"/>
              <p:cNvSpPr>
                <a:spLocks noEditPoints="1"/>
              </p:cNvSpPr>
              <p:nvPr/>
            </p:nvSpPr>
            <p:spPr bwMode="auto">
              <a:xfrm>
                <a:off x="2330764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2" name="Rectangle 206"/>
              <p:cNvSpPr>
                <a:spLocks noChangeArrowheads="1"/>
              </p:cNvSpPr>
              <p:nvPr/>
            </p:nvSpPr>
            <p:spPr bwMode="auto">
              <a:xfrm>
                <a:off x="2461347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167507" y="4474516"/>
              <a:ext cx="218527" cy="219859"/>
              <a:chOff x="2863757" y="3185154"/>
              <a:chExt cx="218527" cy="219859"/>
            </a:xfrm>
            <a:grpFill/>
          </p:grpSpPr>
          <p:sp>
            <p:nvSpPr>
              <p:cNvPr id="265" name="Freeform 207"/>
              <p:cNvSpPr>
                <a:spLocks/>
              </p:cNvSpPr>
              <p:nvPr/>
            </p:nvSpPr>
            <p:spPr bwMode="auto">
              <a:xfrm>
                <a:off x="2905065" y="3246448"/>
                <a:ext cx="47969" cy="30647"/>
              </a:xfrm>
              <a:custGeom>
                <a:avLst/>
                <a:gdLst>
                  <a:gd name="T0" fmla="*/ 18 w 36"/>
                  <a:gd name="T1" fmla="*/ 10 h 23"/>
                  <a:gd name="T2" fmla="*/ 31 w 36"/>
                  <a:gd name="T3" fmla="*/ 23 h 23"/>
                  <a:gd name="T4" fmla="*/ 36 w 36"/>
                  <a:gd name="T5" fmla="*/ 18 h 23"/>
                  <a:gd name="T6" fmla="*/ 18 w 36"/>
                  <a:gd name="T7" fmla="*/ 0 h 23"/>
                  <a:gd name="T8" fmla="*/ 0 w 36"/>
                  <a:gd name="T9" fmla="*/ 18 h 23"/>
                  <a:gd name="T10" fmla="*/ 5 w 36"/>
                  <a:gd name="T11" fmla="*/ 23 h 23"/>
                  <a:gd name="T12" fmla="*/ 18 w 36"/>
                  <a:gd name="T13" fmla="*/ 1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18" y="10"/>
                    </a:move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6" name="Freeform 208"/>
              <p:cNvSpPr>
                <a:spLocks noEditPoints="1"/>
              </p:cNvSpPr>
              <p:nvPr/>
            </p:nvSpPr>
            <p:spPr bwMode="auto">
              <a:xfrm>
                <a:off x="2907730" y="3317069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7" name="Freeform 209"/>
              <p:cNvSpPr>
                <a:spLocks/>
              </p:cNvSpPr>
              <p:nvPr/>
            </p:nvSpPr>
            <p:spPr bwMode="auto">
              <a:xfrm>
                <a:off x="2993008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8" name="Freeform 210"/>
              <p:cNvSpPr>
                <a:spLocks noEditPoints="1"/>
              </p:cNvSpPr>
              <p:nvPr/>
            </p:nvSpPr>
            <p:spPr bwMode="auto">
              <a:xfrm>
                <a:off x="2863757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3396750" y="3185154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261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2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3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4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3730738" y="4288200"/>
              <a:ext cx="218527" cy="219859"/>
              <a:chOff x="3929743" y="3185154"/>
              <a:chExt cx="218527" cy="219859"/>
            </a:xfrm>
            <a:grpFill/>
          </p:grpSpPr>
          <p:sp>
            <p:nvSpPr>
              <p:cNvPr id="257" name="Freeform 215"/>
              <p:cNvSpPr>
                <a:spLocks/>
              </p:cNvSpPr>
              <p:nvPr/>
            </p:nvSpPr>
            <p:spPr bwMode="auto">
              <a:xfrm>
                <a:off x="3981711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8" name="Freeform 216"/>
              <p:cNvSpPr>
                <a:spLocks noEditPoints="1"/>
              </p:cNvSpPr>
              <p:nvPr/>
            </p:nvSpPr>
            <p:spPr bwMode="auto">
              <a:xfrm>
                <a:off x="4017687" y="3317069"/>
                <a:ext cx="42639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9" name="Freeform 217"/>
              <p:cNvSpPr>
                <a:spLocks noEditPoints="1"/>
              </p:cNvSpPr>
              <p:nvPr/>
            </p:nvSpPr>
            <p:spPr bwMode="auto">
              <a:xfrm>
                <a:off x="392974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0" name="Freeform 218"/>
              <p:cNvSpPr>
                <a:spLocks/>
              </p:cNvSpPr>
              <p:nvPr/>
            </p:nvSpPr>
            <p:spPr bwMode="auto">
              <a:xfrm>
                <a:off x="4060327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4462736" y="3185154"/>
              <a:ext cx="218527" cy="219859"/>
              <a:chOff x="4462736" y="3185154"/>
              <a:chExt cx="218527" cy="219859"/>
            </a:xfrm>
            <a:grpFill/>
          </p:grpSpPr>
          <p:sp>
            <p:nvSpPr>
              <p:cNvPr id="253" name="Freeform 219"/>
              <p:cNvSpPr>
                <a:spLocks noEditPoints="1"/>
              </p:cNvSpPr>
              <p:nvPr/>
            </p:nvSpPr>
            <p:spPr bwMode="auto">
              <a:xfrm>
                <a:off x="4532026" y="3317069"/>
                <a:ext cx="79949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4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4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4" name="Freeform 220"/>
              <p:cNvSpPr>
                <a:spLocks/>
              </p:cNvSpPr>
              <p:nvPr/>
            </p:nvSpPr>
            <p:spPr bwMode="auto">
              <a:xfrm>
                <a:off x="4514704" y="3246448"/>
                <a:ext cx="35977" cy="26650"/>
              </a:xfrm>
              <a:custGeom>
                <a:avLst/>
                <a:gdLst>
                  <a:gd name="T0" fmla="*/ 23 w 27"/>
                  <a:gd name="T1" fmla="*/ 20 h 20"/>
                  <a:gd name="T2" fmla="*/ 27 w 27"/>
                  <a:gd name="T3" fmla="*/ 15 h 20"/>
                  <a:gd name="T4" fmla="*/ 20 w 27"/>
                  <a:gd name="T5" fmla="*/ 10 h 20"/>
                  <a:gd name="T6" fmla="*/ 27 w 27"/>
                  <a:gd name="T7" fmla="*/ 5 h 20"/>
                  <a:gd name="T8" fmla="*/ 23 w 27"/>
                  <a:gd name="T9" fmla="*/ 0 h 20"/>
                  <a:gd name="T10" fmla="*/ 13 w 27"/>
                  <a:gd name="T11" fmla="*/ 7 h 20"/>
                  <a:gd name="T12" fmla="*/ 4 w 27"/>
                  <a:gd name="T13" fmla="*/ 0 h 20"/>
                  <a:gd name="T14" fmla="*/ 0 w 27"/>
                  <a:gd name="T15" fmla="*/ 5 h 20"/>
                  <a:gd name="T16" fmla="*/ 7 w 27"/>
                  <a:gd name="T17" fmla="*/ 10 h 20"/>
                  <a:gd name="T18" fmla="*/ 0 w 27"/>
                  <a:gd name="T19" fmla="*/ 15 h 20"/>
                  <a:gd name="T20" fmla="*/ 4 w 27"/>
                  <a:gd name="T21" fmla="*/ 20 h 20"/>
                  <a:gd name="T22" fmla="*/ 13 w 27"/>
                  <a:gd name="T23" fmla="*/ 13 h 20"/>
                  <a:gd name="T24" fmla="*/ 23 w 27"/>
                  <a:gd name="T2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20"/>
                    </a:move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5" name="Freeform 221"/>
              <p:cNvSpPr>
                <a:spLocks noEditPoints="1"/>
              </p:cNvSpPr>
              <p:nvPr/>
            </p:nvSpPr>
            <p:spPr bwMode="auto">
              <a:xfrm>
                <a:off x="446273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6" name="Freeform 222"/>
              <p:cNvSpPr>
                <a:spLocks/>
              </p:cNvSpPr>
              <p:nvPr/>
            </p:nvSpPr>
            <p:spPr bwMode="auto">
              <a:xfrm>
                <a:off x="4593320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4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4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4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4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5630291" y="4318848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24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2" name="Freeform 227"/>
              <p:cNvSpPr>
                <a:spLocks/>
              </p:cNvSpPr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4302389" y="1067927"/>
              <a:ext cx="604982" cy="608670"/>
              <a:chOff x="5528723" y="3185154"/>
              <a:chExt cx="218527" cy="219859"/>
            </a:xfrm>
            <a:grpFill/>
          </p:grpSpPr>
          <p:sp>
            <p:nvSpPr>
              <p:cNvPr id="244" name="Oval 228"/>
              <p:cNvSpPr>
                <a:spLocks noChangeArrowheads="1"/>
              </p:cNvSpPr>
              <p:nvPr/>
            </p:nvSpPr>
            <p:spPr bwMode="auto">
              <a:xfrm>
                <a:off x="559001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5" name="Oval 229"/>
              <p:cNvSpPr>
                <a:spLocks noChangeArrowheads="1"/>
              </p:cNvSpPr>
              <p:nvPr/>
            </p:nvSpPr>
            <p:spPr bwMode="auto">
              <a:xfrm>
                <a:off x="566863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6" name="Freeform 230"/>
              <p:cNvSpPr>
                <a:spLocks/>
              </p:cNvSpPr>
              <p:nvPr/>
            </p:nvSpPr>
            <p:spPr bwMode="auto">
              <a:xfrm>
                <a:off x="5563367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7" name="Freeform 231"/>
              <p:cNvSpPr>
                <a:spLocks noEditPoints="1"/>
              </p:cNvSpPr>
              <p:nvPr/>
            </p:nvSpPr>
            <p:spPr bwMode="auto">
              <a:xfrm>
                <a:off x="552872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2618548" y="785679"/>
              <a:ext cx="218527" cy="219859"/>
              <a:chOff x="6061716" y="3185154"/>
              <a:chExt cx="218527" cy="219859"/>
            </a:xfrm>
            <a:grpFill/>
          </p:grpSpPr>
          <p:sp>
            <p:nvSpPr>
              <p:cNvPr id="240" name="Freeform 232"/>
              <p:cNvSpPr>
                <a:spLocks/>
              </p:cNvSpPr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1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2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3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6201627" y="2789676"/>
              <a:ext cx="611609" cy="615337"/>
              <a:chOff x="6594709" y="3185154"/>
              <a:chExt cx="218527" cy="219859"/>
            </a:xfrm>
            <a:grpFill/>
          </p:grpSpPr>
          <p:sp>
            <p:nvSpPr>
              <p:cNvPr id="238" name="Freeform 236"/>
              <p:cNvSpPr>
                <a:spLocks/>
              </p:cNvSpPr>
              <p:nvPr/>
            </p:nvSpPr>
            <p:spPr bwMode="auto">
              <a:xfrm>
                <a:off x="6656003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7"/>
              <p:cNvSpPr>
                <a:spLocks noEditPoints="1"/>
              </p:cNvSpPr>
              <p:nvPr/>
            </p:nvSpPr>
            <p:spPr bwMode="auto">
              <a:xfrm>
                <a:off x="659470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9835733" y="5037400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236" name="Freeform 238"/>
              <p:cNvSpPr>
                <a:spLocks/>
              </p:cNvSpPr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7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6"/>
            <p:cNvSpPr>
              <a:spLocks noEditPoints="1"/>
            </p:cNvSpPr>
            <p:nvPr/>
          </p:nvSpPr>
          <p:spPr bwMode="auto">
            <a:xfrm>
              <a:off x="4977992" y="773677"/>
              <a:ext cx="254000" cy="271463"/>
            </a:xfrm>
            <a:custGeom>
              <a:avLst/>
              <a:gdLst>
                <a:gd name="T0" fmla="*/ 88 w 98"/>
                <a:gd name="T1" fmla="*/ 12 h 104"/>
                <a:gd name="T2" fmla="*/ 78 w 98"/>
                <a:gd name="T3" fmla="*/ 22 h 104"/>
                <a:gd name="T4" fmla="*/ 78 w 98"/>
                <a:gd name="T5" fmla="*/ 34 h 104"/>
                <a:gd name="T6" fmla="*/ 72 w 98"/>
                <a:gd name="T7" fmla="*/ 32 h 104"/>
                <a:gd name="T8" fmla="*/ 65 w 98"/>
                <a:gd name="T9" fmla="*/ 35 h 104"/>
                <a:gd name="T10" fmla="*/ 56 w 98"/>
                <a:gd name="T11" fmla="*/ 28 h 104"/>
                <a:gd name="T12" fmla="*/ 50 w 98"/>
                <a:gd name="T13" fmla="*/ 30 h 104"/>
                <a:gd name="T14" fmla="*/ 50 w 98"/>
                <a:gd name="T15" fmla="*/ 10 h 104"/>
                <a:gd name="T16" fmla="*/ 40 w 98"/>
                <a:gd name="T17" fmla="*/ 0 h 104"/>
                <a:gd name="T18" fmla="*/ 30 w 98"/>
                <a:gd name="T19" fmla="*/ 10 h 104"/>
                <a:gd name="T20" fmla="*/ 30 w 98"/>
                <a:gd name="T21" fmla="*/ 41 h 104"/>
                <a:gd name="T22" fmla="*/ 8 w 98"/>
                <a:gd name="T23" fmla="*/ 34 h 104"/>
                <a:gd name="T24" fmla="*/ 29 w 98"/>
                <a:gd name="T25" fmla="*/ 82 h 104"/>
                <a:gd name="T26" fmla="*/ 64 w 98"/>
                <a:gd name="T27" fmla="*/ 104 h 104"/>
                <a:gd name="T28" fmla="*/ 98 w 98"/>
                <a:gd name="T29" fmla="*/ 70 h 104"/>
                <a:gd name="T30" fmla="*/ 98 w 98"/>
                <a:gd name="T31" fmla="*/ 22 h 104"/>
                <a:gd name="T32" fmla="*/ 88 w 98"/>
                <a:gd name="T33" fmla="*/ 12 h 104"/>
                <a:gd name="T34" fmla="*/ 94 w 98"/>
                <a:gd name="T35" fmla="*/ 55 h 104"/>
                <a:gd name="T36" fmla="*/ 94 w 98"/>
                <a:gd name="T37" fmla="*/ 70 h 104"/>
                <a:gd name="T38" fmla="*/ 64 w 98"/>
                <a:gd name="T39" fmla="*/ 100 h 104"/>
                <a:gd name="T40" fmla="*/ 33 w 98"/>
                <a:gd name="T41" fmla="*/ 80 h 104"/>
                <a:gd name="T42" fmla="*/ 10 w 98"/>
                <a:gd name="T43" fmla="*/ 37 h 104"/>
                <a:gd name="T44" fmla="*/ 34 w 98"/>
                <a:gd name="T45" fmla="*/ 51 h 104"/>
                <a:gd name="T46" fmla="*/ 34 w 98"/>
                <a:gd name="T47" fmla="*/ 10 h 104"/>
                <a:gd name="T48" fmla="*/ 40 w 98"/>
                <a:gd name="T49" fmla="*/ 4 h 104"/>
                <a:gd name="T50" fmla="*/ 46 w 98"/>
                <a:gd name="T51" fmla="*/ 10 h 104"/>
                <a:gd name="T52" fmla="*/ 46 w 98"/>
                <a:gd name="T53" fmla="*/ 46 h 104"/>
                <a:gd name="T54" fmla="*/ 50 w 98"/>
                <a:gd name="T55" fmla="*/ 46 h 104"/>
                <a:gd name="T56" fmla="*/ 50 w 98"/>
                <a:gd name="T57" fmla="*/ 38 h 104"/>
                <a:gd name="T58" fmla="*/ 56 w 98"/>
                <a:gd name="T59" fmla="*/ 32 h 104"/>
                <a:gd name="T60" fmla="*/ 62 w 98"/>
                <a:gd name="T61" fmla="*/ 38 h 104"/>
                <a:gd name="T62" fmla="*/ 62 w 98"/>
                <a:gd name="T63" fmla="*/ 42 h 104"/>
                <a:gd name="T64" fmla="*/ 66 w 98"/>
                <a:gd name="T65" fmla="*/ 42 h 104"/>
                <a:gd name="T66" fmla="*/ 66 w 98"/>
                <a:gd name="T67" fmla="*/ 42 h 104"/>
                <a:gd name="T68" fmla="*/ 72 w 98"/>
                <a:gd name="T69" fmla="*/ 36 h 104"/>
                <a:gd name="T70" fmla="*/ 78 w 98"/>
                <a:gd name="T71" fmla="*/ 42 h 104"/>
                <a:gd name="T72" fmla="*/ 78 w 98"/>
                <a:gd name="T73" fmla="*/ 46 h 104"/>
                <a:gd name="T74" fmla="*/ 82 w 98"/>
                <a:gd name="T75" fmla="*/ 46 h 104"/>
                <a:gd name="T76" fmla="*/ 82 w 98"/>
                <a:gd name="T77" fmla="*/ 22 h 104"/>
                <a:gd name="T78" fmla="*/ 88 w 98"/>
                <a:gd name="T79" fmla="*/ 16 h 104"/>
                <a:gd name="T80" fmla="*/ 94 w 98"/>
                <a:gd name="T81" fmla="*/ 22 h 104"/>
                <a:gd name="T82" fmla="*/ 94 w 98"/>
                <a:gd name="T83" fmla="*/ 5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04">
                  <a:moveTo>
                    <a:pt x="88" y="12"/>
                  </a:moveTo>
                  <a:cubicBezTo>
                    <a:pt x="82" y="12"/>
                    <a:pt x="78" y="16"/>
                    <a:pt x="78" y="2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4" y="33"/>
                    <a:pt x="74" y="32"/>
                    <a:pt x="72" y="32"/>
                  </a:cubicBezTo>
                  <a:cubicBezTo>
                    <a:pt x="69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2" y="34"/>
                    <a:pt x="13" y="29"/>
                    <a:pt x="8" y="34"/>
                  </a:cubicBezTo>
                  <a:cubicBezTo>
                    <a:pt x="0" y="42"/>
                    <a:pt x="16" y="58"/>
                    <a:pt x="29" y="82"/>
                  </a:cubicBezTo>
                  <a:cubicBezTo>
                    <a:pt x="38" y="98"/>
                    <a:pt x="52" y="104"/>
                    <a:pt x="64" y="104"/>
                  </a:cubicBezTo>
                  <a:cubicBezTo>
                    <a:pt x="83" y="104"/>
                    <a:pt x="98" y="89"/>
                    <a:pt x="98" y="70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8" y="16"/>
                    <a:pt x="94" y="12"/>
                    <a:pt x="88" y="12"/>
                  </a:cubicBezTo>
                  <a:close/>
                  <a:moveTo>
                    <a:pt x="94" y="55"/>
                  </a:moveTo>
                  <a:cubicBezTo>
                    <a:pt x="94" y="70"/>
                    <a:pt x="94" y="70"/>
                    <a:pt x="94" y="70"/>
                  </a:cubicBezTo>
                  <a:cubicBezTo>
                    <a:pt x="94" y="87"/>
                    <a:pt x="81" y="100"/>
                    <a:pt x="64" y="100"/>
                  </a:cubicBezTo>
                  <a:cubicBezTo>
                    <a:pt x="49" y="100"/>
                    <a:pt x="40" y="92"/>
                    <a:pt x="33" y="80"/>
                  </a:cubicBezTo>
                  <a:cubicBezTo>
                    <a:pt x="17" y="54"/>
                    <a:pt x="6" y="42"/>
                    <a:pt x="10" y="37"/>
                  </a:cubicBezTo>
                  <a:cubicBezTo>
                    <a:pt x="15" y="33"/>
                    <a:pt x="26" y="42"/>
                    <a:pt x="34" y="5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19"/>
                    <a:pt x="85" y="16"/>
                    <a:pt x="88" y="16"/>
                  </a:cubicBezTo>
                  <a:cubicBezTo>
                    <a:pt x="91" y="16"/>
                    <a:pt x="94" y="19"/>
                    <a:pt x="94" y="22"/>
                  </a:cubicBezTo>
                  <a:lnTo>
                    <a:pt x="94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5" name="Freeform 7"/>
            <p:cNvSpPr>
              <a:spLocks noEditPoints="1"/>
            </p:cNvSpPr>
            <p:nvPr/>
          </p:nvSpPr>
          <p:spPr bwMode="auto">
            <a:xfrm>
              <a:off x="4881564" y="3550345"/>
              <a:ext cx="255588" cy="292100"/>
            </a:xfrm>
            <a:custGeom>
              <a:avLst/>
              <a:gdLst>
                <a:gd name="T0" fmla="*/ 88 w 98"/>
                <a:gd name="T1" fmla="*/ 20 h 112"/>
                <a:gd name="T2" fmla="*/ 82 w 98"/>
                <a:gd name="T3" fmla="*/ 22 h 112"/>
                <a:gd name="T4" fmla="*/ 82 w 98"/>
                <a:gd name="T5" fmla="*/ 18 h 112"/>
                <a:gd name="T6" fmla="*/ 72 w 98"/>
                <a:gd name="T7" fmla="*/ 8 h 112"/>
                <a:gd name="T8" fmla="*/ 67 w 98"/>
                <a:gd name="T9" fmla="*/ 10 h 112"/>
                <a:gd name="T10" fmla="*/ 57 w 98"/>
                <a:gd name="T11" fmla="*/ 0 h 112"/>
                <a:gd name="T12" fmla="*/ 47 w 98"/>
                <a:gd name="T13" fmla="*/ 10 h 112"/>
                <a:gd name="T14" fmla="*/ 40 w 98"/>
                <a:gd name="T15" fmla="*/ 8 h 112"/>
                <a:gd name="T16" fmla="*/ 30 w 98"/>
                <a:gd name="T17" fmla="*/ 18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30 h 112"/>
                <a:gd name="T30" fmla="*/ 88 w 98"/>
                <a:gd name="T31" fmla="*/ 20 h 112"/>
                <a:gd name="T32" fmla="*/ 94 w 98"/>
                <a:gd name="T33" fmla="*/ 63 h 112"/>
                <a:gd name="T34" fmla="*/ 94 w 98"/>
                <a:gd name="T35" fmla="*/ 78 h 112"/>
                <a:gd name="T36" fmla="*/ 64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8 h 112"/>
                <a:gd name="T46" fmla="*/ 40 w 98"/>
                <a:gd name="T47" fmla="*/ 12 h 112"/>
                <a:gd name="T48" fmla="*/ 46 w 98"/>
                <a:gd name="T49" fmla="*/ 18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8 h 112"/>
                <a:gd name="T66" fmla="*/ 72 w 98"/>
                <a:gd name="T67" fmla="*/ 12 h 112"/>
                <a:gd name="T68" fmla="*/ 78 w 98"/>
                <a:gd name="T69" fmla="*/ 18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30 h 112"/>
                <a:gd name="T76" fmla="*/ 88 w 98"/>
                <a:gd name="T77" fmla="*/ 24 h 112"/>
                <a:gd name="T78" fmla="*/ 94 w 98"/>
                <a:gd name="T79" fmla="*/ 30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20"/>
                  </a:moveTo>
                  <a:cubicBezTo>
                    <a:pt x="86" y="20"/>
                    <a:pt x="86" y="21"/>
                    <a:pt x="82" y="22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2"/>
                    <a:pt x="78" y="8"/>
                    <a:pt x="72" y="8"/>
                  </a:cubicBezTo>
                  <a:cubicBezTo>
                    <a:pt x="70" y="8"/>
                    <a:pt x="68" y="9"/>
                    <a:pt x="67" y="10"/>
                  </a:cubicBezTo>
                  <a:cubicBezTo>
                    <a:pt x="67" y="4"/>
                    <a:pt x="62" y="0"/>
                    <a:pt x="57" y="0"/>
                  </a:cubicBezTo>
                  <a:cubicBezTo>
                    <a:pt x="51" y="0"/>
                    <a:pt x="47" y="4"/>
                    <a:pt x="47" y="10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8" y="24"/>
                    <a:pt x="94" y="20"/>
                    <a:pt x="88" y="20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4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5"/>
                    <a:pt x="69" y="12"/>
                    <a:pt x="72" y="12"/>
                  </a:cubicBezTo>
                  <a:cubicBezTo>
                    <a:pt x="75" y="12"/>
                    <a:pt x="78" y="15"/>
                    <a:pt x="78" y="18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7"/>
                    <a:pt x="85" y="24"/>
                    <a:pt x="88" y="24"/>
                  </a:cubicBezTo>
                  <a:cubicBezTo>
                    <a:pt x="91" y="24"/>
                    <a:pt x="94" y="27"/>
                    <a:pt x="94" y="30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647179" y="194653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234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5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10038206" y="6400642"/>
              <a:ext cx="295275" cy="292100"/>
              <a:chOff x="3138488" y="1911350"/>
              <a:chExt cx="295275" cy="292100"/>
            </a:xfrm>
            <a:grpFill/>
          </p:grpSpPr>
          <p:sp>
            <p:nvSpPr>
              <p:cNvPr id="232" name="Oval 10"/>
              <p:cNvSpPr>
                <a:spLocks noChangeArrowheads="1"/>
              </p:cNvSpPr>
              <p:nvPr/>
            </p:nvSpPr>
            <p:spPr bwMode="auto">
              <a:xfrm>
                <a:off x="3175000" y="1936750"/>
                <a:ext cx="20638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3" name="Freeform 11"/>
              <p:cNvSpPr>
                <a:spLocks noEditPoints="1"/>
              </p:cNvSpPr>
              <p:nvPr/>
            </p:nvSpPr>
            <p:spPr bwMode="auto">
              <a:xfrm>
                <a:off x="3138488" y="1911350"/>
                <a:ext cx="295275" cy="292100"/>
              </a:xfrm>
              <a:custGeom>
                <a:avLst/>
                <a:gdLst>
                  <a:gd name="T0" fmla="*/ 107 w 114"/>
                  <a:gd name="T1" fmla="*/ 47 h 112"/>
                  <a:gd name="T2" fmla="*/ 110 w 114"/>
                  <a:gd name="T3" fmla="*/ 40 h 112"/>
                  <a:gd name="T4" fmla="*/ 103 w 114"/>
                  <a:gd name="T5" fmla="*/ 31 h 112"/>
                  <a:gd name="T6" fmla="*/ 106 w 114"/>
                  <a:gd name="T7" fmla="*/ 24 h 112"/>
                  <a:gd name="T8" fmla="*/ 96 w 114"/>
                  <a:gd name="T9" fmla="*/ 14 h 112"/>
                  <a:gd name="T10" fmla="*/ 98 w 114"/>
                  <a:gd name="T11" fmla="*/ 9 h 112"/>
                  <a:gd name="T12" fmla="*/ 88 w 114"/>
                  <a:gd name="T13" fmla="*/ 0 h 112"/>
                  <a:gd name="T14" fmla="*/ 55 w 114"/>
                  <a:gd name="T15" fmla="*/ 0 h 112"/>
                  <a:gd name="T16" fmla="*/ 32 w 114"/>
                  <a:gd name="T17" fmla="*/ 0 h 112"/>
                  <a:gd name="T18" fmla="*/ 10 w 114"/>
                  <a:gd name="T19" fmla="*/ 0 h 112"/>
                  <a:gd name="T20" fmla="*/ 0 w 114"/>
                  <a:gd name="T21" fmla="*/ 6 h 112"/>
                  <a:gd name="T22" fmla="*/ 0 w 114"/>
                  <a:gd name="T23" fmla="*/ 58 h 112"/>
                  <a:gd name="T24" fmla="*/ 10 w 114"/>
                  <a:gd name="T25" fmla="*/ 68 h 112"/>
                  <a:gd name="T26" fmla="*/ 32 w 114"/>
                  <a:gd name="T27" fmla="*/ 68 h 112"/>
                  <a:gd name="T28" fmla="*/ 34 w 114"/>
                  <a:gd name="T29" fmla="*/ 68 h 112"/>
                  <a:gd name="T30" fmla="*/ 52 w 114"/>
                  <a:gd name="T31" fmla="*/ 80 h 112"/>
                  <a:gd name="T32" fmla="*/ 66 w 114"/>
                  <a:gd name="T33" fmla="*/ 112 h 112"/>
                  <a:gd name="T34" fmla="*/ 80 w 114"/>
                  <a:gd name="T35" fmla="*/ 68 h 112"/>
                  <a:gd name="T36" fmla="*/ 104 w 114"/>
                  <a:gd name="T37" fmla="*/ 68 h 112"/>
                  <a:gd name="T38" fmla="*/ 114 w 114"/>
                  <a:gd name="T39" fmla="*/ 57 h 112"/>
                  <a:gd name="T40" fmla="*/ 107 w 114"/>
                  <a:gd name="T41" fmla="*/ 47 h 112"/>
                  <a:gd name="T42" fmla="*/ 28 w 114"/>
                  <a:gd name="T43" fmla="*/ 64 h 112"/>
                  <a:gd name="T44" fmla="*/ 10 w 114"/>
                  <a:gd name="T45" fmla="*/ 64 h 112"/>
                  <a:gd name="T46" fmla="*/ 4 w 114"/>
                  <a:gd name="T47" fmla="*/ 58 h 112"/>
                  <a:gd name="T48" fmla="*/ 4 w 114"/>
                  <a:gd name="T49" fmla="*/ 6 h 112"/>
                  <a:gd name="T50" fmla="*/ 10 w 114"/>
                  <a:gd name="T51" fmla="*/ 4 h 112"/>
                  <a:gd name="T52" fmla="*/ 28 w 114"/>
                  <a:gd name="T53" fmla="*/ 4 h 112"/>
                  <a:gd name="T54" fmla="*/ 28 w 114"/>
                  <a:gd name="T55" fmla="*/ 64 h 112"/>
                  <a:gd name="T56" fmla="*/ 104 w 114"/>
                  <a:gd name="T57" fmla="*/ 64 h 112"/>
                  <a:gd name="T58" fmla="*/ 75 w 114"/>
                  <a:gd name="T59" fmla="*/ 64 h 112"/>
                  <a:gd name="T60" fmla="*/ 76 w 114"/>
                  <a:gd name="T61" fmla="*/ 67 h 112"/>
                  <a:gd name="T62" fmla="*/ 66 w 114"/>
                  <a:gd name="T63" fmla="*/ 107 h 112"/>
                  <a:gd name="T64" fmla="*/ 55 w 114"/>
                  <a:gd name="T65" fmla="*/ 77 h 112"/>
                  <a:gd name="T66" fmla="*/ 44 w 114"/>
                  <a:gd name="T67" fmla="*/ 66 h 112"/>
                  <a:gd name="T68" fmla="*/ 32 w 114"/>
                  <a:gd name="T69" fmla="*/ 62 h 112"/>
                  <a:gd name="T70" fmla="*/ 32 w 114"/>
                  <a:gd name="T71" fmla="*/ 4 h 112"/>
                  <a:gd name="T72" fmla="*/ 73 w 114"/>
                  <a:gd name="T73" fmla="*/ 4 h 112"/>
                  <a:gd name="T74" fmla="*/ 88 w 114"/>
                  <a:gd name="T75" fmla="*/ 4 h 112"/>
                  <a:gd name="T76" fmla="*/ 94 w 114"/>
                  <a:gd name="T77" fmla="*/ 10 h 112"/>
                  <a:gd name="T78" fmla="*/ 88 w 114"/>
                  <a:gd name="T79" fmla="*/ 16 h 112"/>
                  <a:gd name="T80" fmla="*/ 80 w 114"/>
                  <a:gd name="T81" fmla="*/ 16 h 112"/>
                  <a:gd name="T82" fmla="*/ 80 w 114"/>
                  <a:gd name="T83" fmla="*/ 20 h 112"/>
                  <a:gd name="T84" fmla="*/ 96 w 114"/>
                  <a:gd name="T85" fmla="*/ 20 h 112"/>
                  <a:gd name="T86" fmla="*/ 102 w 114"/>
                  <a:gd name="T87" fmla="*/ 26 h 112"/>
                  <a:gd name="T88" fmla="*/ 96 w 114"/>
                  <a:gd name="T89" fmla="*/ 32 h 112"/>
                  <a:gd name="T90" fmla="*/ 84 w 114"/>
                  <a:gd name="T91" fmla="*/ 32 h 112"/>
                  <a:gd name="T92" fmla="*/ 84 w 114"/>
                  <a:gd name="T93" fmla="*/ 36 h 112"/>
                  <a:gd name="T94" fmla="*/ 100 w 114"/>
                  <a:gd name="T95" fmla="*/ 36 h 112"/>
                  <a:gd name="T96" fmla="*/ 106 w 114"/>
                  <a:gd name="T97" fmla="*/ 42 h 112"/>
                  <a:gd name="T98" fmla="*/ 100 w 114"/>
                  <a:gd name="T99" fmla="*/ 48 h 112"/>
                  <a:gd name="T100" fmla="*/ 88 w 114"/>
                  <a:gd name="T101" fmla="*/ 48 h 112"/>
                  <a:gd name="T102" fmla="*/ 88 w 114"/>
                  <a:gd name="T103" fmla="*/ 52 h 112"/>
                  <a:gd name="T104" fmla="*/ 104 w 114"/>
                  <a:gd name="T105" fmla="*/ 52 h 112"/>
                  <a:gd name="T106" fmla="*/ 110 w 114"/>
                  <a:gd name="T107" fmla="*/ 58 h 112"/>
                  <a:gd name="T108" fmla="*/ 104 w 114"/>
                  <a:gd name="T109" fmla="*/ 6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4" h="112">
                    <a:moveTo>
                      <a:pt x="107" y="47"/>
                    </a:moveTo>
                    <a:cubicBezTo>
                      <a:pt x="109" y="45"/>
                      <a:pt x="110" y="43"/>
                      <a:pt x="110" y="40"/>
                    </a:cubicBezTo>
                    <a:cubicBezTo>
                      <a:pt x="110" y="36"/>
                      <a:pt x="107" y="32"/>
                      <a:pt x="103" y="31"/>
                    </a:cubicBezTo>
                    <a:cubicBezTo>
                      <a:pt x="105" y="29"/>
                      <a:pt x="106" y="27"/>
                      <a:pt x="106" y="24"/>
                    </a:cubicBezTo>
                    <a:cubicBezTo>
                      <a:pt x="106" y="18"/>
                      <a:pt x="102" y="14"/>
                      <a:pt x="96" y="14"/>
                    </a:cubicBezTo>
                    <a:cubicBezTo>
                      <a:pt x="97" y="12"/>
                      <a:pt x="98" y="11"/>
                      <a:pt x="98" y="9"/>
                    </a:cubicBezTo>
                    <a:cubicBezTo>
                      <a:pt x="98" y="3"/>
                      <a:pt x="94" y="0"/>
                      <a:pt x="88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0"/>
                      <a:pt x="0" y="2"/>
                      <a:pt x="0" y="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2"/>
                      <a:pt x="6" y="68"/>
                      <a:pt x="10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68"/>
                      <a:pt x="46" y="68"/>
                      <a:pt x="52" y="80"/>
                    </a:cubicBezTo>
                    <a:cubicBezTo>
                      <a:pt x="58" y="92"/>
                      <a:pt x="50" y="112"/>
                      <a:pt x="66" y="112"/>
                    </a:cubicBezTo>
                    <a:cubicBezTo>
                      <a:pt x="82" y="112"/>
                      <a:pt x="84" y="88"/>
                      <a:pt x="80" y="68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110" y="68"/>
                      <a:pt x="114" y="63"/>
                      <a:pt x="114" y="57"/>
                    </a:cubicBezTo>
                    <a:cubicBezTo>
                      <a:pt x="114" y="53"/>
                      <a:pt x="111" y="48"/>
                      <a:pt x="107" y="47"/>
                    </a:cubicBezTo>
                    <a:close/>
                    <a:moveTo>
                      <a:pt x="28" y="64"/>
                    </a:moveTo>
                    <a:cubicBezTo>
                      <a:pt x="10" y="64"/>
                      <a:pt x="10" y="64"/>
                      <a:pt x="10" y="64"/>
                    </a:cubicBezTo>
                    <a:cubicBezTo>
                      <a:pt x="8" y="64"/>
                      <a:pt x="4" y="60"/>
                      <a:pt x="4" y="58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4"/>
                      <a:pt x="8" y="4"/>
                      <a:pt x="10" y="4"/>
                    </a:cubicBezTo>
                    <a:cubicBezTo>
                      <a:pt x="28" y="4"/>
                      <a:pt x="28" y="4"/>
                      <a:pt x="28" y="4"/>
                    </a:cubicBezTo>
                    <a:lnTo>
                      <a:pt x="28" y="64"/>
                    </a:lnTo>
                    <a:close/>
                    <a:moveTo>
                      <a:pt x="104" y="64"/>
                    </a:moveTo>
                    <a:cubicBezTo>
                      <a:pt x="75" y="64"/>
                      <a:pt x="75" y="64"/>
                      <a:pt x="75" y="64"/>
                    </a:cubicBezTo>
                    <a:cubicBezTo>
                      <a:pt x="76" y="67"/>
                      <a:pt x="76" y="67"/>
                      <a:pt x="76" y="67"/>
                    </a:cubicBezTo>
                    <a:cubicBezTo>
                      <a:pt x="80" y="88"/>
                      <a:pt x="78" y="107"/>
                      <a:pt x="66" y="107"/>
                    </a:cubicBezTo>
                    <a:cubicBezTo>
                      <a:pt x="55" y="107"/>
                      <a:pt x="62" y="89"/>
                      <a:pt x="55" y="77"/>
                    </a:cubicBezTo>
                    <a:cubicBezTo>
                      <a:pt x="53" y="72"/>
                      <a:pt x="48" y="68"/>
                      <a:pt x="44" y="66"/>
                    </a:cubicBezTo>
                    <a:cubicBezTo>
                      <a:pt x="44" y="66"/>
                      <a:pt x="40" y="62"/>
                      <a:pt x="32" y="62"/>
                    </a:cubicBezTo>
                    <a:cubicBezTo>
                      <a:pt x="32" y="54"/>
                      <a:pt x="32" y="4"/>
                      <a:pt x="32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91" y="4"/>
                      <a:pt x="94" y="7"/>
                      <a:pt x="94" y="10"/>
                    </a:cubicBezTo>
                    <a:cubicBezTo>
                      <a:pt x="94" y="13"/>
                      <a:pt x="91" y="16"/>
                      <a:pt x="88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9" y="20"/>
                      <a:pt x="102" y="23"/>
                      <a:pt x="102" y="26"/>
                    </a:cubicBezTo>
                    <a:cubicBezTo>
                      <a:pt x="102" y="29"/>
                      <a:pt x="99" y="32"/>
                      <a:pt x="96" y="32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84" y="36"/>
                      <a:pt x="84" y="36"/>
                      <a:pt x="84" y="36"/>
                    </a:cubicBezTo>
                    <a:cubicBezTo>
                      <a:pt x="100" y="36"/>
                      <a:pt x="100" y="36"/>
                      <a:pt x="100" y="36"/>
                    </a:cubicBezTo>
                    <a:cubicBezTo>
                      <a:pt x="103" y="36"/>
                      <a:pt x="106" y="39"/>
                      <a:pt x="106" y="42"/>
                    </a:cubicBezTo>
                    <a:cubicBezTo>
                      <a:pt x="106" y="45"/>
                      <a:pt x="103" y="48"/>
                      <a:pt x="100" y="48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52"/>
                      <a:pt x="88" y="52"/>
                      <a:pt x="88" y="52"/>
                    </a:cubicBezTo>
                    <a:cubicBezTo>
                      <a:pt x="104" y="52"/>
                      <a:pt x="104" y="52"/>
                      <a:pt x="104" y="52"/>
                    </a:cubicBezTo>
                    <a:cubicBezTo>
                      <a:pt x="107" y="52"/>
                      <a:pt x="110" y="55"/>
                      <a:pt x="110" y="58"/>
                    </a:cubicBezTo>
                    <a:cubicBezTo>
                      <a:pt x="110" y="61"/>
                      <a:pt x="107" y="64"/>
                      <a:pt x="104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8" name="Freeform 12"/>
            <p:cNvSpPr>
              <a:spLocks noEditPoints="1"/>
            </p:cNvSpPr>
            <p:nvPr/>
          </p:nvSpPr>
          <p:spPr bwMode="auto">
            <a:xfrm>
              <a:off x="2883729" y="4147913"/>
              <a:ext cx="290513" cy="292100"/>
            </a:xfrm>
            <a:custGeom>
              <a:avLst/>
              <a:gdLst>
                <a:gd name="T0" fmla="*/ 69 w 112"/>
                <a:gd name="T1" fmla="*/ 112 h 112"/>
                <a:gd name="T2" fmla="*/ 86 w 112"/>
                <a:gd name="T3" fmla="*/ 112 h 112"/>
                <a:gd name="T4" fmla="*/ 96 w 112"/>
                <a:gd name="T5" fmla="*/ 102 h 112"/>
                <a:gd name="T6" fmla="*/ 94 w 112"/>
                <a:gd name="T7" fmla="*/ 96 h 112"/>
                <a:gd name="T8" fmla="*/ 104 w 112"/>
                <a:gd name="T9" fmla="*/ 86 h 112"/>
                <a:gd name="T10" fmla="*/ 101 w 112"/>
                <a:gd name="T11" fmla="*/ 79 h 112"/>
                <a:gd name="T12" fmla="*/ 101 w 112"/>
                <a:gd name="T13" fmla="*/ 79 h 112"/>
                <a:gd name="T14" fmla="*/ 108 w 112"/>
                <a:gd name="T15" fmla="*/ 70 h 112"/>
                <a:gd name="T16" fmla="*/ 105 w 112"/>
                <a:gd name="T17" fmla="*/ 63 h 112"/>
                <a:gd name="T18" fmla="*/ 112 w 112"/>
                <a:gd name="T19" fmla="*/ 54 h 112"/>
                <a:gd name="T20" fmla="*/ 102 w 112"/>
                <a:gd name="T21" fmla="*/ 44 h 112"/>
                <a:gd name="T22" fmla="*/ 78 w 112"/>
                <a:gd name="T23" fmla="*/ 44 h 112"/>
                <a:gd name="T24" fmla="*/ 64 w 112"/>
                <a:gd name="T25" fmla="*/ 0 h 112"/>
                <a:gd name="T26" fmla="*/ 50 w 112"/>
                <a:gd name="T27" fmla="*/ 31 h 112"/>
                <a:gd name="T28" fmla="*/ 32 w 112"/>
                <a:gd name="T29" fmla="*/ 44 h 112"/>
                <a:gd name="T30" fmla="*/ 8 w 112"/>
                <a:gd name="T31" fmla="*/ 44 h 112"/>
                <a:gd name="T32" fmla="*/ 0 w 112"/>
                <a:gd name="T33" fmla="*/ 52 h 112"/>
                <a:gd name="T34" fmla="*/ 0 w 112"/>
                <a:gd name="T35" fmla="*/ 96 h 112"/>
                <a:gd name="T36" fmla="*/ 8 w 112"/>
                <a:gd name="T37" fmla="*/ 104 h 112"/>
                <a:gd name="T38" fmla="*/ 32 w 112"/>
                <a:gd name="T39" fmla="*/ 104 h 112"/>
                <a:gd name="T40" fmla="*/ 56 w 112"/>
                <a:gd name="T41" fmla="*/ 112 h 112"/>
                <a:gd name="T42" fmla="*/ 69 w 112"/>
                <a:gd name="T43" fmla="*/ 112 h 112"/>
                <a:gd name="T44" fmla="*/ 34 w 112"/>
                <a:gd name="T45" fmla="*/ 48 h 112"/>
                <a:gd name="T46" fmla="*/ 53 w 112"/>
                <a:gd name="T47" fmla="*/ 33 h 112"/>
                <a:gd name="T48" fmla="*/ 64 w 112"/>
                <a:gd name="T49" fmla="*/ 4 h 112"/>
                <a:gd name="T50" fmla="*/ 73 w 112"/>
                <a:gd name="T51" fmla="*/ 48 h 112"/>
                <a:gd name="T52" fmla="*/ 73 w 112"/>
                <a:gd name="T53" fmla="*/ 48 h 112"/>
                <a:gd name="T54" fmla="*/ 102 w 112"/>
                <a:gd name="T55" fmla="*/ 48 h 112"/>
                <a:gd name="T56" fmla="*/ 108 w 112"/>
                <a:gd name="T57" fmla="*/ 54 h 112"/>
                <a:gd name="T58" fmla="*/ 102 w 112"/>
                <a:gd name="T59" fmla="*/ 60 h 112"/>
                <a:gd name="T60" fmla="*/ 88 w 112"/>
                <a:gd name="T61" fmla="*/ 60 h 112"/>
                <a:gd name="T62" fmla="*/ 88 w 112"/>
                <a:gd name="T63" fmla="*/ 64 h 112"/>
                <a:gd name="T64" fmla="*/ 98 w 112"/>
                <a:gd name="T65" fmla="*/ 64 h 112"/>
                <a:gd name="T66" fmla="*/ 104 w 112"/>
                <a:gd name="T67" fmla="*/ 70 h 112"/>
                <a:gd name="T68" fmla="*/ 98 w 112"/>
                <a:gd name="T69" fmla="*/ 76 h 112"/>
                <a:gd name="T70" fmla="*/ 84 w 112"/>
                <a:gd name="T71" fmla="*/ 76 h 112"/>
                <a:gd name="T72" fmla="*/ 84 w 112"/>
                <a:gd name="T73" fmla="*/ 76 h 112"/>
                <a:gd name="T74" fmla="*/ 84 w 112"/>
                <a:gd name="T75" fmla="*/ 80 h 112"/>
                <a:gd name="T76" fmla="*/ 94 w 112"/>
                <a:gd name="T77" fmla="*/ 80 h 112"/>
                <a:gd name="T78" fmla="*/ 100 w 112"/>
                <a:gd name="T79" fmla="*/ 86 h 112"/>
                <a:gd name="T80" fmla="*/ 94 w 112"/>
                <a:gd name="T81" fmla="*/ 92 h 112"/>
                <a:gd name="T82" fmla="*/ 80 w 112"/>
                <a:gd name="T83" fmla="*/ 92 h 112"/>
                <a:gd name="T84" fmla="*/ 80 w 112"/>
                <a:gd name="T85" fmla="*/ 92 h 112"/>
                <a:gd name="T86" fmla="*/ 80 w 112"/>
                <a:gd name="T87" fmla="*/ 96 h 112"/>
                <a:gd name="T88" fmla="*/ 86 w 112"/>
                <a:gd name="T89" fmla="*/ 96 h 112"/>
                <a:gd name="T90" fmla="*/ 92 w 112"/>
                <a:gd name="T91" fmla="*/ 102 h 112"/>
                <a:gd name="T92" fmla="*/ 86 w 112"/>
                <a:gd name="T93" fmla="*/ 108 h 112"/>
                <a:gd name="T94" fmla="*/ 71 w 112"/>
                <a:gd name="T95" fmla="*/ 108 h 112"/>
                <a:gd name="T96" fmla="*/ 56 w 112"/>
                <a:gd name="T97" fmla="*/ 108 h 112"/>
                <a:gd name="T98" fmla="*/ 32 w 112"/>
                <a:gd name="T99" fmla="*/ 100 h 112"/>
                <a:gd name="T100" fmla="*/ 8 w 112"/>
                <a:gd name="T101" fmla="*/ 100 h 112"/>
                <a:gd name="T102" fmla="*/ 4 w 112"/>
                <a:gd name="T103" fmla="*/ 96 h 112"/>
                <a:gd name="T104" fmla="*/ 4 w 112"/>
                <a:gd name="T105" fmla="*/ 52 h 112"/>
                <a:gd name="T106" fmla="*/ 8 w 112"/>
                <a:gd name="T107" fmla="*/ 48 h 112"/>
                <a:gd name="T108" fmla="*/ 34 w 112"/>
                <a:gd name="T109" fmla="*/ 48 h 112"/>
                <a:gd name="T110" fmla="*/ 34 w 112"/>
                <a:gd name="T111" fmla="*/ 4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112"/>
                  </a:moveTo>
                  <a:cubicBezTo>
                    <a:pt x="86" y="112"/>
                    <a:pt x="86" y="112"/>
                    <a:pt x="86" y="112"/>
                  </a:cubicBezTo>
                  <a:cubicBezTo>
                    <a:pt x="92" y="112"/>
                    <a:pt x="96" y="108"/>
                    <a:pt x="96" y="102"/>
                  </a:cubicBezTo>
                  <a:cubicBezTo>
                    <a:pt x="96" y="100"/>
                    <a:pt x="95" y="98"/>
                    <a:pt x="94" y="96"/>
                  </a:cubicBezTo>
                  <a:cubicBezTo>
                    <a:pt x="100" y="96"/>
                    <a:pt x="104" y="92"/>
                    <a:pt x="104" y="86"/>
                  </a:cubicBezTo>
                  <a:cubicBezTo>
                    <a:pt x="104" y="83"/>
                    <a:pt x="103" y="81"/>
                    <a:pt x="101" y="79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5" y="78"/>
                    <a:pt x="108" y="74"/>
                    <a:pt x="108" y="70"/>
                  </a:cubicBezTo>
                  <a:cubicBezTo>
                    <a:pt x="108" y="67"/>
                    <a:pt x="107" y="65"/>
                    <a:pt x="105" y="63"/>
                  </a:cubicBezTo>
                  <a:cubicBezTo>
                    <a:pt x="109" y="62"/>
                    <a:pt x="112" y="58"/>
                    <a:pt x="112" y="54"/>
                  </a:cubicBezTo>
                  <a:cubicBezTo>
                    <a:pt x="112" y="48"/>
                    <a:pt x="108" y="44"/>
                    <a:pt x="102" y="44"/>
                  </a:cubicBezTo>
                  <a:cubicBezTo>
                    <a:pt x="78" y="44"/>
                    <a:pt x="78" y="44"/>
                    <a:pt x="78" y="44"/>
                  </a:cubicBezTo>
                  <a:cubicBezTo>
                    <a:pt x="82" y="24"/>
                    <a:pt x="80" y="0"/>
                    <a:pt x="64" y="0"/>
                  </a:cubicBezTo>
                  <a:cubicBezTo>
                    <a:pt x="48" y="0"/>
                    <a:pt x="56" y="19"/>
                    <a:pt x="50" y="31"/>
                  </a:cubicBezTo>
                  <a:cubicBezTo>
                    <a:pt x="44" y="43"/>
                    <a:pt x="32" y="44"/>
                    <a:pt x="32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4" y="44"/>
                    <a:pt x="0" y="48"/>
                    <a:pt x="0" y="52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0"/>
                    <a:pt x="4" y="104"/>
                    <a:pt x="8" y="104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69" y="112"/>
                    <a:pt x="69" y="112"/>
                    <a:pt x="69" y="112"/>
                  </a:cubicBezTo>
                  <a:close/>
                  <a:moveTo>
                    <a:pt x="34" y="48"/>
                  </a:moveTo>
                  <a:cubicBezTo>
                    <a:pt x="34" y="48"/>
                    <a:pt x="47" y="45"/>
                    <a:pt x="53" y="33"/>
                  </a:cubicBezTo>
                  <a:cubicBezTo>
                    <a:pt x="60" y="21"/>
                    <a:pt x="53" y="4"/>
                    <a:pt x="64" y="4"/>
                  </a:cubicBezTo>
                  <a:cubicBezTo>
                    <a:pt x="77" y="4"/>
                    <a:pt x="78" y="26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5" y="48"/>
                    <a:pt x="108" y="51"/>
                    <a:pt x="108" y="54"/>
                  </a:cubicBezTo>
                  <a:cubicBezTo>
                    <a:pt x="108" y="57"/>
                    <a:pt x="105" y="60"/>
                    <a:pt x="102" y="60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101" y="64"/>
                    <a:pt x="104" y="67"/>
                    <a:pt x="104" y="70"/>
                  </a:cubicBezTo>
                  <a:cubicBezTo>
                    <a:pt x="104" y="73"/>
                    <a:pt x="101" y="76"/>
                    <a:pt x="98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7" y="80"/>
                    <a:pt x="100" y="83"/>
                    <a:pt x="100" y="86"/>
                  </a:cubicBezTo>
                  <a:cubicBezTo>
                    <a:pt x="100" y="89"/>
                    <a:pt x="97" y="92"/>
                    <a:pt x="94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6" y="96"/>
                    <a:pt x="86" y="96"/>
                    <a:pt x="86" y="96"/>
                  </a:cubicBezTo>
                  <a:cubicBezTo>
                    <a:pt x="89" y="96"/>
                    <a:pt x="92" y="99"/>
                    <a:pt x="92" y="102"/>
                  </a:cubicBezTo>
                  <a:cubicBezTo>
                    <a:pt x="92" y="105"/>
                    <a:pt x="89" y="108"/>
                    <a:pt x="86" y="108"/>
                  </a:cubicBezTo>
                  <a:cubicBezTo>
                    <a:pt x="71" y="108"/>
                    <a:pt x="71" y="108"/>
                    <a:pt x="71" y="108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32" y="100"/>
                    <a:pt x="32" y="100"/>
                    <a:pt x="32" y="100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6" y="100"/>
                    <a:pt x="4" y="98"/>
                    <a:pt x="4" y="9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0"/>
                    <a:pt x="6" y="48"/>
                    <a:pt x="8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9" name="Freeform 13"/>
            <p:cNvSpPr>
              <a:spLocks noEditPoints="1"/>
            </p:cNvSpPr>
            <p:nvPr/>
          </p:nvSpPr>
          <p:spPr bwMode="auto">
            <a:xfrm>
              <a:off x="7408864" y="3550345"/>
              <a:ext cx="292100" cy="292100"/>
            </a:xfrm>
            <a:custGeom>
              <a:avLst/>
              <a:gdLst>
                <a:gd name="T0" fmla="*/ 69 w 112"/>
                <a:gd name="T1" fmla="*/ 0 h 112"/>
                <a:gd name="T2" fmla="*/ 86 w 112"/>
                <a:gd name="T3" fmla="*/ 0 h 112"/>
                <a:gd name="T4" fmla="*/ 96 w 112"/>
                <a:gd name="T5" fmla="*/ 10 h 112"/>
                <a:gd name="T6" fmla="*/ 94 w 112"/>
                <a:gd name="T7" fmla="*/ 16 h 112"/>
                <a:gd name="T8" fmla="*/ 104 w 112"/>
                <a:gd name="T9" fmla="*/ 26 h 112"/>
                <a:gd name="T10" fmla="*/ 101 w 112"/>
                <a:gd name="T11" fmla="*/ 33 h 112"/>
                <a:gd name="T12" fmla="*/ 101 w 112"/>
                <a:gd name="T13" fmla="*/ 33 h 112"/>
                <a:gd name="T14" fmla="*/ 108 w 112"/>
                <a:gd name="T15" fmla="*/ 42 h 112"/>
                <a:gd name="T16" fmla="*/ 105 w 112"/>
                <a:gd name="T17" fmla="*/ 49 h 112"/>
                <a:gd name="T18" fmla="*/ 112 w 112"/>
                <a:gd name="T19" fmla="*/ 58 h 112"/>
                <a:gd name="T20" fmla="*/ 102 w 112"/>
                <a:gd name="T21" fmla="*/ 68 h 112"/>
                <a:gd name="T22" fmla="*/ 78 w 112"/>
                <a:gd name="T23" fmla="*/ 68 h 112"/>
                <a:gd name="T24" fmla="*/ 64 w 112"/>
                <a:gd name="T25" fmla="*/ 112 h 112"/>
                <a:gd name="T26" fmla="*/ 50 w 112"/>
                <a:gd name="T27" fmla="*/ 81 h 112"/>
                <a:gd name="T28" fmla="*/ 32 w 112"/>
                <a:gd name="T29" fmla="*/ 68 h 112"/>
                <a:gd name="T30" fmla="*/ 8 w 112"/>
                <a:gd name="T31" fmla="*/ 68 h 112"/>
                <a:gd name="T32" fmla="*/ 0 w 112"/>
                <a:gd name="T33" fmla="*/ 60 h 112"/>
                <a:gd name="T34" fmla="*/ 0 w 112"/>
                <a:gd name="T35" fmla="*/ 16 h 112"/>
                <a:gd name="T36" fmla="*/ 8 w 112"/>
                <a:gd name="T37" fmla="*/ 8 h 112"/>
                <a:gd name="T38" fmla="*/ 32 w 112"/>
                <a:gd name="T39" fmla="*/ 8 h 112"/>
                <a:gd name="T40" fmla="*/ 56 w 112"/>
                <a:gd name="T41" fmla="*/ 0 h 112"/>
                <a:gd name="T42" fmla="*/ 69 w 112"/>
                <a:gd name="T43" fmla="*/ 0 h 112"/>
                <a:gd name="T44" fmla="*/ 34 w 112"/>
                <a:gd name="T45" fmla="*/ 64 h 112"/>
                <a:gd name="T46" fmla="*/ 53 w 112"/>
                <a:gd name="T47" fmla="*/ 79 h 112"/>
                <a:gd name="T48" fmla="*/ 64 w 112"/>
                <a:gd name="T49" fmla="*/ 108 h 112"/>
                <a:gd name="T50" fmla="*/ 73 w 112"/>
                <a:gd name="T51" fmla="*/ 64 h 112"/>
                <a:gd name="T52" fmla="*/ 73 w 112"/>
                <a:gd name="T53" fmla="*/ 64 h 112"/>
                <a:gd name="T54" fmla="*/ 102 w 112"/>
                <a:gd name="T55" fmla="*/ 64 h 112"/>
                <a:gd name="T56" fmla="*/ 108 w 112"/>
                <a:gd name="T57" fmla="*/ 58 h 112"/>
                <a:gd name="T58" fmla="*/ 102 w 112"/>
                <a:gd name="T59" fmla="*/ 52 h 112"/>
                <a:gd name="T60" fmla="*/ 88 w 112"/>
                <a:gd name="T61" fmla="*/ 52 h 112"/>
                <a:gd name="T62" fmla="*/ 88 w 112"/>
                <a:gd name="T63" fmla="*/ 48 h 112"/>
                <a:gd name="T64" fmla="*/ 98 w 112"/>
                <a:gd name="T65" fmla="*/ 48 h 112"/>
                <a:gd name="T66" fmla="*/ 104 w 112"/>
                <a:gd name="T67" fmla="*/ 42 h 112"/>
                <a:gd name="T68" fmla="*/ 98 w 112"/>
                <a:gd name="T69" fmla="*/ 36 h 112"/>
                <a:gd name="T70" fmla="*/ 84 w 112"/>
                <a:gd name="T71" fmla="*/ 36 h 112"/>
                <a:gd name="T72" fmla="*/ 84 w 112"/>
                <a:gd name="T73" fmla="*/ 36 h 112"/>
                <a:gd name="T74" fmla="*/ 84 w 112"/>
                <a:gd name="T75" fmla="*/ 32 h 112"/>
                <a:gd name="T76" fmla="*/ 94 w 112"/>
                <a:gd name="T77" fmla="*/ 32 h 112"/>
                <a:gd name="T78" fmla="*/ 100 w 112"/>
                <a:gd name="T79" fmla="*/ 26 h 112"/>
                <a:gd name="T80" fmla="*/ 94 w 112"/>
                <a:gd name="T81" fmla="*/ 20 h 112"/>
                <a:gd name="T82" fmla="*/ 80 w 112"/>
                <a:gd name="T83" fmla="*/ 20 h 112"/>
                <a:gd name="T84" fmla="*/ 80 w 112"/>
                <a:gd name="T85" fmla="*/ 20 h 112"/>
                <a:gd name="T86" fmla="*/ 80 w 112"/>
                <a:gd name="T87" fmla="*/ 16 h 112"/>
                <a:gd name="T88" fmla="*/ 86 w 112"/>
                <a:gd name="T89" fmla="*/ 16 h 112"/>
                <a:gd name="T90" fmla="*/ 92 w 112"/>
                <a:gd name="T91" fmla="*/ 10 h 112"/>
                <a:gd name="T92" fmla="*/ 86 w 112"/>
                <a:gd name="T93" fmla="*/ 4 h 112"/>
                <a:gd name="T94" fmla="*/ 71 w 112"/>
                <a:gd name="T95" fmla="*/ 4 h 112"/>
                <a:gd name="T96" fmla="*/ 56 w 112"/>
                <a:gd name="T97" fmla="*/ 4 h 112"/>
                <a:gd name="T98" fmla="*/ 32 w 112"/>
                <a:gd name="T99" fmla="*/ 12 h 112"/>
                <a:gd name="T100" fmla="*/ 8 w 112"/>
                <a:gd name="T101" fmla="*/ 12 h 112"/>
                <a:gd name="T102" fmla="*/ 4 w 112"/>
                <a:gd name="T103" fmla="*/ 16 h 112"/>
                <a:gd name="T104" fmla="*/ 4 w 112"/>
                <a:gd name="T105" fmla="*/ 60 h 112"/>
                <a:gd name="T106" fmla="*/ 8 w 112"/>
                <a:gd name="T107" fmla="*/ 64 h 112"/>
                <a:gd name="T108" fmla="*/ 34 w 112"/>
                <a:gd name="T109" fmla="*/ 64 h 112"/>
                <a:gd name="T110" fmla="*/ 34 w 112"/>
                <a:gd name="T111" fmla="*/ 6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0"/>
                  </a:moveTo>
                  <a:cubicBezTo>
                    <a:pt x="86" y="0"/>
                    <a:pt x="86" y="0"/>
                    <a:pt x="86" y="0"/>
                  </a:cubicBezTo>
                  <a:cubicBezTo>
                    <a:pt x="92" y="0"/>
                    <a:pt x="96" y="4"/>
                    <a:pt x="96" y="10"/>
                  </a:cubicBezTo>
                  <a:cubicBezTo>
                    <a:pt x="96" y="12"/>
                    <a:pt x="95" y="14"/>
                    <a:pt x="94" y="16"/>
                  </a:cubicBezTo>
                  <a:cubicBezTo>
                    <a:pt x="100" y="16"/>
                    <a:pt x="104" y="20"/>
                    <a:pt x="104" y="26"/>
                  </a:cubicBezTo>
                  <a:cubicBezTo>
                    <a:pt x="104" y="29"/>
                    <a:pt x="103" y="31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5" y="34"/>
                    <a:pt x="108" y="38"/>
                    <a:pt x="108" y="42"/>
                  </a:cubicBezTo>
                  <a:cubicBezTo>
                    <a:pt x="108" y="45"/>
                    <a:pt x="107" y="47"/>
                    <a:pt x="105" y="49"/>
                  </a:cubicBezTo>
                  <a:cubicBezTo>
                    <a:pt x="109" y="50"/>
                    <a:pt x="112" y="54"/>
                    <a:pt x="112" y="58"/>
                  </a:cubicBezTo>
                  <a:cubicBezTo>
                    <a:pt x="112" y="64"/>
                    <a:pt x="108" y="68"/>
                    <a:pt x="10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82" y="88"/>
                    <a:pt x="80" y="112"/>
                    <a:pt x="64" y="112"/>
                  </a:cubicBezTo>
                  <a:cubicBezTo>
                    <a:pt x="48" y="112"/>
                    <a:pt x="56" y="93"/>
                    <a:pt x="50" y="81"/>
                  </a:cubicBezTo>
                  <a:cubicBezTo>
                    <a:pt x="44" y="69"/>
                    <a:pt x="32" y="68"/>
                    <a:pt x="32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64"/>
                    <a:pt x="0" y="6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2"/>
                    <a:pt x="4" y="8"/>
                    <a:pt x="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9" y="0"/>
                    <a:pt x="69" y="0"/>
                    <a:pt x="69" y="0"/>
                  </a:cubicBezTo>
                  <a:close/>
                  <a:moveTo>
                    <a:pt x="34" y="64"/>
                  </a:moveTo>
                  <a:cubicBezTo>
                    <a:pt x="34" y="64"/>
                    <a:pt x="47" y="67"/>
                    <a:pt x="53" y="79"/>
                  </a:cubicBezTo>
                  <a:cubicBezTo>
                    <a:pt x="60" y="91"/>
                    <a:pt x="53" y="108"/>
                    <a:pt x="64" y="108"/>
                  </a:cubicBezTo>
                  <a:cubicBezTo>
                    <a:pt x="77" y="108"/>
                    <a:pt x="78" y="86"/>
                    <a:pt x="73" y="64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5" y="64"/>
                    <a:pt x="108" y="61"/>
                    <a:pt x="108" y="58"/>
                  </a:cubicBezTo>
                  <a:cubicBezTo>
                    <a:pt x="108" y="55"/>
                    <a:pt x="105" y="52"/>
                    <a:pt x="102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48"/>
                    <a:pt x="104" y="45"/>
                    <a:pt x="104" y="42"/>
                  </a:cubicBezTo>
                  <a:cubicBezTo>
                    <a:pt x="104" y="39"/>
                    <a:pt x="101" y="36"/>
                    <a:pt x="98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2"/>
                    <a:pt x="84" y="32"/>
                    <a:pt x="84" y="32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97" y="32"/>
                    <a:pt x="100" y="29"/>
                    <a:pt x="100" y="26"/>
                  </a:cubicBezTo>
                  <a:cubicBezTo>
                    <a:pt x="100" y="23"/>
                    <a:pt x="97" y="20"/>
                    <a:pt x="94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9" y="16"/>
                    <a:pt x="92" y="13"/>
                    <a:pt x="92" y="10"/>
                  </a:cubicBezTo>
                  <a:cubicBezTo>
                    <a:pt x="92" y="7"/>
                    <a:pt x="89" y="4"/>
                    <a:pt x="86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6" y="12"/>
                    <a:pt x="4" y="14"/>
                    <a:pt x="4" y="16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2"/>
                    <a:pt x="6" y="64"/>
                    <a:pt x="8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4" y="64"/>
                    <a:pt x="34" y="64"/>
                    <a:pt x="34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0" name="Freeform 14"/>
            <p:cNvSpPr>
              <a:spLocks noEditPoints="1"/>
            </p:cNvSpPr>
            <p:nvPr/>
          </p:nvSpPr>
          <p:spPr bwMode="auto">
            <a:xfrm>
              <a:off x="8501667" y="4868321"/>
              <a:ext cx="265113" cy="303213"/>
            </a:xfrm>
            <a:custGeom>
              <a:avLst/>
              <a:gdLst>
                <a:gd name="T0" fmla="*/ 92 w 102"/>
                <a:gd name="T1" fmla="*/ 48 h 116"/>
                <a:gd name="T2" fmla="*/ 86 w 102"/>
                <a:gd name="T3" fmla="*/ 50 h 116"/>
                <a:gd name="T4" fmla="*/ 86 w 102"/>
                <a:gd name="T5" fmla="*/ 50 h 116"/>
                <a:gd name="T6" fmla="*/ 76 w 102"/>
                <a:gd name="T7" fmla="*/ 40 h 116"/>
                <a:gd name="T8" fmla="*/ 70 w 102"/>
                <a:gd name="T9" fmla="*/ 42 h 116"/>
                <a:gd name="T10" fmla="*/ 70 w 102"/>
                <a:gd name="T11" fmla="*/ 14 h 116"/>
                <a:gd name="T12" fmla="*/ 61 w 102"/>
                <a:gd name="T13" fmla="*/ 4 h 116"/>
                <a:gd name="T14" fmla="*/ 53 w 102"/>
                <a:gd name="T15" fmla="*/ 10 h 116"/>
                <a:gd name="T16" fmla="*/ 46 w 102"/>
                <a:gd name="T17" fmla="*/ 8 h 116"/>
                <a:gd name="T18" fmla="*/ 37 w 102"/>
                <a:gd name="T19" fmla="*/ 16 h 116"/>
                <a:gd name="T20" fmla="*/ 8 w 102"/>
                <a:gd name="T21" fmla="*/ 16 h 116"/>
                <a:gd name="T22" fmla="*/ 21 w 102"/>
                <a:gd name="T23" fmla="*/ 3 h 116"/>
                <a:gd name="T24" fmla="*/ 18 w 102"/>
                <a:gd name="T25" fmla="*/ 0 h 116"/>
                <a:gd name="T26" fmla="*/ 0 w 102"/>
                <a:gd name="T27" fmla="*/ 18 h 116"/>
                <a:gd name="T28" fmla="*/ 18 w 102"/>
                <a:gd name="T29" fmla="*/ 36 h 116"/>
                <a:gd name="T30" fmla="*/ 21 w 102"/>
                <a:gd name="T31" fmla="*/ 33 h 116"/>
                <a:gd name="T32" fmla="*/ 8 w 102"/>
                <a:gd name="T33" fmla="*/ 20 h 116"/>
                <a:gd name="T34" fmla="*/ 34 w 102"/>
                <a:gd name="T35" fmla="*/ 20 h 116"/>
                <a:gd name="T36" fmla="*/ 34 w 102"/>
                <a:gd name="T37" fmla="*/ 53 h 116"/>
                <a:gd name="T38" fmla="*/ 13 w 102"/>
                <a:gd name="T39" fmla="*/ 46 h 116"/>
                <a:gd name="T40" fmla="*/ 35 w 102"/>
                <a:gd name="T41" fmla="*/ 94 h 116"/>
                <a:gd name="T42" fmla="*/ 69 w 102"/>
                <a:gd name="T43" fmla="*/ 116 h 116"/>
                <a:gd name="T44" fmla="*/ 102 w 102"/>
                <a:gd name="T45" fmla="*/ 82 h 116"/>
                <a:gd name="T46" fmla="*/ 102 w 102"/>
                <a:gd name="T47" fmla="*/ 58 h 116"/>
                <a:gd name="T48" fmla="*/ 92 w 102"/>
                <a:gd name="T49" fmla="*/ 48 h 116"/>
                <a:gd name="T50" fmla="*/ 98 w 102"/>
                <a:gd name="T51" fmla="*/ 67 h 116"/>
                <a:gd name="T52" fmla="*/ 98 w 102"/>
                <a:gd name="T53" fmla="*/ 82 h 116"/>
                <a:gd name="T54" fmla="*/ 69 w 102"/>
                <a:gd name="T55" fmla="*/ 112 h 116"/>
                <a:gd name="T56" fmla="*/ 39 w 102"/>
                <a:gd name="T57" fmla="*/ 92 h 116"/>
                <a:gd name="T58" fmla="*/ 15 w 102"/>
                <a:gd name="T59" fmla="*/ 49 h 116"/>
                <a:gd name="T60" fmla="*/ 38 w 102"/>
                <a:gd name="T61" fmla="*/ 63 h 116"/>
                <a:gd name="T62" fmla="*/ 38 w 102"/>
                <a:gd name="T63" fmla="*/ 18 h 116"/>
                <a:gd name="T64" fmla="*/ 44 w 102"/>
                <a:gd name="T65" fmla="*/ 12 h 116"/>
                <a:gd name="T66" fmla="*/ 50 w 102"/>
                <a:gd name="T67" fmla="*/ 18 h 116"/>
                <a:gd name="T68" fmla="*/ 50 w 102"/>
                <a:gd name="T69" fmla="*/ 60 h 116"/>
                <a:gd name="T70" fmla="*/ 54 w 102"/>
                <a:gd name="T71" fmla="*/ 60 h 116"/>
                <a:gd name="T72" fmla="*/ 54 w 102"/>
                <a:gd name="T73" fmla="*/ 14 h 116"/>
                <a:gd name="T74" fmla="*/ 60 w 102"/>
                <a:gd name="T75" fmla="*/ 8 h 116"/>
                <a:gd name="T76" fmla="*/ 66 w 102"/>
                <a:gd name="T77" fmla="*/ 14 h 116"/>
                <a:gd name="T78" fmla="*/ 66 w 102"/>
                <a:gd name="T79" fmla="*/ 56 h 116"/>
                <a:gd name="T80" fmla="*/ 70 w 102"/>
                <a:gd name="T81" fmla="*/ 56 h 116"/>
                <a:gd name="T82" fmla="*/ 70 w 102"/>
                <a:gd name="T83" fmla="*/ 50 h 116"/>
                <a:gd name="T84" fmla="*/ 76 w 102"/>
                <a:gd name="T85" fmla="*/ 44 h 116"/>
                <a:gd name="T86" fmla="*/ 82 w 102"/>
                <a:gd name="T87" fmla="*/ 50 h 116"/>
                <a:gd name="T88" fmla="*/ 82 w 102"/>
                <a:gd name="T89" fmla="*/ 60 h 116"/>
                <a:gd name="T90" fmla="*/ 86 w 102"/>
                <a:gd name="T91" fmla="*/ 60 h 116"/>
                <a:gd name="T92" fmla="*/ 86 w 102"/>
                <a:gd name="T93" fmla="*/ 58 h 116"/>
                <a:gd name="T94" fmla="*/ 92 w 102"/>
                <a:gd name="T95" fmla="*/ 52 h 116"/>
                <a:gd name="T96" fmla="*/ 98 w 102"/>
                <a:gd name="T97" fmla="*/ 58 h 116"/>
                <a:gd name="T98" fmla="*/ 98 w 102"/>
                <a:gd name="T99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2" h="116">
                  <a:moveTo>
                    <a:pt x="92" y="48"/>
                  </a:moveTo>
                  <a:cubicBezTo>
                    <a:pt x="90" y="48"/>
                    <a:pt x="90" y="49"/>
                    <a:pt x="86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6" y="44"/>
                    <a:pt x="82" y="40"/>
                    <a:pt x="76" y="40"/>
                  </a:cubicBezTo>
                  <a:cubicBezTo>
                    <a:pt x="74" y="40"/>
                    <a:pt x="74" y="41"/>
                    <a:pt x="70" y="42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8"/>
                    <a:pt x="67" y="4"/>
                    <a:pt x="61" y="4"/>
                  </a:cubicBezTo>
                  <a:cubicBezTo>
                    <a:pt x="57" y="4"/>
                    <a:pt x="54" y="6"/>
                    <a:pt x="53" y="10"/>
                  </a:cubicBezTo>
                  <a:cubicBezTo>
                    <a:pt x="51" y="9"/>
                    <a:pt x="49" y="8"/>
                    <a:pt x="46" y="8"/>
                  </a:cubicBezTo>
                  <a:cubicBezTo>
                    <a:pt x="41" y="8"/>
                    <a:pt x="38" y="8"/>
                    <a:pt x="37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26" y="46"/>
                    <a:pt x="19" y="40"/>
                    <a:pt x="13" y="46"/>
                  </a:cubicBezTo>
                  <a:cubicBezTo>
                    <a:pt x="5" y="54"/>
                    <a:pt x="22" y="70"/>
                    <a:pt x="35" y="94"/>
                  </a:cubicBezTo>
                  <a:cubicBezTo>
                    <a:pt x="44" y="110"/>
                    <a:pt x="57" y="116"/>
                    <a:pt x="69" y="116"/>
                  </a:cubicBezTo>
                  <a:cubicBezTo>
                    <a:pt x="88" y="116"/>
                    <a:pt x="102" y="101"/>
                    <a:pt x="102" y="82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2"/>
                    <a:pt x="98" y="48"/>
                    <a:pt x="92" y="48"/>
                  </a:cubicBezTo>
                  <a:close/>
                  <a:moveTo>
                    <a:pt x="98" y="67"/>
                  </a:moveTo>
                  <a:cubicBezTo>
                    <a:pt x="98" y="82"/>
                    <a:pt x="98" y="82"/>
                    <a:pt x="98" y="82"/>
                  </a:cubicBezTo>
                  <a:cubicBezTo>
                    <a:pt x="98" y="98"/>
                    <a:pt x="86" y="112"/>
                    <a:pt x="69" y="112"/>
                  </a:cubicBezTo>
                  <a:cubicBezTo>
                    <a:pt x="54" y="112"/>
                    <a:pt x="46" y="104"/>
                    <a:pt x="39" y="92"/>
                  </a:cubicBezTo>
                  <a:cubicBezTo>
                    <a:pt x="23" y="65"/>
                    <a:pt x="11" y="53"/>
                    <a:pt x="15" y="49"/>
                  </a:cubicBezTo>
                  <a:cubicBezTo>
                    <a:pt x="20" y="45"/>
                    <a:pt x="30" y="54"/>
                    <a:pt x="38" y="63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4"/>
                    <a:pt x="41" y="12"/>
                    <a:pt x="44" y="12"/>
                  </a:cubicBezTo>
                  <a:cubicBezTo>
                    <a:pt x="47" y="12"/>
                    <a:pt x="50" y="14"/>
                    <a:pt x="50" y="18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0"/>
                    <a:pt x="57" y="8"/>
                    <a:pt x="60" y="8"/>
                  </a:cubicBezTo>
                  <a:cubicBezTo>
                    <a:pt x="63" y="8"/>
                    <a:pt x="66" y="10"/>
                    <a:pt x="66" y="14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70" y="46"/>
                    <a:pt x="73" y="44"/>
                    <a:pt x="76" y="44"/>
                  </a:cubicBezTo>
                  <a:cubicBezTo>
                    <a:pt x="79" y="44"/>
                    <a:pt x="82" y="46"/>
                    <a:pt x="82" y="5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58"/>
                    <a:pt x="86" y="58"/>
                    <a:pt x="86" y="58"/>
                  </a:cubicBezTo>
                  <a:cubicBezTo>
                    <a:pt x="86" y="54"/>
                    <a:pt x="89" y="52"/>
                    <a:pt x="92" y="52"/>
                  </a:cubicBezTo>
                  <a:cubicBezTo>
                    <a:pt x="95" y="52"/>
                    <a:pt x="98" y="54"/>
                    <a:pt x="98" y="58"/>
                  </a:cubicBezTo>
                  <a:lnTo>
                    <a:pt x="98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 15"/>
            <p:cNvSpPr>
              <a:spLocks noEditPoints="1"/>
            </p:cNvSpPr>
            <p:nvPr/>
          </p:nvSpPr>
          <p:spPr bwMode="auto">
            <a:xfrm>
              <a:off x="2189012" y="1023282"/>
              <a:ext cx="265113" cy="303213"/>
            </a:xfrm>
            <a:custGeom>
              <a:avLst/>
              <a:gdLst>
                <a:gd name="T0" fmla="*/ 66 w 102"/>
                <a:gd name="T1" fmla="*/ 20 h 116"/>
                <a:gd name="T2" fmla="*/ 94 w 102"/>
                <a:gd name="T3" fmla="*/ 20 h 116"/>
                <a:gd name="T4" fmla="*/ 81 w 102"/>
                <a:gd name="T5" fmla="*/ 33 h 116"/>
                <a:gd name="T6" fmla="*/ 84 w 102"/>
                <a:gd name="T7" fmla="*/ 36 h 116"/>
                <a:gd name="T8" fmla="*/ 102 w 102"/>
                <a:gd name="T9" fmla="*/ 18 h 116"/>
                <a:gd name="T10" fmla="*/ 84 w 102"/>
                <a:gd name="T11" fmla="*/ 0 h 116"/>
                <a:gd name="T12" fmla="*/ 81 w 102"/>
                <a:gd name="T13" fmla="*/ 3 h 116"/>
                <a:gd name="T14" fmla="*/ 94 w 102"/>
                <a:gd name="T15" fmla="*/ 16 h 116"/>
                <a:gd name="T16" fmla="*/ 66 w 102"/>
                <a:gd name="T17" fmla="*/ 16 h 116"/>
                <a:gd name="T18" fmla="*/ 66 w 102"/>
                <a:gd name="T19" fmla="*/ 14 h 116"/>
                <a:gd name="T20" fmla="*/ 56 w 102"/>
                <a:gd name="T21" fmla="*/ 4 h 116"/>
                <a:gd name="T22" fmla="*/ 47 w 102"/>
                <a:gd name="T23" fmla="*/ 11 h 116"/>
                <a:gd name="T24" fmla="*/ 40 w 102"/>
                <a:gd name="T25" fmla="*/ 8 h 116"/>
                <a:gd name="T26" fmla="*/ 30 w 102"/>
                <a:gd name="T27" fmla="*/ 18 h 116"/>
                <a:gd name="T28" fmla="*/ 30 w 102"/>
                <a:gd name="T29" fmla="*/ 53 h 116"/>
                <a:gd name="T30" fmla="*/ 30 w 102"/>
                <a:gd name="T31" fmla="*/ 53 h 116"/>
                <a:gd name="T32" fmla="*/ 8 w 102"/>
                <a:gd name="T33" fmla="*/ 46 h 116"/>
                <a:gd name="T34" fmla="*/ 30 w 102"/>
                <a:gd name="T35" fmla="*/ 94 h 116"/>
                <a:gd name="T36" fmla="*/ 64 w 102"/>
                <a:gd name="T37" fmla="*/ 116 h 116"/>
                <a:gd name="T38" fmla="*/ 98 w 102"/>
                <a:gd name="T39" fmla="*/ 82 h 116"/>
                <a:gd name="T40" fmla="*/ 98 w 102"/>
                <a:gd name="T41" fmla="*/ 58 h 116"/>
                <a:gd name="T42" fmla="*/ 88 w 102"/>
                <a:gd name="T43" fmla="*/ 48 h 116"/>
                <a:gd name="T44" fmla="*/ 82 w 102"/>
                <a:gd name="T45" fmla="*/ 50 h 116"/>
                <a:gd name="T46" fmla="*/ 82 w 102"/>
                <a:gd name="T47" fmla="*/ 50 h 116"/>
                <a:gd name="T48" fmla="*/ 72 w 102"/>
                <a:gd name="T49" fmla="*/ 40 h 116"/>
                <a:gd name="T50" fmla="*/ 66 w 102"/>
                <a:gd name="T51" fmla="*/ 42 h 116"/>
                <a:gd name="T52" fmla="*/ 66 w 102"/>
                <a:gd name="T53" fmla="*/ 20 h 116"/>
                <a:gd name="T54" fmla="*/ 64 w 102"/>
                <a:gd name="T55" fmla="*/ 112 h 116"/>
                <a:gd name="T56" fmla="*/ 33 w 102"/>
                <a:gd name="T57" fmla="*/ 92 h 116"/>
                <a:gd name="T58" fmla="*/ 11 w 102"/>
                <a:gd name="T59" fmla="*/ 49 h 116"/>
                <a:gd name="T60" fmla="*/ 34 w 102"/>
                <a:gd name="T61" fmla="*/ 63 h 116"/>
                <a:gd name="T62" fmla="*/ 34 w 102"/>
                <a:gd name="T63" fmla="*/ 18 h 116"/>
                <a:gd name="T64" fmla="*/ 40 w 102"/>
                <a:gd name="T65" fmla="*/ 12 h 116"/>
                <a:gd name="T66" fmla="*/ 46 w 102"/>
                <a:gd name="T67" fmla="*/ 18 h 116"/>
                <a:gd name="T68" fmla="*/ 46 w 102"/>
                <a:gd name="T69" fmla="*/ 60 h 116"/>
                <a:gd name="T70" fmla="*/ 50 w 102"/>
                <a:gd name="T71" fmla="*/ 60 h 116"/>
                <a:gd name="T72" fmla="*/ 50 w 102"/>
                <a:gd name="T73" fmla="*/ 14 h 116"/>
                <a:gd name="T74" fmla="*/ 56 w 102"/>
                <a:gd name="T75" fmla="*/ 8 h 116"/>
                <a:gd name="T76" fmla="*/ 62 w 102"/>
                <a:gd name="T77" fmla="*/ 14 h 116"/>
                <a:gd name="T78" fmla="*/ 62 w 102"/>
                <a:gd name="T79" fmla="*/ 56 h 116"/>
                <a:gd name="T80" fmla="*/ 66 w 102"/>
                <a:gd name="T81" fmla="*/ 56 h 116"/>
                <a:gd name="T82" fmla="*/ 66 w 102"/>
                <a:gd name="T83" fmla="*/ 50 h 116"/>
                <a:gd name="T84" fmla="*/ 72 w 102"/>
                <a:gd name="T85" fmla="*/ 44 h 116"/>
                <a:gd name="T86" fmla="*/ 78 w 102"/>
                <a:gd name="T87" fmla="*/ 50 h 116"/>
                <a:gd name="T88" fmla="*/ 78 w 102"/>
                <a:gd name="T89" fmla="*/ 60 h 116"/>
                <a:gd name="T90" fmla="*/ 82 w 102"/>
                <a:gd name="T91" fmla="*/ 60 h 116"/>
                <a:gd name="T92" fmla="*/ 82 w 102"/>
                <a:gd name="T93" fmla="*/ 58 h 116"/>
                <a:gd name="T94" fmla="*/ 88 w 102"/>
                <a:gd name="T95" fmla="*/ 52 h 116"/>
                <a:gd name="T96" fmla="*/ 94 w 102"/>
                <a:gd name="T97" fmla="*/ 58 h 116"/>
                <a:gd name="T98" fmla="*/ 94 w 102"/>
                <a:gd name="T99" fmla="*/ 67 h 116"/>
                <a:gd name="T100" fmla="*/ 94 w 102"/>
                <a:gd name="T101" fmla="*/ 82 h 116"/>
                <a:gd name="T102" fmla="*/ 64 w 102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2" h="116">
                  <a:moveTo>
                    <a:pt x="66" y="20"/>
                  </a:moveTo>
                  <a:cubicBezTo>
                    <a:pt x="94" y="20"/>
                    <a:pt x="94" y="20"/>
                    <a:pt x="94" y="20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8"/>
                    <a:pt x="62" y="4"/>
                    <a:pt x="56" y="4"/>
                  </a:cubicBezTo>
                  <a:cubicBezTo>
                    <a:pt x="52" y="4"/>
                    <a:pt x="48" y="7"/>
                    <a:pt x="47" y="11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3" y="41"/>
                    <a:pt x="8" y="46"/>
                  </a:cubicBezTo>
                  <a:cubicBezTo>
                    <a:pt x="0" y="54"/>
                    <a:pt x="16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ubicBezTo>
                    <a:pt x="86" y="48"/>
                    <a:pt x="84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2"/>
                  </a:cubicBezTo>
                  <a:cubicBezTo>
                    <a:pt x="66" y="20"/>
                    <a:pt x="66" y="20"/>
                    <a:pt x="66" y="20"/>
                  </a:cubicBezTo>
                  <a:close/>
                  <a:moveTo>
                    <a:pt x="64" y="112"/>
                  </a:moveTo>
                  <a:cubicBezTo>
                    <a:pt x="49" y="112"/>
                    <a:pt x="40" y="104"/>
                    <a:pt x="33" y="92"/>
                  </a:cubicBezTo>
                  <a:cubicBezTo>
                    <a:pt x="17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1"/>
                    <a:pt x="53" y="8"/>
                    <a:pt x="56" y="8"/>
                  </a:cubicBezTo>
                  <a:cubicBezTo>
                    <a:pt x="59" y="8"/>
                    <a:pt x="62" y="11"/>
                    <a:pt x="62" y="14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82"/>
                    <a:pt x="94" y="82"/>
                    <a:pt x="94" y="82"/>
                  </a:cubicBezTo>
                  <a:cubicBezTo>
                    <a:pt x="94" y="99"/>
                    <a:pt x="81" y="112"/>
                    <a:pt x="64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2" name="Freeform 16"/>
            <p:cNvSpPr>
              <a:spLocks noEditPoints="1"/>
            </p:cNvSpPr>
            <p:nvPr/>
          </p:nvSpPr>
          <p:spPr bwMode="auto">
            <a:xfrm>
              <a:off x="9297948" y="2847899"/>
              <a:ext cx="254000" cy="292100"/>
            </a:xfrm>
            <a:custGeom>
              <a:avLst/>
              <a:gdLst>
                <a:gd name="T0" fmla="*/ 62 w 98"/>
                <a:gd name="T1" fmla="*/ 108 h 112"/>
                <a:gd name="T2" fmla="*/ 64 w 98"/>
                <a:gd name="T3" fmla="*/ 108 h 112"/>
                <a:gd name="T4" fmla="*/ 94 w 98"/>
                <a:gd name="T5" fmla="*/ 78 h 112"/>
                <a:gd name="T6" fmla="*/ 94 w 98"/>
                <a:gd name="T7" fmla="*/ 63 h 112"/>
                <a:gd name="T8" fmla="*/ 94 w 98"/>
                <a:gd name="T9" fmla="*/ 54 h 112"/>
                <a:gd name="T10" fmla="*/ 88 w 98"/>
                <a:gd name="T11" fmla="*/ 48 h 112"/>
                <a:gd name="T12" fmla="*/ 82 w 98"/>
                <a:gd name="T13" fmla="*/ 54 h 112"/>
                <a:gd name="T14" fmla="*/ 82 w 98"/>
                <a:gd name="T15" fmla="*/ 56 h 112"/>
                <a:gd name="T16" fmla="*/ 78 w 98"/>
                <a:gd name="T17" fmla="*/ 56 h 112"/>
                <a:gd name="T18" fmla="*/ 78 w 98"/>
                <a:gd name="T19" fmla="*/ 46 h 112"/>
                <a:gd name="T20" fmla="*/ 72 w 98"/>
                <a:gd name="T21" fmla="*/ 40 h 112"/>
                <a:gd name="T22" fmla="*/ 66 w 98"/>
                <a:gd name="T23" fmla="*/ 46 h 112"/>
                <a:gd name="T24" fmla="*/ 66 w 98"/>
                <a:gd name="T25" fmla="*/ 52 h 112"/>
                <a:gd name="T26" fmla="*/ 62 w 98"/>
                <a:gd name="T27" fmla="*/ 52 h 112"/>
                <a:gd name="T28" fmla="*/ 62 w 98"/>
                <a:gd name="T29" fmla="*/ 10 h 112"/>
                <a:gd name="T30" fmla="*/ 56 w 98"/>
                <a:gd name="T31" fmla="*/ 4 h 112"/>
                <a:gd name="T32" fmla="*/ 50 w 98"/>
                <a:gd name="T33" fmla="*/ 10 h 112"/>
                <a:gd name="T34" fmla="*/ 50 w 98"/>
                <a:gd name="T35" fmla="*/ 56 h 112"/>
                <a:gd name="T36" fmla="*/ 46 w 98"/>
                <a:gd name="T37" fmla="*/ 56 h 112"/>
                <a:gd name="T38" fmla="*/ 46 w 98"/>
                <a:gd name="T39" fmla="*/ 14 h 112"/>
                <a:gd name="T40" fmla="*/ 40 w 98"/>
                <a:gd name="T41" fmla="*/ 8 h 112"/>
                <a:gd name="T42" fmla="*/ 34 w 98"/>
                <a:gd name="T43" fmla="*/ 14 h 112"/>
                <a:gd name="T44" fmla="*/ 34 w 98"/>
                <a:gd name="T45" fmla="*/ 59 h 112"/>
                <a:gd name="T46" fmla="*/ 11 w 98"/>
                <a:gd name="T47" fmla="*/ 45 h 112"/>
                <a:gd name="T48" fmla="*/ 33 w 98"/>
                <a:gd name="T49" fmla="*/ 88 h 112"/>
                <a:gd name="T50" fmla="*/ 58 w 98"/>
                <a:gd name="T51" fmla="*/ 108 h 112"/>
                <a:gd name="T52" fmla="*/ 58 w 98"/>
                <a:gd name="T53" fmla="*/ 72 h 112"/>
                <a:gd name="T54" fmla="*/ 45 w 98"/>
                <a:gd name="T55" fmla="*/ 85 h 112"/>
                <a:gd name="T56" fmla="*/ 42 w 98"/>
                <a:gd name="T57" fmla="*/ 82 h 112"/>
                <a:gd name="T58" fmla="*/ 60 w 98"/>
                <a:gd name="T59" fmla="*/ 64 h 112"/>
                <a:gd name="T60" fmla="*/ 78 w 98"/>
                <a:gd name="T61" fmla="*/ 82 h 112"/>
                <a:gd name="T62" fmla="*/ 75 w 98"/>
                <a:gd name="T63" fmla="*/ 85 h 112"/>
                <a:gd name="T64" fmla="*/ 62 w 98"/>
                <a:gd name="T65" fmla="*/ 72 h 112"/>
                <a:gd name="T66" fmla="*/ 62 w 98"/>
                <a:gd name="T67" fmla="*/ 108 h 112"/>
                <a:gd name="T68" fmla="*/ 98 w 98"/>
                <a:gd name="T69" fmla="*/ 78 h 112"/>
                <a:gd name="T70" fmla="*/ 64 w 98"/>
                <a:gd name="T71" fmla="*/ 112 h 112"/>
                <a:gd name="T72" fmla="*/ 30 w 98"/>
                <a:gd name="T73" fmla="*/ 90 h 112"/>
                <a:gd name="T74" fmla="*/ 8 w 98"/>
                <a:gd name="T75" fmla="*/ 42 h 112"/>
                <a:gd name="T76" fmla="*/ 30 w 98"/>
                <a:gd name="T77" fmla="*/ 49 h 112"/>
                <a:gd name="T78" fmla="*/ 30 w 98"/>
                <a:gd name="T79" fmla="*/ 49 h 112"/>
                <a:gd name="T80" fmla="*/ 30 w 98"/>
                <a:gd name="T81" fmla="*/ 14 h 112"/>
                <a:gd name="T82" fmla="*/ 40 w 98"/>
                <a:gd name="T83" fmla="*/ 4 h 112"/>
                <a:gd name="T84" fmla="*/ 47 w 98"/>
                <a:gd name="T85" fmla="*/ 7 h 112"/>
                <a:gd name="T86" fmla="*/ 56 w 98"/>
                <a:gd name="T87" fmla="*/ 0 h 112"/>
                <a:gd name="T88" fmla="*/ 66 w 98"/>
                <a:gd name="T89" fmla="*/ 10 h 112"/>
                <a:gd name="T90" fmla="*/ 66 w 98"/>
                <a:gd name="T91" fmla="*/ 38 h 112"/>
                <a:gd name="T92" fmla="*/ 72 w 98"/>
                <a:gd name="T93" fmla="*/ 36 h 112"/>
                <a:gd name="T94" fmla="*/ 82 w 98"/>
                <a:gd name="T95" fmla="*/ 46 h 112"/>
                <a:gd name="T96" fmla="*/ 82 w 98"/>
                <a:gd name="T97" fmla="*/ 46 h 112"/>
                <a:gd name="T98" fmla="*/ 88 w 98"/>
                <a:gd name="T99" fmla="*/ 44 h 112"/>
                <a:gd name="T100" fmla="*/ 98 w 98"/>
                <a:gd name="T101" fmla="*/ 54 h 112"/>
                <a:gd name="T102" fmla="*/ 98 w 98"/>
                <a:gd name="T103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2">
                  <a:moveTo>
                    <a:pt x="62" y="108"/>
                  </a:moveTo>
                  <a:cubicBezTo>
                    <a:pt x="63" y="108"/>
                    <a:pt x="64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78" y="43"/>
                    <a:pt x="76" y="40"/>
                    <a:pt x="72" y="40"/>
                  </a:cubicBezTo>
                  <a:cubicBezTo>
                    <a:pt x="69" y="40"/>
                    <a:pt x="66" y="43"/>
                    <a:pt x="66" y="46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39" y="98"/>
                    <a:pt x="47" y="106"/>
                    <a:pt x="58" y="108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8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2" y="0"/>
                    <a:pt x="66" y="4"/>
                    <a:pt x="66" y="10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8" y="37"/>
                    <a:pt x="70" y="36"/>
                    <a:pt x="72" y="36"/>
                  </a:cubicBezTo>
                  <a:cubicBezTo>
                    <a:pt x="78" y="36"/>
                    <a:pt x="82" y="40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Freeform 17"/>
            <p:cNvSpPr>
              <a:spLocks noEditPoints="1"/>
            </p:cNvSpPr>
            <p:nvPr/>
          </p:nvSpPr>
          <p:spPr bwMode="auto">
            <a:xfrm>
              <a:off x="10914920" y="5783450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2 h 112"/>
                <a:gd name="T64" fmla="*/ 62 w 98"/>
                <a:gd name="T65" fmla="*/ 88 h 112"/>
                <a:gd name="T66" fmla="*/ 49 w 98"/>
                <a:gd name="T67" fmla="*/ 75 h 112"/>
                <a:gd name="T68" fmla="*/ 46 w 98"/>
                <a:gd name="T69" fmla="*/ 78 h 112"/>
                <a:gd name="T70" fmla="*/ 64 w 98"/>
                <a:gd name="T71" fmla="*/ 96 h 112"/>
                <a:gd name="T72" fmla="*/ 82 w 98"/>
                <a:gd name="T73" fmla="*/ 78 h 112"/>
                <a:gd name="T74" fmla="*/ 79 w 98"/>
                <a:gd name="T75" fmla="*/ 75 h 112"/>
                <a:gd name="T76" fmla="*/ 66 w 98"/>
                <a:gd name="T77" fmla="*/ 88 h 112"/>
                <a:gd name="T78" fmla="*/ 66 w 98"/>
                <a:gd name="T79" fmla="*/ 52 h 112"/>
                <a:gd name="T80" fmla="*/ 66 w 98"/>
                <a:gd name="T81" fmla="*/ 46 h 112"/>
                <a:gd name="T82" fmla="*/ 72 w 98"/>
                <a:gd name="T83" fmla="*/ 40 h 112"/>
                <a:gd name="T84" fmla="*/ 78 w 98"/>
                <a:gd name="T85" fmla="*/ 46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2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66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0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Freeform 18"/>
            <p:cNvSpPr>
              <a:spLocks noEditPoints="1"/>
            </p:cNvSpPr>
            <p:nvPr/>
          </p:nvSpPr>
          <p:spPr bwMode="auto">
            <a:xfrm>
              <a:off x="10591801" y="355034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4 h 112"/>
                <a:gd name="T64" fmla="*/ 66 w 98"/>
                <a:gd name="T65" fmla="*/ 54 h 112"/>
                <a:gd name="T66" fmla="*/ 66 w 98"/>
                <a:gd name="T67" fmla="*/ 46 h 112"/>
                <a:gd name="T68" fmla="*/ 72 w 98"/>
                <a:gd name="T69" fmla="*/ 40 h 112"/>
                <a:gd name="T70" fmla="*/ 78 w 98"/>
                <a:gd name="T71" fmla="*/ 46 h 112"/>
                <a:gd name="T72" fmla="*/ 78 w 98"/>
                <a:gd name="T73" fmla="*/ 58 h 112"/>
                <a:gd name="T74" fmla="*/ 82 w 98"/>
                <a:gd name="T75" fmla="*/ 58 h 112"/>
                <a:gd name="T76" fmla="*/ 82 w 98"/>
                <a:gd name="T77" fmla="*/ 54 h 112"/>
                <a:gd name="T78" fmla="*/ 88 w 98"/>
                <a:gd name="T79" fmla="*/ 48 h 112"/>
                <a:gd name="T80" fmla="*/ 94 w 98"/>
                <a:gd name="T81" fmla="*/ 54 h 112"/>
                <a:gd name="T82" fmla="*/ 94 w 98"/>
                <a:gd name="T83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70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11734802" y="4456235"/>
              <a:ext cx="254000" cy="333375"/>
              <a:chOff x="8229600" y="1885950"/>
              <a:chExt cx="254000" cy="333375"/>
            </a:xfrm>
            <a:grpFill/>
          </p:grpSpPr>
          <p:sp>
            <p:nvSpPr>
              <p:cNvPr id="229" name="Freeform 19"/>
              <p:cNvSpPr>
                <a:spLocks/>
              </p:cNvSpPr>
              <p:nvPr/>
            </p:nvSpPr>
            <p:spPr bwMode="auto">
              <a:xfrm>
                <a:off x="8286750" y="1906588"/>
                <a:ext cx="138113" cy="85725"/>
              </a:xfrm>
              <a:custGeom>
                <a:avLst/>
                <a:gdLst>
                  <a:gd name="T0" fmla="*/ 24 w 53"/>
                  <a:gd name="T1" fmla="*/ 9 h 33"/>
                  <a:gd name="T2" fmla="*/ 35 w 53"/>
                  <a:gd name="T3" fmla="*/ 5 h 33"/>
                  <a:gd name="T4" fmla="*/ 45 w 53"/>
                  <a:gd name="T5" fmla="*/ 10 h 33"/>
                  <a:gd name="T6" fmla="*/ 45 w 53"/>
                  <a:gd name="T7" fmla="*/ 10 h 33"/>
                  <a:gd name="T8" fmla="*/ 48 w 53"/>
                  <a:gd name="T9" fmla="*/ 18 h 33"/>
                  <a:gd name="T10" fmla="*/ 48 w 53"/>
                  <a:gd name="T11" fmla="*/ 29 h 33"/>
                  <a:gd name="T12" fmla="*/ 53 w 53"/>
                  <a:gd name="T13" fmla="*/ 18 h 33"/>
                  <a:gd name="T14" fmla="*/ 35 w 53"/>
                  <a:gd name="T15" fmla="*/ 0 h 33"/>
                  <a:gd name="T16" fmla="*/ 23 w 53"/>
                  <a:gd name="T17" fmla="*/ 4 h 33"/>
                  <a:gd name="T18" fmla="*/ 19 w 53"/>
                  <a:gd name="T19" fmla="*/ 4 h 33"/>
                  <a:gd name="T20" fmla="*/ 0 w 53"/>
                  <a:gd name="T21" fmla="*/ 22 h 33"/>
                  <a:gd name="T22" fmla="*/ 4 w 53"/>
                  <a:gd name="T23" fmla="*/ 33 h 33"/>
                  <a:gd name="T24" fmla="*/ 4 w 53"/>
                  <a:gd name="T25" fmla="*/ 22 h 33"/>
                  <a:gd name="T26" fmla="*/ 9 w 53"/>
                  <a:gd name="T27" fmla="*/ 14 h 33"/>
                  <a:gd name="T28" fmla="*/ 9 w 53"/>
                  <a:gd name="T29" fmla="*/ 14 h 33"/>
                  <a:gd name="T30" fmla="*/ 19 w 53"/>
                  <a:gd name="T31" fmla="*/ 9 h 33"/>
                  <a:gd name="T32" fmla="*/ 24 w 53"/>
                  <a:gd name="T33" fmla="*/ 9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" h="33">
                    <a:moveTo>
                      <a:pt x="24" y="9"/>
                    </a:moveTo>
                    <a:cubicBezTo>
                      <a:pt x="27" y="6"/>
                      <a:pt x="31" y="5"/>
                      <a:pt x="35" y="5"/>
                    </a:cubicBezTo>
                    <a:cubicBezTo>
                      <a:pt x="39" y="5"/>
                      <a:pt x="42" y="6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7" y="10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3" y="22"/>
                      <a:pt x="53" y="18"/>
                    </a:cubicBezTo>
                    <a:cubicBezTo>
                      <a:pt x="53" y="8"/>
                      <a:pt x="45" y="0"/>
                      <a:pt x="35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2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9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1" y="9"/>
                      <a:pt x="23" y="8"/>
                      <a:pt x="2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0" name="Freeform 20"/>
              <p:cNvSpPr>
                <a:spLocks/>
              </p:cNvSpPr>
              <p:nvPr/>
            </p:nvSpPr>
            <p:spPr bwMode="auto">
              <a:xfrm>
                <a:off x="8266113" y="1885950"/>
                <a:ext cx="179388" cy="134938"/>
              </a:xfrm>
              <a:custGeom>
                <a:avLst/>
                <a:gdLst>
                  <a:gd name="T0" fmla="*/ 12 w 69"/>
                  <a:gd name="T1" fmla="*/ 52 h 52"/>
                  <a:gd name="T2" fmla="*/ 12 w 69"/>
                  <a:gd name="T3" fmla="*/ 47 h 52"/>
                  <a:gd name="T4" fmla="*/ 5 w 69"/>
                  <a:gd name="T5" fmla="*/ 30 h 52"/>
                  <a:gd name="T6" fmla="*/ 27 w 69"/>
                  <a:gd name="T7" fmla="*/ 8 h 52"/>
                  <a:gd name="T8" fmla="*/ 30 w 69"/>
                  <a:gd name="T9" fmla="*/ 8 h 52"/>
                  <a:gd name="T10" fmla="*/ 43 w 69"/>
                  <a:gd name="T11" fmla="*/ 4 h 52"/>
                  <a:gd name="T12" fmla="*/ 64 w 69"/>
                  <a:gd name="T13" fmla="*/ 26 h 52"/>
                  <a:gd name="T14" fmla="*/ 56 w 69"/>
                  <a:gd name="T15" fmla="*/ 43 h 52"/>
                  <a:gd name="T16" fmla="*/ 56 w 69"/>
                  <a:gd name="T17" fmla="*/ 48 h 52"/>
                  <a:gd name="T18" fmla="*/ 69 w 69"/>
                  <a:gd name="T19" fmla="*/ 26 h 52"/>
                  <a:gd name="T20" fmla="*/ 43 w 69"/>
                  <a:gd name="T21" fmla="*/ 0 h 52"/>
                  <a:gd name="T22" fmla="*/ 29 w 69"/>
                  <a:gd name="T23" fmla="*/ 4 h 52"/>
                  <a:gd name="T24" fmla="*/ 27 w 69"/>
                  <a:gd name="T25" fmla="*/ 4 h 52"/>
                  <a:gd name="T26" fmla="*/ 0 w 69"/>
                  <a:gd name="T27" fmla="*/ 30 h 52"/>
                  <a:gd name="T28" fmla="*/ 12 w 69"/>
                  <a:gd name="T29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5" y="37"/>
                      <a:pt x="5" y="30"/>
                    </a:cubicBezTo>
                    <a:cubicBezTo>
                      <a:pt x="5" y="18"/>
                      <a:pt x="15" y="8"/>
                      <a:pt x="27" y="8"/>
                    </a:cubicBezTo>
                    <a:cubicBezTo>
                      <a:pt x="28" y="8"/>
                      <a:pt x="29" y="8"/>
                      <a:pt x="30" y="8"/>
                    </a:cubicBezTo>
                    <a:cubicBezTo>
                      <a:pt x="34" y="6"/>
                      <a:pt x="38" y="4"/>
                      <a:pt x="43" y="4"/>
                    </a:cubicBezTo>
                    <a:cubicBezTo>
                      <a:pt x="55" y="4"/>
                      <a:pt x="64" y="14"/>
                      <a:pt x="64" y="26"/>
                    </a:cubicBezTo>
                    <a:cubicBezTo>
                      <a:pt x="64" y="33"/>
                      <a:pt x="60" y="39"/>
                      <a:pt x="56" y="43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64" y="43"/>
                      <a:pt x="69" y="35"/>
                      <a:pt x="69" y="26"/>
                    </a:cubicBezTo>
                    <a:cubicBezTo>
                      <a:pt x="69" y="12"/>
                      <a:pt x="57" y="0"/>
                      <a:pt x="43" y="0"/>
                    </a:cubicBezTo>
                    <a:cubicBezTo>
                      <a:pt x="38" y="0"/>
                      <a:pt x="33" y="1"/>
                      <a:pt x="29" y="4"/>
                    </a:cubicBezTo>
                    <a:cubicBezTo>
                      <a:pt x="28" y="4"/>
                      <a:pt x="28" y="4"/>
                      <a:pt x="27" y="4"/>
                    </a:cubicBezTo>
                    <a:cubicBezTo>
                      <a:pt x="13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1" name="Freeform 21"/>
              <p:cNvSpPr>
                <a:spLocks noEditPoints="1"/>
              </p:cNvSpPr>
              <p:nvPr/>
            </p:nvSpPr>
            <p:spPr bwMode="auto">
              <a:xfrm>
                <a:off x="8229600" y="1927225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7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6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49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2458028" y="1802029"/>
              <a:ext cx="254000" cy="312737"/>
              <a:chOff x="615950" y="2532063"/>
              <a:chExt cx="254000" cy="312737"/>
            </a:xfrm>
            <a:grpFill/>
          </p:grpSpPr>
          <p:sp>
            <p:nvSpPr>
              <p:cNvPr id="227" name="Freeform 22"/>
              <p:cNvSpPr>
                <a:spLocks/>
              </p:cNvSpPr>
              <p:nvPr/>
            </p:nvSpPr>
            <p:spPr bwMode="auto">
              <a:xfrm>
                <a:off x="673100" y="2532063"/>
                <a:ext cx="134938" cy="85725"/>
              </a:xfrm>
              <a:custGeom>
                <a:avLst/>
                <a:gdLst>
                  <a:gd name="T0" fmla="*/ 4 w 52"/>
                  <a:gd name="T1" fmla="*/ 22 h 33"/>
                  <a:gd name="T2" fmla="*/ 8 w 52"/>
                  <a:gd name="T3" fmla="*/ 14 h 33"/>
                  <a:gd name="T4" fmla="*/ 9 w 52"/>
                  <a:gd name="T5" fmla="*/ 14 h 33"/>
                  <a:gd name="T6" fmla="*/ 19 w 52"/>
                  <a:gd name="T7" fmla="*/ 9 h 33"/>
                  <a:gd name="T8" fmla="*/ 24 w 52"/>
                  <a:gd name="T9" fmla="*/ 9 h 33"/>
                  <a:gd name="T10" fmla="*/ 35 w 52"/>
                  <a:gd name="T11" fmla="*/ 4 h 33"/>
                  <a:gd name="T12" fmla="*/ 44 w 52"/>
                  <a:gd name="T13" fmla="*/ 8 h 33"/>
                  <a:gd name="T14" fmla="*/ 48 w 52"/>
                  <a:gd name="T15" fmla="*/ 18 h 33"/>
                  <a:gd name="T16" fmla="*/ 48 w 52"/>
                  <a:gd name="T17" fmla="*/ 29 h 33"/>
                  <a:gd name="T18" fmla="*/ 52 w 52"/>
                  <a:gd name="T19" fmla="*/ 18 h 33"/>
                  <a:gd name="T20" fmla="*/ 34 w 52"/>
                  <a:gd name="T21" fmla="*/ 0 h 33"/>
                  <a:gd name="T22" fmla="*/ 23 w 52"/>
                  <a:gd name="T23" fmla="*/ 4 h 33"/>
                  <a:gd name="T24" fmla="*/ 19 w 52"/>
                  <a:gd name="T25" fmla="*/ 4 h 33"/>
                  <a:gd name="T26" fmla="*/ 0 w 52"/>
                  <a:gd name="T27" fmla="*/ 22 h 33"/>
                  <a:gd name="T28" fmla="*/ 4 w 52"/>
                  <a:gd name="T29" fmla="*/ 33 h 33"/>
                  <a:gd name="T30" fmla="*/ 4 w 52"/>
                  <a:gd name="T3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2" h="33">
                    <a:moveTo>
                      <a:pt x="4" y="22"/>
                    </a:moveTo>
                    <a:cubicBezTo>
                      <a:pt x="4" y="18"/>
                      <a:pt x="6" y="14"/>
                      <a:pt x="8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0" y="9"/>
                      <a:pt x="22" y="9"/>
                      <a:pt x="24" y="9"/>
                    </a:cubicBezTo>
                    <a:cubicBezTo>
                      <a:pt x="26" y="6"/>
                      <a:pt x="30" y="4"/>
                      <a:pt x="35" y="4"/>
                    </a:cubicBezTo>
                    <a:cubicBezTo>
                      <a:pt x="38" y="4"/>
                      <a:pt x="42" y="6"/>
                      <a:pt x="44" y="8"/>
                    </a:cubicBezTo>
                    <a:cubicBezTo>
                      <a:pt x="47" y="11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2" y="22"/>
                      <a:pt x="52" y="18"/>
                    </a:cubicBezTo>
                    <a:cubicBezTo>
                      <a:pt x="52" y="8"/>
                      <a:pt x="44" y="0"/>
                      <a:pt x="34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lnTo>
                      <a:pt x="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8" name="Freeform 23"/>
              <p:cNvSpPr>
                <a:spLocks noEditPoints="1"/>
              </p:cNvSpPr>
              <p:nvPr/>
            </p:nvSpPr>
            <p:spPr bwMode="auto">
              <a:xfrm>
                <a:off x="615950" y="2552700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6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4 w 98"/>
                  <a:gd name="T39" fmla="*/ 108 h 112"/>
                  <a:gd name="T40" fmla="*/ 33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4221164" y="4171057"/>
              <a:ext cx="312738" cy="322263"/>
              <a:chOff x="1223963" y="2527300"/>
              <a:chExt cx="312738" cy="322263"/>
            </a:xfrm>
            <a:grpFill/>
          </p:grpSpPr>
          <p:sp>
            <p:nvSpPr>
              <p:cNvPr id="224" name="Freeform 24"/>
              <p:cNvSpPr>
                <a:spLocks/>
              </p:cNvSpPr>
              <p:nvPr/>
            </p:nvSpPr>
            <p:spPr bwMode="auto">
              <a:xfrm>
                <a:off x="1223963" y="2592388"/>
                <a:ext cx="65088" cy="58738"/>
              </a:xfrm>
              <a:custGeom>
                <a:avLst/>
                <a:gdLst>
                  <a:gd name="T0" fmla="*/ 36 w 41"/>
                  <a:gd name="T1" fmla="*/ 0 h 37"/>
                  <a:gd name="T2" fmla="*/ 7 w 41"/>
                  <a:gd name="T3" fmla="*/ 26 h 37"/>
                  <a:gd name="T4" fmla="*/ 7 w 41"/>
                  <a:gd name="T5" fmla="*/ 5 h 37"/>
                  <a:gd name="T6" fmla="*/ 0 w 41"/>
                  <a:gd name="T7" fmla="*/ 5 h 37"/>
                  <a:gd name="T8" fmla="*/ 0 w 41"/>
                  <a:gd name="T9" fmla="*/ 37 h 37"/>
                  <a:gd name="T10" fmla="*/ 33 w 41"/>
                  <a:gd name="T11" fmla="*/ 37 h 37"/>
                  <a:gd name="T12" fmla="*/ 33 w 41"/>
                  <a:gd name="T13" fmla="*/ 31 h 37"/>
                  <a:gd name="T14" fmla="*/ 15 w 41"/>
                  <a:gd name="T15" fmla="*/ 31 h 37"/>
                  <a:gd name="T16" fmla="*/ 41 w 41"/>
                  <a:gd name="T17" fmla="*/ 5 h 37"/>
                  <a:gd name="T18" fmla="*/ 36 w 41"/>
                  <a:gd name="T1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37">
                    <a:moveTo>
                      <a:pt x="36" y="0"/>
                    </a:moveTo>
                    <a:lnTo>
                      <a:pt x="7" y="26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0" y="37"/>
                    </a:lnTo>
                    <a:lnTo>
                      <a:pt x="33" y="37"/>
                    </a:lnTo>
                    <a:lnTo>
                      <a:pt x="33" y="31"/>
                    </a:lnTo>
                    <a:lnTo>
                      <a:pt x="15" y="31"/>
                    </a:lnTo>
                    <a:lnTo>
                      <a:pt x="41" y="5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5" name="Freeform 25"/>
              <p:cNvSpPr>
                <a:spLocks/>
              </p:cNvSpPr>
              <p:nvPr/>
            </p:nvSpPr>
            <p:spPr bwMode="auto">
              <a:xfrm>
                <a:off x="1292225" y="2527300"/>
                <a:ext cx="57150" cy="58738"/>
              </a:xfrm>
              <a:custGeom>
                <a:avLst/>
                <a:gdLst>
                  <a:gd name="T0" fmla="*/ 29 w 36"/>
                  <a:gd name="T1" fmla="*/ 32 h 37"/>
                  <a:gd name="T2" fmla="*/ 36 w 36"/>
                  <a:gd name="T3" fmla="*/ 32 h 37"/>
                  <a:gd name="T4" fmla="*/ 36 w 36"/>
                  <a:gd name="T5" fmla="*/ 0 h 37"/>
                  <a:gd name="T6" fmla="*/ 3 w 36"/>
                  <a:gd name="T7" fmla="*/ 0 h 37"/>
                  <a:gd name="T8" fmla="*/ 3 w 36"/>
                  <a:gd name="T9" fmla="*/ 6 h 37"/>
                  <a:gd name="T10" fmla="*/ 28 w 36"/>
                  <a:gd name="T11" fmla="*/ 6 h 37"/>
                  <a:gd name="T12" fmla="*/ 0 w 36"/>
                  <a:gd name="T13" fmla="*/ 32 h 37"/>
                  <a:gd name="T14" fmla="*/ 3 w 36"/>
                  <a:gd name="T15" fmla="*/ 37 h 37"/>
                  <a:gd name="T16" fmla="*/ 29 w 36"/>
                  <a:gd name="T17" fmla="*/ 11 h 37"/>
                  <a:gd name="T18" fmla="*/ 29 w 36"/>
                  <a:gd name="T19" fmla="*/ 3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7">
                    <a:moveTo>
                      <a:pt x="29" y="32"/>
                    </a:moveTo>
                    <a:lnTo>
                      <a:pt x="36" y="32"/>
                    </a:lnTo>
                    <a:lnTo>
                      <a:pt x="36" y="0"/>
                    </a:lnTo>
                    <a:lnTo>
                      <a:pt x="3" y="0"/>
                    </a:lnTo>
                    <a:lnTo>
                      <a:pt x="3" y="6"/>
                    </a:lnTo>
                    <a:lnTo>
                      <a:pt x="28" y="6"/>
                    </a:lnTo>
                    <a:lnTo>
                      <a:pt x="0" y="32"/>
                    </a:lnTo>
                    <a:lnTo>
                      <a:pt x="3" y="37"/>
                    </a:lnTo>
                    <a:lnTo>
                      <a:pt x="29" y="11"/>
                    </a:lnTo>
                    <a:lnTo>
                      <a:pt x="29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6" name="Freeform 26"/>
              <p:cNvSpPr>
                <a:spLocks noEditPoints="1"/>
              </p:cNvSpPr>
              <p:nvPr/>
            </p:nvSpPr>
            <p:spPr bwMode="auto">
              <a:xfrm>
                <a:off x="1284288" y="2557463"/>
                <a:ext cx="252413" cy="292100"/>
              </a:xfrm>
              <a:custGeom>
                <a:avLst/>
                <a:gdLst>
                  <a:gd name="T0" fmla="*/ 87 w 97"/>
                  <a:gd name="T1" fmla="*/ 44 h 112"/>
                  <a:gd name="T2" fmla="*/ 81 w 97"/>
                  <a:gd name="T3" fmla="*/ 46 h 112"/>
                  <a:gd name="T4" fmla="*/ 81 w 97"/>
                  <a:gd name="T5" fmla="*/ 46 h 112"/>
                  <a:gd name="T6" fmla="*/ 71 w 97"/>
                  <a:gd name="T7" fmla="*/ 36 h 112"/>
                  <a:gd name="T8" fmla="*/ 65 w 97"/>
                  <a:gd name="T9" fmla="*/ 38 h 112"/>
                  <a:gd name="T10" fmla="*/ 65 w 97"/>
                  <a:gd name="T11" fmla="*/ 10 h 112"/>
                  <a:gd name="T12" fmla="*/ 56 w 97"/>
                  <a:gd name="T13" fmla="*/ 0 h 112"/>
                  <a:gd name="T14" fmla="*/ 47 w 97"/>
                  <a:gd name="T15" fmla="*/ 7 h 112"/>
                  <a:gd name="T16" fmla="*/ 40 w 97"/>
                  <a:gd name="T17" fmla="*/ 4 h 112"/>
                  <a:gd name="T18" fmla="*/ 29 w 97"/>
                  <a:gd name="T19" fmla="*/ 14 h 112"/>
                  <a:gd name="T20" fmla="*/ 29 w 97"/>
                  <a:gd name="T21" fmla="*/ 49 h 112"/>
                  <a:gd name="T22" fmla="*/ 8 w 97"/>
                  <a:gd name="T23" fmla="*/ 42 h 112"/>
                  <a:gd name="T24" fmla="*/ 30 w 97"/>
                  <a:gd name="T25" fmla="*/ 90 h 112"/>
                  <a:gd name="T26" fmla="*/ 64 w 97"/>
                  <a:gd name="T27" fmla="*/ 112 h 112"/>
                  <a:gd name="T28" fmla="*/ 97 w 97"/>
                  <a:gd name="T29" fmla="*/ 78 h 112"/>
                  <a:gd name="T30" fmla="*/ 97 w 97"/>
                  <a:gd name="T31" fmla="*/ 54 h 112"/>
                  <a:gd name="T32" fmla="*/ 87 w 97"/>
                  <a:gd name="T33" fmla="*/ 44 h 112"/>
                  <a:gd name="T34" fmla="*/ 93 w 97"/>
                  <a:gd name="T35" fmla="*/ 63 h 112"/>
                  <a:gd name="T36" fmla="*/ 93 w 97"/>
                  <a:gd name="T37" fmla="*/ 78 h 112"/>
                  <a:gd name="T38" fmla="*/ 64 w 97"/>
                  <a:gd name="T39" fmla="*/ 108 h 112"/>
                  <a:gd name="T40" fmla="*/ 33 w 97"/>
                  <a:gd name="T41" fmla="*/ 88 h 112"/>
                  <a:gd name="T42" fmla="*/ 10 w 97"/>
                  <a:gd name="T43" fmla="*/ 45 h 112"/>
                  <a:gd name="T44" fmla="*/ 33 w 97"/>
                  <a:gd name="T45" fmla="*/ 59 h 112"/>
                  <a:gd name="T46" fmla="*/ 33 w 97"/>
                  <a:gd name="T47" fmla="*/ 14 h 112"/>
                  <a:gd name="T48" fmla="*/ 39 w 97"/>
                  <a:gd name="T49" fmla="*/ 8 h 112"/>
                  <a:gd name="T50" fmla="*/ 45 w 97"/>
                  <a:gd name="T51" fmla="*/ 14 h 112"/>
                  <a:gd name="T52" fmla="*/ 45 w 97"/>
                  <a:gd name="T53" fmla="*/ 56 h 112"/>
                  <a:gd name="T54" fmla="*/ 49 w 97"/>
                  <a:gd name="T55" fmla="*/ 56 h 112"/>
                  <a:gd name="T56" fmla="*/ 49 w 97"/>
                  <a:gd name="T57" fmla="*/ 10 h 112"/>
                  <a:gd name="T58" fmla="*/ 55 w 97"/>
                  <a:gd name="T59" fmla="*/ 4 h 112"/>
                  <a:gd name="T60" fmla="*/ 61 w 97"/>
                  <a:gd name="T61" fmla="*/ 10 h 112"/>
                  <a:gd name="T62" fmla="*/ 61 w 97"/>
                  <a:gd name="T63" fmla="*/ 52 h 112"/>
                  <a:gd name="T64" fmla="*/ 65 w 97"/>
                  <a:gd name="T65" fmla="*/ 52 h 112"/>
                  <a:gd name="T66" fmla="*/ 65 w 97"/>
                  <a:gd name="T67" fmla="*/ 46 h 112"/>
                  <a:gd name="T68" fmla="*/ 71 w 97"/>
                  <a:gd name="T69" fmla="*/ 40 h 112"/>
                  <a:gd name="T70" fmla="*/ 77 w 97"/>
                  <a:gd name="T71" fmla="*/ 46 h 112"/>
                  <a:gd name="T72" fmla="*/ 77 w 97"/>
                  <a:gd name="T73" fmla="*/ 56 h 112"/>
                  <a:gd name="T74" fmla="*/ 81 w 97"/>
                  <a:gd name="T75" fmla="*/ 56 h 112"/>
                  <a:gd name="T76" fmla="*/ 81 w 97"/>
                  <a:gd name="T77" fmla="*/ 54 h 112"/>
                  <a:gd name="T78" fmla="*/ 87 w 97"/>
                  <a:gd name="T79" fmla="*/ 48 h 112"/>
                  <a:gd name="T80" fmla="*/ 93 w 97"/>
                  <a:gd name="T81" fmla="*/ 54 h 112"/>
                  <a:gd name="T82" fmla="*/ 93 w 97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7" h="112">
                    <a:moveTo>
                      <a:pt x="87" y="44"/>
                    </a:moveTo>
                    <a:cubicBezTo>
                      <a:pt x="85" y="44"/>
                      <a:pt x="85" y="45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0"/>
                      <a:pt x="77" y="36"/>
                      <a:pt x="71" y="36"/>
                    </a:cubicBezTo>
                    <a:cubicBezTo>
                      <a:pt x="69" y="36"/>
                      <a:pt x="69" y="37"/>
                      <a:pt x="65" y="38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5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2" y="4"/>
                      <a:pt x="40" y="4"/>
                    </a:cubicBezTo>
                    <a:cubicBezTo>
                      <a:pt x="34" y="4"/>
                      <a:pt x="29" y="8"/>
                      <a:pt x="29" y="14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5" y="42"/>
                      <a:pt x="13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1" y="112"/>
                      <a:pt x="64" y="112"/>
                    </a:cubicBezTo>
                    <a:cubicBezTo>
                      <a:pt x="83" y="112"/>
                      <a:pt x="97" y="97"/>
                      <a:pt x="97" y="78"/>
                    </a:cubicBezTo>
                    <a:cubicBezTo>
                      <a:pt x="97" y="54"/>
                      <a:pt x="97" y="54"/>
                      <a:pt x="97" y="54"/>
                    </a:cubicBezTo>
                    <a:cubicBezTo>
                      <a:pt x="97" y="49"/>
                      <a:pt x="93" y="44"/>
                      <a:pt x="87" y="44"/>
                    </a:cubicBezTo>
                    <a:close/>
                    <a:moveTo>
                      <a:pt x="93" y="63"/>
                    </a:moveTo>
                    <a:cubicBezTo>
                      <a:pt x="93" y="78"/>
                      <a:pt x="93" y="78"/>
                      <a:pt x="93" y="78"/>
                    </a:cubicBezTo>
                    <a:cubicBezTo>
                      <a:pt x="93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0" y="45"/>
                    </a:cubicBezTo>
                    <a:cubicBezTo>
                      <a:pt x="15" y="41"/>
                      <a:pt x="25" y="50"/>
                      <a:pt x="33" y="59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1"/>
                      <a:pt x="36" y="8"/>
                      <a:pt x="39" y="8"/>
                    </a:cubicBezTo>
                    <a:cubicBezTo>
                      <a:pt x="42" y="8"/>
                      <a:pt x="45" y="11"/>
                      <a:pt x="45" y="14"/>
                    </a:cubicBezTo>
                    <a:cubicBezTo>
                      <a:pt x="45" y="56"/>
                      <a:pt x="45" y="56"/>
                      <a:pt x="45" y="56"/>
                    </a:cubicBezTo>
                    <a:cubicBezTo>
                      <a:pt x="49" y="56"/>
                      <a:pt x="49" y="56"/>
                      <a:pt x="49" y="56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7"/>
                      <a:pt x="52" y="4"/>
                      <a:pt x="55" y="4"/>
                    </a:cubicBezTo>
                    <a:cubicBezTo>
                      <a:pt x="58" y="4"/>
                      <a:pt x="61" y="7"/>
                      <a:pt x="61" y="10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65" y="52"/>
                      <a:pt x="65" y="52"/>
                      <a:pt x="65" y="52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5" y="43"/>
                      <a:pt x="68" y="40"/>
                      <a:pt x="71" y="40"/>
                    </a:cubicBezTo>
                    <a:cubicBezTo>
                      <a:pt x="74" y="40"/>
                      <a:pt x="77" y="43"/>
                      <a:pt x="77" y="46"/>
                    </a:cubicBezTo>
                    <a:cubicBezTo>
                      <a:pt x="77" y="56"/>
                      <a:pt x="77" y="56"/>
                      <a:pt x="77" y="56"/>
                    </a:cubicBezTo>
                    <a:cubicBezTo>
                      <a:pt x="81" y="56"/>
                      <a:pt x="81" y="56"/>
                      <a:pt x="81" y="56"/>
                    </a:cubicBezTo>
                    <a:cubicBezTo>
                      <a:pt x="81" y="54"/>
                      <a:pt x="81" y="54"/>
                      <a:pt x="81" y="54"/>
                    </a:cubicBezTo>
                    <a:cubicBezTo>
                      <a:pt x="81" y="51"/>
                      <a:pt x="84" y="48"/>
                      <a:pt x="87" y="48"/>
                    </a:cubicBezTo>
                    <a:cubicBezTo>
                      <a:pt x="90" y="48"/>
                      <a:pt x="93" y="51"/>
                      <a:pt x="93" y="54"/>
                    </a:cubicBezTo>
                    <a:lnTo>
                      <a:pt x="93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562028" y="629976"/>
              <a:ext cx="317500" cy="322263"/>
              <a:chOff x="1863725" y="2527300"/>
              <a:chExt cx="317500" cy="322263"/>
            </a:xfrm>
            <a:grpFill/>
          </p:grpSpPr>
          <p:sp>
            <p:nvSpPr>
              <p:cNvPr id="221" name="Freeform 27"/>
              <p:cNvSpPr>
                <a:spLocks/>
              </p:cNvSpPr>
              <p:nvPr/>
            </p:nvSpPr>
            <p:spPr bwMode="auto">
              <a:xfrm>
                <a:off x="1941513" y="2527300"/>
                <a:ext cx="55563" cy="61913"/>
              </a:xfrm>
              <a:custGeom>
                <a:avLst/>
                <a:gdLst>
                  <a:gd name="T0" fmla="*/ 33 w 35"/>
                  <a:gd name="T1" fmla="*/ 32 h 39"/>
                  <a:gd name="T2" fmla="*/ 7 w 35"/>
                  <a:gd name="T3" fmla="*/ 32 h 39"/>
                  <a:gd name="T4" fmla="*/ 35 w 35"/>
                  <a:gd name="T5" fmla="*/ 5 h 39"/>
                  <a:gd name="T6" fmla="*/ 31 w 35"/>
                  <a:gd name="T7" fmla="*/ 0 h 39"/>
                  <a:gd name="T8" fmla="*/ 7 w 35"/>
                  <a:gd name="T9" fmla="*/ 28 h 39"/>
                  <a:gd name="T10" fmla="*/ 7 w 35"/>
                  <a:gd name="T11" fmla="*/ 6 h 39"/>
                  <a:gd name="T12" fmla="*/ 0 w 35"/>
                  <a:gd name="T13" fmla="*/ 6 h 39"/>
                  <a:gd name="T14" fmla="*/ 0 w 35"/>
                  <a:gd name="T15" fmla="*/ 39 h 39"/>
                  <a:gd name="T16" fmla="*/ 33 w 35"/>
                  <a:gd name="T17" fmla="*/ 39 h 39"/>
                  <a:gd name="T18" fmla="*/ 33 w 35"/>
                  <a:gd name="T19" fmla="*/ 32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5" h="39">
                    <a:moveTo>
                      <a:pt x="33" y="32"/>
                    </a:moveTo>
                    <a:lnTo>
                      <a:pt x="7" y="32"/>
                    </a:lnTo>
                    <a:lnTo>
                      <a:pt x="35" y="5"/>
                    </a:lnTo>
                    <a:lnTo>
                      <a:pt x="31" y="0"/>
                    </a:lnTo>
                    <a:lnTo>
                      <a:pt x="7" y="28"/>
                    </a:lnTo>
                    <a:lnTo>
                      <a:pt x="7" y="6"/>
                    </a:lnTo>
                    <a:lnTo>
                      <a:pt x="0" y="6"/>
                    </a:lnTo>
                    <a:lnTo>
                      <a:pt x="0" y="39"/>
                    </a:lnTo>
                    <a:lnTo>
                      <a:pt x="33" y="39"/>
                    </a:lnTo>
                    <a:lnTo>
                      <a:pt x="33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2" name="Freeform 28"/>
              <p:cNvSpPr>
                <a:spLocks/>
              </p:cNvSpPr>
              <p:nvPr/>
            </p:nvSpPr>
            <p:spPr bwMode="auto">
              <a:xfrm>
                <a:off x="1863725" y="2600325"/>
                <a:ext cx="68263" cy="58738"/>
              </a:xfrm>
              <a:custGeom>
                <a:avLst/>
                <a:gdLst>
                  <a:gd name="T0" fmla="*/ 10 w 43"/>
                  <a:gd name="T1" fmla="*/ 6 h 37"/>
                  <a:gd name="T2" fmla="*/ 26 w 43"/>
                  <a:gd name="T3" fmla="*/ 6 h 37"/>
                  <a:gd name="T4" fmla="*/ 0 w 43"/>
                  <a:gd name="T5" fmla="*/ 32 h 37"/>
                  <a:gd name="T6" fmla="*/ 7 w 43"/>
                  <a:gd name="T7" fmla="*/ 37 h 37"/>
                  <a:gd name="T8" fmla="*/ 36 w 43"/>
                  <a:gd name="T9" fmla="*/ 9 h 37"/>
                  <a:gd name="T10" fmla="*/ 36 w 43"/>
                  <a:gd name="T11" fmla="*/ 32 h 37"/>
                  <a:gd name="T12" fmla="*/ 43 w 43"/>
                  <a:gd name="T13" fmla="*/ 32 h 37"/>
                  <a:gd name="T14" fmla="*/ 43 w 43"/>
                  <a:gd name="T15" fmla="*/ 0 h 37"/>
                  <a:gd name="T16" fmla="*/ 10 w 43"/>
                  <a:gd name="T17" fmla="*/ 0 h 37"/>
                  <a:gd name="T18" fmla="*/ 10 w 43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" h="37">
                    <a:moveTo>
                      <a:pt x="10" y="6"/>
                    </a:moveTo>
                    <a:lnTo>
                      <a:pt x="26" y="6"/>
                    </a:lnTo>
                    <a:lnTo>
                      <a:pt x="0" y="32"/>
                    </a:lnTo>
                    <a:lnTo>
                      <a:pt x="7" y="37"/>
                    </a:lnTo>
                    <a:lnTo>
                      <a:pt x="36" y="9"/>
                    </a:lnTo>
                    <a:lnTo>
                      <a:pt x="36" y="32"/>
                    </a:lnTo>
                    <a:lnTo>
                      <a:pt x="43" y="32"/>
                    </a:lnTo>
                    <a:lnTo>
                      <a:pt x="43" y="0"/>
                    </a:lnTo>
                    <a:lnTo>
                      <a:pt x="10" y="0"/>
                    </a:lnTo>
                    <a:lnTo>
                      <a:pt x="1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3" name="Freeform 29"/>
              <p:cNvSpPr>
                <a:spLocks noEditPoints="1"/>
              </p:cNvSpPr>
              <p:nvPr/>
            </p:nvSpPr>
            <p:spPr bwMode="auto">
              <a:xfrm>
                <a:off x="1920875" y="2557463"/>
                <a:ext cx="260350" cy="292100"/>
              </a:xfrm>
              <a:custGeom>
                <a:avLst/>
                <a:gdLst>
                  <a:gd name="T0" fmla="*/ 90 w 100"/>
                  <a:gd name="T1" fmla="*/ 44 h 112"/>
                  <a:gd name="T2" fmla="*/ 84 w 100"/>
                  <a:gd name="T3" fmla="*/ 46 h 112"/>
                  <a:gd name="T4" fmla="*/ 84 w 100"/>
                  <a:gd name="T5" fmla="*/ 46 h 112"/>
                  <a:gd name="T6" fmla="*/ 74 w 100"/>
                  <a:gd name="T7" fmla="*/ 36 h 112"/>
                  <a:gd name="T8" fmla="*/ 68 w 100"/>
                  <a:gd name="T9" fmla="*/ 38 h 112"/>
                  <a:gd name="T10" fmla="*/ 68 w 100"/>
                  <a:gd name="T11" fmla="*/ 10 h 112"/>
                  <a:gd name="T12" fmla="*/ 57 w 100"/>
                  <a:gd name="T13" fmla="*/ 0 h 112"/>
                  <a:gd name="T14" fmla="*/ 47 w 100"/>
                  <a:gd name="T15" fmla="*/ 6 h 112"/>
                  <a:gd name="T16" fmla="*/ 41 w 100"/>
                  <a:gd name="T17" fmla="*/ 4 h 112"/>
                  <a:gd name="T18" fmla="*/ 32 w 100"/>
                  <a:gd name="T19" fmla="*/ 14 h 112"/>
                  <a:gd name="T20" fmla="*/ 32 w 100"/>
                  <a:gd name="T21" fmla="*/ 49 h 112"/>
                  <a:gd name="T22" fmla="*/ 8 w 100"/>
                  <a:gd name="T23" fmla="*/ 42 h 112"/>
                  <a:gd name="T24" fmla="*/ 29 w 100"/>
                  <a:gd name="T25" fmla="*/ 89 h 112"/>
                  <a:gd name="T26" fmla="*/ 65 w 100"/>
                  <a:gd name="T27" fmla="*/ 112 h 112"/>
                  <a:gd name="T28" fmla="*/ 100 w 100"/>
                  <a:gd name="T29" fmla="*/ 78 h 112"/>
                  <a:gd name="T30" fmla="*/ 100 w 100"/>
                  <a:gd name="T31" fmla="*/ 54 h 112"/>
                  <a:gd name="T32" fmla="*/ 90 w 100"/>
                  <a:gd name="T33" fmla="*/ 44 h 112"/>
                  <a:gd name="T34" fmla="*/ 96 w 100"/>
                  <a:gd name="T35" fmla="*/ 63 h 112"/>
                  <a:gd name="T36" fmla="*/ 96 w 100"/>
                  <a:gd name="T37" fmla="*/ 78 h 112"/>
                  <a:gd name="T38" fmla="*/ 65 w 100"/>
                  <a:gd name="T39" fmla="*/ 108 h 112"/>
                  <a:gd name="T40" fmla="*/ 33 w 100"/>
                  <a:gd name="T41" fmla="*/ 88 h 112"/>
                  <a:gd name="T42" fmla="*/ 11 w 100"/>
                  <a:gd name="T43" fmla="*/ 45 h 112"/>
                  <a:gd name="T44" fmla="*/ 36 w 100"/>
                  <a:gd name="T45" fmla="*/ 59 h 112"/>
                  <a:gd name="T46" fmla="*/ 36 w 100"/>
                  <a:gd name="T47" fmla="*/ 14 h 112"/>
                  <a:gd name="T48" fmla="*/ 42 w 100"/>
                  <a:gd name="T49" fmla="*/ 8 h 112"/>
                  <a:gd name="T50" fmla="*/ 48 w 100"/>
                  <a:gd name="T51" fmla="*/ 14 h 112"/>
                  <a:gd name="T52" fmla="*/ 48 w 100"/>
                  <a:gd name="T53" fmla="*/ 56 h 112"/>
                  <a:gd name="T54" fmla="*/ 52 w 100"/>
                  <a:gd name="T55" fmla="*/ 56 h 112"/>
                  <a:gd name="T56" fmla="*/ 52 w 100"/>
                  <a:gd name="T57" fmla="*/ 10 h 112"/>
                  <a:gd name="T58" fmla="*/ 58 w 100"/>
                  <a:gd name="T59" fmla="*/ 4 h 112"/>
                  <a:gd name="T60" fmla="*/ 64 w 100"/>
                  <a:gd name="T61" fmla="*/ 10 h 112"/>
                  <a:gd name="T62" fmla="*/ 64 w 100"/>
                  <a:gd name="T63" fmla="*/ 52 h 112"/>
                  <a:gd name="T64" fmla="*/ 68 w 100"/>
                  <a:gd name="T65" fmla="*/ 52 h 112"/>
                  <a:gd name="T66" fmla="*/ 68 w 100"/>
                  <a:gd name="T67" fmla="*/ 46 h 112"/>
                  <a:gd name="T68" fmla="*/ 74 w 100"/>
                  <a:gd name="T69" fmla="*/ 40 h 112"/>
                  <a:gd name="T70" fmla="*/ 80 w 100"/>
                  <a:gd name="T71" fmla="*/ 46 h 112"/>
                  <a:gd name="T72" fmla="*/ 80 w 100"/>
                  <a:gd name="T73" fmla="*/ 56 h 112"/>
                  <a:gd name="T74" fmla="*/ 84 w 100"/>
                  <a:gd name="T75" fmla="*/ 56 h 112"/>
                  <a:gd name="T76" fmla="*/ 84 w 100"/>
                  <a:gd name="T77" fmla="*/ 54 h 112"/>
                  <a:gd name="T78" fmla="*/ 90 w 100"/>
                  <a:gd name="T79" fmla="*/ 48 h 112"/>
                  <a:gd name="T80" fmla="*/ 96 w 100"/>
                  <a:gd name="T81" fmla="*/ 54 h 112"/>
                  <a:gd name="T82" fmla="*/ 96 w 100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00" h="112">
                    <a:moveTo>
                      <a:pt x="90" y="44"/>
                    </a:moveTo>
                    <a:cubicBezTo>
                      <a:pt x="88" y="44"/>
                      <a:pt x="84" y="44"/>
                      <a:pt x="84" y="46"/>
                    </a:cubicBezTo>
                    <a:cubicBezTo>
                      <a:pt x="84" y="46"/>
                      <a:pt x="84" y="46"/>
                      <a:pt x="84" y="46"/>
                    </a:cubicBezTo>
                    <a:cubicBezTo>
                      <a:pt x="84" y="40"/>
                      <a:pt x="80" y="36"/>
                      <a:pt x="74" y="36"/>
                    </a:cubicBezTo>
                    <a:cubicBezTo>
                      <a:pt x="72" y="36"/>
                      <a:pt x="68" y="36"/>
                      <a:pt x="68" y="38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4"/>
                      <a:pt x="62" y="0"/>
                      <a:pt x="57" y="0"/>
                    </a:cubicBezTo>
                    <a:cubicBezTo>
                      <a:pt x="52" y="0"/>
                      <a:pt x="48" y="2"/>
                      <a:pt x="47" y="6"/>
                    </a:cubicBezTo>
                    <a:cubicBezTo>
                      <a:pt x="45" y="5"/>
                      <a:pt x="44" y="4"/>
                      <a:pt x="41" y="4"/>
                    </a:cubicBezTo>
                    <a:cubicBezTo>
                      <a:pt x="35" y="4"/>
                      <a:pt x="32" y="8"/>
                      <a:pt x="32" y="14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24" y="42"/>
                      <a:pt x="14" y="36"/>
                      <a:pt x="8" y="42"/>
                    </a:cubicBezTo>
                    <a:cubicBezTo>
                      <a:pt x="0" y="50"/>
                      <a:pt x="16" y="66"/>
                      <a:pt x="29" y="89"/>
                    </a:cubicBezTo>
                    <a:cubicBezTo>
                      <a:pt x="38" y="106"/>
                      <a:pt x="53" y="112"/>
                      <a:pt x="65" y="112"/>
                    </a:cubicBezTo>
                    <a:cubicBezTo>
                      <a:pt x="84" y="112"/>
                      <a:pt x="100" y="96"/>
                      <a:pt x="100" y="78"/>
                    </a:cubicBezTo>
                    <a:cubicBezTo>
                      <a:pt x="100" y="54"/>
                      <a:pt x="100" y="54"/>
                      <a:pt x="100" y="54"/>
                    </a:cubicBezTo>
                    <a:cubicBezTo>
                      <a:pt x="100" y="48"/>
                      <a:pt x="96" y="44"/>
                      <a:pt x="90" y="44"/>
                    </a:cubicBezTo>
                    <a:close/>
                    <a:moveTo>
                      <a:pt x="96" y="63"/>
                    </a:moveTo>
                    <a:cubicBezTo>
                      <a:pt x="96" y="78"/>
                      <a:pt x="96" y="78"/>
                      <a:pt x="96" y="78"/>
                    </a:cubicBezTo>
                    <a:cubicBezTo>
                      <a:pt x="96" y="94"/>
                      <a:pt x="81" y="108"/>
                      <a:pt x="65" y="108"/>
                    </a:cubicBezTo>
                    <a:cubicBezTo>
                      <a:pt x="50" y="108"/>
                      <a:pt x="40" y="100"/>
                      <a:pt x="33" y="88"/>
                    </a:cubicBezTo>
                    <a:cubicBezTo>
                      <a:pt x="17" y="61"/>
                      <a:pt x="7" y="49"/>
                      <a:pt x="11" y="45"/>
                    </a:cubicBezTo>
                    <a:cubicBezTo>
                      <a:pt x="16" y="40"/>
                      <a:pt x="28" y="50"/>
                      <a:pt x="36" y="59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0"/>
                      <a:pt x="39" y="8"/>
                      <a:pt x="42" y="8"/>
                    </a:cubicBezTo>
                    <a:cubicBezTo>
                      <a:pt x="45" y="8"/>
                      <a:pt x="48" y="10"/>
                      <a:pt x="48" y="14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6"/>
                      <a:pt x="55" y="4"/>
                      <a:pt x="58" y="4"/>
                    </a:cubicBezTo>
                    <a:cubicBezTo>
                      <a:pt x="61" y="4"/>
                      <a:pt x="64" y="6"/>
                      <a:pt x="64" y="10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68" y="42"/>
                      <a:pt x="71" y="40"/>
                      <a:pt x="74" y="40"/>
                    </a:cubicBezTo>
                    <a:cubicBezTo>
                      <a:pt x="77" y="40"/>
                      <a:pt x="80" y="42"/>
                      <a:pt x="80" y="4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0"/>
                      <a:pt x="87" y="48"/>
                      <a:pt x="90" y="48"/>
                    </a:cubicBezTo>
                    <a:cubicBezTo>
                      <a:pt x="93" y="48"/>
                      <a:pt x="96" y="50"/>
                      <a:pt x="96" y="54"/>
                    </a:cubicBezTo>
                    <a:lnTo>
                      <a:pt x="96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319274" y="6295418"/>
              <a:ext cx="309563" cy="322263"/>
              <a:chOff x="2495550" y="2527300"/>
              <a:chExt cx="309563" cy="322263"/>
            </a:xfrm>
            <a:grpFill/>
          </p:grpSpPr>
          <p:sp>
            <p:nvSpPr>
              <p:cNvPr id="219" name="Freeform 30"/>
              <p:cNvSpPr>
                <a:spLocks/>
              </p:cNvSpPr>
              <p:nvPr/>
            </p:nvSpPr>
            <p:spPr bwMode="auto">
              <a:xfrm>
                <a:off x="2495550" y="2527300"/>
                <a:ext cx="134938" cy="134938"/>
              </a:xfrm>
              <a:custGeom>
                <a:avLst/>
                <a:gdLst>
                  <a:gd name="T0" fmla="*/ 29 w 52"/>
                  <a:gd name="T1" fmla="*/ 38 h 52"/>
                  <a:gd name="T2" fmla="*/ 26 w 52"/>
                  <a:gd name="T3" fmla="*/ 35 h 52"/>
                  <a:gd name="T4" fmla="*/ 17 w 52"/>
                  <a:gd name="T5" fmla="*/ 44 h 52"/>
                  <a:gd name="T6" fmla="*/ 17 w 52"/>
                  <a:gd name="T7" fmla="*/ 38 h 52"/>
                  <a:gd name="T8" fmla="*/ 39 w 52"/>
                  <a:gd name="T9" fmla="*/ 16 h 52"/>
                  <a:gd name="T10" fmla="*/ 44 w 52"/>
                  <a:gd name="T11" fmla="*/ 17 h 52"/>
                  <a:gd name="T12" fmla="*/ 36 w 52"/>
                  <a:gd name="T13" fmla="*/ 25 h 52"/>
                  <a:gd name="T14" fmla="*/ 39 w 52"/>
                  <a:gd name="T15" fmla="*/ 28 h 52"/>
                  <a:gd name="T16" fmla="*/ 48 w 52"/>
                  <a:gd name="T17" fmla="*/ 18 h 52"/>
                  <a:gd name="T18" fmla="*/ 47 w 52"/>
                  <a:gd name="T19" fmla="*/ 18 h 52"/>
                  <a:gd name="T20" fmla="*/ 47 w 52"/>
                  <a:gd name="T21" fmla="*/ 18 h 52"/>
                  <a:gd name="T22" fmla="*/ 49 w 52"/>
                  <a:gd name="T23" fmla="*/ 17 h 52"/>
                  <a:gd name="T24" fmla="*/ 52 w 52"/>
                  <a:gd name="T25" fmla="*/ 14 h 52"/>
                  <a:gd name="T26" fmla="*/ 38 w 52"/>
                  <a:gd name="T27" fmla="*/ 0 h 52"/>
                  <a:gd name="T28" fmla="*/ 36 w 52"/>
                  <a:gd name="T29" fmla="*/ 3 h 52"/>
                  <a:gd name="T30" fmla="*/ 46 w 52"/>
                  <a:gd name="T31" fmla="*/ 13 h 52"/>
                  <a:gd name="T32" fmla="*/ 39 w 52"/>
                  <a:gd name="T33" fmla="*/ 12 h 52"/>
                  <a:gd name="T34" fmla="*/ 13 w 52"/>
                  <a:gd name="T35" fmla="*/ 38 h 52"/>
                  <a:gd name="T36" fmla="*/ 14 w 52"/>
                  <a:gd name="T37" fmla="*/ 46 h 52"/>
                  <a:gd name="T38" fmla="*/ 3 w 52"/>
                  <a:gd name="T39" fmla="*/ 35 h 52"/>
                  <a:gd name="T40" fmla="*/ 0 w 52"/>
                  <a:gd name="T41" fmla="*/ 38 h 52"/>
                  <a:gd name="T42" fmla="*/ 12 w 52"/>
                  <a:gd name="T43" fmla="*/ 49 h 52"/>
                  <a:gd name="T44" fmla="*/ 15 w 52"/>
                  <a:gd name="T45" fmla="*/ 52 h 52"/>
                  <a:gd name="T46" fmla="*/ 19 w 52"/>
                  <a:gd name="T47" fmla="*/ 48 h 52"/>
                  <a:gd name="T48" fmla="*/ 19 w 52"/>
                  <a:gd name="T49" fmla="*/ 48 h 52"/>
                  <a:gd name="T50" fmla="*/ 19 w 52"/>
                  <a:gd name="T51" fmla="*/ 48 h 52"/>
                  <a:gd name="T52" fmla="*/ 29 w 52"/>
                  <a:gd name="T53" fmla="*/ 3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2" h="52">
                    <a:moveTo>
                      <a:pt x="29" y="38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7" y="42"/>
                      <a:pt x="17" y="40"/>
                      <a:pt x="17" y="38"/>
                    </a:cubicBezTo>
                    <a:cubicBezTo>
                      <a:pt x="17" y="26"/>
                      <a:pt x="26" y="16"/>
                      <a:pt x="39" y="16"/>
                    </a:cubicBezTo>
                    <a:cubicBezTo>
                      <a:pt x="41" y="16"/>
                      <a:pt x="42" y="16"/>
                      <a:pt x="44" y="17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9" y="28"/>
                      <a:pt x="39" y="28"/>
                      <a:pt x="39" y="28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48" y="18"/>
                      <a:pt x="47" y="18"/>
                      <a:pt x="47" y="18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2" y="14"/>
                      <a:pt x="52" y="14"/>
                      <a:pt x="52" y="14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4" y="12"/>
                      <a:pt x="41" y="12"/>
                      <a:pt x="39" y="12"/>
                    </a:cubicBezTo>
                    <a:cubicBezTo>
                      <a:pt x="24" y="12"/>
                      <a:pt x="13" y="24"/>
                      <a:pt x="13" y="38"/>
                    </a:cubicBezTo>
                    <a:cubicBezTo>
                      <a:pt x="13" y="41"/>
                      <a:pt x="13" y="43"/>
                      <a:pt x="14" y="46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lnTo>
                      <a:pt x="29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0" name="Freeform 31"/>
              <p:cNvSpPr>
                <a:spLocks noEditPoints="1"/>
              </p:cNvSpPr>
              <p:nvPr/>
            </p:nvSpPr>
            <p:spPr bwMode="auto">
              <a:xfrm>
                <a:off x="2551113" y="255746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8 w 98"/>
                  <a:gd name="T15" fmla="*/ 7 h 112"/>
                  <a:gd name="T16" fmla="*/ 41 w 98"/>
                  <a:gd name="T17" fmla="*/ 4 h 112"/>
                  <a:gd name="T18" fmla="*/ 30 w 98"/>
                  <a:gd name="T19" fmla="*/ 14 h 112"/>
                  <a:gd name="T20" fmla="*/ 30 w 98"/>
                  <a:gd name="T21" fmla="*/ 50 h 112"/>
                  <a:gd name="T22" fmla="*/ 8 w 98"/>
                  <a:gd name="T23" fmla="*/ 42 h 112"/>
                  <a:gd name="T24" fmla="*/ 31 w 98"/>
                  <a:gd name="T25" fmla="*/ 90 h 112"/>
                  <a:gd name="T26" fmla="*/ 65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6 h 112"/>
                  <a:gd name="T54" fmla="*/ 50 w 98"/>
                  <a:gd name="T55" fmla="*/ 56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2 h 112"/>
                  <a:gd name="T64" fmla="*/ 66 w 98"/>
                  <a:gd name="T65" fmla="*/ 52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6 h 112"/>
                  <a:gd name="T74" fmla="*/ 82 w 98"/>
                  <a:gd name="T75" fmla="*/ 56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1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5"/>
                      <a:pt x="62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8" y="66"/>
                      <a:pt x="31" y="90"/>
                    </a:cubicBezTo>
                    <a:cubicBezTo>
                      <a:pt x="40" y="106"/>
                      <a:pt x="52" y="112"/>
                      <a:pt x="65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9" y="62"/>
                      <a:pt x="7" y="50"/>
                      <a:pt x="11" y="45"/>
                    </a:cubicBezTo>
                    <a:cubicBezTo>
                      <a:pt x="16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0" name="Freeform 32"/>
            <p:cNvSpPr>
              <a:spLocks noEditPoints="1"/>
            </p:cNvSpPr>
            <p:nvPr/>
          </p:nvSpPr>
          <p:spPr bwMode="auto">
            <a:xfrm>
              <a:off x="1649861" y="3039669"/>
              <a:ext cx="269875" cy="303213"/>
            </a:xfrm>
            <a:custGeom>
              <a:avLst/>
              <a:gdLst>
                <a:gd name="T0" fmla="*/ 36 w 104"/>
                <a:gd name="T1" fmla="*/ 20 h 116"/>
                <a:gd name="T2" fmla="*/ 8 w 104"/>
                <a:gd name="T3" fmla="*/ 20 h 116"/>
                <a:gd name="T4" fmla="*/ 21 w 104"/>
                <a:gd name="T5" fmla="*/ 33 h 116"/>
                <a:gd name="T6" fmla="*/ 18 w 104"/>
                <a:gd name="T7" fmla="*/ 36 h 116"/>
                <a:gd name="T8" fmla="*/ 0 w 104"/>
                <a:gd name="T9" fmla="*/ 18 h 116"/>
                <a:gd name="T10" fmla="*/ 18 w 104"/>
                <a:gd name="T11" fmla="*/ 0 h 116"/>
                <a:gd name="T12" fmla="*/ 21 w 104"/>
                <a:gd name="T13" fmla="*/ 3 h 116"/>
                <a:gd name="T14" fmla="*/ 8 w 104"/>
                <a:gd name="T15" fmla="*/ 16 h 116"/>
                <a:gd name="T16" fmla="*/ 36 w 104"/>
                <a:gd name="T17" fmla="*/ 16 h 116"/>
                <a:gd name="T18" fmla="*/ 46 w 104"/>
                <a:gd name="T19" fmla="*/ 8 h 116"/>
                <a:gd name="T20" fmla="*/ 56 w 104"/>
                <a:gd name="T21" fmla="*/ 18 h 116"/>
                <a:gd name="T22" fmla="*/ 56 w 104"/>
                <a:gd name="T23" fmla="*/ 38 h 116"/>
                <a:gd name="T24" fmla="*/ 62 w 104"/>
                <a:gd name="T25" fmla="*/ 36 h 116"/>
                <a:gd name="T26" fmla="*/ 71 w 104"/>
                <a:gd name="T27" fmla="*/ 43 h 116"/>
                <a:gd name="T28" fmla="*/ 78 w 104"/>
                <a:gd name="T29" fmla="*/ 40 h 116"/>
                <a:gd name="T30" fmla="*/ 88 w 104"/>
                <a:gd name="T31" fmla="*/ 50 h 116"/>
                <a:gd name="T32" fmla="*/ 88 w 104"/>
                <a:gd name="T33" fmla="*/ 50 h 116"/>
                <a:gd name="T34" fmla="*/ 94 w 104"/>
                <a:gd name="T35" fmla="*/ 48 h 116"/>
                <a:gd name="T36" fmla="*/ 104 w 104"/>
                <a:gd name="T37" fmla="*/ 58 h 116"/>
                <a:gd name="T38" fmla="*/ 104 w 104"/>
                <a:gd name="T39" fmla="*/ 82 h 116"/>
                <a:gd name="T40" fmla="*/ 70 w 104"/>
                <a:gd name="T41" fmla="*/ 116 h 116"/>
                <a:gd name="T42" fmla="*/ 35 w 104"/>
                <a:gd name="T43" fmla="*/ 94 h 116"/>
                <a:gd name="T44" fmla="*/ 14 w 104"/>
                <a:gd name="T45" fmla="*/ 46 h 116"/>
                <a:gd name="T46" fmla="*/ 36 w 104"/>
                <a:gd name="T47" fmla="*/ 53 h 116"/>
                <a:gd name="T48" fmla="*/ 36 w 104"/>
                <a:gd name="T49" fmla="*/ 53 h 116"/>
                <a:gd name="T50" fmla="*/ 36 w 104"/>
                <a:gd name="T51" fmla="*/ 20 h 116"/>
                <a:gd name="T52" fmla="*/ 70 w 104"/>
                <a:gd name="T53" fmla="*/ 112 h 116"/>
                <a:gd name="T54" fmla="*/ 100 w 104"/>
                <a:gd name="T55" fmla="*/ 82 h 116"/>
                <a:gd name="T56" fmla="*/ 100 w 104"/>
                <a:gd name="T57" fmla="*/ 82 h 116"/>
                <a:gd name="T58" fmla="*/ 100 w 104"/>
                <a:gd name="T59" fmla="*/ 67 h 116"/>
                <a:gd name="T60" fmla="*/ 100 w 104"/>
                <a:gd name="T61" fmla="*/ 58 h 116"/>
                <a:gd name="T62" fmla="*/ 94 w 104"/>
                <a:gd name="T63" fmla="*/ 52 h 116"/>
                <a:gd name="T64" fmla="*/ 88 w 104"/>
                <a:gd name="T65" fmla="*/ 58 h 116"/>
                <a:gd name="T66" fmla="*/ 88 w 104"/>
                <a:gd name="T67" fmla="*/ 60 h 116"/>
                <a:gd name="T68" fmla="*/ 84 w 104"/>
                <a:gd name="T69" fmla="*/ 60 h 116"/>
                <a:gd name="T70" fmla="*/ 84 w 104"/>
                <a:gd name="T71" fmla="*/ 50 h 116"/>
                <a:gd name="T72" fmla="*/ 78 w 104"/>
                <a:gd name="T73" fmla="*/ 44 h 116"/>
                <a:gd name="T74" fmla="*/ 72 w 104"/>
                <a:gd name="T75" fmla="*/ 50 h 116"/>
                <a:gd name="T76" fmla="*/ 72 w 104"/>
                <a:gd name="T77" fmla="*/ 56 h 116"/>
                <a:gd name="T78" fmla="*/ 68 w 104"/>
                <a:gd name="T79" fmla="*/ 56 h 116"/>
                <a:gd name="T80" fmla="*/ 68 w 104"/>
                <a:gd name="T81" fmla="*/ 46 h 116"/>
                <a:gd name="T82" fmla="*/ 62 w 104"/>
                <a:gd name="T83" fmla="*/ 40 h 116"/>
                <a:gd name="T84" fmla="*/ 56 w 104"/>
                <a:gd name="T85" fmla="*/ 46 h 116"/>
                <a:gd name="T86" fmla="*/ 56 w 104"/>
                <a:gd name="T87" fmla="*/ 60 h 116"/>
                <a:gd name="T88" fmla="*/ 52 w 104"/>
                <a:gd name="T89" fmla="*/ 60 h 116"/>
                <a:gd name="T90" fmla="*/ 52 w 104"/>
                <a:gd name="T91" fmla="*/ 18 h 116"/>
                <a:gd name="T92" fmla="*/ 46 w 104"/>
                <a:gd name="T93" fmla="*/ 12 h 116"/>
                <a:gd name="T94" fmla="*/ 40 w 104"/>
                <a:gd name="T95" fmla="*/ 18 h 116"/>
                <a:gd name="T96" fmla="*/ 40 w 104"/>
                <a:gd name="T97" fmla="*/ 63 h 116"/>
                <a:gd name="T98" fmla="*/ 17 w 104"/>
                <a:gd name="T99" fmla="*/ 49 h 116"/>
                <a:gd name="T100" fmla="*/ 39 w 104"/>
                <a:gd name="T101" fmla="*/ 92 h 116"/>
                <a:gd name="T102" fmla="*/ 70 w 104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4" h="116">
                  <a:moveTo>
                    <a:pt x="36" y="20"/>
                  </a:moveTo>
                  <a:cubicBezTo>
                    <a:pt x="8" y="20"/>
                    <a:pt x="8" y="20"/>
                    <a:pt x="8" y="20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1"/>
                    <a:pt x="41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6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5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20"/>
                    <a:pt x="36" y="20"/>
                    <a:pt x="36" y="20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7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1" name="Freeform 33"/>
            <p:cNvSpPr>
              <a:spLocks noEditPoints="1"/>
            </p:cNvSpPr>
            <p:nvPr/>
          </p:nvSpPr>
          <p:spPr bwMode="auto">
            <a:xfrm>
              <a:off x="3737053" y="2107975"/>
              <a:ext cx="255588" cy="303213"/>
            </a:xfrm>
            <a:custGeom>
              <a:avLst/>
              <a:gdLst>
                <a:gd name="T0" fmla="*/ 88 w 98"/>
                <a:gd name="T1" fmla="*/ 48 h 116"/>
                <a:gd name="T2" fmla="*/ 82 w 98"/>
                <a:gd name="T3" fmla="*/ 50 h 116"/>
                <a:gd name="T4" fmla="*/ 82 w 98"/>
                <a:gd name="T5" fmla="*/ 50 h 116"/>
                <a:gd name="T6" fmla="*/ 72 w 98"/>
                <a:gd name="T7" fmla="*/ 40 h 116"/>
                <a:gd name="T8" fmla="*/ 66 w 98"/>
                <a:gd name="T9" fmla="*/ 43 h 116"/>
                <a:gd name="T10" fmla="*/ 56 w 98"/>
                <a:gd name="T11" fmla="*/ 36 h 116"/>
                <a:gd name="T12" fmla="*/ 50 w 98"/>
                <a:gd name="T13" fmla="*/ 38 h 116"/>
                <a:gd name="T14" fmla="*/ 50 w 98"/>
                <a:gd name="T15" fmla="*/ 20 h 116"/>
                <a:gd name="T16" fmla="*/ 79 w 98"/>
                <a:gd name="T17" fmla="*/ 20 h 116"/>
                <a:gd name="T18" fmla="*/ 66 w 98"/>
                <a:gd name="T19" fmla="*/ 33 h 116"/>
                <a:gd name="T20" fmla="*/ 69 w 98"/>
                <a:gd name="T21" fmla="*/ 36 h 116"/>
                <a:gd name="T22" fmla="*/ 87 w 98"/>
                <a:gd name="T23" fmla="*/ 18 h 116"/>
                <a:gd name="T24" fmla="*/ 69 w 98"/>
                <a:gd name="T25" fmla="*/ 0 h 116"/>
                <a:gd name="T26" fmla="*/ 66 w 98"/>
                <a:gd name="T27" fmla="*/ 3 h 116"/>
                <a:gd name="T28" fmla="*/ 79 w 98"/>
                <a:gd name="T29" fmla="*/ 16 h 116"/>
                <a:gd name="T30" fmla="*/ 50 w 98"/>
                <a:gd name="T31" fmla="*/ 16 h 116"/>
                <a:gd name="T32" fmla="*/ 40 w 98"/>
                <a:gd name="T33" fmla="*/ 8 h 116"/>
                <a:gd name="T34" fmla="*/ 30 w 98"/>
                <a:gd name="T35" fmla="*/ 18 h 116"/>
                <a:gd name="T36" fmla="*/ 30 w 98"/>
                <a:gd name="T37" fmla="*/ 53 h 116"/>
                <a:gd name="T38" fmla="*/ 8 w 98"/>
                <a:gd name="T39" fmla="*/ 46 h 116"/>
                <a:gd name="T40" fmla="*/ 30 w 98"/>
                <a:gd name="T41" fmla="*/ 94 h 116"/>
                <a:gd name="T42" fmla="*/ 64 w 98"/>
                <a:gd name="T43" fmla="*/ 116 h 116"/>
                <a:gd name="T44" fmla="*/ 98 w 98"/>
                <a:gd name="T45" fmla="*/ 82 h 116"/>
                <a:gd name="T46" fmla="*/ 98 w 98"/>
                <a:gd name="T47" fmla="*/ 58 h 116"/>
                <a:gd name="T48" fmla="*/ 88 w 98"/>
                <a:gd name="T49" fmla="*/ 48 h 116"/>
                <a:gd name="T50" fmla="*/ 94 w 98"/>
                <a:gd name="T51" fmla="*/ 67 h 116"/>
                <a:gd name="T52" fmla="*/ 94 w 98"/>
                <a:gd name="T53" fmla="*/ 82 h 116"/>
                <a:gd name="T54" fmla="*/ 94 w 98"/>
                <a:gd name="T55" fmla="*/ 86 h 116"/>
                <a:gd name="T56" fmla="*/ 94 w 98"/>
                <a:gd name="T57" fmla="*/ 82 h 116"/>
                <a:gd name="T58" fmla="*/ 64 w 98"/>
                <a:gd name="T59" fmla="*/ 112 h 116"/>
                <a:gd name="T60" fmla="*/ 33 w 98"/>
                <a:gd name="T61" fmla="*/ 92 h 116"/>
                <a:gd name="T62" fmla="*/ 11 w 98"/>
                <a:gd name="T63" fmla="*/ 49 h 116"/>
                <a:gd name="T64" fmla="*/ 34 w 98"/>
                <a:gd name="T65" fmla="*/ 63 h 116"/>
                <a:gd name="T66" fmla="*/ 34 w 98"/>
                <a:gd name="T67" fmla="*/ 18 h 116"/>
                <a:gd name="T68" fmla="*/ 40 w 98"/>
                <a:gd name="T69" fmla="*/ 12 h 116"/>
                <a:gd name="T70" fmla="*/ 46 w 98"/>
                <a:gd name="T71" fmla="*/ 18 h 116"/>
                <a:gd name="T72" fmla="*/ 46 w 98"/>
                <a:gd name="T73" fmla="*/ 60 h 116"/>
                <a:gd name="T74" fmla="*/ 50 w 98"/>
                <a:gd name="T75" fmla="*/ 60 h 116"/>
                <a:gd name="T76" fmla="*/ 50 w 98"/>
                <a:gd name="T77" fmla="*/ 46 h 116"/>
                <a:gd name="T78" fmla="*/ 56 w 98"/>
                <a:gd name="T79" fmla="*/ 40 h 116"/>
                <a:gd name="T80" fmla="*/ 62 w 98"/>
                <a:gd name="T81" fmla="*/ 46 h 116"/>
                <a:gd name="T82" fmla="*/ 62 w 98"/>
                <a:gd name="T83" fmla="*/ 56 h 116"/>
                <a:gd name="T84" fmla="*/ 66 w 98"/>
                <a:gd name="T85" fmla="*/ 56 h 116"/>
                <a:gd name="T86" fmla="*/ 66 w 98"/>
                <a:gd name="T87" fmla="*/ 50 h 116"/>
                <a:gd name="T88" fmla="*/ 72 w 98"/>
                <a:gd name="T89" fmla="*/ 44 h 116"/>
                <a:gd name="T90" fmla="*/ 78 w 98"/>
                <a:gd name="T91" fmla="*/ 50 h 116"/>
                <a:gd name="T92" fmla="*/ 78 w 98"/>
                <a:gd name="T93" fmla="*/ 60 h 116"/>
                <a:gd name="T94" fmla="*/ 82 w 98"/>
                <a:gd name="T95" fmla="*/ 60 h 116"/>
                <a:gd name="T96" fmla="*/ 82 w 98"/>
                <a:gd name="T97" fmla="*/ 58 h 116"/>
                <a:gd name="T98" fmla="*/ 88 w 98"/>
                <a:gd name="T99" fmla="*/ 52 h 116"/>
                <a:gd name="T100" fmla="*/ 94 w 98"/>
                <a:gd name="T101" fmla="*/ 58 h 116"/>
                <a:gd name="T102" fmla="*/ 94 w 98"/>
                <a:gd name="T103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6">
                  <a:moveTo>
                    <a:pt x="88" y="48"/>
                  </a:moveTo>
                  <a:cubicBezTo>
                    <a:pt x="86" y="48"/>
                    <a:pt x="86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3"/>
                  </a:cubicBezTo>
                  <a:cubicBezTo>
                    <a:pt x="64" y="39"/>
                    <a:pt x="61" y="36"/>
                    <a:pt x="56" y="36"/>
                  </a:cubicBezTo>
                  <a:cubicBezTo>
                    <a:pt x="54" y="36"/>
                    <a:pt x="54" y="37"/>
                    <a:pt x="50" y="38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9" y="12"/>
                    <a:pt x="45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4" y="41"/>
                    <a:pt x="8" y="46"/>
                  </a:cubicBezTo>
                  <a:cubicBezTo>
                    <a:pt x="0" y="54"/>
                    <a:pt x="17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lose/>
                  <a:moveTo>
                    <a:pt x="94" y="67"/>
                  </a:moveTo>
                  <a:cubicBezTo>
                    <a:pt x="94" y="82"/>
                    <a:pt x="94" y="82"/>
                    <a:pt x="94" y="82"/>
                  </a:cubicBezTo>
                  <a:cubicBezTo>
                    <a:pt x="94" y="82"/>
                    <a:pt x="94" y="86"/>
                    <a:pt x="94" y="86"/>
                  </a:cubicBezTo>
                  <a:cubicBezTo>
                    <a:pt x="94" y="86"/>
                    <a:pt x="94" y="82"/>
                    <a:pt x="94" y="82"/>
                  </a:cubicBezTo>
                  <a:cubicBezTo>
                    <a:pt x="94" y="98"/>
                    <a:pt x="81" y="112"/>
                    <a:pt x="64" y="112"/>
                  </a:cubicBezTo>
                  <a:cubicBezTo>
                    <a:pt x="49" y="112"/>
                    <a:pt x="41" y="104"/>
                    <a:pt x="33" y="92"/>
                  </a:cubicBezTo>
                  <a:cubicBezTo>
                    <a:pt x="18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43"/>
                    <a:pt x="53" y="40"/>
                    <a:pt x="56" y="40"/>
                  </a:cubicBezTo>
                  <a:cubicBezTo>
                    <a:pt x="59" y="40"/>
                    <a:pt x="62" y="43"/>
                    <a:pt x="62" y="4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lnTo>
                    <a:pt x="94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2" name="Freeform 34"/>
            <p:cNvSpPr>
              <a:spLocks noEditPoints="1"/>
            </p:cNvSpPr>
            <p:nvPr/>
          </p:nvSpPr>
          <p:spPr bwMode="auto">
            <a:xfrm>
              <a:off x="7419976" y="4191695"/>
              <a:ext cx="254000" cy="280988"/>
            </a:xfrm>
            <a:custGeom>
              <a:avLst/>
              <a:gdLst>
                <a:gd name="T0" fmla="*/ 66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2 w 98"/>
                <a:gd name="T51" fmla="*/ 104 h 108"/>
                <a:gd name="T52" fmla="*/ 62 w 98"/>
                <a:gd name="T53" fmla="*/ 68 h 108"/>
                <a:gd name="T54" fmla="*/ 49 w 98"/>
                <a:gd name="T55" fmla="*/ 81 h 108"/>
                <a:gd name="T56" fmla="*/ 46 w 98"/>
                <a:gd name="T57" fmla="*/ 78 h 108"/>
                <a:gd name="T58" fmla="*/ 64 w 98"/>
                <a:gd name="T59" fmla="*/ 60 h 108"/>
                <a:gd name="T60" fmla="*/ 82 w 98"/>
                <a:gd name="T61" fmla="*/ 78 h 108"/>
                <a:gd name="T62" fmla="*/ 79 w 98"/>
                <a:gd name="T63" fmla="*/ 81 h 108"/>
                <a:gd name="T64" fmla="*/ 66 w 98"/>
                <a:gd name="T65" fmla="*/ 68 h 108"/>
                <a:gd name="T66" fmla="*/ 66 w 98"/>
                <a:gd name="T67" fmla="*/ 104 h 108"/>
                <a:gd name="T68" fmla="*/ 98 w 98"/>
                <a:gd name="T69" fmla="*/ 74 h 108"/>
                <a:gd name="T70" fmla="*/ 64 w 98"/>
                <a:gd name="T71" fmla="*/ 108 h 108"/>
                <a:gd name="T72" fmla="*/ 30 w 98"/>
                <a:gd name="T73" fmla="*/ 86 h 108"/>
                <a:gd name="T74" fmla="*/ 8 w 98"/>
                <a:gd name="T75" fmla="*/ 38 h 108"/>
                <a:gd name="T76" fmla="*/ 30 w 98"/>
                <a:gd name="T77" fmla="*/ 45 h 108"/>
                <a:gd name="T78" fmla="*/ 30 w 98"/>
                <a:gd name="T79" fmla="*/ 45 h 108"/>
                <a:gd name="T80" fmla="*/ 30 w 98"/>
                <a:gd name="T81" fmla="*/ 10 h 108"/>
                <a:gd name="T82" fmla="*/ 40 w 98"/>
                <a:gd name="T83" fmla="*/ 0 h 108"/>
                <a:gd name="T84" fmla="*/ 50 w 98"/>
                <a:gd name="T85" fmla="*/ 10 h 108"/>
                <a:gd name="T86" fmla="*/ 50 w 98"/>
                <a:gd name="T87" fmla="*/ 30 h 108"/>
                <a:gd name="T88" fmla="*/ 56 w 98"/>
                <a:gd name="T89" fmla="*/ 28 h 108"/>
                <a:gd name="T90" fmla="*/ 66 w 98"/>
                <a:gd name="T91" fmla="*/ 35 h 108"/>
                <a:gd name="T92" fmla="*/ 72 w 98"/>
                <a:gd name="T93" fmla="*/ 32 h 108"/>
                <a:gd name="T94" fmla="*/ 82 w 98"/>
                <a:gd name="T95" fmla="*/ 42 h 108"/>
                <a:gd name="T96" fmla="*/ 82 w 98"/>
                <a:gd name="T97" fmla="*/ 42 h 108"/>
                <a:gd name="T98" fmla="*/ 88 w 98"/>
                <a:gd name="T99" fmla="*/ 40 h 108"/>
                <a:gd name="T100" fmla="*/ 98 w 98"/>
                <a:gd name="T101" fmla="*/ 50 h 108"/>
                <a:gd name="T102" fmla="*/ 98 w 98"/>
                <a:gd name="T103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08">
                  <a:moveTo>
                    <a:pt x="66" y="104"/>
                  </a:moveTo>
                  <a:cubicBezTo>
                    <a:pt x="82" y="103"/>
                    <a:pt x="94" y="89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5"/>
                    <a:pt x="48" y="103"/>
                    <a:pt x="62" y="104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6" y="104"/>
                    <a:pt x="66" y="104"/>
                    <a:pt x="66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Freeform 35"/>
            <p:cNvSpPr>
              <a:spLocks noEditPoints="1"/>
            </p:cNvSpPr>
            <p:nvPr/>
          </p:nvSpPr>
          <p:spPr bwMode="auto">
            <a:xfrm>
              <a:off x="3619622" y="592634"/>
              <a:ext cx="254000" cy="280988"/>
            </a:xfrm>
            <a:custGeom>
              <a:avLst/>
              <a:gdLst>
                <a:gd name="T0" fmla="*/ 88 w 98"/>
                <a:gd name="T1" fmla="*/ 40 h 108"/>
                <a:gd name="T2" fmla="*/ 82 w 98"/>
                <a:gd name="T3" fmla="*/ 42 h 108"/>
                <a:gd name="T4" fmla="*/ 82 w 98"/>
                <a:gd name="T5" fmla="*/ 42 h 108"/>
                <a:gd name="T6" fmla="*/ 72 w 98"/>
                <a:gd name="T7" fmla="*/ 32 h 108"/>
                <a:gd name="T8" fmla="*/ 65 w 98"/>
                <a:gd name="T9" fmla="*/ 35 h 108"/>
                <a:gd name="T10" fmla="*/ 56 w 98"/>
                <a:gd name="T11" fmla="*/ 28 h 108"/>
                <a:gd name="T12" fmla="*/ 50 w 98"/>
                <a:gd name="T13" fmla="*/ 30 h 108"/>
                <a:gd name="T14" fmla="*/ 50 w 98"/>
                <a:gd name="T15" fmla="*/ 10 h 108"/>
                <a:gd name="T16" fmla="*/ 40 w 98"/>
                <a:gd name="T17" fmla="*/ 0 h 108"/>
                <a:gd name="T18" fmla="*/ 30 w 98"/>
                <a:gd name="T19" fmla="*/ 10 h 108"/>
                <a:gd name="T20" fmla="*/ 30 w 98"/>
                <a:gd name="T21" fmla="*/ 45 h 108"/>
                <a:gd name="T22" fmla="*/ 8 w 98"/>
                <a:gd name="T23" fmla="*/ 38 h 108"/>
                <a:gd name="T24" fmla="*/ 29 w 98"/>
                <a:gd name="T25" fmla="*/ 86 h 108"/>
                <a:gd name="T26" fmla="*/ 64 w 98"/>
                <a:gd name="T27" fmla="*/ 108 h 108"/>
                <a:gd name="T28" fmla="*/ 98 w 98"/>
                <a:gd name="T29" fmla="*/ 74 h 108"/>
                <a:gd name="T30" fmla="*/ 98 w 98"/>
                <a:gd name="T31" fmla="*/ 50 h 108"/>
                <a:gd name="T32" fmla="*/ 88 w 98"/>
                <a:gd name="T33" fmla="*/ 40 h 108"/>
                <a:gd name="T34" fmla="*/ 94 w 98"/>
                <a:gd name="T35" fmla="*/ 59 h 108"/>
                <a:gd name="T36" fmla="*/ 94 w 98"/>
                <a:gd name="T37" fmla="*/ 74 h 108"/>
                <a:gd name="T38" fmla="*/ 64 w 98"/>
                <a:gd name="T39" fmla="*/ 104 h 108"/>
                <a:gd name="T40" fmla="*/ 33 w 98"/>
                <a:gd name="T41" fmla="*/ 84 h 108"/>
                <a:gd name="T42" fmla="*/ 11 w 98"/>
                <a:gd name="T43" fmla="*/ 41 h 108"/>
                <a:gd name="T44" fmla="*/ 34 w 98"/>
                <a:gd name="T45" fmla="*/ 55 h 108"/>
                <a:gd name="T46" fmla="*/ 34 w 98"/>
                <a:gd name="T47" fmla="*/ 10 h 108"/>
                <a:gd name="T48" fmla="*/ 40 w 98"/>
                <a:gd name="T49" fmla="*/ 4 h 108"/>
                <a:gd name="T50" fmla="*/ 46 w 98"/>
                <a:gd name="T51" fmla="*/ 10 h 108"/>
                <a:gd name="T52" fmla="*/ 46 w 98"/>
                <a:gd name="T53" fmla="*/ 52 h 108"/>
                <a:gd name="T54" fmla="*/ 50 w 98"/>
                <a:gd name="T55" fmla="*/ 52 h 108"/>
                <a:gd name="T56" fmla="*/ 50 w 98"/>
                <a:gd name="T57" fmla="*/ 38 h 108"/>
                <a:gd name="T58" fmla="*/ 56 w 98"/>
                <a:gd name="T59" fmla="*/ 32 h 108"/>
                <a:gd name="T60" fmla="*/ 62 w 98"/>
                <a:gd name="T61" fmla="*/ 38 h 108"/>
                <a:gd name="T62" fmla="*/ 62 w 98"/>
                <a:gd name="T63" fmla="*/ 48 h 108"/>
                <a:gd name="T64" fmla="*/ 62 w 98"/>
                <a:gd name="T65" fmla="*/ 84 h 108"/>
                <a:gd name="T66" fmla="*/ 49 w 98"/>
                <a:gd name="T67" fmla="*/ 71 h 108"/>
                <a:gd name="T68" fmla="*/ 46 w 98"/>
                <a:gd name="T69" fmla="*/ 74 h 108"/>
                <a:gd name="T70" fmla="*/ 64 w 98"/>
                <a:gd name="T71" fmla="*/ 92 h 108"/>
                <a:gd name="T72" fmla="*/ 82 w 98"/>
                <a:gd name="T73" fmla="*/ 74 h 108"/>
                <a:gd name="T74" fmla="*/ 79 w 98"/>
                <a:gd name="T75" fmla="*/ 71 h 108"/>
                <a:gd name="T76" fmla="*/ 66 w 98"/>
                <a:gd name="T77" fmla="*/ 84 h 108"/>
                <a:gd name="T78" fmla="*/ 66 w 98"/>
                <a:gd name="T79" fmla="*/ 48 h 108"/>
                <a:gd name="T80" fmla="*/ 66 w 98"/>
                <a:gd name="T81" fmla="*/ 42 h 108"/>
                <a:gd name="T82" fmla="*/ 72 w 98"/>
                <a:gd name="T83" fmla="*/ 36 h 108"/>
                <a:gd name="T84" fmla="*/ 78 w 98"/>
                <a:gd name="T85" fmla="*/ 42 h 108"/>
                <a:gd name="T86" fmla="*/ 78 w 98"/>
                <a:gd name="T87" fmla="*/ 52 h 108"/>
                <a:gd name="T88" fmla="*/ 82 w 98"/>
                <a:gd name="T89" fmla="*/ 52 h 108"/>
                <a:gd name="T90" fmla="*/ 82 w 98"/>
                <a:gd name="T91" fmla="*/ 50 h 108"/>
                <a:gd name="T92" fmla="*/ 88 w 98"/>
                <a:gd name="T93" fmla="*/ 44 h 108"/>
                <a:gd name="T94" fmla="*/ 94 w 98"/>
                <a:gd name="T95" fmla="*/ 50 h 108"/>
                <a:gd name="T96" fmla="*/ 94 w 98"/>
                <a:gd name="T97" fmla="*/ 5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08">
                  <a:moveTo>
                    <a:pt x="88" y="40"/>
                  </a:moveTo>
                  <a:cubicBezTo>
                    <a:pt x="86" y="40"/>
                    <a:pt x="82" y="41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36"/>
                    <a:pt x="78" y="32"/>
                    <a:pt x="72" y="32"/>
                  </a:cubicBezTo>
                  <a:cubicBezTo>
                    <a:pt x="70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2" y="38"/>
                    <a:pt x="13" y="33"/>
                    <a:pt x="8" y="38"/>
                  </a:cubicBezTo>
                  <a:cubicBezTo>
                    <a:pt x="0" y="46"/>
                    <a:pt x="16" y="62"/>
                    <a:pt x="29" y="86"/>
                  </a:cubicBezTo>
                  <a:cubicBezTo>
                    <a:pt x="39" y="102"/>
                    <a:pt x="52" y="108"/>
                    <a:pt x="64" y="108"/>
                  </a:cubicBezTo>
                  <a:cubicBezTo>
                    <a:pt x="83" y="108"/>
                    <a:pt x="98" y="93"/>
                    <a:pt x="98" y="74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5"/>
                    <a:pt x="94" y="40"/>
                    <a:pt x="88" y="40"/>
                  </a:cubicBezTo>
                  <a:close/>
                  <a:moveTo>
                    <a:pt x="94" y="59"/>
                  </a:moveTo>
                  <a:cubicBezTo>
                    <a:pt x="94" y="74"/>
                    <a:pt x="94" y="74"/>
                    <a:pt x="94" y="74"/>
                  </a:cubicBezTo>
                  <a:cubicBezTo>
                    <a:pt x="94" y="90"/>
                    <a:pt x="81" y="104"/>
                    <a:pt x="64" y="104"/>
                  </a:cubicBezTo>
                  <a:cubicBezTo>
                    <a:pt x="49" y="104"/>
                    <a:pt x="40" y="96"/>
                    <a:pt x="33" y="84"/>
                  </a:cubicBezTo>
                  <a:cubicBezTo>
                    <a:pt x="17" y="58"/>
                    <a:pt x="6" y="46"/>
                    <a:pt x="11" y="41"/>
                  </a:cubicBezTo>
                  <a:cubicBezTo>
                    <a:pt x="15" y="37"/>
                    <a:pt x="26" y="46"/>
                    <a:pt x="34" y="5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79" y="71"/>
                    <a:pt x="79" y="71"/>
                    <a:pt x="79" y="71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7"/>
                    <a:pt x="85" y="44"/>
                    <a:pt x="88" y="44"/>
                  </a:cubicBezTo>
                  <a:cubicBezTo>
                    <a:pt x="91" y="44"/>
                    <a:pt x="94" y="47"/>
                    <a:pt x="94" y="50"/>
                  </a:cubicBezTo>
                  <a:lnTo>
                    <a:pt x="94" y="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4" name="Freeform 36"/>
            <p:cNvSpPr>
              <a:spLocks noEditPoints="1"/>
            </p:cNvSpPr>
            <p:nvPr/>
          </p:nvSpPr>
          <p:spPr bwMode="auto">
            <a:xfrm>
              <a:off x="9288155" y="3676336"/>
              <a:ext cx="255588" cy="280988"/>
            </a:xfrm>
            <a:custGeom>
              <a:avLst/>
              <a:gdLst>
                <a:gd name="T0" fmla="*/ 64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4 w 98"/>
                <a:gd name="T51" fmla="*/ 104 h 108"/>
                <a:gd name="T52" fmla="*/ 64 w 98"/>
                <a:gd name="T53" fmla="*/ 104 h 108"/>
                <a:gd name="T54" fmla="*/ 98 w 98"/>
                <a:gd name="T55" fmla="*/ 74 h 108"/>
                <a:gd name="T56" fmla="*/ 64 w 98"/>
                <a:gd name="T57" fmla="*/ 108 h 108"/>
                <a:gd name="T58" fmla="*/ 30 w 98"/>
                <a:gd name="T59" fmla="*/ 86 h 108"/>
                <a:gd name="T60" fmla="*/ 8 w 98"/>
                <a:gd name="T61" fmla="*/ 38 h 108"/>
                <a:gd name="T62" fmla="*/ 30 w 98"/>
                <a:gd name="T63" fmla="*/ 45 h 108"/>
                <a:gd name="T64" fmla="*/ 30 w 98"/>
                <a:gd name="T65" fmla="*/ 45 h 108"/>
                <a:gd name="T66" fmla="*/ 30 w 98"/>
                <a:gd name="T67" fmla="*/ 10 h 108"/>
                <a:gd name="T68" fmla="*/ 40 w 98"/>
                <a:gd name="T69" fmla="*/ 0 h 108"/>
                <a:gd name="T70" fmla="*/ 50 w 98"/>
                <a:gd name="T71" fmla="*/ 10 h 108"/>
                <a:gd name="T72" fmla="*/ 50 w 98"/>
                <a:gd name="T73" fmla="*/ 30 h 108"/>
                <a:gd name="T74" fmla="*/ 56 w 98"/>
                <a:gd name="T75" fmla="*/ 28 h 108"/>
                <a:gd name="T76" fmla="*/ 66 w 98"/>
                <a:gd name="T77" fmla="*/ 35 h 108"/>
                <a:gd name="T78" fmla="*/ 72 w 98"/>
                <a:gd name="T79" fmla="*/ 32 h 108"/>
                <a:gd name="T80" fmla="*/ 82 w 98"/>
                <a:gd name="T81" fmla="*/ 42 h 108"/>
                <a:gd name="T82" fmla="*/ 82 w 98"/>
                <a:gd name="T83" fmla="*/ 42 h 108"/>
                <a:gd name="T84" fmla="*/ 88 w 98"/>
                <a:gd name="T85" fmla="*/ 40 h 108"/>
                <a:gd name="T86" fmla="*/ 98 w 98"/>
                <a:gd name="T87" fmla="*/ 50 h 108"/>
                <a:gd name="T88" fmla="*/ 98 w 98"/>
                <a:gd name="T89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108">
                  <a:moveTo>
                    <a:pt x="64" y="104"/>
                  </a:moveTo>
                  <a:cubicBezTo>
                    <a:pt x="81" y="104"/>
                    <a:pt x="94" y="90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6"/>
                    <a:pt x="49" y="104"/>
                    <a:pt x="64" y="104"/>
                  </a:cubicBezTo>
                  <a:cubicBezTo>
                    <a:pt x="64" y="104"/>
                    <a:pt x="64" y="104"/>
                    <a:pt x="64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5" name="Freeform 37"/>
            <p:cNvSpPr>
              <a:spLocks noEditPoints="1"/>
            </p:cNvSpPr>
            <p:nvPr/>
          </p:nvSpPr>
          <p:spPr bwMode="auto">
            <a:xfrm>
              <a:off x="320572" y="184483"/>
              <a:ext cx="254000" cy="322263"/>
            </a:xfrm>
            <a:custGeom>
              <a:avLst/>
              <a:gdLst>
                <a:gd name="T0" fmla="*/ 66 w 98"/>
                <a:gd name="T1" fmla="*/ 26 h 124"/>
                <a:gd name="T2" fmla="*/ 14 w 98"/>
                <a:gd name="T3" fmla="*/ 26 h 124"/>
                <a:gd name="T4" fmla="*/ 26 w 98"/>
                <a:gd name="T5" fmla="*/ 43 h 124"/>
                <a:gd name="T6" fmla="*/ 40 w 98"/>
                <a:gd name="T7" fmla="*/ 4 h 124"/>
                <a:gd name="T8" fmla="*/ 57 w 98"/>
                <a:gd name="T9" fmla="*/ 40 h 124"/>
                <a:gd name="T10" fmla="*/ 61 w 98"/>
                <a:gd name="T11" fmla="*/ 41 h 124"/>
                <a:gd name="T12" fmla="*/ 58 w 98"/>
                <a:gd name="T13" fmla="*/ 26 h 124"/>
                <a:gd name="T14" fmla="*/ 22 w 98"/>
                <a:gd name="T15" fmla="*/ 26 h 124"/>
                <a:gd name="T16" fmla="*/ 26 w 98"/>
                <a:gd name="T17" fmla="*/ 26 h 124"/>
                <a:gd name="T18" fmla="*/ 54 w 98"/>
                <a:gd name="T19" fmla="*/ 26 h 124"/>
                <a:gd name="T20" fmla="*/ 54 w 98"/>
                <a:gd name="T21" fmla="*/ 37 h 124"/>
                <a:gd name="T22" fmla="*/ 94 w 98"/>
                <a:gd name="T23" fmla="*/ 90 h 124"/>
                <a:gd name="T24" fmla="*/ 94 w 98"/>
                <a:gd name="T25" fmla="*/ 75 h 124"/>
                <a:gd name="T26" fmla="*/ 88 w 98"/>
                <a:gd name="T27" fmla="*/ 60 h 124"/>
                <a:gd name="T28" fmla="*/ 82 w 98"/>
                <a:gd name="T29" fmla="*/ 68 h 124"/>
                <a:gd name="T30" fmla="*/ 78 w 98"/>
                <a:gd name="T31" fmla="*/ 58 h 124"/>
                <a:gd name="T32" fmla="*/ 66 w 98"/>
                <a:gd name="T33" fmla="*/ 58 h 124"/>
                <a:gd name="T34" fmla="*/ 62 w 98"/>
                <a:gd name="T35" fmla="*/ 64 h 124"/>
                <a:gd name="T36" fmla="*/ 56 w 98"/>
                <a:gd name="T37" fmla="*/ 48 h 124"/>
                <a:gd name="T38" fmla="*/ 50 w 98"/>
                <a:gd name="T39" fmla="*/ 68 h 124"/>
                <a:gd name="T40" fmla="*/ 46 w 98"/>
                <a:gd name="T41" fmla="*/ 26 h 124"/>
                <a:gd name="T42" fmla="*/ 34 w 98"/>
                <a:gd name="T43" fmla="*/ 26 h 124"/>
                <a:gd name="T44" fmla="*/ 11 w 98"/>
                <a:gd name="T45" fmla="*/ 57 h 124"/>
                <a:gd name="T46" fmla="*/ 64 w 98"/>
                <a:gd name="T47" fmla="*/ 120 h 124"/>
                <a:gd name="T48" fmla="*/ 64 w 98"/>
                <a:gd name="T49" fmla="*/ 124 h 124"/>
                <a:gd name="T50" fmla="*/ 8 w 98"/>
                <a:gd name="T51" fmla="*/ 54 h 124"/>
                <a:gd name="T52" fmla="*/ 30 w 98"/>
                <a:gd name="T53" fmla="*/ 61 h 124"/>
                <a:gd name="T54" fmla="*/ 40 w 98"/>
                <a:gd name="T55" fmla="*/ 16 h 124"/>
                <a:gd name="T56" fmla="*/ 50 w 98"/>
                <a:gd name="T57" fmla="*/ 46 h 124"/>
                <a:gd name="T58" fmla="*/ 66 w 98"/>
                <a:gd name="T59" fmla="*/ 51 h 124"/>
                <a:gd name="T60" fmla="*/ 82 w 98"/>
                <a:gd name="T61" fmla="*/ 58 h 124"/>
                <a:gd name="T62" fmla="*/ 88 w 98"/>
                <a:gd name="T63" fmla="*/ 56 h 124"/>
                <a:gd name="T64" fmla="*/ 98 w 98"/>
                <a:gd name="T65" fmla="*/ 9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8" h="124">
                  <a:moveTo>
                    <a:pt x="61" y="41"/>
                  </a:moveTo>
                  <a:cubicBezTo>
                    <a:pt x="64" y="37"/>
                    <a:pt x="66" y="32"/>
                    <a:pt x="66" y="26"/>
                  </a:cubicBezTo>
                  <a:cubicBezTo>
                    <a:pt x="66" y="12"/>
                    <a:pt x="55" y="0"/>
                    <a:pt x="40" y="0"/>
                  </a:cubicBezTo>
                  <a:cubicBezTo>
                    <a:pt x="26" y="0"/>
                    <a:pt x="14" y="12"/>
                    <a:pt x="14" y="26"/>
                  </a:cubicBezTo>
                  <a:cubicBezTo>
                    <a:pt x="14" y="35"/>
                    <a:pt x="19" y="43"/>
                    <a:pt x="26" y="48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1" y="39"/>
                    <a:pt x="18" y="33"/>
                    <a:pt x="18" y="26"/>
                  </a:cubicBezTo>
                  <a:cubicBezTo>
                    <a:pt x="18" y="14"/>
                    <a:pt x="28" y="4"/>
                    <a:pt x="40" y="4"/>
                  </a:cubicBezTo>
                  <a:cubicBezTo>
                    <a:pt x="52" y="4"/>
                    <a:pt x="62" y="14"/>
                    <a:pt x="62" y="26"/>
                  </a:cubicBezTo>
                  <a:cubicBezTo>
                    <a:pt x="62" y="31"/>
                    <a:pt x="60" y="36"/>
                    <a:pt x="57" y="40"/>
                  </a:cubicBezTo>
                  <a:cubicBezTo>
                    <a:pt x="59" y="40"/>
                    <a:pt x="60" y="40"/>
                    <a:pt x="61" y="41"/>
                  </a:cubicBezTo>
                  <a:cubicBezTo>
                    <a:pt x="61" y="41"/>
                    <a:pt x="61" y="41"/>
                    <a:pt x="61" y="41"/>
                  </a:cubicBezTo>
                  <a:close/>
                  <a:moveTo>
                    <a:pt x="54" y="37"/>
                  </a:moveTo>
                  <a:cubicBezTo>
                    <a:pt x="57" y="34"/>
                    <a:pt x="58" y="30"/>
                    <a:pt x="58" y="26"/>
                  </a:cubicBezTo>
                  <a:cubicBezTo>
                    <a:pt x="58" y="16"/>
                    <a:pt x="50" y="8"/>
                    <a:pt x="40" y="8"/>
                  </a:cubicBezTo>
                  <a:cubicBezTo>
                    <a:pt x="30" y="8"/>
                    <a:pt x="22" y="16"/>
                    <a:pt x="22" y="26"/>
                  </a:cubicBezTo>
                  <a:cubicBezTo>
                    <a:pt x="22" y="30"/>
                    <a:pt x="24" y="34"/>
                    <a:pt x="26" y="37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18"/>
                    <a:pt x="33" y="12"/>
                    <a:pt x="40" y="12"/>
                  </a:cubicBezTo>
                  <a:cubicBezTo>
                    <a:pt x="48" y="12"/>
                    <a:pt x="54" y="18"/>
                    <a:pt x="54" y="26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lose/>
                  <a:moveTo>
                    <a:pt x="64" y="120"/>
                  </a:moveTo>
                  <a:cubicBezTo>
                    <a:pt x="81" y="120"/>
                    <a:pt x="94" y="106"/>
                    <a:pt x="94" y="90"/>
                  </a:cubicBezTo>
                  <a:cubicBezTo>
                    <a:pt x="94" y="90"/>
                    <a:pt x="94" y="99"/>
                    <a:pt x="94" y="90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94" y="63"/>
                    <a:pt x="92" y="60"/>
                    <a:pt x="88" y="60"/>
                  </a:cubicBezTo>
                  <a:cubicBezTo>
                    <a:pt x="85" y="60"/>
                    <a:pt x="82" y="63"/>
                    <a:pt x="82" y="66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55"/>
                    <a:pt x="76" y="52"/>
                    <a:pt x="72" y="52"/>
                  </a:cubicBezTo>
                  <a:cubicBezTo>
                    <a:pt x="69" y="52"/>
                    <a:pt x="66" y="55"/>
                    <a:pt x="66" y="58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2" y="51"/>
                    <a:pt x="60" y="48"/>
                    <a:pt x="56" y="48"/>
                  </a:cubicBezTo>
                  <a:cubicBezTo>
                    <a:pt x="53" y="48"/>
                    <a:pt x="50" y="51"/>
                    <a:pt x="50" y="54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46" y="68"/>
                    <a:pt x="46" y="68"/>
                    <a:pt x="46" y="68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3"/>
                    <a:pt x="44" y="20"/>
                    <a:pt x="40" y="20"/>
                  </a:cubicBezTo>
                  <a:cubicBezTo>
                    <a:pt x="37" y="20"/>
                    <a:pt x="34" y="23"/>
                    <a:pt x="34" y="26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26" y="62"/>
                    <a:pt x="15" y="53"/>
                    <a:pt x="11" y="57"/>
                  </a:cubicBezTo>
                  <a:cubicBezTo>
                    <a:pt x="6" y="62"/>
                    <a:pt x="18" y="74"/>
                    <a:pt x="33" y="100"/>
                  </a:cubicBezTo>
                  <a:cubicBezTo>
                    <a:pt x="40" y="112"/>
                    <a:pt x="49" y="120"/>
                    <a:pt x="64" y="120"/>
                  </a:cubicBezTo>
                  <a:close/>
                  <a:moveTo>
                    <a:pt x="98" y="90"/>
                  </a:moveTo>
                  <a:cubicBezTo>
                    <a:pt x="98" y="109"/>
                    <a:pt x="83" y="124"/>
                    <a:pt x="64" y="124"/>
                  </a:cubicBezTo>
                  <a:cubicBezTo>
                    <a:pt x="52" y="124"/>
                    <a:pt x="39" y="118"/>
                    <a:pt x="30" y="102"/>
                  </a:cubicBezTo>
                  <a:cubicBezTo>
                    <a:pt x="17" y="78"/>
                    <a:pt x="0" y="62"/>
                    <a:pt x="8" y="54"/>
                  </a:cubicBezTo>
                  <a:cubicBezTo>
                    <a:pt x="14" y="49"/>
                    <a:pt x="22" y="54"/>
                    <a:pt x="30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0"/>
                    <a:pt x="35" y="16"/>
                    <a:pt x="40" y="16"/>
                  </a:cubicBezTo>
                  <a:cubicBezTo>
                    <a:pt x="46" y="16"/>
                    <a:pt x="50" y="20"/>
                    <a:pt x="50" y="2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2" y="45"/>
                    <a:pt x="54" y="44"/>
                    <a:pt x="56" y="44"/>
                  </a:cubicBezTo>
                  <a:cubicBezTo>
                    <a:pt x="61" y="44"/>
                    <a:pt x="64" y="47"/>
                    <a:pt x="66" y="51"/>
                  </a:cubicBezTo>
                  <a:cubicBezTo>
                    <a:pt x="67" y="49"/>
                    <a:pt x="70" y="48"/>
                    <a:pt x="72" y="48"/>
                  </a:cubicBezTo>
                  <a:cubicBezTo>
                    <a:pt x="78" y="48"/>
                    <a:pt x="82" y="52"/>
                    <a:pt x="82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4" y="57"/>
                    <a:pt x="86" y="56"/>
                    <a:pt x="88" y="56"/>
                  </a:cubicBezTo>
                  <a:cubicBezTo>
                    <a:pt x="94" y="56"/>
                    <a:pt x="98" y="61"/>
                    <a:pt x="98" y="66"/>
                  </a:cubicBezTo>
                  <a:cubicBezTo>
                    <a:pt x="98" y="90"/>
                    <a:pt x="98" y="90"/>
                    <a:pt x="98" y="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6" name="Freeform 38"/>
            <p:cNvSpPr>
              <a:spLocks noEditPoints="1"/>
            </p:cNvSpPr>
            <p:nvPr/>
          </p:nvSpPr>
          <p:spPr bwMode="auto">
            <a:xfrm>
              <a:off x="8269432" y="4112575"/>
              <a:ext cx="254000" cy="303213"/>
            </a:xfrm>
            <a:custGeom>
              <a:avLst/>
              <a:gdLst>
                <a:gd name="T0" fmla="*/ 54 w 98"/>
                <a:gd name="T1" fmla="*/ 29 h 116"/>
                <a:gd name="T2" fmla="*/ 58 w 98"/>
                <a:gd name="T3" fmla="*/ 18 h 116"/>
                <a:gd name="T4" fmla="*/ 40 w 98"/>
                <a:gd name="T5" fmla="*/ 0 h 116"/>
                <a:gd name="T6" fmla="*/ 22 w 98"/>
                <a:gd name="T7" fmla="*/ 18 h 116"/>
                <a:gd name="T8" fmla="*/ 26 w 98"/>
                <a:gd name="T9" fmla="*/ 29 h 116"/>
                <a:gd name="T10" fmla="*/ 26 w 98"/>
                <a:gd name="T11" fmla="*/ 18 h 116"/>
                <a:gd name="T12" fmla="*/ 40 w 98"/>
                <a:gd name="T13" fmla="*/ 4 h 116"/>
                <a:gd name="T14" fmla="*/ 54 w 98"/>
                <a:gd name="T15" fmla="*/ 18 h 116"/>
                <a:gd name="T16" fmla="*/ 54 w 98"/>
                <a:gd name="T17" fmla="*/ 29 h 116"/>
                <a:gd name="T18" fmla="*/ 54 w 98"/>
                <a:gd name="T19" fmla="*/ 29 h 116"/>
                <a:gd name="T20" fmla="*/ 64 w 98"/>
                <a:gd name="T21" fmla="*/ 112 h 116"/>
                <a:gd name="T22" fmla="*/ 94 w 98"/>
                <a:gd name="T23" fmla="*/ 82 h 116"/>
                <a:gd name="T24" fmla="*/ 94 w 98"/>
                <a:gd name="T25" fmla="*/ 82 h 116"/>
                <a:gd name="T26" fmla="*/ 94 w 98"/>
                <a:gd name="T27" fmla="*/ 67 h 116"/>
                <a:gd name="T28" fmla="*/ 94 w 98"/>
                <a:gd name="T29" fmla="*/ 58 h 116"/>
                <a:gd name="T30" fmla="*/ 88 w 98"/>
                <a:gd name="T31" fmla="*/ 52 h 116"/>
                <a:gd name="T32" fmla="*/ 82 w 98"/>
                <a:gd name="T33" fmla="*/ 58 h 116"/>
                <a:gd name="T34" fmla="*/ 82 w 98"/>
                <a:gd name="T35" fmla="*/ 60 h 116"/>
                <a:gd name="T36" fmla="*/ 78 w 98"/>
                <a:gd name="T37" fmla="*/ 60 h 116"/>
                <a:gd name="T38" fmla="*/ 78 w 98"/>
                <a:gd name="T39" fmla="*/ 50 h 116"/>
                <a:gd name="T40" fmla="*/ 72 w 98"/>
                <a:gd name="T41" fmla="*/ 44 h 116"/>
                <a:gd name="T42" fmla="*/ 66 w 98"/>
                <a:gd name="T43" fmla="*/ 50 h 116"/>
                <a:gd name="T44" fmla="*/ 66 w 98"/>
                <a:gd name="T45" fmla="*/ 56 h 116"/>
                <a:gd name="T46" fmla="*/ 62 w 98"/>
                <a:gd name="T47" fmla="*/ 56 h 116"/>
                <a:gd name="T48" fmla="*/ 62 w 98"/>
                <a:gd name="T49" fmla="*/ 46 h 116"/>
                <a:gd name="T50" fmla="*/ 56 w 98"/>
                <a:gd name="T51" fmla="*/ 40 h 116"/>
                <a:gd name="T52" fmla="*/ 50 w 98"/>
                <a:gd name="T53" fmla="*/ 46 h 116"/>
                <a:gd name="T54" fmla="*/ 50 w 98"/>
                <a:gd name="T55" fmla="*/ 60 h 116"/>
                <a:gd name="T56" fmla="*/ 46 w 98"/>
                <a:gd name="T57" fmla="*/ 60 h 116"/>
                <a:gd name="T58" fmla="*/ 46 w 98"/>
                <a:gd name="T59" fmla="*/ 18 h 116"/>
                <a:gd name="T60" fmla="*/ 40 w 98"/>
                <a:gd name="T61" fmla="*/ 12 h 116"/>
                <a:gd name="T62" fmla="*/ 34 w 98"/>
                <a:gd name="T63" fmla="*/ 18 h 116"/>
                <a:gd name="T64" fmla="*/ 34 w 98"/>
                <a:gd name="T65" fmla="*/ 63 h 116"/>
                <a:gd name="T66" fmla="*/ 11 w 98"/>
                <a:gd name="T67" fmla="*/ 49 h 116"/>
                <a:gd name="T68" fmla="*/ 33 w 98"/>
                <a:gd name="T69" fmla="*/ 92 h 116"/>
                <a:gd name="T70" fmla="*/ 64 w 98"/>
                <a:gd name="T71" fmla="*/ 112 h 116"/>
                <a:gd name="T72" fmla="*/ 98 w 98"/>
                <a:gd name="T73" fmla="*/ 82 h 116"/>
                <a:gd name="T74" fmla="*/ 64 w 98"/>
                <a:gd name="T75" fmla="*/ 116 h 116"/>
                <a:gd name="T76" fmla="*/ 30 w 98"/>
                <a:gd name="T77" fmla="*/ 94 h 116"/>
                <a:gd name="T78" fmla="*/ 8 w 98"/>
                <a:gd name="T79" fmla="*/ 46 h 116"/>
                <a:gd name="T80" fmla="*/ 30 w 98"/>
                <a:gd name="T81" fmla="*/ 53 h 116"/>
                <a:gd name="T82" fmla="*/ 30 w 98"/>
                <a:gd name="T83" fmla="*/ 53 h 116"/>
                <a:gd name="T84" fmla="*/ 30 w 98"/>
                <a:gd name="T85" fmla="*/ 18 h 116"/>
                <a:gd name="T86" fmla="*/ 40 w 98"/>
                <a:gd name="T87" fmla="*/ 8 h 116"/>
                <a:gd name="T88" fmla="*/ 50 w 98"/>
                <a:gd name="T89" fmla="*/ 18 h 116"/>
                <a:gd name="T90" fmla="*/ 50 w 98"/>
                <a:gd name="T91" fmla="*/ 38 h 116"/>
                <a:gd name="T92" fmla="*/ 56 w 98"/>
                <a:gd name="T93" fmla="*/ 36 h 116"/>
                <a:gd name="T94" fmla="*/ 66 w 98"/>
                <a:gd name="T95" fmla="*/ 43 h 116"/>
                <a:gd name="T96" fmla="*/ 72 w 98"/>
                <a:gd name="T97" fmla="*/ 40 h 116"/>
                <a:gd name="T98" fmla="*/ 82 w 98"/>
                <a:gd name="T99" fmla="*/ 50 h 116"/>
                <a:gd name="T100" fmla="*/ 82 w 98"/>
                <a:gd name="T101" fmla="*/ 50 h 116"/>
                <a:gd name="T102" fmla="*/ 88 w 98"/>
                <a:gd name="T103" fmla="*/ 48 h 116"/>
                <a:gd name="T104" fmla="*/ 98 w 98"/>
                <a:gd name="T105" fmla="*/ 58 h 116"/>
                <a:gd name="T106" fmla="*/ 98 w 98"/>
                <a:gd name="T107" fmla="*/ 8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8" h="116">
                  <a:moveTo>
                    <a:pt x="54" y="29"/>
                  </a:moveTo>
                  <a:cubicBezTo>
                    <a:pt x="57" y="26"/>
                    <a:pt x="58" y="22"/>
                    <a:pt x="58" y="18"/>
                  </a:cubicBezTo>
                  <a:cubicBezTo>
                    <a:pt x="58" y="8"/>
                    <a:pt x="50" y="0"/>
                    <a:pt x="40" y="0"/>
                  </a:cubicBezTo>
                  <a:cubicBezTo>
                    <a:pt x="30" y="0"/>
                    <a:pt x="22" y="8"/>
                    <a:pt x="22" y="18"/>
                  </a:cubicBezTo>
                  <a:cubicBezTo>
                    <a:pt x="22" y="22"/>
                    <a:pt x="24" y="26"/>
                    <a:pt x="26" y="29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0"/>
                    <a:pt x="33" y="4"/>
                    <a:pt x="40" y="4"/>
                  </a:cubicBezTo>
                  <a:cubicBezTo>
                    <a:pt x="48" y="4"/>
                    <a:pt x="54" y="10"/>
                    <a:pt x="54" y="18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9"/>
                    <a:pt x="54" y="29"/>
                    <a:pt x="54" y="29"/>
                  </a:cubicBezTo>
                  <a:close/>
                  <a:moveTo>
                    <a:pt x="64" y="112"/>
                  </a:moveTo>
                  <a:cubicBezTo>
                    <a:pt x="81" y="112"/>
                    <a:pt x="94" y="98"/>
                    <a:pt x="94" y="82"/>
                  </a:cubicBezTo>
                  <a:cubicBezTo>
                    <a:pt x="94" y="82"/>
                    <a:pt x="94" y="91"/>
                    <a:pt x="94" y="82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58"/>
                    <a:pt x="94" y="58"/>
                    <a:pt x="94" y="58"/>
                  </a:cubicBezTo>
                  <a:cubicBezTo>
                    <a:pt x="94" y="55"/>
                    <a:pt x="92" y="52"/>
                    <a:pt x="88" y="52"/>
                  </a:cubicBezTo>
                  <a:cubicBezTo>
                    <a:pt x="85" y="52"/>
                    <a:pt x="82" y="55"/>
                    <a:pt x="82" y="58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47"/>
                    <a:pt x="76" y="44"/>
                    <a:pt x="72" y="44"/>
                  </a:cubicBezTo>
                  <a:cubicBezTo>
                    <a:pt x="69" y="44"/>
                    <a:pt x="66" y="47"/>
                    <a:pt x="66" y="50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2" y="46"/>
                    <a:pt x="62" y="46"/>
                    <a:pt x="62" y="46"/>
                  </a:cubicBezTo>
                  <a:cubicBezTo>
                    <a:pt x="62" y="43"/>
                    <a:pt x="60" y="40"/>
                    <a:pt x="56" y="40"/>
                  </a:cubicBezTo>
                  <a:cubicBezTo>
                    <a:pt x="53" y="40"/>
                    <a:pt x="50" y="43"/>
                    <a:pt x="50" y="46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5"/>
                    <a:pt x="44" y="12"/>
                    <a:pt x="40" y="12"/>
                  </a:cubicBezTo>
                  <a:cubicBezTo>
                    <a:pt x="37" y="12"/>
                    <a:pt x="34" y="15"/>
                    <a:pt x="34" y="18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26" y="54"/>
                    <a:pt x="15" y="45"/>
                    <a:pt x="11" y="49"/>
                  </a:cubicBezTo>
                  <a:cubicBezTo>
                    <a:pt x="6" y="54"/>
                    <a:pt x="18" y="66"/>
                    <a:pt x="33" y="92"/>
                  </a:cubicBezTo>
                  <a:cubicBezTo>
                    <a:pt x="40" y="104"/>
                    <a:pt x="49" y="112"/>
                    <a:pt x="64" y="112"/>
                  </a:cubicBezTo>
                  <a:close/>
                  <a:moveTo>
                    <a:pt x="98" y="82"/>
                  </a:moveTo>
                  <a:cubicBezTo>
                    <a:pt x="98" y="101"/>
                    <a:pt x="83" y="116"/>
                    <a:pt x="64" y="116"/>
                  </a:cubicBezTo>
                  <a:cubicBezTo>
                    <a:pt x="52" y="116"/>
                    <a:pt x="39" y="110"/>
                    <a:pt x="30" y="94"/>
                  </a:cubicBezTo>
                  <a:cubicBezTo>
                    <a:pt x="17" y="70"/>
                    <a:pt x="0" y="54"/>
                    <a:pt x="8" y="46"/>
                  </a:cubicBezTo>
                  <a:cubicBezTo>
                    <a:pt x="14" y="41"/>
                    <a:pt x="22" y="46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2"/>
                    <a:pt x="35" y="8"/>
                    <a:pt x="40" y="8"/>
                  </a:cubicBezTo>
                  <a:cubicBezTo>
                    <a:pt x="46" y="8"/>
                    <a:pt x="50" y="12"/>
                    <a:pt x="50" y="1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7"/>
                    <a:pt x="54" y="36"/>
                    <a:pt x="56" y="36"/>
                  </a:cubicBezTo>
                  <a:cubicBezTo>
                    <a:pt x="61" y="36"/>
                    <a:pt x="64" y="39"/>
                    <a:pt x="66" y="43"/>
                  </a:cubicBezTo>
                  <a:cubicBezTo>
                    <a:pt x="67" y="41"/>
                    <a:pt x="70" y="40"/>
                    <a:pt x="72" y="40"/>
                  </a:cubicBezTo>
                  <a:cubicBezTo>
                    <a:pt x="78" y="40"/>
                    <a:pt x="82" y="44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4" y="49"/>
                    <a:pt x="86" y="48"/>
                    <a:pt x="88" y="48"/>
                  </a:cubicBezTo>
                  <a:cubicBezTo>
                    <a:pt x="94" y="48"/>
                    <a:pt x="98" y="53"/>
                    <a:pt x="98" y="58"/>
                  </a:cubicBezTo>
                  <a:cubicBezTo>
                    <a:pt x="98" y="82"/>
                    <a:pt x="98" y="82"/>
                    <a:pt x="98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5865835" y="6228619"/>
              <a:ext cx="423070" cy="514475"/>
              <a:chOff x="7593013" y="2532063"/>
              <a:chExt cx="257175" cy="312738"/>
            </a:xfrm>
            <a:grpFill/>
          </p:grpSpPr>
          <p:sp>
            <p:nvSpPr>
              <p:cNvPr id="217" name="Freeform 39"/>
              <p:cNvSpPr>
                <a:spLocks noEditPoints="1"/>
              </p:cNvSpPr>
              <p:nvPr/>
            </p:nvSpPr>
            <p:spPr bwMode="auto">
              <a:xfrm>
                <a:off x="7753350" y="2532063"/>
                <a:ext cx="93663" cy="93663"/>
              </a:xfrm>
              <a:custGeom>
                <a:avLst/>
                <a:gdLst>
                  <a:gd name="T0" fmla="*/ 18 w 36"/>
                  <a:gd name="T1" fmla="*/ 36 h 36"/>
                  <a:gd name="T2" fmla="*/ 36 w 36"/>
                  <a:gd name="T3" fmla="*/ 18 h 36"/>
                  <a:gd name="T4" fmla="*/ 18 w 36"/>
                  <a:gd name="T5" fmla="*/ 0 h 36"/>
                  <a:gd name="T6" fmla="*/ 0 w 36"/>
                  <a:gd name="T7" fmla="*/ 18 h 36"/>
                  <a:gd name="T8" fmla="*/ 18 w 36"/>
                  <a:gd name="T9" fmla="*/ 36 h 36"/>
                  <a:gd name="T10" fmla="*/ 17 w 36"/>
                  <a:gd name="T11" fmla="*/ 4 h 36"/>
                  <a:gd name="T12" fmla="*/ 17 w 36"/>
                  <a:gd name="T13" fmla="*/ 18 h 36"/>
                  <a:gd name="T14" fmla="*/ 19 w 36"/>
                  <a:gd name="T15" fmla="*/ 18 h 36"/>
                  <a:gd name="T16" fmla="*/ 29 w 36"/>
                  <a:gd name="T17" fmla="*/ 18 h 36"/>
                  <a:gd name="T18" fmla="*/ 29 w 36"/>
                  <a:gd name="T19" fmla="*/ 14 h 36"/>
                  <a:gd name="T20" fmla="*/ 21 w 36"/>
                  <a:gd name="T21" fmla="*/ 14 h 36"/>
                  <a:gd name="T22" fmla="*/ 21 w 36"/>
                  <a:gd name="T23" fmla="*/ 4 h 36"/>
                  <a:gd name="T24" fmla="*/ 33 w 36"/>
                  <a:gd name="T25" fmla="*/ 18 h 36"/>
                  <a:gd name="T26" fmla="*/ 18 w 36"/>
                  <a:gd name="T27" fmla="*/ 32 h 36"/>
                  <a:gd name="T28" fmla="*/ 5 w 36"/>
                  <a:gd name="T29" fmla="*/ 18 h 36"/>
                  <a:gd name="T30" fmla="*/ 17 w 36"/>
                  <a:gd name="T31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28" y="36"/>
                      <a:pt x="36" y="28"/>
                      <a:pt x="36" y="18"/>
                    </a:cubicBezTo>
                    <a:cubicBezTo>
                      <a:pt x="36" y="8"/>
                      <a:pt x="2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8"/>
                      <a:pt x="8" y="36"/>
                      <a:pt x="18" y="36"/>
                    </a:cubicBezTo>
                    <a:close/>
                    <a:moveTo>
                      <a:pt x="17" y="4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5" y="5"/>
                      <a:pt x="33" y="11"/>
                      <a:pt x="33" y="18"/>
                    </a:cubicBezTo>
                    <a:cubicBezTo>
                      <a:pt x="33" y="26"/>
                      <a:pt x="26" y="32"/>
                      <a:pt x="18" y="32"/>
                    </a:cubicBezTo>
                    <a:cubicBezTo>
                      <a:pt x="11" y="32"/>
                      <a:pt x="5" y="26"/>
                      <a:pt x="5" y="18"/>
                    </a:cubicBezTo>
                    <a:cubicBezTo>
                      <a:pt x="5" y="11"/>
                      <a:pt x="9" y="5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8" name="Freeform 40"/>
              <p:cNvSpPr>
                <a:spLocks noEditPoints="1"/>
              </p:cNvSpPr>
              <p:nvPr/>
            </p:nvSpPr>
            <p:spPr bwMode="auto">
              <a:xfrm>
                <a:off x="7593013" y="2563813"/>
                <a:ext cx="257175" cy="280988"/>
              </a:xfrm>
              <a:custGeom>
                <a:avLst/>
                <a:gdLst>
                  <a:gd name="T0" fmla="*/ 89 w 99"/>
                  <a:gd name="T1" fmla="*/ 40 h 108"/>
                  <a:gd name="T2" fmla="*/ 82 w 99"/>
                  <a:gd name="T3" fmla="*/ 42 h 108"/>
                  <a:gd name="T4" fmla="*/ 72 w 99"/>
                  <a:gd name="T5" fmla="*/ 32 h 108"/>
                  <a:gd name="T6" fmla="*/ 66 w 99"/>
                  <a:gd name="T7" fmla="*/ 35 h 108"/>
                  <a:gd name="T8" fmla="*/ 57 w 99"/>
                  <a:gd name="T9" fmla="*/ 28 h 108"/>
                  <a:gd name="T10" fmla="*/ 51 w 99"/>
                  <a:gd name="T11" fmla="*/ 30 h 108"/>
                  <a:gd name="T12" fmla="*/ 51 w 99"/>
                  <a:gd name="T13" fmla="*/ 10 h 108"/>
                  <a:gd name="T14" fmla="*/ 41 w 99"/>
                  <a:gd name="T15" fmla="*/ 0 h 108"/>
                  <a:gd name="T16" fmla="*/ 31 w 99"/>
                  <a:gd name="T17" fmla="*/ 10 h 108"/>
                  <a:gd name="T18" fmla="*/ 31 w 99"/>
                  <a:gd name="T19" fmla="*/ 45 h 108"/>
                  <a:gd name="T20" fmla="*/ 8 w 99"/>
                  <a:gd name="T21" fmla="*/ 38 h 108"/>
                  <a:gd name="T22" fmla="*/ 30 w 99"/>
                  <a:gd name="T23" fmla="*/ 86 h 108"/>
                  <a:gd name="T24" fmla="*/ 65 w 99"/>
                  <a:gd name="T25" fmla="*/ 108 h 108"/>
                  <a:gd name="T26" fmla="*/ 99 w 99"/>
                  <a:gd name="T27" fmla="*/ 74 h 108"/>
                  <a:gd name="T28" fmla="*/ 99 w 99"/>
                  <a:gd name="T29" fmla="*/ 50 h 108"/>
                  <a:gd name="T30" fmla="*/ 89 w 99"/>
                  <a:gd name="T31" fmla="*/ 40 h 108"/>
                  <a:gd name="T32" fmla="*/ 95 w 99"/>
                  <a:gd name="T33" fmla="*/ 59 h 108"/>
                  <a:gd name="T34" fmla="*/ 95 w 99"/>
                  <a:gd name="T35" fmla="*/ 74 h 108"/>
                  <a:gd name="T36" fmla="*/ 95 w 99"/>
                  <a:gd name="T37" fmla="*/ 78 h 108"/>
                  <a:gd name="T38" fmla="*/ 95 w 99"/>
                  <a:gd name="T39" fmla="*/ 74 h 108"/>
                  <a:gd name="T40" fmla="*/ 65 w 99"/>
                  <a:gd name="T41" fmla="*/ 104 h 108"/>
                  <a:gd name="T42" fmla="*/ 33 w 99"/>
                  <a:gd name="T43" fmla="*/ 84 h 108"/>
                  <a:gd name="T44" fmla="*/ 11 w 99"/>
                  <a:gd name="T45" fmla="*/ 41 h 108"/>
                  <a:gd name="T46" fmla="*/ 35 w 99"/>
                  <a:gd name="T47" fmla="*/ 55 h 108"/>
                  <a:gd name="T48" fmla="*/ 35 w 99"/>
                  <a:gd name="T49" fmla="*/ 10 h 108"/>
                  <a:gd name="T50" fmla="*/ 41 w 99"/>
                  <a:gd name="T51" fmla="*/ 4 h 108"/>
                  <a:gd name="T52" fmla="*/ 47 w 99"/>
                  <a:gd name="T53" fmla="*/ 10 h 108"/>
                  <a:gd name="T54" fmla="*/ 47 w 99"/>
                  <a:gd name="T55" fmla="*/ 50 h 108"/>
                  <a:gd name="T56" fmla="*/ 51 w 99"/>
                  <a:gd name="T57" fmla="*/ 50 h 108"/>
                  <a:gd name="T58" fmla="*/ 51 w 99"/>
                  <a:gd name="T59" fmla="*/ 38 h 108"/>
                  <a:gd name="T60" fmla="*/ 57 w 99"/>
                  <a:gd name="T61" fmla="*/ 32 h 108"/>
                  <a:gd name="T62" fmla="*/ 63 w 99"/>
                  <a:gd name="T63" fmla="*/ 38 h 108"/>
                  <a:gd name="T64" fmla="*/ 63 w 99"/>
                  <a:gd name="T65" fmla="*/ 46 h 108"/>
                  <a:gd name="T66" fmla="*/ 67 w 99"/>
                  <a:gd name="T67" fmla="*/ 46 h 108"/>
                  <a:gd name="T68" fmla="*/ 67 w 99"/>
                  <a:gd name="T69" fmla="*/ 42 h 108"/>
                  <a:gd name="T70" fmla="*/ 73 w 99"/>
                  <a:gd name="T71" fmla="*/ 36 h 108"/>
                  <a:gd name="T72" fmla="*/ 79 w 99"/>
                  <a:gd name="T73" fmla="*/ 42 h 108"/>
                  <a:gd name="T74" fmla="*/ 79 w 99"/>
                  <a:gd name="T75" fmla="*/ 50 h 108"/>
                  <a:gd name="T76" fmla="*/ 83 w 99"/>
                  <a:gd name="T77" fmla="*/ 50 h 108"/>
                  <a:gd name="T78" fmla="*/ 83 w 99"/>
                  <a:gd name="T79" fmla="*/ 50 h 108"/>
                  <a:gd name="T80" fmla="*/ 89 w 99"/>
                  <a:gd name="T81" fmla="*/ 44 h 108"/>
                  <a:gd name="T82" fmla="*/ 95 w 99"/>
                  <a:gd name="T83" fmla="*/ 50 h 108"/>
                  <a:gd name="T84" fmla="*/ 95 w 99"/>
                  <a:gd name="T85" fmla="*/ 59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9" h="108">
                    <a:moveTo>
                      <a:pt x="89" y="40"/>
                    </a:moveTo>
                    <a:cubicBezTo>
                      <a:pt x="86" y="40"/>
                      <a:pt x="84" y="41"/>
                      <a:pt x="82" y="42"/>
                    </a:cubicBezTo>
                    <a:cubicBezTo>
                      <a:pt x="82" y="36"/>
                      <a:pt x="78" y="32"/>
                      <a:pt x="72" y="32"/>
                    </a:cubicBezTo>
                    <a:cubicBezTo>
                      <a:pt x="70" y="32"/>
                      <a:pt x="67" y="33"/>
                      <a:pt x="66" y="35"/>
                    </a:cubicBezTo>
                    <a:cubicBezTo>
                      <a:pt x="64" y="31"/>
                      <a:pt x="61" y="28"/>
                      <a:pt x="57" y="28"/>
                    </a:cubicBezTo>
                    <a:cubicBezTo>
                      <a:pt x="54" y="28"/>
                      <a:pt x="51" y="29"/>
                      <a:pt x="51" y="30"/>
                    </a:cubicBezTo>
                    <a:cubicBezTo>
                      <a:pt x="51" y="10"/>
                      <a:pt x="51" y="10"/>
                      <a:pt x="51" y="10"/>
                    </a:cubicBezTo>
                    <a:cubicBezTo>
                      <a:pt x="51" y="4"/>
                      <a:pt x="47" y="0"/>
                      <a:pt x="41" y="0"/>
                    </a:cubicBezTo>
                    <a:cubicBezTo>
                      <a:pt x="35" y="0"/>
                      <a:pt x="31" y="4"/>
                      <a:pt x="31" y="10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3" y="38"/>
                      <a:pt x="14" y="33"/>
                      <a:pt x="8" y="38"/>
                    </a:cubicBezTo>
                    <a:cubicBezTo>
                      <a:pt x="0" y="46"/>
                      <a:pt x="17" y="62"/>
                      <a:pt x="30" y="86"/>
                    </a:cubicBezTo>
                    <a:cubicBezTo>
                      <a:pt x="39" y="102"/>
                      <a:pt x="52" y="108"/>
                      <a:pt x="65" y="108"/>
                    </a:cubicBezTo>
                    <a:cubicBezTo>
                      <a:pt x="83" y="108"/>
                      <a:pt x="99" y="93"/>
                      <a:pt x="99" y="74"/>
                    </a:cubicBezTo>
                    <a:cubicBezTo>
                      <a:pt x="99" y="50"/>
                      <a:pt x="99" y="50"/>
                      <a:pt x="99" y="50"/>
                    </a:cubicBezTo>
                    <a:cubicBezTo>
                      <a:pt x="99" y="45"/>
                      <a:pt x="94" y="40"/>
                      <a:pt x="89" y="40"/>
                    </a:cubicBezTo>
                    <a:close/>
                    <a:moveTo>
                      <a:pt x="95" y="59"/>
                    </a:move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8"/>
                      <a:pt x="95" y="78"/>
                    </a:cubicBezTo>
                    <a:cubicBezTo>
                      <a:pt x="95" y="78"/>
                      <a:pt x="95" y="74"/>
                      <a:pt x="95" y="74"/>
                    </a:cubicBezTo>
                    <a:cubicBezTo>
                      <a:pt x="95" y="90"/>
                      <a:pt x="81" y="104"/>
                      <a:pt x="65" y="104"/>
                    </a:cubicBezTo>
                    <a:cubicBezTo>
                      <a:pt x="50" y="104"/>
                      <a:pt x="40" y="96"/>
                      <a:pt x="33" y="84"/>
                    </a:cubicBezTo>
                    <a:cubicBezTo>
                      <a:pt x="18" y="58"/>
                      <a:pt x="7" y="46"/>
                      <a:pt x="11" y="41"/>
                    </a:cubicBezTo>
                    <a:cubicBezTo>
                      <a:pt x="16" y="37"/>
                      <a:pt x="27" y="46"/>
                      <a:pt x="35" y="55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7"/>
                      <a:pt x="38" y="4"/>
                      <a:pt x="41" y="4"/>
                    </a:cubicBezTo>
                    <a:cubicBezTo>
                      <a:pt x="44" y="4"/>
                      <a:pt x="47" y="7"/>
                      <a:pt x="47" y="10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51" y="35"/>
                      <a:pt x="54" y="32"/>
                      <a:pt x="57" y="32"/>
                    </a:cubicBezTo>
                    <a:cubicBezTo>
                      <a:pt x="60" y="32"/>
                      <a:pt x="63" y="35"/>
                      <a:pt x="63" y="38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7" y="46"/>
                      <a:pt x="67" y="46"/>
                      <a:pt x="67" y="46"/>
                    </a:cubicBezTo>
                    <a:cubicBezTo>
                      <a:pt x="67" y="42"/>
                      <a:pt x="67" y="42"/>
                      <a:pt x="67" y="42"/>
                    </a:cubicBezTo>
                    <a:cubicBezTo>
                      <a:pt x="67" y="39"/>
                      <a:pt x="70" y="36"/>
                      <a:pt x="73" y="36"/>
                    </a:cubicBezTo>
                    <a:cubicBezTo>
                      <a:pt x="76" y="36"/>
                      <a:pt x="79" y="39"/>
                      <a:pt x="79" y="42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47"/>
                      <a:pt x="86" y="44"/>
                      <a:pt x="89" y="44"/>
                    </a:cubicBezTo>
                    <a:cubicBezTo>
                      <a:pt x="92" y="44"/>
                      <a:pt x="95" y="47"/>
                      <a:pt x="95" y="50"/>
                    </a:cubicBezTo>
                    <a:lnTo>
                      <a:pt x="95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8" name="Freeform 41"/>
            <p:cNvSpPr>
              <a:spLocks noEditPoints="1"/>
            </p:cNvSpPr>
            <p:nvPr/>
          </p:nvSpPr>
          <p:spPr bwMode="auto">
            <a:xfrm>
              <a:off x="10844274" y="4674806"/>
              <a:ext cx="269875" cy="303213"/>
            </a:xfrm>
            <a:custGeom>
              <a:avLst/>
              <a:gdLst>
                <a:gd name="T0" fmla="*/ 18 w 104"/>
                <a:gd name="T1" fmla="*/ 32 h 116"/>
                <a:gd name="T2" fmla="*/ 13 w 104"/>
                <a:gd name="T3" fmla="*/ 67 h 116"/>
                <a:gd name="T4" fmla="*/ 4 w 104"/>
                <a:gd name="T5" fmla="*/ 50 h 116"/>
                <a:gd name="T6" fmla="*/ 31 w 104"/>
                <a:gd name="T7" fmla="*/ 44 h 116"/>
                <a:gd name="T8" fmla="*/ 32 w 104"/>
                <a:gd name="T9" fmla="*/ 39 h 116"/>
                <a:gd name="T10" fmla="*/ 60 w 104"/>
                <a:gd name="T11" fmla="*/ 29 h 116"/>
                <a:gd name="T12" fmla="*/ 46 w 104"/>
                <a:gd name="T13" fmla="*/ 0 h 116"/>
                <a:gd name="T14" fmla="*/ 32 w 104"/>
                <a:gd name="T15" fmla="*/ 29 h 116"/>
                <a:gd name="T16" fmla="*/ 46 w 104"/>
                <a:gd name="T17" fmla="*/ 4 h 116"/>
                <a:gd name="T18" fmla="*/ 60 w 104"/>
                <a:gd name="T19" fmla="*/ 29 h 116"/>
                <a:gd name="T20" fmla="*/ 70 w 104"/>
                <a:gd name="T21" fmla="*/ 112 h 116"/>
                <a:gd name="T22" fmla="*/ 100 w 104"/>
                <a:gd name="T23" fmla="*/ 82 h 116"/>
                <a:gd name="T24" fmla="*/ 100 w 104"/>
                <a:gd name="T25" fmla="*/ 58 h 116"/>
                <a:gd name="T26" fmla="*/ 88 w 104"/>
                <a:gd name="T27" fmla="*/ 58 h 116"/>
                <a:gd name="T28" fmla="*/ 84 w 104"/>
                <a:gd name="T29" fmla="*/ 60 h 116"/>
                <a:gd name="T30" fmla="*/ 78 w 104"/>
                <a:gd name="T31" fmla="*/ 44 h 116"/>
                <a:gd name="T32" fmla="*/ 72 w 104"/>
                <a:gd name="T33" fmla="*/ 56 h 116"/>
                <a:gd name="T34" fmla="*/ 68 w 104"/>
                <a:gd name="T35" fmla="*/ 46 h 116"/>
                <a:gd name="T36" fmla="*/ 56 w 104"/>
                <a:gd name="T37" fmla="*/ 46 h 116"/>
                <a:gd name="T38" fmla="*/ 52 w 104"/>
                <a:gd name="T39" fmla="*/ 60 h 116"/>
                <a:gd name="T40" fmla="*/ 46 w 104"/>
                <a:gd name="T41" fmla="*/ 12 h 116"/>
                <a:gd name="T42" fmla="*/ 40 w 104"/>
                <a:gd name="T43" fmla="*/ 63 h 116"/>
                <a:gd name="T44" fmla="*/ 39 w 104"/>
                <a:gd name="T45" fmla="*/ 92 h 116"/>
                <a:gd name="T46" fmla="*/ 104 w 104"/>
                <a:gd name="T47" fmla="*/ 82 h 116"/>
                <a:gd name="T48" fmla="*/ 35 w 104"/>
                <a:gd name="T49" fmla="*/ 94 h 116"/>
                <a:gd name="T50" fmla="*/ 36 w 104"/>
                <a:gd name="T51" fmla="*/ 53 h 116"/>
                <a:gd name="T52" fmla="*/ 36 w 104"/>
                <a:gd name="T53" fmla="*/ 18 h 116"/>
                <a:gd name="T54" fmla="*/ 56 w 104"/>
                <a:gd name="T55" fmla="*/ 18 h 116"/>
                <a:gd name="T56" fmla="*/ 62 w 104"/>
                <a:gd name="T57" fmla="*/ 36 h 116"/>
                <a:gd name="T58" fmla="*/ 78 w 104"/>
                <a:gd name="T59" fmla="*/ 40 h 116"/>
                <a:gd name="T60" fmla="*/ 88 w 104"/>
                <a:gd name="T61" fmla="*/ 50 h 116"/>
                <a:gd name="T62" fmla="*/ 104 w 104"/>
                <a:gd name="T63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4" h="116">
                  <a:moveTo>
                    <a:pt x="32" y="39"/>
                  </a:moveTo>
                  <a:cubicBezTo>
                    <a:pt x="29" y="35"/>
                    <a:pt x="24" y="32"/>
                    <a:pt x="18" y="32"/>
                  </a:cubicBezTo>
                  <a:cubicBezTo>
                    <a:pt x="8" y="32"/>
                    <a:pt x="0" y="40"/>
                    <a:pt x="0" y="50"/>
                  </a:cubicBezTo>
                  <a:cubicBezTo>
                    <a:pt x="0" y="58"/>
                    <a:pt x="6" y="65"/>
                    <a:pt x="13" y="67"/>
                  </a:cubicBezTo>
                  <a:cubicBezTo>
                    <a:pt x="12" y="66"/>
                    <a:pt x="11" y="64"/>
                    <a:pt x="11" y="62"/>
                  </a:cubicBezTo>
                  <a:cubicBezTo>
                    <a:pt x="7" y="59"/>
                    <a:pt x="4" y="55"/>
                    <a:pt x="4" y="50"/>
                  </a:cubicBezTo>
                  <a:cubicBezTo>
                    <a:pt x="4" y="42"/>
                    <a:pt x="10" y="36"/>
                    <a:pt x="18" y="36"/>
                  </a:cubicBezTo>
                  <a:cubicBezTo>
                    <a:pt x="24" y="36"/>
                    <a:pt x="28" y="39"/>
                    <a:pt x="31" y="44"/>
                  </a:cubicBezTo>
                  <a:cubicBezTo>
                    <a:pt x="31" y="44"/>
                    <a:pt x="32" y="45"/>
                    <a:pt x="32" y="45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9"/>
                    <a:pt x="32" y="39"/>
                    <a:pt x="32" y="39"/>
                  </a:cubicBezTo>
                  <a:close/>
                  <a:moveTo>
                    <a:pt x="60" y="29"/>
                  </a:moveTo>
                  <a:cubicBezTo>
                    <a:pt x="63" y="26"/>
                    <a:pt x="64" y="22"/>
                    <a:pt x="64" y="18"/>
                  </a:cubicBezTo>
                  <a:cubicBezTo>
                    <a:pt x="64" y="8"/>
                    <a:pt x="56" y="0"/>
                    <a:pt x="46" y="0"/>
                  </a:cubicBezTo>
                  <a:cubicBezTo>
                    <a:pt x="36" y="0"/>
                    <a:pt x="28" y="8"/>
                    <a:pt x="28" y="18"/>
                  </a:cubicBezTo>
                  <a:cubicBezTo>
                    <a:pt x="28" y="22"/>
                    <a:pt x="30" y="26"/>
                    <a:pt x="32" y="2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10"/>
                    <a:pt x="38" y="4"/>
                    <a:pt x="46" y="4"/>
                  </a:cubicBezTo>
                  <a:cubicBezTo>
                    <a:pt x="54" y="4"/>
                    <a:pt x="60" y="10"/>
                    <a:pt x="60" y="18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6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  <a:moveTo>
                    <a:pt x="104" y="82"/>
                  </a:move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4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2"/>
                    <a:pt x="40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5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Freeform 42"/>
            <p:cNvSpPr>
              <a:spLocks noEditPoints="1"/>
            </p:cNvSpPr>
            <p:nvPr/>
          </p:nvSpPr>
          <p:spPr bwMode="auto">
            <a:xfrm>
              <a:off x="575703" y="3405013"/>
              <a:ext cx="254000" cy="333375"/>
            </a:xfrm>
            <a:custGeom>
              <a:avLst/>
              <a:gdLst>
                <a:gd name="T0" fmla="*/ 38 w 98"/>
                <a:gd name="T1" fmla="*/ 16 h 128"/>
                <a:gd name="T2" fmla="*/ 42 w 98"/>
                <a:gd name="T3" fmla="*/ 0 h 128"/>
                <a:gd name="T4" fmla="*/ 64 w 98"/>
                <a:gd name="T5" fmla="*/ 10 h 128"/>
                <a:gd name="T6" fmla="*/ 54 w 98"/>
                <a:gd name="T7" fmla="*/ 23 h 128"/>
                <a:gd name="T8" fmla="*/ 64 w 98"/>
                <a:gd name="T9" fmla="*/ 10 h 128"/>
                <a:gd name="T10" fmla="*/ 56 w 98"/>
                <a:gd name="T11" fmla="*/ 34 h 128"/>
                <a:gd name="T12" fmla="*/ 71 w 98"/>
                <a:gd name="T13" fmla="*/ 41 h 128"/>
                <a:gd name="T14" fmla="*/ 10 w 98"/>
                <a:gd name="T15" fmla="*/ 41 h 128"/>
                <a:gd name="T16" fmla="*/ 24 w 98"/>
                <a:gd name="T17" fmla="*/ 34 h 128"/>
                <a:gd name="T18" fmla="*/ 10 w 98"/>
                <a:gd name="T19" fmla="*/ 41 h 128"/>
                <a:gd name="T20" fmla="*/ 27 w 98"/>
                <a:gd name="T21" fmla="*/ 23 h 128"/>
                <a:gd name="T22" fmla="*/ 17 w 98"/>
                <a:gd name="T23" fmla="*/ 10 h 128"/>
                <a:gd name="T24" fmla="*/ 64 w 98"/>
                <a:gd name="T25" fmla="*/ 124 h 128"/>
                <a:gd name="T26" fmla="*/ 94 w 98"/>
                <a:gd name="T27" fmla="*/ 94 h 128"/>
                <a:gd name="T28" fmla="*/ 94 w 98"/>
                <a:gd name="T29" fmla="*/ 70 h 128"/>
                <a:gd name="T30" fmla="*/ 82 w 98"/>
                <a:gd name="T31" fmla="*/ 70 h 128"/>
                <a:gd name="T32" fmla="*/ 78 w 98"/>
                <a:gd name="T33" fmla="*/ 72 h 128"/>
                <a:gd name="T34" fmla="*/ 72 w 98"/>
                <a:gd name="T35" fmla="*/ 56 h 128"/>
                <a:gd name="T36" fmla="*/ 66 w 98"/>
                <a:gd name="T37" fmla="*/ 68 h 128"/>
                <a:gd name="T38" fmla="*/ 62 w 98"/>
                <a:gd name="T39" fmla="*/ 58 h 128"/>
                <a:gd name="T40" fmla="*/ 50 w 98"/>
                <a:gd name="T41" fmla="*/ 58 h 128"/>
                <a:gd name="T42" fmla="*/ 46 w 98"/>
                <a:gd name="T43" fmla="*/ 72 h 128"/>
                <a:gd name="T44" fmla="*/ 40 w 98"/>
                <a:gd name="T45" fmla="*/ 24 h 128"/>
                <a:gd name="T46" fmla="*/ 34 w 98"/>
                <a:gd name="T47" fmla="*/ 75 h 128"/>
                <a:gd name="T48" fmla="*/ 33 w 98"/>
                <a:gd name="T49" fmla="*/ 104 h 128"/>
                <a:gd name="T50" fmla="*/ 98 w 98"/>
                <a:gd name="T51" fmla="*/ 94 h 128"/>
                <a:gd name="T52" fmla="*/ 30 w 98"/>
                <a:gd name="T53" fmla="*/ 106 h 128"/>
                <a:gd name="T54" fmla="*/ 30 w 98"/>
                <a:gd name="T55" fmla="*/ 65 h 128"/>
                <a:gd name="T56" fmla="*/ 30 w 98"/>
                <a:gd name="T57" fmla="*/ 30 h 128"/>
                <a:gd name="T58" fmla="*/ 50 w 98"/>
                <a:gd name="T59" fmla="*/ 30 h 128"/>
                <a:gd name="T60" fmla="*/ 56 w 98"/>
                <a:gd name="T61" fmla="*/ 48 h 128"/>
                <a:gd name="T62" fmla="*/ 72 w 98"/>
                <a:gd name="T63" fmla="*/ 52 h 128"/>
                <a:gd name="T64" fmla="*/ 82 w 98"/>
                <a:gd name="T65" fmla="*/ 62 h 128"/>
                <a:gd name="T66" fmla="*/ 98 w 98"/>
                <a:gd name="T67" fmla="*/ 7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8" h="128">
                  <a:moveTo>
                    <a:pt x="38" y="0"/>
                  </a:moveTo>
                  <a:cubicBezTo>
                    <a:pt x="38" y="16"/>
                    <a:pt x="38" y="16"/>
                    <a:pt x="38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8" y="0"/>
                    <a:pt x="38" y="0"/>
                    <a:pt x="38" y="0"/>
                  </a:cubicBezTo>
                  <a:close/>
                  <a:moveTo>
                    <a:pt x="64" y="10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64" y="10"/>
                    <a:pt x="64" y="10"/>
                    <a:pt x="64" y="10"/>
                  </a:cubicBezTo>
                  <a:close/>
                  <a:moveTo>
                    <a:pt x="72" y="37"/>
                  </a:moveTo>
                  <a:cubicBezTo>
                    <a:pt x="56" y="34"/>
                    <a:pt x="56" y="34"/>
                    <a:pt x="56" y="34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37"/>
                    <a:pt x="72" y="37"/>
                    <a:pt x="72" y="37"/>
                  </a:cubicBezTo>
                  <a:close/>
                  <a:moveTo>
                    <a:pt x="10" y="41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41"/>
                    <a:pt x="10" y="41"/>
                    <a:pt x="10" y="41"/>
                  </a:cubicBezTo>
                  <a:close/>
                  <a:moveTo>
                    <a:pt x="14" y="13"/>
                  </a:moveTo>
                  <a:cubicBezTo>
                    <a:pt x="27" y="23"/>
                    <a:pt x="27" y="23"/>
                    <a:pt x="27" y="23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4" y="13"/>
                    <a:pt x="14" y="13"/>
                    <a:pt x="14" y="13"/>
                  </a:cubicBezTo>
                  <a:close/>
                  <a:moveTo>
                    <a:pt x="64" y="124"/>
                  </a:moveTo>
                  <a:cubicBezTo>
                    <a:pt x="81" y="124"/>
                    <a:pt x="94" y="110"/>
                    <a:pt x="94" y="94"/>
                  </a:cubicBezTo>
                  <a:cubicBezTo>
                    <a:pt x="94" y="94"/>
                    <a:pt x="94" y="103"/>
                    <a:pt x="94" y="94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67"/>
                    <a:pt x="92" y="64"/>
                    <a:pt x="88" y="64"/>
                  </a:cubicBezTo>
                  <a:cubicBezTo>
                    <a:pt x="85" y="64"/>
                    <a:pt x="82" y="67"/>
                    <a:pt x="82" y="70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62"/>
                    <a:pt x="78" y="62"/>
                    <a:pt x="78" y="62"/>
                  </a:cubicBezTo>
                  <a:cubicBezTo>
                    <a:pt x="78" y="59"/>
                    <a:pt x="76" y="56"/>
                    <a:pt x="72" y="56"/>
                  </a:cubicBezTo>
                  <a:cubicBezTo>
                    <a:pt x="69" y="56"/>
                    <a:pt x="66" y="59"/>
                    <a:pt x="66" y="62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58"/>
                    <a:pt x="62" y="58"/>
                    <a:pt x="62" y="58"/>
                  </a:cubicBezTo>
                  <a:cubicBezTo>
                    <a:pt x="62" y="55"/>
                    <a:pt x="60" y="52"/>
                    <a:pt x="56" y="52"/>
                  </a:cubicBezTo>
                  <a:cubicBezTo>
                    <a:pt x="53" y="52"/>
                    <a:pt x="50" y="55"/>
                    <a:pt x="50" y="58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7"/>
                    <a:pt x="44" y="24"/>
                    <a:pt x="40" y="24"/>
                  </a:cubicBezTo>
                  <a:cubicBezTo>
                    <a:pt x="37" y="24"/>
                    <a:pt x="34" y="27"/>
                    <a:pt x="34" y="3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6"/>
                    <a:pt x="15" y="57"/>
                    <a:pt x="11" y="61"/>
                  </a:cubicBezTo>
                  <a:cubicBezTo>
                    <a:pt x="6" y="66"/>
                    <a:pt x="18" y="78"/>
                    <a:pt x="33" y="104"/>
                  </a:cubicBezTo>
                  <a:cubicBezTo>
                    <a:pt x="40" y="116"/>
                    <a:pt x="49" y="124"/>
                    <a:pt x="64" y="124"/>
                  </a:cubicBezTo>
                  <a:close/>
                  <a:moveTo>
                    <a:pt x="98" y="94"/>
                  </a:moveTo>
                  <a:cubicBezTo>
                    <a:pt x="98" y="113"/>
                    <a:pt x="83" y="128"/>
                    <a:pt x="64" y="128"/>
                  </a:cubicBezTo>
                  <a:cubicBezTo>
                    <a:pt x="52" y="128"/>
                    <a:pt x="39" y="122"/>
                    <a:pt x="30" y="106"/>
                  </a:cubicBezTo>
                  <a:cubicBezTo>
                    <a:pt x="17" y="82"/>
                    <a:pt x="0" y="66"/>
                    <a:pt x="8" y="58"/>
                  </a:cubicBezTo>
                  <a:cubicBezTo>
                    <a:pt x="14" y="53"/>
                    <a:pt x="22" y="58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4"/>
                    <a:pt x="35" y="20"/>
                    <a:pt x="40" y="20"/>
                  </a:cubicBezTo>
                  <a:cubicBezTo>
                    <a:pt x="46" y="20"/>
                    <a:pt x="50" y="24"/>
                    <a:pt x="50" y="3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2" y="49"/>
                    <a:pt x="54" y="48"/>
                    <a:pt x="56" y="48"/>
                  </a:cubicBezTo>
                  <a:cubicBezTo>
                    <a:pt x="61" y="48"/>
                    <a:pt x="64" y="51"/>
                    <a:pt x="66" y="55"/>
                  </a:cubicBezTo>
                  <a:cubicBezTo>
                    <a:pt x="67" y="53"/>
                    <a:pt x="70" y="52"/>
                    <a:pt x="72" y="52"/>
                  </a:cubicBezTo>
                  <a:cubicBezTo>
                    <a:pt x="78" y="52"/>
                    <a:pt x="82" y="56"/>
                    <a:pt x="82" y="62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84" y="61"/>
                    <a:pt x="86" y="60"/>
                    <a:pt x="88" y="60"/>
                  </a:cubicBezTo>
                  <a:cubicBezTo>
                    <a:pt x="94" y="60"/>
                    <a:pt x="98" y="65"/>
                    <a:pt x="98" y="70"/>
                  </a:cubicBezTo>
                  <a:cubicBezTo>
                    <a:pt x="98" y="94"/>
                    <a:pt x="98" y="94"/>
                    <a:pt x="98" y="9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0" name="Freeform 43"/>
            <p:cNvSpPr>
              <a:spLocks noEditPoints="1"/>
            </p:cNvSpPr>
            <p:nvPr/>
          </p:nvSpPr>
          <p:spPr bwMode="auto">
            <a:xfrm>
              <a:off x="4244976" y="4821932"/>
              <a:ext cx="276225" cy="292100"/>
            </a:xfrm>
            <a:custGeom>
              <a:avLst/>
              <a:gdLst>
                <a:gd name="T0" fmla="*/ 38 w 106"/>
                <a:gd name="T1" fmla="*/ 20 h 112"/>
                <a:gd name="T2" fmla="*/ 38 w 106"/>
                <a:gd name="T3" fmla="*/ 49 h 112"/>
                <a:gd name="T4" fmla="*/ 38 w 106"/>
                <a:gd name="T5" fmla="*/ 49 h 112"/>
                <a:gd name="T6" fmla="*/ 16 w 106"/>
                <a:gd name="T7" fmla="*/ 42 h 112"/>
                <a:gd name="T8" fmla="*/ 37 w 106"/>
                <a:gd name="T9" fmla="*/ 90 h 112"/>
                <a:gd name="T10" fmla="*/ 72 w 106"/>
                <a:gd name="T11" fmla="*/ 112 h 112"/>
                <a:gd name="T12" fmla="*/ 106 w 106"/>
                <a:gd name="T13" fmla="*/ 78 h 112"/>
                <a:gd name="T14" fmla="*/ 106 w 106"/>
                <a:gd name="T15" fmla="*/ 54 h 112"/>
                <a:gd name="T16" fmla="*/ 96 w 106"/>
                <a:gd name="T17" fmla="*/ 44 h 112"/>
                <a:gd name="T18" fmla="*/ 90 w 106"/>
                <a:gd name="T19" fmla="*/ 46 h 112"/>
                <a:gd name="T20" fmla="*/ 90 w 106"/>
                <a:gd name="T21" fmla="*/ 14 h 112"/>
                <a:gd name="T22" fmla="*/ 80 w 106"/>
                <a:gd name="T23" fmla="*/ 4 h 112"/>
                <a:gd name="T24" fmla="*/ 73 w 106"/>
                <a:gd name="T25" fmla="*/ 7 h 112"/>
                <a:gd name="T26" fmla="*/ 64 w 106"/>
                <a:gd name="T27" fmla="*/ 0 h 112"/>
                <a:gd name="T28" fmla="*/ 55 w 106"/>
                <a:gd name="T29" fmla="*/ 7 h 112"/>
                <a:gd name="T30" fmla="*/ 48 w 106"/>
                <a:gd name="T31" fmla="*/ 4 h 112"/>
                <a:gd name="T32" fmla="*/ 38 w 106"/>
                <a:gd name="T33" fmla="*/ 14 h 112"/>
                <a:gd name="T34" fmla="*/ 38 w 106"/>
                <a:gd name="T35" fmla="*/ 16 h 112"/>
                <a:gd name="T36" fmla="*/ 8 w 106"/>
                <a:gd name="T37" fmla="*/ 16 h 112"/>
                <a:gd name="T38" fmla="*/ 21 w 106"/>
                <a:gd name="T39" fmla="*/ 3 h 112"/>
                <a:gd name="T40" fmla="*/ 18 w 106"/>
                <a:gd name="T41" fmla="*/ 0 h 112"/>
                <a:gd name="T42" fmla="*/ 0 w 106"/>
                <a:gd name="T43" fmla="*/ 18 h 112"/>
                <a:gd name="T44" fmla="*/ 18 w 106"/>
                <a:gd name="T45" fmla="*/ 36 h 112"/>
                <a:gd name="T46" fmla="*/ 21 w 106"/>
                <a:gd name="T47" fmla="*/ 33 h 112"/>
                <a:gd name="T48" fmla="*/ 8 w 106"/>
                <a:gd name="T49" fmla="*/ 20 h 112"/>
                <a:gd name="T50" fmla="*/ 38 w 106"/>
                <a:gd name="T51" fmla="*/ 20 h 112"/>
                <a:gd name="T52" fmla="*/ 72 w 106"/>
                <a:gd name="T53" fmla="*/ 108 h 112"/>
                <a:gd name="T54" fmla="*/ 41 w 106"/>
                <a:gd name="T55" fmla="*/ 88 h 112"/>
                <a:gd name="T56" fmla="*/ 19 w 106"/>
                <a:gd name="T57" fmla="*/ 45 h 112"/>
                <a:gd name="T58" fmla="*/ 42 w 106"/>
                <a:gd name="T59" fmla="*/ 59 h 112"/>
                <a:gd name="T60" fmla="*/ 42 w 106"/>
                <a:gd name="T61" fmla="*/ 14 h 112"/>
                <a:gd name="T62" fmla="*/ 48 w 106"/>
                <a:gd name="T63" fmla="*/ 8 h 112"/>
                <a:gd name="T64" fmla="*/ 54 w 106"/>
                <a:gd name="T65" fmla="*/ 14 h 112"/>
                <a:gd name="T66" fmla="*/ 54 w 106"/>
                <a:gd name="T67" fmla="*/ 56 h 112"/>
                <a:gd name="T68" fmla="*/ 58 w 106"/>
                <a:gd name="T69" fmla="*/ 56 h 112"/>
                <a:gd name="T70" fmla="*/ 58 w 106"/>
                <a:gd name="T71" fmla="*/ 10 h 112"/>
                <a:gd name="T72" fmla="*/ 64 w 106"/>
                <a:gd name="T73" fmla="*/ 4 h 112"/>
                <a:gd name="T74" fmla="*/ 70 w 106"/>
                <a:gd name="T75" fmla="*/ 10 h 112"/>
                <a:gd name="T76" fmla="*/ 70 w 106"/>
                <a:gd name="T77" fmla="*/ 52 h 112"/>
                <a:gd name="T78" fmla="*/ 74 w 106"/>
                <a:gd name="T79" fmla="*/ 52 h 112"/>
                <a:gd name="T80" fmla="*/ 74 w 106"/>
                <a:gd name="T81" fmla="*/ 14 h 112"/>
                <a:gd name="T82" fmla="*/ 80 w 106"/>
                <a:gd name="T83" fmla="*/ 8 h 112"/>
                <a:gd name="T84" fmla="*/ 86 w 106"/>
                <a:gd name="T85" fmla="*/ 14 h 112"/>
                <a:gd name="T86" fmla="*/ 86 w 106"/>
                <a:gd name="T87" fmla="*/ 56 h 112"/>
                <a:gd name="T88" fmla="*/ 90 w 106"/>
                <a:gd name="T89" fmla="*/ 56 h 112"/>
                <a:gd name="T90" fmla="*/ 90 w 106"/>
                <a:gd name="T91" fmla="*/ 54 h 112"/>
                <a:gd name="T92" fmla="*/ 96 w 106"/>
                <a:gd name="T93" fmla="*/ 48 h 112"/>
                <a:gd name="T94" fmla="*/ 102 w 106"/>
                <a:gd name="T95" fmla="*/ 54 h 112"/>
                <a:gd name="T96" fmla="*/ 102 w 106"/>
                <a:gd name="T97" fmla="*/ 63 h 112"/>
                <a:gd name="T98" fmla="*/ 102 w 106"/>
                <a:gd name="T99" fmla="*/ 78 h 112"/>
                <a:gd name="T100" fmla="*/ 72 w 106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6" h="112">
                  <a:moveTo>
                    <a:pt x="38" y="20"/>
                  </a:moveTo>
                  <a:cubicBezTo>
                    <a:pt x="38" y="49"/>
                    <a:pt x="38" y="49"/>
                    <a:pt x="38" y="49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30" y="42"/>
                    <a:pt x="21" y="37"/>
                    <a:pt x="16" y="42"/>
                  </a:cubicBezTo>
                  <a:cubicBezTo>
                    <a:pt x="8" y="50"/>
                    <a:pt x="24" y="66"/>
                    <a:pt x="37" y="90"/>
                  </a:cubicBezTo>
                  <a:cubicBezTo>
                    <a:pt x="47" y="106"/>
                    <a:pt x="60" y="112"/>
                    <a:pt x="72" y="112"/>
                  </a:cubicBezTo>
                  <a:cubicBezTo>
                    <a:pt x="91" y="112"/>
                    <a:pt x="106" y="97"/>
                    <a:pt x="106" y="78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49"/>
                    <a:pt x="102" y="44"/>
                    <a:pt x="96" y="44"/>
                  </a:cubicBezTo>
                  <a:cubicBezTo>
                    <a:pt x="94" y="44"/>
                    <a:pt x="92" y="45"/>
                    <a:pt x="90" y="46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0" y="8"/>
                    <a:pt x="86" y="4"/>
                    <a:pt x="80" y="4"/>
                  </a:cubicBezTo>
                  <a:cubicBezTo>
                    <a:pt x="78" y="4"/>
                    <a:pt x="75" y="5"/>
                    <a:pt x="73" y="7"/>
                  </a:cubicBezTo>
                  <a:cubicBezTo>
                    <a:pt x="72" y="3"/>
                    <a:pt x="68" y="0"/>
                    <a:pt x="64" y="0"/>
                  </a:cubicBezTo>
                  <a:cubicBezTo>
                    <a:pt x="60" y="0"/>
                    <a:pt x="56" y="3"/>
                    <a:pt x="55" y="7"/>
                  </a:cubicBezTo>
                  <a:cubicBezTo>
                    <a:pt x="53" y="5"/>
                    <a:pt x="51" y="4"/>
                    <a:pt x="48" y="4"/>
                  </a:cubicBezTo>
                  <a:cubicBezTo>
                    <a:pt x="43" y="4"/>
                    <a:pt x="38" y="9"/>
                    <a:pt x="38" y="14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8" y="20"/>
                    <a:pt x="38" y="20"/>
                    <a:pt x="38" y="20"/>
                  </a:cubicBezTo>
                  <a:close/>
                  <a:moveTo>
                    <a:pt x="72" y="108"/>
                  </a:moveTo>
                  <a:cubicBezTo>
                    <a:pt x="57" y="108"/>
                    <a:pt x="48" y="100"/>
                    <a:pt x="41" y="88"/>
                  </a:cubicBezTo>
                  <a:cubicBezTo>
                    <a:pt x="25" y="62"/>
                    <a:pt x="14" y="50"/>
                    <a:pt x="19" y="45"/>
                  </a:cubicBezTo>
                  <a:cubicBezTo>
                    <a:pt x="23" y="41"/>
                    <a:pt x="34" y="50"/>
                    <a:pt x="42" y="59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1"/>
                    <a:pt x="45" y="8"/>
                    <a:pt x="48" y="8"/>
                  </a:cubicBezTo>
                  <a:cubicBezTo>
                    <a:pt x="51" y="8"/>
                    <a:pt x="54" y="11"/>
                    <a:pt x="54" y="1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8" y="7"/>
                    <a:pt x="61" y="4"/>
                    <a:pt x="64" y="4"/>
                  </a:cubicBezTo>
                  <a:cubicBezTo>
                    <a:pt x="67" y="4"/>
                    <a:pt x="70" y="7"/>
                    <a:pt x="70" y="10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11"/>
                    <a:pt x="77" y="8"/>
                    <a:pt x="80" y="8"/>
                  </a:cubicBezTo>
                  <a:cubicBezTo>
                    <a:pt x="83" y="8"/>
                    <a:pt x="86" y="11"/>
                    <a:pt x="86" y="14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90" y="51"/>
                    <a:pt x="93" y="48"/>
                    <a:pt x="96" y="48"/>
                  </a:cubicBezTo>
                  <a:cubicBezTo>
                    <a:pt x="99" y="48"/>
                    <a:pt x="102" y="51"/>
                    <a:pt x="102" y="54"/>
                  </a:cubicBezTo>
                  <a:cubicBezTo>
                    <a:pt x="102" y="63"/>
                    <a:pt x="102" y="63"/>
                    <a:pt x="102" y="63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102" y="95"/>
                    <a:pt x="89" y="108"/>
                    <a:pt x="72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1" name="Freeform 44"/>
            <p:cNvSpPr>
              <a:spLocks noEditPoints="1"/>
            </p:cNvSpPr>
            <p:nvPr/>
          </p:nvSpPr>
          <p:spPr bwMode="auto">
            <a:xfrm>
              <a:off x="11682414" y="3032156"/>
              <a:ext cx="306388" cy="292100"/>
            </a:xfrm>
            <a:custGeom>
              <a:avLst/>
              <a:gdLst>
                <a:gd name="T0" fmla="*/ 82 w 118"/>
                <a:gd name="T1" fmla="*/ 16 h 112"/>
                <a:gd name="T2" fmla="*/ 82 w 118"/>
                <a:gd name="T3" fmla="*/ 14 h 112"/>
                <a:gd name="T4" fmla="*/ 72 w 118"/>
                <a:gd name="T5" fmla="*/ 4 h 112"/>
                <a:gd name="T6" fmla="*/ 66 w 118"/>
                <a:gd name="T7" fmla="*/ 7 h 112"/>
                <a:gd name="T8" fmla="*/ 56 w 118"/>
                <a:gd name="T9" fmla="*/ 0 h 112"/>
                <a:gd name="T10" fmla="*/ 47 w 118"/>
                <a:gd name="T11" fmla="*/ 7 h 112"/>
                <a:gd name="T12" fmla="*/ 40 w 118"/>
                <a:gd name="T13" fmla="*/ 4 h 112"/>
                <a:gd name="T14" fmla="*/ 30 w 118"/>
                <a:gd name="T15" fmla="*/ 14 h 112"/>
                <a:gd name="T16" fmla="*/ 30 w 118"/>
                <a:gd name="T17" fmla="*/ 49 h 112"/>
                <a:gd name="T18" fmla="*/ 30 w 118"/>
                <a:gd name="T19" fmla="*/ 49 h 112"/>
                <a:gd name="T20" fmla="*/ 8 w 118"/>
                <a:gd name="T21" fmla="*/ 42 h 112"/>
                <a:gd name="T22" fmla="*/ 30 w 118"/>
                <a:gd name="T23" fmla="*/ 90 h 112"/>
                <a:gd name="T24" fmla="*/ 64 w 118"/>
                <a:gd name="T25" fmla="*/ 112 h 112"/>
                <a:gd name="T26" fmla="*/ 98 w 118"/>
                <a:gd name="T27" fmla="*/ 78 h 112"/>
                <a:gd name="T28" fmla="*/ 98 w 118"/>
                <a:gd name="T29" fmla="*/ 54 h 112"/>
                <a:gd name="T30" fmla="*/ 88 w 118"/>
                <a:gd name="T31" fmla="*/ 44 h 112"/>
                <a:gd name="T32" fmla="*/ 82 w 118"/>
                <a:gd name="T33" fmla="*/ 46 h 112"/>
                <a:gd name="T34" fmla="*/ 82 w 118"/>
                <a:gd name="T35" fmla="*/ 20 h 112"/>
                <a:gd name="T36" fmla="*/ 110 w 118"/>
                <a:gd name="T37" fmla="*/ 20 h 112"/>
                <a:gd name="T38" fmla="*/ 97 w 118"/>
                <a:gd name="T39" fmla="*/ 33 h 112"/>
                <a:gd name="T40" fmla="*/ 100 w 118"/>
                <a:gd name="T41" fmla="*/ 36 h 112"/>
                <a:gd name="T42" fmla="*/ 118 w 118"/>
                <a:gd name="T43" fmla="*/ 18 h 112"/>
                <a:gd name="T44" fmla="*/ 100 w 118"/>
                <a:gd name="T45" fmla="*/ 0 h 112"/>
                <a:gd name="T46" fmla="*/ 97 w 118"/>
                <a:gd name="T47" fmla="*/ 3 h 112"/>
                <a:gd name="T48" fmla="*/ 110 w 118"/>
                <a:gd name="T49" fmla="*/ 16 h 112"/>
                <a:gd name="T50" fmla="*/ 82 w 118"/>
                <a:gd name="T51" fmla="*/ 16 h 112"/>
                <a:gd name="T52" fmla="*/ 64 w 118"/>
                <a:gd name="T53" fmla="*/ 108 h 112"/>
                <a:gd name="T54" fmla="*/ 33 w 118"/>
                <a:gd name="T55" fmla="*/ 88 h 112"/>
                <a:gd name="T56" fmla="*/ 11 w 118"/>
                <a:gd name="T57" fmla="*/ 45 h 112"/>
                <a:gd name="T58" fmla="*/ 34 w 118"/>
                <a:gd name="T59" fmla="*/ 59 h 112"/>
                <a:gd name="T60" fmla="*/ 34 w 118"/>
                <a:gd name="T61" fmla="*/ 14 h 112"/>
                <a:gd name="T62" fmla="*/ 40 w 118"/>
                <a:gd name="T63" fmla="*/ 8 h 112"/>
                <a:gd name="T64" fmla="*/ 46 w 118"/>
                <a:gd name="T65" fmla="*/ 14 h 112"/>
                <a:gd name="T66" fmla="*/ 46 w 118"/>
                <a:gd name="T67" fmla="*/ 56 h 112"/>
                <a:gd name="T68" fmla="*/ 50 w 118"/>
                <a:gd name="T69" fmla="*/ 56 h 112"/>
                <a:gd name="T70" fmla="*/ 50 w 118"/>
                <a:gd name="T71" fmla="*/ 10 h 112"/>
                <a:gd name="T72" fmla="*/ 56 w 118"/>
                <a:gd name="T73" fmla="*/ 4 h 112"/>
                <a:gd name="T74" fmla="*/ 62 w 118"/>
                <a:gd name="T75" fmla="*/ 10 h 112"/>
                <a:gd name="T76" fmla="*/ 62 w 118"/>
                <a:gd name="T77" fmla="*/ 52 h 112"/>
                <a:gd name="T78" fmla="*/ 66 w 118"/>
                <a:gd name="T79" fmla="*/ 52 h 112"/>
                <a:gd name="T80" fmla="*/ 66 w 118"/>
                <a:gd name="T81" fmla="*/ 14 h 112"/>
                <a:gd name="T82" fmla="*/ 72 w 118"/>
                <a:gd name="T83" fmla="*/ 8 h 112"/>
                <a:gd name="T84" fmla="*/ 78 w 118"/>
                <a:gd name="T85" fmla="*/ 14 h 112"/>
                <a:gd name="T86" fmla="*/ 78 w 118"/>
                <a:gd name="T87" fmla="*/ 56 h 112"/>
                <a:gd name="T88" fmla="*/ 82 w 118"/>
                <a:gd name="T89" fmla="*/ 56 h 112"/>
                <a:gd name="T90" fmla="*/ 82 w 118"/>
                <a:gd name="T91" fmla="*/ 54 h 112"/>
                <a:gd name="T92" fmla="*/ 88 w 118"/>
                <a:gd name="T93" fmla="*/ 48 h 112"/>
                <a:gd name="T94" fmla="*/ 94 w 118"/>
                <a:gd name="T95" fmla="*/ 54 h 112"/>
                <a:gd name="T96" fmla="*/ 94 w 118"/>
                <a:gd name="T97" fmla="*/ 63 h 112"/>
                <a:gd name="T98" fmla="*/ 94 w 118"/>
                <a:gd name="T99" fmla="*/ 78 h 112"/>
                <a:gd name="T100" fmla="*/ 64 w 118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8" h="112">
                  <a:moveTo>
                    <a:pt x="82" y="16"/>
                  </a:move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7" y="5"/>
                    <a:pt x="66" y="7"/>
                  </a:cubicBezTo>
                  <a:cubicBezTo>
                    <a:pt x="64" y="3"/>
                    <a:pt x="60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6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ubicBezTo>
                    <a:pt x="86" y="44"/>
                    <a:pt x="84" y="45"/>
                    <a:pt x="82" y="46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100" y="36"/>
                    <a:pt x="100" y="36"/>
                    <a:pt x="100" y="36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110" y="16"/>
                    <a:pt x="110" y="16"/>
                    <a:pt x="110" y="16"/>
                  </a:cubicBezTo>
                  <a:cubicBezTo>
                    <a:pt x="82" y="16"/>
                    <a:pt x="82" y="16"/>
                    <a:pt x="82" y="16"/>
                  </a:cubicBezTo>
                  <a:close/>
                  <a:moveTo>
                    <a:pt x="64" y="108"/>
                  </a:moveTo>
                  <a:cubicBezTo>
                    <a:pt x="49" y="108"/>
                    <a:pt x="40" y="100"/>
                    <a:pt x="33" y="88"/>
                  </a:cubicBezTo>
                  <a:cubicBezTo>
                    <a:pt x="17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Freeform 45"/>
            <p:cNvSpPr>
              <a:spLocks noEditPoints="1"/>
            </p:cNvSpPr>
            <p:nvPr/>
          </p:nvSpPr>
          <p:spPr bwMode="auto">
            <a:xfrm>
              <a:off x="5516564" y="4821932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2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7 w 98"/>
                <a:gd name="T13" fmla="*/ 7 h 112"/>
                <a:gd name="T14" fmla="*/ 40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6 w 98"/>
                <a:gd name="T37" fmla="*/ 108 h 112"/>
                <a:gd name="T38" fmla="*/ 66 w 98"/>
                <a:gd name="T39" fmla="*/ 72 h 112"/>
                <a:gd name="T40" fmla="*/ 79 w 98"/>
                <a:gd name="T41" fmla="*/ 85 h 112"/>
                <a:gd name="T42" fmla="*/ 82 w 98"/>
                <a:gd name="T43" fmla="*/ 82 h 112"/>
                <a:gd name="T44" fmla="*/ 65 w 98"/>
                <a:gd name="T45" fmla="*/ 64 h 112"/>
                <a:gd name="T46" fmla="*/ 47 w 98"/>
                <a:gd name="T47" fmla="*/ 82 h 112"/>
                <a:gd name="T48" fmla="*/ 49 w 98"/>
                <a:gd name="T49" fmla="*/ 85 h 112"/>
                <a:gd name="T50" fmla="*/ 62 w 98"/>
                <a:gd name="T51" fmla="*/ 72 h 112"/>
                <a:gd name="T52" fmla="*/ 62 w 98"/>
                <a:gd name="T53" fmla="*/ 108 h 112"/>
                <a:gd name="T54" fmla="*/ 33 w 98"/>
                <a:gd name="T55" fmla="*/ 88 h 112"/>
                <a:gd name="T56" fmla="*/ 11 w 98"/>
                <a:gd name="T57" fmla="*/ 45 h 112"/>
                <a:gd name="T58" fmla="*/ 34 w 98"/>
                <a:gd name="T59" fmla="*/ 59 h 112"/>
                <a:gd name="T60" fmla="*/ 34 w 98"/>
                <a:gd name="T61" fmla="*/ 14 h 112"/>
                <a:gd name="T62" fmla="*/ 40 w 98"/>
                <a:gd name="T63" fmla="*/ 8 h 112"/>
                <a:gd name="T64" fmla="*/ 46 w 98"/>
                <a:gd name="T65" fmla="*/ 14 h 112"/>
                <a:gd name="T66" fmla="*/ 46 w 98"/>
                <a:gd name="T67" fmla="*/ 58 h 112"/>
                <a:gd name="T68" fmla="*/ 50 w 98"/>
                <a:gd name="T69" fmla="*/ 58 h 112"/>
                <a:gd name="T70" fmla="*/ 50 w 98"/>
                <a:gd name="T71" fmla="*/ 10 h 112"/>
                <a:gd name="T72" fmla="*/ 56 w 98"/>
                <a:gd name="T73" fmla="*/ 4 h 112"/>
                <a:gd name="T74" fmla="*/ 62 w 98"/>
                <a:gd name="T75" fmla="*/ 10 h 112"/>
                <a:gd name="T76" fmla="*/ 62 w 98"/>
                <a:gd name="T77" fmla="*/ 54 h 112"/>
                <a:gd name="T78" fmla="*/ 66 w 98"/>
                <a:gd name="T79" fmla="*/ 54 h 112"/>
                <a:gd name="T80" fmla="*/ 66 w 98"/>
                <a:gd name="T81" fmla="*/ 14 h 112"/>
                <a:gd name="T82" fmla="*/ 72 w 98"/>
                <a:gd name="T83" fmla="*/ 8 h 112"/>
                <a:gd name="T84" fmla="*/ 78 w 98"/>
                <a:gd name="T85" fmla="*/ 14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4" y="3"/>
                    <a:pt x="61" y="0"/>
                    <a:pt x="57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4"/>
                    <a:pt x="82" y="107"/>
                    <a:pt x="66" y="108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79" y="85"/>
                    <a:pt x="79" y="85"/>
                    <a:pt x="79" y="85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47" y="82"/>
                    <a:pt x="47" y="82"/>
                    <a:pt x="47" y="82"/>
                  </a:cubicBezTo>
                  <a:cubicBezTo>
                    <a:pt x="49" y="85"/>
                    <a:pt x="49" y="85"/>
                    <a:pt x="49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50" y="107"/>
                    <a:pt x="40" y="99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Freeform 46"/>
            <p:cNvSpPr>
              <a:spLocks noEditPoints="1"/>
            </p:cNvSpPr>
            <p:nvPr/>
          </p:nvSpPr>
          <p:spPr bwMode="auto">
            <a:xfrm>
              <a:off x="8439698" y="1680427"/>
              <a:ext cx="254000" cy="292100"/>
            </a:xfrm>
            <a:custGeom>
              <a:avLst/>
              <a:gdLst>
                <a:gd name="T0" fmla="*/ 62 w 98"/>
                <a:gd name="T1" fmla="*/ 52 h 112"/>
                <a:gd name="T2" fmla="*/ 62 w 98"/>
                <a:gd name="T3" fmla="*/ 10 h 112"/>
                <a:gd name="T4" fmla="*/ 56 w 98"/>
                <a:gd name="T5" fmla="*/ 4 h 112"/>
                <a:gd name="T6" fmla="*/ 50 w 98"/>
                <a:gd name="T7" fmla="*/ 10 h 112"/>
                <a:gd name="T8" fmla="*/ 50 w 98"/>
                <a:gd name="T9" fmla="*/ 56 h 112"/>
                <a:gd name="T10" fmla="*/ 46 w 98"/>
                <a:gd name="T11" fmla="*/ 56 h 112"/>
                <a:gd name="T12" fmla="*/ 46 w 98"/>
                <a:gd name="T13" fmla="*/ 14 h 112"/>
                <a:gd name="T14" fmla="*/ 40 w 98"/>
                <a:gd name="T15" fmla="*/ 8 h 112"/>
                <a:gd name="T16" fmla="*/ 34 w 98"/>
                <a:gd name="T17" fmla="*/ 14 h 112"/>
                <a:gd name="T18" fmla="*/ 34 w 98"/>
                <a:gd name="T19" fmla="*/ 59 h 112"/>
                <a:gd name="T20" fmla="*/ 11 w 98"/>
                <a:gd name="T21" fmla="*/ 45 h 112"/>
                <a:gd name="T22" fmla="*/ 33 w 98"/>
                <a:gd name="T23" fmla="*/ 88 h 112"/>
                <a:gd name="T24" fmla="*/ 64 w 98"/>
                <a:gd name="T25" fmla="*/ 108 h 112"/>
                <a:gd name="T26" fmla="*/ 94 w 98"/>
                <a:gd name="T27" fmla="*/ 78 h 112"/>
                <a:gd name="T28" fmla="*/ 94 w 98"/>
                <a:gd name="T29" fmla="*/ 63 h 112"/>
                <a:gd name="T30" fmla="*/ 94 w 98"/>
                <a:gd name="T31" fmla="*/ 54 h 112"/>
                <a:gd name="T32" fmla="*/ 88 w 98"/>
                <a:gd name="T33" fmla="*/ 48 h 112"/>
                <a:gd name="T34" fmla="*/ 82 w 98"/>
                <a:gd name="T35" fmla="*/ 54 h 112"/>
                <a:gd name="T36" fmla="*/ 82 w 98"/>
                <a:gd name="T37" fmla="*/ 56 h 112"/>
                <a:gd name="T38" fmla="*/ 78 w 98"/>
                <a:gd name="T39" fmla="*/ 56 h 112"/>
                <a:gd name="T40" fmla="*/ 78 w 98"/>
                <a:gd name="T41" fmla="*/ 14 h 112"/>
                <a:gd name="T42" fmla="*/ 72 w 98"/>
                <a:gd name="T43" fmla="*/ 8 h 112"/>
                <a:gd name="T44" fmla="*/ 66 w 98"/>
                <a:gd name="T45" fmla="*/ 14 h 112"/>
                <a:gd name="T46" fmla="*/ 66 w 98"/>
                <a:gd name="T47" fmla="*/ 52 h 112"/>
                <a:gd name="T48" fmla="*/ 66 w 98"/>
                <a:gd name="T49" fmla="*/ 88 h 112"/>
                <a:gd name="T50" fmla="*/ 79 w 98"/>
                <a:gd name="T51" fmla="*/ 75 h 112"/>
                <a:gd name="T52" fmla="*/ 82 w 98"/>
                <a:gd name="T53" fmla="*/ 78 h 112"/>
                <a:gd name="T54" fmla="*/ 64 w 98"/>
                <a:gd name="T55" fmla="*/ 96 h 112"/>
                <a:gd name="T56" fmla="*/ 46 w 98"/>
                <a:gd name="T57" fmla="*/ 78 h 112"/>
                <a:gd name="T58" fmla="*/ 49 w 98"/>
                <a:gd name="T59" fmla="*/ 75 h 112"/>
                <a:gd name="T60" fmla="*/ 62 w 98"/>
                <a:gd name="T61" fmla="*/ 88 h 112"/>
                <a:gd name="T62" fmla="*/ 62 w 98"/>
                <a:gd name="T63" fmla="*/ 52 h 112"/>
                <a:gd name="T64" fmla="*/ 98 w 98"/>
                <a:gd name="T65" fmla="*/ 78 h 112"/>
                <a:gd name="T66" fmla="*/ 64 w 98"/>
                <a:gd name="T67" fmla="*/ 112 h 112"/>
                <a:gd name="T68" fmla="*/ 30 w 98"/>
                <a:gd name="T69" fmla="*/ 90 h 112"/>
                <a:gd name="T70" fmla="*/ 8 w 98"/>
                <a:gd name="T71" fmla="*/ 42 h 112"/>
                <a:gd name="T72" fmla="*/ 30 w 98"/>
                <a:gd name="T73" fmla="*/ 49 h 112"/>
                <a:gd name="T74" fmla="*/ 30 w 98"/>
                <a:gd name="T75" fmla="*/ 49 h 112"/>
                <a:gd name="T76" fmla="*/ 30 w 98"/>
                <a:gd name="T77" fmla="*/ 14 h 112"/>
                <a:gd name="T78" fmla="*/ 40 w 98"/>
                <a:gd name="T79" fmla="*/ 4 h 112"/>
                <a:gd name="T80" fmla="*/ 47 w 98"/>
                <a:gd name="T81" fmla="*/ 7 h 112"/>
                <a:gd name="T82" fmla="*/ 56 w 98"/>
                <a:gd name="T83" fmla="*/ 0 h 112"/>
                <a:gd name="T84" fmla="*/ 66 w 98"/>
                <a:gd name="T85" fmla="*/ 7 h 112"/>
                <a:gd name="T86" fmla="*/ 72 w 98"/>
                <a:gd name="T87" fmla="*/ 4 h 112"/>
                <a:gd name="T88" fmla="*/ 82 w 98"/>
                <a:gd name="T89" fmla="*/ 14 h 112"/>
                <a:gd name="T90" fmla="*/ 82 w 98"/>
                <a:gd name="T91" fmla="*/ 46 h 112"/>
                <a:gd name="T92" fmla="*/ 88 w 98"/>
                <a:gd name="T93" fmla="*/ 44 h 112"/>
                <a:gd name="T94" fmla="*/ 98 w 98"/>
                <a:gd name="T95" fmla="*/ 54 h 112"/>
                <a:gd name="T96" fmla="*/ 98 w 98"/>
                <a:gd name="T97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62" y="52"/>
                  </a:move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40" y="100"/>
                    <a:pt x="49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1"/>
                    <a:pt x="76" y="8"/>
                    <a:pt x="72" y="8"/>
                  </a:cubicBezTo>
                  <a:cubicBezTo>
                    <a:pt x="69" y="8"/>
                    <a:pt x="66" y="11"/>
                    <a:pt x="66" y="1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2" y="52"/>
                    <a:pt x="62" y="52"/>
                    <a:pt x="62" y="52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9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1" y="0"/>
                    <a:pt x="64" y="3"/>
                    <a:pt x="66" y="7"/>
                  </a:cubicBezTo>
                  <a:cubicBezTo>
                    <a:pt x="67" y="5"/>
                    <a:pt x="70" y="4"/>
                    <a:pt x="72" y="4"/>
                  </a:cubicBezTo>
                  <a:cubicBezTo>
                    <a:pt x="78" y="4"/>
                    <a:pt x="82" y="8"/>
                    <a:pt x="82" y="14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4" name="Freeform 47"/>
            <p:cNvSpPr>
              <a:spLocks noEditPoints="1"/>
            </p:cNvSpPr>
            <p:nvPr/>
          </p:nvSpPr>
          <p:spPr bwMode="auto">
            <a:xfrm>
              <a:off x="3491034" y="636437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3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8 w 98"/>
                <a:gd name="T13" fmla="*/ 7 h 112"/>
                <a:gd name="T14" fmla="*/ 41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5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4 h 112"/>
                <a:gd name="T46" fmla="*/ 40 w 98"/>
                <a:gd name="T47" fmla="*/ 8 h 112"/>
                <a:gd name="T48" fmla="*/ 46 w 98"/>
                <a:gd name="T49" fmla="*/ 14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4 h 112"/>
                <a:gd name="T66" fmla="*/ 72 w 98"/>
                <a:gd name="T67" fmla="*/ 8 h 112"/>
                <a:gd name="T68" fmla="*/ 78 w 98"/>
                <a:gd name="T69" fmla="*/ 14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54 h 112"/>
                <a:gd name="T76" fmla="*/ 88 w 98"/>
                <a:gd name="T77" fmla="*/ 48 h 112"/>
                <a:gd name="T78" fmla="*/ 94 w 98"/>
                <a:gd name="T79" fmla="*/ 54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3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5" y="3"/>
                    <a:pt x="61" y="0"/>
                    <a:pt x="57" y="0"/>
                  </a:cubicBezTo>
                  <a:cubicBezTo>
                    <a:pt x="53" y="0"/>
                    <a:pt x="49" y="3"/>
                    <a:pt x="48" y="7"/>
                  </a:cubicBezTo>
                  <a:cubicBezTo>
                    <a:pt x="46" y="5"/>
                    <a:pt x="43" y="4"/>
                    <a:pt x="41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5" y="108"/>
                  </a:cubicBezTo>
                  <a:cubicBezTo>
                    <a:pt x="50" y="108"/>
                    <a:pt x="41" y="100"/>
                    <a:pt x="34" y="88"/>
                  </a:cubicBezTo>
                  <a:cubicBezTo>
                    <a:pt x="18" y="62"/>
                    <a:pt x="7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7419976" y="5082683"/>
              <a:ext cx="254001" cy="333375"/>
              <a:chOff x="4422775" y="3157538"/>
              <a:chExt cx="254001" cy="333375"/>
            </a:xfrm>
            <a:grpFill/>
          </p:grpSpPr>
          <p:sp>
            <p:nvSpPr>
              <p:cNvPr id="214" name="Freeform 48"/>
              <p:cNvSpPr>
                <a:spLocks/>
              </p:cNvSpPr>
              <p:nvPr/>
            </p:nvSpPr>
            <p:spPr bwMode="auto">
              <a:xfrm>
                <a:off x="4479925" y="3178175"/>
                <a:ext cx="176213" cy="85725"/>
              </a:xfrm>
              <a:custGeom>
                <a:avLst/>
                <a:gdLst>
                  <a:gd name="T0" fmla="*/ 64 w 68"/>
                  <a:gd name="T1" fmla="*/ 26 h 33"/>
                  <a:gd name="T2" fmla="*/ 64 w 68"/>
                  <a:gd name="T3" fmla="*/ 33 h 33"/>
                  <a:gd name="T4" fmla="*/ 68 w 68"/>
                  <a:gd name="T5" fmla="*/ 22 h 33"/>
                  <a:gd name="T6" fmla="*/ 50 w 68"/>
                  <a:gd name="T7" fmla="*/ 4 h 33"/>
                  <a:gd name="T8" fmla="*/ 46 w 68"/>
                  <a:gd name="T9" fmla="*/ 4 h 33"/>
                  <a:gd name="T10" fmla="*/ 34 w 68"/>
                  <a:gd name="T11" fmla="*/ 0 h 33"/>
                  <a:gd name="T12" fmla="*/ 22 w 68"/>
                  <a:gd name="T13" fmla="*/ 4 h 33"/>
                  <a:gd name="T14" fmla="*/ 18 w 68"/>
                  <a:gd name="T15" fmla="*/ 4 h 33"/>
                  <a:gd name="T16" fmla="*/ 0 w 68"/>
                  <a:gd name="T17" fmla="*/ 22 h 33"/>
                  <a:gd name="T18" fmla="*/ 4 w 68"/>
                  <a:gd name="T19" fmla="*/ 33 h 33"/>
                  <a:gd name="T20" fmla="*/ 4 w 68"/>
                  <a:gd name="T21" fmla="*/ 22 h 33"/>
                  <a:gd name="T22" fmla="*/ 8 w 68"/>
                  <a:gd name="T23" fmla="*/ 14 h 33"/>
                  <a:gd name="T24" fmla="*/ 8 w 68"/>
                  <a:gd name="T25" fmla="*/ 14 h 33"/>
                  <a:gd name="T26" fmla="*/ 18 w 68"/>
                  <a:gd name="T27" fmla="*/ 9 h 33"/>
                  <a:gd name="T28" fmla="*/ 23 w 68"/>
                  <a:gd name="T29" fmla="*/ 9 h 33"/>
                  <a:gd name="T30" fmla="*/ 34 w 68"/>
                  <a:gd name="T31" fmla="*/ 4 h 33"/>
                  <a:gd name="T32" fmla="*/ 45 w 68"/>
                  <a:gd name="T33" fmla="*/ 9 h 33"/>
                  <a:gd name="T34" fmla="*/ 50 w 68"/>
                  <a:gd name="T35" fmla="*/ 8 h 33"/>
                  <a:gd name="T36" fmla="*/ 64 w 68"/>
                  <a:gd name="T37" fmla="*/ 22 h 33"/>
                  <a:gd name="T38" fmla="*/ 64 w 68"/>
                  <a:gd name="T39" fmla="*/ 24 h 33"/>
                  <a:gd name="T40" fmla="*/ 64 w 68"/>
                  <a:gd name="T4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64" y="26"/>
                    </a:moveTo>
                    <a:cubicBezTo>
                      <a:pt x="64" y="33"/>
                      <a:pt x="64" y="33"/>
                      <a:pt x="64" y="33"/>
                    </a:cubicBezTo>
                    <a:cubicBezTo>
                      <a:pt x="68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6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0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8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11" y="10"/>
                      <a:pt x="14" y="9"/>
                      <a:pt x="18" y="9"/>
                    </a:cubicBezTo>
                    <a:cubicBezTo>
                      <a:pt x="20" y="9"/>
                      <a:pt x="22" y="9"/>
                      <a:pt x="23" y="9"/>
                    </a:cubicBezTo>
                    <a:cubicBezTo>
                      <a:pt x="26" y="6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4" y="25"/>
                      <a:pt x="64" y="25"/>
                      <a:pt x="6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5" name="Freeform 49"/>
              <p:cNvSpPr>
                <a:spLocks/>
              </p:cNvSpPr>
              <p:nvPr/>
            </p:nvSpPr>
            <p:spPr bwMode="auto">
              <a:xfrm>
                <a:off x="4459288" y="3157538"/>
                <a:ext cx="217488" cy="134938"/>
              </a:xfrm>
              <a:custGeom>
                <a:avLst/>
                <a:gdLst>
                  <a:gd name="T0" fmla="*/ 12 w 84"/>
                  <a:gd name="T1" fmla="*/ 52 h 52"/>
                  <a:gd name="T2" fmla="*/ 12 w 84"/>
                  <a:gd name="T3" fmla="*/ 47 h 52"/>
                  <a:gd name="T4" fmla="*/ 4 w 84"/>
                  <a:gd name="T5" fmla="*/ 30 h 52"/>
                  <a:gd name="T6" fmla="*/ 26 w 84"/>
                  <a:gd name="T7" fmla="*/ 8 h 52"/>
                  <a:gd name="T8" fmla="*/ 29 w 84"/>
                  <a:gd name="T9" fmla="*/ 8 h 52"/>
                  <a:gd name="T10" fmla="*/ 42 w 84"/>
                  <a:gd name="T11" fmla="*/ 4 h 52"/>
                  <a:gd name="T12" fmla="*/ 55 w 84"/>
                  <a:gd name="T13" fmla="*/ 8 h 52"/>
                  <a:gd name="T14" fmla="*/ 58 w 84"/>
                  <a:gd name="T15" fmla="*/ 8 h 52"/>
                  <a:gd name="T16" fmla="*/ 80 w 84"/>
                  <a:gd name="T17" fmla="*/ 30 h 52"/>
                  <a:gd name="T18" fmla="*/ 72 w 84"/>
                  <a:gd name="T19" fmla="*/ 47 h 52"/>
                  <a:gd name="T20" fmla="*/ 72 w 84"/>
                  <a:gd name="T21" fmla="*/ 52 h 52"/>
                  <a:gd name="T22" fmla="*/ 84 w 84"/>
                  <a:gd name="T23" fmla="*/ 30 h 52"/>
                  <a:gd name="T24" fmla="*/ 58 w 84"/>
                  <a:gd name="T25" fmla="*/ 4 h 52"/>
                  <a:gd name="T26" fmla="*/ 56 w 84"/>
                  <a:gd name="T27" fmla="*/ 4 h 52"/>
                  <a:gd name="T28" fmla="*/ 42 w 84"/>
                  <a:gd name="T29" fmla="*/ 0 h 52"/>
                  <a:gd name="T30" fmla="*/ 28 w 84"/>
                  <a:gd name="T31" fmla="*/ 4 h 52"/>
                  <a:gd name="T32" fmla="*/ 26 w 84"/>
                  <a:gd name="T33" fmla="*/ 4 h 52"/>
                  <a:gd name="T34" fmla="*/ 0 w 84"/>
                  <a:gd name="T35" fmla="*/ 30 h 52"/>
                  <a:gd name="T36" fmla="*/ 12 w 84"/>
                  <a:gd name="T3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4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4" y="37"/>
                      <a:pt x="4" y="30"/>
                    </a:cubicBezTo>
                    <a:cubicBezTo>
                      <a:pt x="4" y="18"/>
                      <a:pt x="14" y="8"/>
                      <a:pt x="26" y="8"/>
                    </a:cubicBezTo>
                    <a:cubicBezTo>
                      <a:pt x="27" y="8"/>
                      <a:pt x="28" y="8"/>
                      <a:pt x="29" y="8"/>
                    </a:cubicBezTo>
                    <a:cubicBezTo>
                      <a:pt x="33" y="6"/>
                      <a:pt x="37" y="4"/>
                      <a:pt x="42" y="4"/>
                    </a:cubicBezTo>
                    <a:cubicBezTo>
                      <a:pt x="47" y="4"/>
                      <a:pt x="52" y="6"/>
                      <a:pt x="55" y="8"/>
                    </a:cubicBezTo>
                    <a:cubicBezTo>
                      <a:pt x="56" y="8"/>
                      <a:pt x="57" y="8"/>
                      <a:pt x="58" y="8"/>
                    </a:cubicBezTo>
                    <a:cubicBezTo>
                      <a:pt x="70" y="8"/>
                      <a:pt x="80" y="18"/>
                      <a:pt x="80" y="30"/>
                    </a:cubicBezTo>
                    <a:cubicBezTo>
                      <a:pt x="80" y="37"/>
                      <a:pt x="76" y="43"/>
                      <a:pt x="72" y="47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80" y="47"/>
                      <a:pt x="84" y="39"/>
                      <a:pt x="84" y="30"/>
                    </a:cubicBezTo>
                    <a:cubicBezTo>
                      <a:pt x="84" y="16"/>
                      <a:pt x="73" y="4"/>
                      <a:pt x="58" y="4"/>
                    </a:cubicBezTo>
                    <a:cubicBezTo>
                      <a:pt x="58" y="4"/>
                      <a:pt x="57" y="4"/>
                      <a:pt x="56" y="4"/>
                    </a:cubicBezTo>
                    <a:cubicBezTo>
                      <a:pt x="52" y="1"/>
                      <a:pt x="47" y="0"/>
                      <a:pt x="42" y="0"/>
                    </a:cubicBezTo>
                    <a:cubicBezTo>
                      <a:pt x="37" y="0"/>
                      <a:pt x="32" y="1"/>
                      <a:pt x="28" y="4"/>
                    </a:cubicBezTo>
                    <a:cubicBezTo>
                      <a:pt x="28" y="4"/>
                      <a:pt x="27" y="4"/>
                      <a:pt x="26" y="4"/>
                    </a:cubicBezTo>
                    <a:cubicBezTo>
                      <a:pt x="12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6" name="Freeform 50"/>
              <p:cNvSpPr>
                <a:spLocks noEditPoints="1"/>
              </p:cNvSpPr>
              <p:nvPr/>
            </p:nvSpPr>
            <p:spPr bwMode="auto">
              <a:xfrm>
                <a:off x="4422775" y="319881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2 w 98"/>
                  <a:gd name="T7" fmla="*/ 4 h 112"/>
                  <a:gd name="T8" fmla="*/ 66 w 98"/>
                  <a:gd name="T9" fmla="*/ 7 h 112"/>
                  <a:gd name="T10" fmla="*/ 56 w 98"/>
                  <a:gd name="T11" fmla="*/ 0 h 112"/>
                  <a:gd name="T12" fmla="*/ 47 w 98"/>
                  <a:gd name="T13" fmla="*/ 7 h 112"/>
                  <a:gd name="T14" fmla="*/ 40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4 w 98"/>
                  <a:gd name="T37" fmla="*/ 108 h 112"/>
                  <a:gd name="T38" fmla="*/ 33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8 h 112"/>
                  <a:gd name="T52" fmla="*/ 50 w 98"/>
                  <a:gd name="T53" fmla="*/ 58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4 h 112"/>
                  <a:gd name="T62" fmla="*/ 66 w 98"/>
                  <a:gd name="T63" fmla="*/ 54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8 h 112"/>
                  <a:gd name="T72" fmla="*/ 82 w 98"/>
                  <a:gd name="T73" fmla="*/ 58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2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2" y="4"/>
                    </a:cubicBezTo>
                    <a:cubicBezTo>
                      <a:pt x="70" y="4"/>
                      <a:pt x="67" y="5"/>
                      <a:pt x="66" y="7"/>
                    </a:cubicBezTo>
                    <a:cubicBezTo>
                      <a:pt x="64" y="3"/>
                      <a:pt x="61" y="0"/>
                      <a:pt x="56" y="0"/>
                    </a:cubicBezTo>
                    <a:cubicBezTo>
                      <a:pt x="52" y="0"/>
                      <a:pt x="48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3" y="37"/>
                      <a:pt x="8" y="42"/>
                    </a:cubicBezTo>
                    <a:cubicBezTo>
                      <a:pt x="0" y="50"/>
                      <a:pt x="16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0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9463928" y="1988603"/>
              <a:ext cx="254000" cy="312738"/>
              <a:chOff x="5057775" y="3168650"/>
              <a:chExt cx="254000" cy="312738"/>
            </a:xfrm>
            <a:grpFill/>
          </p:grpSpPr>
          <p:sp>
            <p:nvSpPr>
              <p:cNvPr id="212" name="Freeform 51"/>
              <p:cNvSpPr>
                <a:spLocks/>
              </p:cNvSpPr>
              <p:nvPr/>
            </p:nvSpPr>
            <p:spPr bwMode="auto">
              <a:xfrm>
                <a:off x="5116513" y="3168650"/>
                <a:ext cx="177800" cy="85725"/>
              </a:xfrm>
              <a:custGeom>
                <a:avLst/>
                <a:gdLst>
                  <a:gd name="T0" fmla="*/ 3 w 68"/>
                  <a:gd name="T1" fmla="*/ 22 h 33"/>
                  <a:gd name="T2" fmla="*/ 8 w 68"/>
                  <a:gd name="T3" fmla="*/ 10 h 33"/>
                  <a:gd name="T4" fmla="*/ 8 w 68"/>
                  <a:gd name="T5" fmla="*/ 10 h 33"/>
                  <a:gd name="T6" fmla="*/ 18 w 68"/>
                  <a:gd name="T7" fmla="*/ 7 h 33"/>
                  <a:gd name="T8" fmla="*/ 23 w 68"/>
                  <a:gd name="T9" fmla="*/ 8 h 33"/>
                  <a:gd name="T10" fmla="*/ 34 w 68"/>
                  <a:gd name="T11" fmla="*/ 4 h 33"/>
                  <a:gd name="T12" fmla="*/ 45 w 68"/>
                  <a:gd name="T13" fmla="*/ 9 h 33"/>
                  <a:gd name="T14" fmla="*/ 50 w 68"/>
                  <a:gd name="T15" fmla="*/ 8 h 33"/>
                  <a:gd name="T16" fmla="*/ 64 w 68"/>
                  <a:gd name="T17" fmla="*/ 22 h 33"/>
                  <a:gd name="T18" fmla="*/ 63 w 68"/>
                  <a:gd name="T19" fmla="*/ 24 h 33"/>
                  <a:gd name="T20" fmla="*/ 63 w 68"/>
                  <a:gd name="T21" fmla="*/ 26 h 33"/>
                  <a:gd name="T22" fmla="*/ 63 w 68"/>
                  <a:gd name="T23" fmla="*/ 33 h 33"/>
                  <a:gd name="T24" fmla="*/ 68 w 68"/>
                  <a:gd name="T25" fmla="*/ 22 h 33"/>
                  <a:gd name="T26" fmla="*/ 50 w 68"/>
                  <a:gd name="T27" fmla="*/ 4 h 33"/>
                  <a:gd name="T28" fmla="*/ 46 w 68"/>
                  <a:gd name="T29" fmla="*/ 4 h 33"/>
                  <a:gd name="T30" fmla="*/ 34 w 68"/>
                  <a:gd name="T31" fmla="*/ 0 h 33"/>
                  <a:gd name="T32" fmla="*/ 22 w 68"/>
                  <a:gd name="T33" fmla="*/ 4 h 33"/>
                  <a:gd name="T34" fmla="*/ 18 w 68"/>
                  <a:gd name="T35" fmla="*/ 4 h 33"/>
                  <a:gd name="T36" fmla="*/ 0 w 68"/>
                  <a:gd name="T37" fmla="*/ 22 h 33"/>
                  <a:gd name="T38" fmla="*/ 3 w 68"/>
                  <a:gd name="T39" fmla="*/ 33 h 33"/>
                  <a:gd name="T40" fmla="*/ 3 w 68"/>
                  <a:gd name="T4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3" y="22"/>
                    </a:moveTo>
                    <a:cubicBezTo>
                      <a:pt x="3" y="18"/>
                      <a:pt x="6" y="14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1" y="10"/>
                      <a:pt x="14" y="7"/>
                      <a:pt x="18" y="7"/>
                    </a:cubicBezTo>
                    <a:cubicBezTo>
                      <a:pt x="20" y="7"/>
                      <a:pt x="22" y="8"/>
                      <a:pt x="23" y="8"/>
                    </a:cubicBezTo>
                    <a:cubicBezTo>
                      <a:pt x="26" y="5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3" y="24"/>
                    </a:cubicBezTo>
                    <a:cubicBezTo>
                      <a:pt x="64" y="25"/>
                      <a:pt x="63" y="25"/>
                      <a:pt x="63" y="26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7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5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3" y="30"/>
                      <a:pt x="3" y="33"/>
                    </a:cubicBezTo>
                    <a:lnTo>
                      <a:pt x="3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3" name="Freeform 52"/>
              <p:cNvSpPr>
                <a:spLocks noEditPoints="1"/>
              </p:cNvSpPr>
              <p:nvPr/>
            </p:nvSpPr>
            <p:spPr bwMode="auto">
              <a:xfrm>
                <a:off x="5057775" y="3189288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3 w 98"/>
                  <a:gd name="T7" fmla="*/ 4 h 112"/>
                  <a:gd name="T8" fmla="*/ 66 w 98"/>
                  <a:gd name="T9" fmla="*/ 7 h 112"/>
                  <a:gd name="T10" fmla="*/ 57 w 98"/>
                  <a:gd name="T11" fmla="*/ 0 h 112"/>
                  <a:gd name="T12" fmla="*/ 48 w 98"/>
                  <a:gd name="T13" fmla="*/ 7 h 112"/>
                  <a:gd name="T14" fmla="*/ 41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5 w 98"/>
                  <a:gd name="T37" fmla="*/ 108 h 112"/>
                  <a:gd name="T38" fmla="*/ 34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4 h 112"/>
                  <a:gd name="T52" fmla="*/ 50 w 98"/>
                  <a:gd name="T53" fmla="*/ 54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0 h 112"/>
                  <a:gd name="T62" fmla="*/ 66 w 98"/>
                  <a:gd name="T63" fmla="*/ 50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4 h 112"/>
                  <a:gd name="T72" fmla="*/ 82 w 98"/>
                  <a:gd name="T73" fmla="*/ 54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3" y="4"/>
                    </a:cubicBezTo>
                    <a:cubicBezTo>
                      <a:pt x="70" y="4"/>
                      <a:pt x="68" y="5"/>
                      <a:pt x="66" y="7"/>
                    </a:cubicBezTo>
                    <a:cubicBezTo>
                      <a:pt x="65" y="3"/>
                      <a:pt x="61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4"/>
                      <a:pt x="46" y="54"/>
                      <a:pt x="46" y="54"/>
                    </a:cubicBezTo>
                    <a:cubicBezTo>
                      <a:pt x="50" y="54"/>
                      <a:pt x="50" y="54"/>
                      <a:pt x="50" y="54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87" name="Freeform 86"/>
            <p:cNvSpPr>
              <a:spLocks noEditPoints="1"/>
            </p:cNvSpPr>
            <p:nvPr/>
          </p:nvSpPr>
          <p:spPr bwMode="auto">
            <a:xfrm>
              <a:off x="8295544" y="895609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Freeform 87"/>
            <p:cNvSpPr>
              <a:spLocks noEditPoints="1"/>
            </p:cNvSpPr>
            <p:nvPr/>
          </p:nvSpPr>
          <p:spPr bwMode="auto">
            <a:xfrm>
              <a:off x="10071956" y="984509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9" name="Freeform 88"/>
            <p:cNvSpPr>
              <a:spLocks noEditPoints="1"/>
            </p:cNvSpPr>
            <p:nvPr/>
          </p:nvSpPr>
          <p:spPr bwMode="auto">
            <a:xfrm>
              <a:off x="608526" y="5346643"/>
              <a:ext cx="591596" cy="437422"/>
            </a:xfrm>
            <a:custGeom>
              <a:avLst/>
              <a:gdLst>
                <a:gd name="T0" fmla="*/ 64 w 108"/>
                <a:gd name="T1" fmla="*/ 70 h 80"/>
                <a:gd name="T2" fmla="*/ 44 w 108"/>
                <a:gd name="T3" fmla="*/ 70 h 80"/>
                <a:gd name="T4" fmla="*/ 54 w 108"/>
                <a:gd name="T5" fmla="*/ 32 h 80"/>
                <a:gd name="T6" fmla="*/ 60 w 108"/>
                <a:gd name="T7" fmla="*/ 62 h 80"/>
                <a:gd name="T8" fmla="*/ 108 w 108"/>
                <a:gd name="T9" fmla="*/ 54 h 80"/>
                <a:gd name="T10" fmla="*/ 0 w 108"/>
                <a:gd name="T11" fmla="*/ 54 h 80"/>
                <a:gd name="T12" fmla="*/ 7 w 108"/>
                <a:gd name="T13" fmla="*/ 70 h 80"/>
                <a:gd name="T14" fmla="*/ 54 w 108"/>
                <a:gd name="T15" fmla="*/ 4 h 80"/>
                <a:gd name="T16" fmla="*/ 101 w 108"/>
                <a:gd name="T17" fmla="*/ 70 h 80"/>
                <a:gd name="T18" fmla="*/ 105 w 108"/>
                <a:gd name="T19" fmla="*/ 71 h 80"/>
                <a:gd name="T20" fmla="*/ 60 w 108"/>
                <a:gd name="T21" fmla="*/ 70 h 80"/>
                <a:gd name="T22" fmla="*/ 48 w 108"/>
                <a:gd name="T23" fmla="*/ 70 h 80"/>
                <a:gd name="T24" fmla="*/ 54 w 108"/>
                <a:gd name="T25" fmla="*/ 76 h 80"/>
                <a:gd name="T26" fmla="*/ 52 w 108"/>
                <a:gd name="T27" fmla="*/ 10 h 80"/>
                <a:gd name="T28" fmla="*/ 54 w 108"/>
                <a:gd name="T29" fmla="*/ 24 h 80"/>
                <a:gd name="T30" fmla="*/ 56 w 108"/>
                <a:gd name="T31" fmla="*/ 10 h 80"/>
                <a:gd name="T32" fmla="*/ 54 w 108"/>
                <a:gd name="T33" fmla="*/ 8 h 80"/>
                <a:gd name="T34" fmla="*/ 78 w 108"/>
                <a:gd name="T35" fmla="*/ 17 h 80"/>
                <a:gd name="T36" fmla="*/ 72 w 108"/>
                <a:gd name="T37" fmla="*/ 30 h 80"/>
                <a:gd name="T38" fmla="*/ 82 w 108"/>
                <a:gd name="T39" fmla="*/ 20 h 80"/>
                <a:gd name="T40" fmla="*/ 81 w 108"/>
                <a:gd name="T41" fmla="*/ 17 h 80"/>
                <a:gd name="T42" fmla="*/ 95 w 108"/>
                <a:gd name="T43" fmla="*/ 39 h 80"/>
                <a:gd name="T44" fmla="*/ 83 w 108"/>
                <a:gd name="T45" fmla="*/ 45 h 80"/>
                <a:gd name="T46" fmla="*/ 97 w 108"/>
                <a:gd name="T47" fmla="*/ 42 h 80"/>
                <a:gd name="T48" fmla="*/ 98 w 108"/>
                <a:gd name="T49" fmla="*/ 40 h 80"/>
                <a:gd name="T50" fmla="*/ 97 w 108"/>
                <a:gd name="T51" fmla="*/ 66 h 80"/>
                <a:gd name="T52" fmla="*/ 83 w 108"/>
                <a:gd name="T53" fmla="*/ 63 h 80"/>
                <a:gd name="T54" fmla="*/ 95 w 108"/>
                <a:gd name="T55" fmla="*/ 70 h 80"/>
                <a:gd name="T56" fmla="*/ 98 w 108"/>
                <a:gd name="T57" fmla="*/ 68 h 80"/>
                <a:gd name="T58" fmla="*/ 13 w 108"/>
                <a:gd name="T59" fmla="*/ 70 h 80"/>
                <a:gd name="T60" fmla="*/ 25 w 108"/>
                <a:gd name="T61" fmla="*/ 63 h 80"/>
                <a:gd name="T62" fmla="*/ 11 w 108"/>
                <a:gd name="T63" fmla="*/ 66 h 80"/>
                <a:gd name="T64" fmla="*/ 10 w 108"/>
                <a:gd name="T65" fmla="*/ 68 h 80"/>
                <a:gd name="T66" fmla="*/ 11 w 108"/>
                <a:gd name="T67" fmla="*/ 42 h 80"/>
                <a:gd name="T68" fmla="*/ 25 w 108"/>
                <a:gd name="T69" fmla="*/ 45 h 80"/>
                <a:gd name="T70" fmla="*/ 13 w 108"/>
                <a:gd name="T71" fmla="*/ 39 h 80"/>
                <a:gd name="T72" fmla="*/ 10 w 108"/>
                <a:gd name="T73" fmla="*/ 40 h 80"/>
                <a:gd name="T74" fmla="*/ 26 w 108"/>
                <a:gd name="T75" fmla="*/ 20 h 80"/>
                <a:gd name="T76" fmla="*/ 36 w 108"/>
                <a:gd name="T77" fmla="*/ 30 h 80"/>
                <a:gd name="T78" fmla="*/ 30 w 108"/>
                <a:gd name="T79" fmla="*/ 17 h 80"/>
                <a:gd name="T80" fmla="*/ 27 w 108"/>
                <a:gd name="T81" fmla="*/ 1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" h="80">
                  <a:moveTo>
                    <a:pt x="60" y="62"/>
                  </a:moveTo>
                  <a:cubicBezTo>
                    <a:pt x="62" y="63"/>
                    <a:pt x="64" y="67"/>
                    <a:pt x="64" y="70"/>
                  </a:cubicBezTo>
                  <a:cubicBezTo>
                    <a:pt x="64" y="76"/>
                    <a:pt x="60" y="80"/>
                    <a:pt x="54" y="80"/>
                  </a:cubicBezTo>
                  <a:cubicBezTo>
                    <a:pt x="48" y="80"/>
                    <a:pt x="44" y="76"/>
                    <a:pt x="44" y="70"/>
                  </a:cubicBezTo>
                  <a:cubicBezTo>
                    <a:pt x="44" y="67"/>
                    <a:pt x="46" y="63"/>
                    <a:pt x="48" y="6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60" y="62"/>
                    <a:pt x="60" y="62"/>
                    <a:pt x="60" y="62"/>
                  </a:cubicBezTo>
                  <a:cubicBezTo>
                    <a:pt x="60" y="62"/>
                    <a:pt x="60" y="62"/>
                    <a:pt x="60" y="62"/>
                  </a:cubicBezTo>
                  <a:close/>
                  <a:moveTo>
                    <a:pt x="105" y="71"/>
                  </a:moveTo>
                  <a:cubicBezTo>
                    <a:pt x="107" y="66"/>
                    <a:pt x="108" y="60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0"/>
                    <a:pt x="1" y="66"/>
                    <a:pt x="3" y="71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5" y="65"/>
                    <a:pt x="4" y="60"/>
                    <a:pt x="4" y="54"/>
                  </a:cubicBezTo>
                  <a:cubicBezTo>
                    <a:pt x="4" y="26"/>
                    <a:pt x="26" y="4"/>
                    <a:pt x="54" y="4"/>
                  </a:cubicBezTo>
                  <a:cubicBezTo>
                    <a:pt x="82" y="4"/>
                    <a:pt x="104" y="26"/>
                    <a:pt x="104" y="54"/>
                  </a:cubicBezTo>
                  <a:cubicBezTo>
                    <a:pt x="104" y="60"/>
                    <a:pt x="103" y="65"/>
                    <a:pt x="101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54" y="76"/>
                  </a:moveTo>
                  <a:cubicBezTo>
                    <a:pt x="57" y="76"/>
                    <a:pt x="60" y="73"/>
                    <a:pt x="60" y="70"/>
                  </a:cubicBezTo>
                  <a:cubicBezTo>
                    <a:pt x="60" y="67"/>
                    <a:pt x="57" y="64"/>
                    <a:pt x="54" y="64"/>
                  </a:cubicBezTo>
                  <a:cubicBezTo>
                    <a:pt x="51" y="64"/>
                    <a:pt x="48" y="67"/>
                    <a:pt x="48" y="70"/>
                  </a:cubicBezTo>
                  <a:cubicBezTo>
                    <a:pt x="48" y="73"/>
                    <a:pt x="51" y="76"/>
                    <a:pt x="54" y="76"/>
                  </a:cubicBezTo>
                  <a:cubicBezTo>
                    <a:pt x="54" y="76"/>
                    <a:pt x="54" y="76"/>
                    <a:pt x="54" y="76"/>
                  </a:cubicBezTo>
                  <a:close/>
                  <a:moveTo>
                    <a:pt x="54" y="8"/>
                  </a:moveTo>
                  <a:cubicBezTo>
                    <a:pt x="53" y="8"/>
                    <a:pt x="52" y="9"/>
                    <a:pt x="52" y="10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3"/>
                    <a:pt x="53" y="24"/>
                    <a:pt x="54" y="24"/>
                  </a:cubicBezTo>
                  <a:cubicBezTo>
                    <a:pt x="55" y="24"/>
                    <a:pt x="56" y="23"/>
                    <a:pt x="56" y="22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9"/>
                    <a:pt x="55" y="8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lose/>
                  <a:moveTo>
                    <a:pt x="81" y="17"/>
                  </a:moveTo>
                  <a:cubicBezTo>
                    <a:pt x="80" y="16"/>
                    <a:pt x="79" y="16"/>
                    <a:pt x="78" y="1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8"/>
                    <a:pt x="71" y="29"/>
                    <a:pt x="72" y="30"/>
                  </a:cubicBezTo>
                  <a:cubicBezTo>
                    <a:pt x="73" y="30"/>
                    <a:pt x="74" y="30"/>
                    <a:pt x="74" y="29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19"/>
                    <a:pt x="82" y="17"/>
                    <a:pt x="81" y="17"/>
                  </a:cubicBezTo>
                  <a:cubicBezTo>
                    <a:pt x="81" y="17"/>
                    <a:pt x="81" y="17"/>
                    <a:pt x="81" y="17"/>
                  </a:cubicBezTo>
                  <a:close/>
                  <a:moveTo>
                    <a:pt x="98" y="40"/>
                  </a:moveTo>
                  <a:cubicBezTo>
                    <a:pt x="97" y="39"/>
                    <a:pt x="96" y="38"/>
                    <a:pt x="95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3" y="43"/>
                    <a:pt x="82" y="44"/>
                    <a:pt x="83" y="45"/>
                  </a:cubicBezTo>
                  <a:cubicBezTo>
                    <a:pt x="83" y="46"/>
                    <a:pt x="84" y="46"/>
                    <a:pt x="85" y="46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8" y="42"/>
                    <a:pt x="98" y="41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68"/>
                  </a:moveTo>
                  <a:cubicBezTo>
                    <a:pt x="98" y="67"/>
                    <a:pt x="98" y="66"/>
                    <a:pt x="97" y="66"/>
                  </a:cubicBezTo>
                  <a:cubicBezTo>
                    <a:pt x="85" y="62"/>
                    <a:pt x="85" y="62"/>
                    <a:pt x="85" y="62"/>
                  </a:cubicBezTo>
                  <a:cubicBezTo>
                    <a:pt x="84" y="62"/>
                    <a:pt x="83" y="62"/>
                    <a:pt x="83" y="63"/>
                  </a:cubicBezTo>
                  <a:cubicBezTo>
                    <a:pt x="82" y="64"/>
                    <a:pt x="83" y="65"/>
                    <a:pt x="84" y="66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6" y="70"/>
                    <a:pt x="97" y="69"/>
                    <a:pt x="98" y="68"/>
                  </a:cubicBezTo>
                  <a:cubicBezTo>
                    <a:pt x="98" y="68"/>
                    <a:pt x="98" y="68"/>
                    <a:pt x="98" y="68"/>
                  </a:cubicBezTo>
                  <a:close/>
                  <a:moveTo>
                    <a:pt x="10" y="68"/>
                  </a:moveTo>
                  <a:cubicBezTo>
                    <a:pt x="11" y="69"/>
                    <a:pt x="12" y="70"/>
                    <a:pt x="13" y="70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5" y="65"/>
                    <a:pt x="26" y="64"/>
                    <a:pt x="25" y="63"/>
                  </a:cubicBezTo>
                  <a:cubicBezTo>
                    <a:pt x="25" y="62"/>
                    <a:pt x="24" y="62"/>
                    <a:pt x="23" y="62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0" y="66"/>
                    <a:pt x="10" y="67"/>
                    <a:pt x="10" y="68"/>
                  </a:cubicBezTo>
                  <a:cubicBezTo>
                    <a:pt x="10" y="68"/>
                    <a:pt x="10" y="68"/>
                    <a:pt x="10" y="68"/>
                  </a:cubicBezTo>
                  <a:close/>
                  <a:moveTo>
                    <a:pt x="10" y="40"/>
                  </a:moveTo>
                  <a:cubicBezTo>
                    <a:pt x="10" y="41"/>
                    <a:pt x="10" y="42"/>
                    <a:pt x="11" y="42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6"/>
                    <a:pt x="25" y="46"/>
                    <a:pt x="25" y="45"/>
                  </a:cubicBezTo>
                  <a:cubicBezTo>
                    <a:pt x="26" y="44"/>
                    <a:pt x="25" y="43"/>
                    <a:pt x="24" y="42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10" y="40"/>
                    <a:pt x="10" y="40"/>
                    <a:pt x="10" y="40"/>
                  </a:cubicBezTo>
                  <a:close/>
                  <a:moveTo>
                    <a:pt x="27" y="17"/>
                  </a:moveTo>
                  <a:cubicBezTo>
                    <a:pt x="26" y="17"/>
                    <a:pt x="26" y="19"/>
                    <a:pt x="26" y="2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5" y="30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9" y="16"/>
                    <a:pt x="28" y="16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9070046" y="1524259"/>
              <a:ext cx="437424" cy="437422"/>
              <a:chOff x="6226175" y="3414032"/>
              <a:chExt cx="252413" cy="252412"/>
            </a:xfrm>
            <a:grpFill/>
          </p:grpSpPr>
          <p:sp>
            <p:nvSpPr>
              <p:cNvPr id="210" name="Freeform 209"/>
              <p:cNvSpPr>
                <a:spLocks noEditPoints="1"/>
              </p:cNvSpPr>
              <p:nvPr/>
            </p:nvSpPr>
            <p:spPr bwMode="auto">
              <a:xfrm>
                <a:off x="6226175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1" name="Freeform 210"/>
              <p:cNvSpPr>
                <a:spLocks noEditPoints="1"/>
              </p:cNvSpPr>
              <p:nvPr/>
            </p:nvSpPr>
            <p:spPr bwMode="auto">
              <a:xfrm>
                <a:off x="6284913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22 w 56"/>
                  <a:gd name="T11" fmla="*/ 22 h 56"/>
                  <a:gd name="T12" fmla="*/ 34 w 56"/>
                  <a:gd name="T13" fmla="*/ 22 h 56"/>
                  <a:gd name="T14" fmla="*/ 34 w 56"/>
                  <a:gd name="T15" fmla="*/ 34 h 56"/>
                  <a:gd name="T16" fmla="*/ 22 w 56"/>
                  <a:gd name="T17" fmla="*/ 34 h 56"/>
                  <a:gd name="T18" fmla="*/ 22 w 56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22" y="22"/>
                    </a:moveTo>
                    <a:cubicBezTo>
                      <a:pt x="25" y="19"/>
                      <a:pt x="31" y="19"/>
                      <a:pt x="34" y="22"/>
                    </a:cubicBezTo>
                    <a:cubicBezTo>
                      <a:pt x="37" y="25"/>
                      <a:pt x="37" y="31"/>
                      <a:pt x="34" y="34"/>
                    </a:cubicBezTo>
                    <a:cubicBezTo>
                      <a:pt x="31" y="37"/>
                      <a:pt x="25" y="37"/>
                      <a:pt x="22" y="34"/>
                    </a:cubicBezTo>
                    <a:cubicBezTo>
                      <a:pt x="19" y="31"/>
                      <a:pt x="19" y="25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6013583" y="985854"/>
              <a:ext cx="416528" cy="416526"/>
              <a:chOff x="6821488" y="3418795"/>
              <a:chExt cx="242888" cy="242887"/>
            </a:xfrm>
            <a:grpFill/>
          </p:grpSpPr>
          <p:sp>
            <p:nvSpPr>
              <p:cNvPr id="204" name="Freeform 203"/>
              <p:cNvSpPr>
                <a:spLocks/>
              </p:cNvSpPr>
              <p:nvPr/>
            </p:nvSpPr>
            <p:spPr bwMode="auto">
              <a:xfrm>
                <a:off x="6938963" y="36029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5" name="Freeform 204"/>
              <p:cNvSpPr>
                <a:spLocks/>
              </p:cNvSpPr>
              <p:nvPr/>
            </p:nvSpPr>
            <p:spPr bwMode="auto">
              <a:xfrm>
                <a:off x="6842125" y="3536270"/>
                <a:ext cx="38100" cy="9525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/>
              <p:cNvSpPr>
                <a:spLocks/>
              </p:cNvSpPr>
              <p:nvPr/>
            </p:nvSpPr>
            <p:spPr bwMode="auto">
              <a:xfrm>
                <a:off x="6938963" y="3439432"/>
                <a:ext cx="9525" cy="38100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/>
              <p:cNvSpPr>
                <a:spLocks noEditPoints="1"/>
              </p:cNvSpPr>
              <p:nvPr/>
            </p:nvSpPr>
            <p:spPr bwMode="auto">
              <a:xfrm>
                <a:off x="6821488" y="34187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/>
              <p:cNvSpPr>
                <a:spLocks noEditPoints="1"/>
              </p:cNvSpPr>
              <p:nvPr/>
            </p:nvSpPr>
            <p:spPr bwMode="auto">
              <a:xfrm>
                <a:off x="6877050" y="34743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31 w 54"/>
                  <a:gd name="T11" fmla="*/ 31 h 54"/>
                  <a:gd name="T12" fmla="*/ 23 w 54"/>
                  <a:gd name="T13" fmla="*/ 31 h 54"/>
                  <a:gd name="T14" fmla="*/ 23 w 54"/>
                  <a:gd name="T15" fmla="*/ 23 h 54"/>
                  <a:gd name="T16" fmla="*/ 31 w 54"/>
                  <a:gd name="T17" fmla="*/ 23 h 54"/>
                  <a:gd name="T18" fmla="*/ 31 w 54"/>
                  <a:gd name="T19" fmla="*/ 3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31" y="31"/>
                    </a:moveTo>
                    <a:cubicBezTo>
                      <a:pt x="29" y="34"/>
                      <a:pt x="25" y="34"/>
                      <a:pt x="23" y="31"/>
                    </a:cubicBezTo>
                    <a:cubicBezTo>
                      <a:pt x="20" y="29"/>
                      <a:pt x="20" y="25"/>
                      <a:pt x="23" y="23"/>
                    </a:cubicBezTo>
                    <a:cubicBezTo>
                      <a:pt x="25" y="20"/>
                      <a:pt x="29" y="20"/>
                      <a:pt x="31" y="23"/>
                    </a:cubicBezTo>
                    <a:cubicBezTo>
                      <a:pt x="34" y="25"/>
                      <a:pt x="34" y="29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9" name="Freeform 208"/>
              <p:cNvSpPr>
                <a:spLocks/>
              </p:cNvSpPr>
              <p:nvPr/>
            </p:nvSpPr>
            <p:spPr bwMode="auto">
              <a:xfrm>
                <a:off x="7005638" y="3536270"/>
                <a:ext cx="39688" cy="9525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267594" y="2520469"/>
              <a:ext cx="461863" cy="461861"/>
              <a:chOff x="7412038" y="3215595"/>
              <a:chExt cx="242888" cy="242887"/>
            </a:xfrm>
            <a:grpFill/>
          </p:grpSpPr>
          <p:sp>
            <p:nvSpPr>
              <p:cNvPr id="198" name="Freeform 197"/>
              <p:cNvSpPr>
                <a:spLocks/>
              </p:cNvSpPr>
              <p:nvPr/>
            </p:nvSpPr>
            <p:spPr bwMode="auto">
              <a:xfrm>
                <a:off x="7527925" y="33997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/>
              <p:cNvSpPr>
                <a:spLocks/>
              </p:cNvSpPr>
              <p:nvPr/>
            </p:nvSpPr>
            <p:spPr bwMode="auto">
              <a:xfrm>
                <a:off x="7527925" y="3234645"/>
                <a:ext cx="9525" cy="39687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/>
              <p:cNvSpPr>
                <a:spLocks/>
              </p:cNvSpPr>
              <p:nvPr/>
            </p:nvSpPr>
            <p:spPr bwMode="auto">
              <a:xfrm>
                <a:off x="7431088" y="3331482"/>
                <a:ext cx="39688" cy="11112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/>
              <p:cNvSpPr>
                <a:spLocks noEditPoints="1"/>
              </p:cNvSpPr>
              <p:nvPr/>
            </p:nvSpPr>
            <p:spPr bwMode="auto">
              <a:xfrm>
                <a:off x="7467600" y="32711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9 w 54"/>
                  <a:gd name="T11" fmla="*/ 45 h 54"/>
                  <a:gd name="T12" fmla="*/ 23 w 54"/>
                  <a:gd name="T13" fmla="*/ 23 h 54"/>
                  <a:gd name="T14" fmla="*/ 31 w 54"/>
                  <a:gd name="T15" fmla="*/ 31 h 54"/>
                  <a:gd name="T16" fmla="*/ 9 w 54"/>
                  <a:gd name="T17" fmla="*/ 45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9" y="45"/>
                    </a:moveTo>
                    <a:cubicBezTo>
                      <a:pt x="9" y="45"/>
                      <a:pt x="18" y="27"/>
                      <a:pt x="23" y="23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7" y="36"/>
                      <a:pt x="9" y="45"/>
                      <a:pt x="9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/>
              <p:cNvSpPr>
                <a:spLocks/>
              </p:cNvSpPr>
              <p:nvPr/>
            </p:nvSpPr>
            <p:spPr bwMode="auto">
              <a:xfrm>
                <a:off x="7596188" y="3331482"/>
                <a:ext cx="38100" cy="11112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3" name="Freeform 202"/>
              <p:cNvSpPr>
                <a:spLocks noEditPoints="1"/>
              </p:cNvSpPr>
              <p:nvPr/>
            </p:nvSpPr>
            <p:spPr bwMode="auto">
              <a:xfrm>
                <a:off x="7412038" y="32155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3670301" y="5425487"/>
              <a:ext cx="252413" cy="252412"/>
              <a:chOff x="8002588" y="3414032"/>
              <a:chExt cx="252413" cy="252412"/>
            </a:xfrm>
            <a:grpFill/>
          </p:grpSpPr>
          <p:sp>
            <p:nvSpPr>
              <p:cNvPr id="196" name="Freeform 195"/>
              <p:cNvSpPr>
                <a:spLocks noEditPoints="1"/>
              </p:cNvSpPr>
              <p:nvPr/>
            </p:nvSpPr>
            <p:spPr bwMode="auto">
              <a:xfrm>
                <a:off x="8061325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34 w 56"/>
                  <a:gd name="T11" fmla="*/ 34 h 56"/>
                  <a:gd name="T12" fmla="*/ 8 w 56"/>
                  <a:gd name="T13" fmla="*/ 48 h 56"/>
                  <a:gd name="T14" fmla="*/ 22 w 56"/>
                  <a:gd name="T15" fmla="*/ 22 h 56"/>
                  <a:gd name="T16" fmla="*/ 34 w 56"/>
                  <a:gd name="T17" fmla="*/ 3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34" y="34"/>
                    </a:moveTo>
                    <a:cubicBezTo>
                      <a:pt x="28" y="39"/>
                      <a:pt x="8" y="48"/>
                      <a:pt x="8" y="48"/>
                    </a:cubicBezTo>
                    <a:cubicBezTo>
                      <a:pt x="8" y="48"/>
                      <a:pt x="17" y="28"/>
                      <a:pt x="22" y="22"/>
                    </a:cubicBezTo>
                    <a:lnTo>
                      <a:pt x="3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7" name="Freeform 196"/>
              <p:cNvSpPr>
                <a:spLocks noEditPoints="1"/>
              </p:cNvSpPr>
              <p:nvPr/>
            </p:nvSpPr>
            <p:spPr bwMode="auto">
              <a:xfrm>
                <a:off x="8002588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4" name="Freeform 93"/>
            <p:cNvSpPr>
              <a:spLocks noEditPoints="1"/>
            </p:cNvSpPr>
            <p:nvPr/>
          </p:nvSpPr>
          <p:spPr bwMode="auto">
            <a:xfrm>
              <a:off x="2311353" y="91494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1429935" y="5550318"/>
              <a:ext cx="454448" cy="457764"/>
              <a:chOff x="644525" y="2574925"/>
              <a:chExt cx="217488" cy="219075"/>
            </a:xfrm>
            <a:grpFill/>
          </p:grpSpPr>
          <p:sp>
            <p:nvSpPr>
              <p:cNvPr id="194" name="Freeform 193"/>
              <p:cNvSpPr>
                <a:spLocks/>
              </p:cNvSpPr>
              <p:nvPr/>
            </p:nvSpPr>
            <p:spPr bwMode="auto">
              <a:xfrm>
                <a:off x="722313" y="2606675"/>
                <a:ext cx="31750" cy="93662"/>
              </a:xfrm>
              <a:custGeom>
                <a:avLst/>
                <a:gdLst>
                  <a:gd name="T0" fmla="*/ 8 w 12"/>
                  <a:gd name="T1" fmla="*/ 36 h 36"/>
                  <a:gd name="T2" fmla="*/ 12 w 12"/>
                  <a:gd name="T3" fmla="*/ 36 h 36"/>
                  <a:gd name="T4" fmla="*/ 12 w 12"/>
                  <a:gd name="T5" fmla="*/ 0 h 36"/>
                  <a:gd name="T6" fmla="*/ 10 w 12"/>
                  <a:gd name="T7" fmla="*/ 0 h 36"/>
                  <a:gd name="T8" fmla="*/ 0 w 12"/>
                  <a:gd name="T9" fmla="*/ 6 h 36"/>
                  <a:gd name="T10" fmla="*/ 0 w 12"/>
                  <a:gd name="T11" fmla="*/ 12 h 36"/>
                  <a:gd name="T12" fmla="*/ 8 w 12"/>
                  <a:gd name="T13" fmla="*/ 12 h 36"/>
                  <a:gd name="T14" fmla="*/ 8 w 12"/>
                  <a:gd name="T1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36">
                    <a:moveTo>
                      <a:pt x="8" y="36"/>
                    </a:move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4"/>
                      <a:pt x="8" y="6"/>
                      <a:pt x="0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8" y="12"/>
                      <a:pt x="8" y="12"/>
                      <a:pt x="8" y="12"/>
                    </a:cubicBezTo>
                    <a:lnTo>
                      <a:pt x="8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5" name="Freeform 194"/>
              <p:cNvSpPr>
                <a:spLocks noEditPoints="1"/>
              </p:cNvSpPr>
              <p:nvPr/>
            </p:nvSpPr>
            <p:spPr bwMode="auto">
              <a:xfrm>
                <a:off x="644525" y="2574925"/>
                <a:ext cx="217488" cy="219075"/>
              </a:xfrm>
              <a:custGeom>
                <a:avLst/>
                <a:gdLst>
                  <a:gd name="T0" fmla="*/ 68 w 84"/>
                  <a:gd name="T1" fmla="*/ 0 h 84"/>
                  <a:gd name="T2" fmla="*/ 66 w 84"/>
                  <a:gd name="T3" fmla="*/ 0 h 84"/>
                  <a:gd name="T4" fmla="*/ 16 w 84"/>
                  <a:gd name="T5" fmla="*/ 0 h 84"/>
                  <a:gd name="T6" fmla="*/ 0 w 84"/>
                  <a:gd name="T7" fmla="*/ 0 h 84"/>
                  <a:gd name="T8" fmla="*/ 14 w 84"/>
                  <a:gd name="T9" fmla="*/ 34 h 84"/>
                  <a:gd name="T10" fmla="*/ 14 w 84"/>
                  <a:gd name="T11" fmla="*/ 34 h 84"/>
                  <a:gd name="T12" fmla="*/ 38 w 84"/>
                  <a:gd name="T13" fmla="*/ 58 h 84"/>
                  <a:gd name="T14" fmla="*/ 38 w 84"/>
                  <a:gd name="T15" fmla="*/ 80 h 84"/>
                  <a:gd name="T16" fmla="*/ 22 w 84"/>
                  <a:gd name="T17" fmla="*/ 80 h 84"/>
                  <a:gd name="T18" fmla="*/ 22 w 84"/>
                  <a:gd name="T19" fmla="*/ 84 h 84"/>
                  <a:gd name="T20" fmla="*/ 58 w 84"/>
                  <a:gd name="T21" fmla="*/ 84 h 84"/>
                  <a:gd name="T22" fmla="*/ 58 w 84"/>
                  <a:gd name="T23" fmla="*/ 80 h 84"/>
                  <a:gd name="T24" fmla="*/ 42 w 84"/>
                  <a:gd name="T25" fmla="*/ 80 h 84"/>
                  <a:gd name="T26" fmla="*/ 42 w 84"/>
                  <a:gd name="T27" fmla="*/ 58 h 84"/>
                  <a:gd name="T28" fmla="*/ 66 w 84"/>
                  <a:gd name="T29" fmla="*/ 34 h 84"/>
                  <a:gd name="T30" fmla="*/ 66 w 84"/>
                  <a:gd name="T31" fmla="*/ 34 h 84"/>
                  <a:gd name="T32" fmla="*/ 84 w 84"/>
                  <a:gd name="T33" fmla="*/ 0 h 84"/>
                  <a:gd name="T34" fmla="*/ 68 w 84"/>
                  <a:gd name="T35" fmla="*/ 0 h 84"/>
                  <a:gd name="T36" fmla="*/ 14 w 84"/>
                  <a:gd name="T37" fmla="*/ 30 h 84"/>
                  <a:gd name="T38" fmla="*/ 4 w 84"/>
                  <a:gd name="T39" fmla="*/ 4 h 84"/>
                  <a:gd name="T40" fmla="*/ 14 w 84"/>
                  <a:gd name="T41" fmla="*/ 4 h 84"/>
                  <a:gd name="T42" fmla="*/ 14 w 84"/>
                  <a:gd name="T43" fmla="*/ 30 h 84"/>
                  <a:gd name="T44" fmla="*/ 62 w 84"/>
                  <a:gd name="T45" fmla="*/ 34 h 84"/>
                  <a:gd name="T46" fmla="*/ 44 w 84"/>
                  <a:gd name="T47" fmla="*/ 56 h 84"/>
                  <a:gd name="T48" fmla="*/ 40 w 84"/>
                  <a:gd name="T49" fmla="*/ 56 h 84"/>
                  <a:gd name="T50" fmla="*/ 18 w 84"/>
                  <a:gd name="T51" fmla="*/ 34 h 84"/>
                  <a:gd name="T52" fmla="*/ 18 w 84"/>
                  <a:gd name="T53" fmla="*/ 4 h 84"/>
                  <a:gd name="T54" fmla="*/ 62 w 84"/>
                  <a:gd name="T55" fmla="*/ 4 h 84"/>
                  <a:gd name="T56" fmla="*/ 62 w 84"/>
                  <a:gd name="T57" fmla="*/ 34 h 84"/>
                  <a:gd name="T58" fmla="*/ 66 w 84"/>
                  <a:gd name="T59" fmla="*/ 30 h 84"/>
                  <a:gd name="T60" fmla="*/ 66 w 84"/>
                  <a:gd name="T61" fmla="*/ 4 h 84"/>
                  <a:gd name="T62" fmla="*/ 80 w 84"/>
                  <a:gd name="T63" fmla="*/ 4 h 84"/>
                  <a:gd name="T64" fmla="*/ 66 w 84"/>
                  <a:gd name="T65" fmla="*/ 3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" h="84">
                    <a:moveTo>
                      <a:pt x="68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28"/>
                      <a:pt x="14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4" y="47"/>
                      <a:pt x="26" y="58"/>
                      <a:pt x="38" y="58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4"/>
                      <a:pt x="22" y="84"/>
                      <a:pt x="22" y="84"/>
                    </a:cubicBezTo>
                    <a:cubicBezTo>
                      <a:pt x="58" y="84"/>
                      <a:pt x="58" y="84"/>
                      <a:pt x="58" y="84"/>
                    </a:cubicBezTo>
                    <a:cubicBezTo>
                      <a:pt x="58" y="80"/>
                      <a:pt x="58" y="80"/>
                      <a:pt x="58" y="80"/>
                    </a:cubicBezTo>
                    <a:cubicBezTo>
                      <a:pt x="42" y="80"/>
                      <a:pt x="42" y="80"/>
                      <a:pt x="42" y="80"/>
                    </a:cubicBezTo>
                    <a:cubicBezTo>
                      <a:pt x="42" y="58"/>
                      <a:pt x="42" y="58"/>
                      <a:pt x="42" y="58"/>
                    </a:cubicBezTo>
                    <a:cubicBezTo>
                      <a:pt x="58" y="58"/>
                      <a:pt x="66" y="47"/>
                      <a:pt x="66" y="34"/>
                    </a:cubicBezTo>
                    <a:cubicBezTo>
                      <a:pt x="66" y="34"/>
                      <a:pt x="66" y="34"/>
                      <a:pt x="66" y="34"/>
                    </a:cubicBezTo>
                    <a:cubicBezTo>
                      <a:pt x="82" y="28"/>
                      <a:pt x="84" y="0"/>
                      <a:pt x="84" y="0"/>
                    </a:cubicBezTo>
                    <a:lnTo>
                      <a:pt x="68" y="0"/>
                    </a:lnTo>
                    <a:close/>
                    <a:moveTo>
                      <a:pt x="14" y="30"/>
                    </a:moveTo>
                    <a:cubicBezTo>
                      <a:pt x="6" y="23"/>
                      <a:pt x="4" y="4"/>
                      <a:pt x="4" y="4"/>
                    </a:cubicBezTo>
                    <a:cubicBezTo>
                      <a:pt x="14" y="4"/>
                      <a:pt x="14" y="4"/>
                      <a:pt x="14" y="4"/>
                    </a:cubicBezTo>
                    <a:lnTo>
                      <a:pt x="14" y="30"/>
                    </a:lnTo>
                    <a:close/>
                    <a:moveTo>
                      <a:pt x="62" y="34"/>
                    </a:moveTo>
                    <a:cubicBezTo>
                      <a:pt x="62" y="45"/>
                      <a:pt x="55" y="56"/>
                      <a:pt x="44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29" y="56"/>
                      <a:pt x="18" y="45"/>
                      <a:pt x="18" y="3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62" y="4"/>
                      <a:pt x="62" y="4"/>
                      <a:pt x="62" y="4"/>
                    </a:cubicBezTo>
                    <a:lnTo>
                      <a:pt x="62" y="34"/>
                    </a:lnTo>
                    <a:close/>
                    <a:moveTo>
                      <a:pt x="66" y="30"/>
                    </a:moveTo>
                    <a:cubicBezTo>
                      <a:pt x="66" y="4"/>
                      <a:pt x="66" y="4"/>
                      <a:pt x="66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4"/>
                      <a:pt x="78" y="23"/>
                      <a:pt x="6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6" name="Freeform 95"/>
            <p:cNvSpPr>
              <a:spLocks noEditPoints="1"/>
            </p:cNvSpPr>
            <p:nvPr/>
          </p:nvSpPr>
          <p:spPr bwMode="auto">
            <a:xfrm>
              <a:off x="9490404" y="5593748"/>
              <a:ext cx="503012" cy="627844"/>
            </a:xfrm>
            <a:custGeom>
              <a:avLst/>
              <a:gdLst>
                <a:gd name="T0" fmla="*/ 68 w 84"/>
                <a:gd name="T1" fmla="*/ 34 h 104"/>
                <a:gd name="T2" fmla="*/ 68 w 84"/>
                <a:gd name="T3" fmla="*/ 34 h 104"/>
                <a:gd name="T4" fmla="*/ 84 w 84"/>
                <a:gd name="T5" fmla="*/ 0 h 104"/>
                <a:gd name="T6" fmla="*/ 68 w 84"/>
                <a:gd name="T7" fmla="*/ 0 h 104"/>
                <a:gd name="T8" fmla="*/ 66 w 84"/>
                <a:gd name="T9" fmla="*/ 0 h 104"/>
                <a:gd name="T10" fmla="*/ 16 w 84"/>
                <a:gd name="T11" fmla="*/ 0 h 104"/>
                <a:gd name="T12" fmla="*/ 0 w 84"/>
                <a:gd name="T13" fmla="*/ 0 h 104"/>
                <a:gd name="T14" fmla="*/ 16 w 84"/>
                <a:gd name="T15" fmla="*/ 34 h 104"/>
                <a:gd name="T16" fmla="*/ 16 w 84"/>
                <a:gd name="T17" fmla="*/ 34 h 104"/>
                <a:gd name="T18" fmla="*/ 40 w 84"/>
                <a:gd name="T19" fmla="*/ 58 h 104"/>
                <a:gd name="T20" fmla="*/ 40 w 84"/>
                <a:gd name="T21" fmla="*/ 76 h 104"/>
                <a:gd name="T22" fmla="*/ 24 w 84"/>
                <a:gd name="T23" fmla="*/ 76 h 104"/>
                <a:gd name="T24" fmla="*/ 24 w 84"/>
                <a:gd name="T25" fmla="*/ 88 h 104"/>
                <a:gd name="T26" fmla="*/ 12 w 84"/>
                <a:gd name="T27" fmla="*/ 88 h 104"/>
                <a:gd name="T28" fmla="*/ 12 w 84"/>
                <a:gd name="T29" fmla="*/ 104 h 104"/>
                <a:gd name="T30" fmla="*/ 72 w 84"/>
                <a:gd name="T31" fmla="*/ 104 h 104"/>
                <a:gd name="T32" fmla="*/ 72 w 84"/>
                <a:gd name="T33" fmla="*/ 88 h 104"/>
                <a:gd name="T34" fmla="*/ 60 w 84"/>
                <a:gd name="T35" fmla="*/ 88 h 104"/>
                <a:gd name="T36" fmla="*/ 60 w 84"/>
                <a:gd name="T37" fmla="*/ 76 h 104"/>
                <a:gd name="T38" fmla="*/ 44 w 84"/>
                <a:gd name="T39" fmla="*/ 76 h 104"/>
                <a:gd name="T40" fmla="*/ 44 w 84"/>
                <a:gd name="T41" fmla="*/ 58 h 104"/>
                <a:gd name="T42" fmla="*/ 68 w 84"/>
                <a:gd name="T43" fmla="*/ 34 h 104"/>
                <a:gd name="T44" fmla="*/ 68 w 84"/>
                <a:gd name="T45" fmla="*/ 4 h 104"/>
                <a:gd name="T46" fmla="*/ 80 w 84"/>
                <a:gd name="T47" fmla="*/ 4 h 104"/>
                <a:gd name="T48" fmla="*/ 68 w 84"/>
                <a:gd name="T49" fmla="*/ 30 h 104"/>
                <a:gd name="T50" fmla="*/ 68 w 84"/>
                <a:gd name="T51" fmla="*/ 4 h 104"/>
                <a:gd name="T52" fmla="*/ 16 w 84"/>
                <a:gd name="T53" fmla="*/ 30 h 104"/>
                <a:gd name="T54" fmla="*/ 4 w 84"/>
                <a:gd name="T55" fmla="*/ 4 h 104"/>
                <a:gd name="T56" fmla="*/ 16 w 84"/>
                <a:gd name="T57" fmla="*/ 4 h 104"/>
                <a:gd name="T58" fmla="*/ 16 w 84"/>
                <a:gd name="T59" fmla="*/ 30 h 104"/>
                <a:gd name="T60" fmla="*/ 68 w 84"/>
                <a:gd name="T61" fmla="*/ 92 h 104"/>
                <a:gd name="T62" fmla="*/ 68 w 84"/>
                <a:gd name="T63" fmla="*/ 100 h 104"/>
                <a:gd name="T64" fmla="*/ 16 w 84"/>
                <a:gd name="T65" fmla="*/ 100 h 104"/>
                <a:gd name="T66" fmla="*/ 16 w 84"/>
                <a:gd name="T67" fmla="*/ 92 h 104"/>
                <a:gd name="T68" fmla="*/ 68 w 84"/>
                <a:gd name="T69" fmla="*/ 92 h 104"/>
                <a:gd name="T70" fmla="*/ 56 w 84"/>
                <a:gd name="T71" fmla="*/ 80 h 104"/>
                <a:gd name="T72" fmla="*/ 56 w 84"/>
                <a:gd name="T73" fmla="*/ 88 h 104"/>
                <a:gd name="T74" fmla="*/ 28 w 84"/>
                <a:gd name="T75" fmla="*/ 88 h 104"/>
                <a:gd name="T76" fmla="*/ 28 w 84"/>
                <a:gd name="T77" fmla="*/ 80 h 104"/>
                <a:gd name="T78" fmla="*/ 56 w 84"/>
                <a:gd name="T79" fmla="*/ 80 h 104"/>
                <a:gd name="T80" fmla="*/ 44 w 84"/>
                <a:gd name="T81" fmla="*/ 56 h 104"/>
                <a:gd name="T82" fmla="*/ 40 w 84"/>
                <a:gd name="T83" fmla="*/ 56 h 104"/>
                <a:gd name="T84" fmla="*/ 20 w 84"/>
                <a:gd name="T85" fmla="*/ 34 h 104"/>
                <a:gd name="T86" fmla="*/ 20 w 84"/>
                <a:gd name="T87" fmla="*/ 4 h 104"/>
                <a:gd name="T88" fmla="*/ 64 w 84"/>
                <a:gd name="T89" fmla="*/ 4 h 104"/>
                <a:gd name="T90" fmla="*/ 64 w 84"/>
                <a:gd name="T91" fmla="*/ 34 h 104"/>
                <a:gd name="T92" fmla="*/ 44 w 84"/>
                <a:gd name="T93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4" h="104">
                  <a:moveTo>
                    <a:pt x="68" y="34"/>
                  </a:moveTo>
                  <a:cubicBezTo>
                    <a:pt x="68" y="34"/>
                    <a:pt x="68" y="34"/>
                    <a:pt x="68" y="34"/>
                  </a:cubicBezTo>
                  <a:cubicBezTo>
                    <a:pt x="82" y="28"/>
                    <a:pt x="84" y="0"/>
                    <a:pt x="84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28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47"/>
                    <a:pt x="27" y="58"/>
                    <a:pt x="40" y="58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72" y="104"/>
                    <a:pt x="72" y="104"/>
                    <a:pt x="72" y="10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60" y="76"/>
                    <a:pt x="60" y="76"/>
                    <a:pt x="60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57" y="58"/>
                    <a:pt x="68" y="47"/>
                    <a:pt x="68" y="34"/>
                  </a:cubicBezTo>
                  <a:close/>
                  <a:moveTo>
                    <a:pt x="68" y="4"/>
                  </a:move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3"/>
                    <a:pt x="68" y="30"/>
                  </a:cubicBezTo>
                  <a:lnTo>
                    <a:pt x="68" y="4"/>
                  </a:lnTo>
                  <a:close/>
                  <a:moveTo>
                    <a:pt x="16" y="30"/>
                  </a:moveTo>
                  <a:cubicBezTo>
                    <a:pt x="7" y="23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0"/>
                  </a:lnTo>
                  <a:close/>
                  <a:moveTo>
                    <a:pt x="68" y="92"/>
                  </a:moveTo>
                  <a:cubicBezTo>
                    <a:pt x="68" y="100"/>
                    <a:pt x="68" y="100"/>
                    <a:pt x="68" y="100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6" y="92"/>
                    <a:pt x="16" y="92"/>
                    <a:pt x="16" y="92"/>
                  </a:cubicBezTo>
                  <a:lnTo>
                    <a:pt x="68" y="92"/>
                  </a:lnTo>
                  <a:close/>
                  <a:moveTo>
                    <a:pt x="56" y="80"/>
                  </a:moveTo>
                  <a:cubicBezTo>
                    <a:pt x="56" y="88"/>
                    <a:pt x="56" y="88"/>
                    <a:pt x="56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80"/>
                    <a:pt x="28" y="80"/>
                    <a:pt x="28" y="80"/>
                  </a:cubicBezTo>
                  <a:lnTo>
                    <a:pt x="56" y="80"/>
                  </a:lnTo>
                  <a:close/>
                  <a:moveTo>
                    <a:pt x="44" y="56"/>
                  </a:move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5"/>
                    <a:pt x="20" y="3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45"/>
                    <a:pt x="55" y="56"/>
                    <a:pt x="44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6609819" y="4374460"/>
              <a:ext cx="505129" cy="639830"/>
              <a:chOff x="6350000" y="2533650"/>
              <a:chExt cx="238125" cy="301625"/>
            </a:xfrm>
            <a:grpFill/>
          </p:grpSpPr>
          <p:sp>
            <p:nvSpPr>
              <p:cNvPr id="191" name="Freeform 190"/>
              <p:cNvSpPr>
                <a:spLocks noEditPoints="1"/>
              </p:cNvSpPr>
              <p:nvPr/>
            </p:nvSpPr>
            <p:spPr bwMode="auto">
              <a:xfrm>
                <a:off x="6440488" y="2665413"/>
                <a:ext cx="77788" cy="79375"/>
              </a:xfrm>
              <a:custGeom>
                <a:avLst/>
                <a:gdLst>
                  <a:gd name="T0" fmla="*/ 29 w 30"/>
                  <a:gd name="T1" fmla="*/ 1 h 30"/>
                  <a:gd name="T2" fmla="*/ 26 w 30"/>
                  <a:gd name="T3" fmla="*/ 1 h 30"/>
                  <a:gd name="T4" fmla="*/ 14 w 30"/>
                  <a:gd name="T5" fmla="*/ 14 h 30"/>
                  <a:gd name="T6" fmla="*/ 11 w 30"/>
                  <a:gd name="T7" fmla="*/ 13 h 30"/>
                  <a:gd name="T8" fmla="*/ 5 w 30"/>
                  <a:gd name="T9" fmla="*/ 19 h 30"/>
                  <a:gd name="T10" fmla="*/ 6 w 30"/>
                  <a:gd name="T11" fmla="*/ 22 h 30"/>
                  <a:gd name="T12" fmla="*/ 1 w 30"/>
                  <a:gd name="T13" fmla="*/ 26 h 30"/>
                  <a:gd name="T14" fmla="*/ 1 w 30"/>
                  <a:gd name="T15" fmla="*/ 29 h 30"/>
                  <a:gd name="T16" fmla="*/ 4 w 30"/>
                  <a:gd name="T17" fmla="*/ 29 h 30"/>
                  <a:gd name="T18" fmla="*/ 8 w 30"/>
                  <a:gd name="T19" fmla="*/ 24 h 30"/>
                  <a:gd name="T20" fmla="*/ 11 w 30"/>
                  <a:gd name="T21" fmla="*/ 25 h 30"/>
                  <a:gd name="T22" fmla="*/ 17 w 30"/>
                  <a:gd name="T23" fmla="*/ 19 h 30"/>
                  <a:gd name="T24" fmla="*/ 16 w 30"/>
                  <a:gd name="T25" fmla="*/ 16 h 30"/>
                  <a:gd name="T26" fmla="*/ 29 w 30"/>
                  <a:gd name="T27" fmla="*/ 4 h 30"/>
                  <a:gd name="T28" fmla="*/ 29 w 30"/>
                  <a:gd name="T29" fmla="*/ 1 h 30"/>
                  <a:gd name="T30" fmla="*/ 11 w 30"/>
                  <a:gd name="T31" fmla="*/ 21 h 30"/>
                  <a:gd name="T32" fmla="*/ 9 w 30"/>
                  <a:gd name="T33" fmla="*/ 19 h 30"/>
                  <a:gd name="T34" fmla="*/ 11 w 30"/>
                  <a:gd name="T35" fmla="*/ 17 h 30"/>
                  <a:gd name="T36" fmla="*/ 13 w 30"/>
                  <a:gd name="T37" fmla="*/ 19 h 30"/>
                  <a:gd name="T38" fmla="*/ 11 w 30"/>
                  <a:gd name="T39" fmla="*/ 2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0" h="30">
                    <a:moveTo>
                      <a:pt x="29" y="1"/>
                    </a:moveTo>
                    <a:cubicBezTo>
                      <a:pt x="28" y="0"/>
                      <a:pt x="27" y="0"/>
                      <a:pt x="26" y="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3" y="13"/>
                      <a:pt x="12" y="13"/>
                      <a:pt x="11" y="13"/>
                    </a:cubicBezTo>
                    <a:cubicBezTo>
                      <a:pt x="8" y="13"/>
                      <a:pt x="5" y="16"/>
                      <a:pt x="5" y="19"/>
                    </a:cubicBezTo>
                    <a:cubicBezTo>
                      <a:pt x="5" y="20"/>
                      <a:pt x="5" y="21"/>
                      <a:pt x="6" y="22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7"/>
                      <a:pt x="0" y="28"/>
                      <a:pt x="1" y="29"/>
                    </a:cubicBezTo>
                    <a:cubicBezTo>
                      <a:pt x="2" y="30"/>
                      <a:pt x="3" y="30"/>
                      <a:pt x="4" y="29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25"/>
                      <a:pt x="10" y="25"/>
                      <a:pt x="11" y="25"/>
                    </a:cubicBezTo>
                    <a:cubicBezTo>
                      <a:pt x="14" y="25"/>
                      <a:pt x="17" y="22"/>
                      <a:pt x="17" y="19"/>
                    </a:cubicBezTo>
                    <a:cubicBezTo>
                      <a:pt x="17" y="18"/>
                      <a:pt x="17" y="17"/>
                      <a:pt x="16" y="16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30" y="3"/>
                      <a:pt x="30" y="2"/>
                      <a:pt x="29" y="1"/>
                    </a:cubicBezTo>
                    <a:close/>
                    <a:moveTo>
                      <a:pt x="11" y="21"/>
                    </a:moveTo>
                    <a:cubicBezTo>
                      <a:pt x="10" y="21"/>
                      <a:pt x="9" y="20"/>
                      <a:pt x="9" y="19"/>
                    </a:cubicBezTo>
                    <a:cubicBezTo>
                      <a:pt x="9" y="18"/>
                      <a:pt x="10" y="17"/>
                      <a:pt x="11" y="17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3" y="20"/>
                      <a:pt x="12" y="21"/>
                      <a:pt x="11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/>
              <p:cNvSpPr>
                <a:spLocks noEditPoints="1"/>
              </p:cNvSpPr>
              <p:nvPr/>
            </p:nvSpPr>
            <p:spPr bwMode="auto">
              <a:xfrm>
                <a:off x="6380163" y="2627313"/>
                <a:ext cx="177800" cy="176212"/>
              </a:xfrm>
              <a:custGeom>
                <a:avLst/>
                <a:gdLst>
                  <a:gd name="T0" fmla="*/ 34 w 68"/>
                  <a:gd name="T1" fmla="*/ 0 h 68"/>
                  <a:gd name="T2" fmla="*/ 0 w 68"/>
                  <a:gd name="T3" fmla="*/ 34 h 68"/>
                  <a:gd name="T4" fmla="*/ 34 w 68"/>
                  <a:gd name="T5" fmla="*/ 68 h 68"/>
                  <a:gd name="T6" fmla="*/ 68 w 68"/>
                  <a:gd name="T7" fmla="*/ 34 h 68"/>
                  <a:gd name="T8" fmla="*/ 34 w 68"/>
                  <a:gd name="T9" fmla="*/ 0 h 68"/>
                  <a:gd name="T10" fmla="*/ 36 w 68"/>
                  <a:gd name="T11" fmla="*/ 64 h 68"/>
                  <a:gd name="T12" fmla="*/ 36 w 68"/>
                  <a:gd name="T13" fmla="*/ 54 h 68"/>
                  <a:gd name="T14" fmla="*/ 34 w 68"/>
                  <a:gd name="T15" fmla="*/ 52 h 68"/>
                  <a:gd name="T16" fmla="*/ 32 w 68"/>
                  <a:gd name="T17" fmla="*/ 54 h 68"/>
                  <a:gd name="T18" fmla="*/ 32 w 68"/>
                  <a:gd name="T19" fmla="*/ 64 h 68"/>
                  <a:gd name="T20" fmla="*/ 4 w 68"/>
                  <a:gd name="T21" fmla="*/ 36 h 68"/>
                  <a:gd name="T22" fmla="*/ 14 w 68"/>
                  <a:gd name="T23" fmla="*/ 36 h 68"/>
                  <a:gd name="T24" fmla="*/ 16 w 68"/>
                  <a:gd name="T25" fmla="*/ 34 h 68"/>
                  <a:gd name="T26" fmla="*/ 14 w 68"/>
                  <a:gd name="T27" fmla="*/ 32 h 68"/>
                  <a:gd name="T28" fmla="*/ 4 w 68"/>
                  <a:gd name="T29" fmla="*/ 32 h 68"/>
                  <a:gd name="T30" fmla="*/ 32 w 68"/>
                  <a:gd name="T31" fmla="*/ 4 h 68"/>
                  <a:gd name="T32" fmla="*/ 32 w 68"/>
                  <a:gd name="T33" fmla="*/ 14 h 68"/>
                  <a:gd name="T34" fmla="*/ 34 w 68"/>
                  <a:gd name="T35" fmla="*/ 16 h 68"/>
                  <a:gd name="T36" fmla="*/ 36 w 68"/>
                  <a:gd name="T37" fmla="*/ 14 h 68"/>
                  <a:gd name="T38" fmla="*/ 36 w 68"/>
                  <a:gd name="T39" fmla="*/ 4 h 68"/>
                  <a:gd name="T40" fmla="*/ 64 w 68"/>
                  <a:gd name="T41" fmla="*/ 32 h 68"/>
                  <a:gd name="T42" fmla="*/ 54 w 68"/>
                  <a:gd name="T43" fmla="*/ 32 h 68"/>
                  <a:gd name="T44" fmla="*/ 52 w 68"/>
                  <a:gd name="T45" fmla="*/ 34 h 68"/>
                  <a:gd name="T46" fmla="*/ 54 w 68"/>
                  <a:gd name="T47" fmla="*/ 36 h 68"/>
                  <a:gd name="T48" fmla="*/ 64 w 68"/>
                  <a:gd name="T49" fmla="*/ 36 h 68"/>
                  <a:gd name="T50" fmla="*/ 36 w 68"/>
                  <a:gd name="T51" fmla="*/ 6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8" h="68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53"/>
                      <a:pt x="15" y="68"/>
                      <a:pt x="34" y="68"/>
                    </a:cubicBezTo>
                    <a:cubicBezTo>
                      <a:pt x="53" y="68"/>
                      <a:pt x="68" y="53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  <a:moveTo>
                      <a:pt x="36" y="64"/>
                    </a:move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5" y="52"/>
                      <a:pt x="34" y="52"/>
                    </a:cubicBezTo>
                    <a:cubicBezTo>
                      <a:pt x="33" y="52"/>
                      <a:pt x="32" y="53"/>
                      <a:pt x="32" y="54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17" y="63"/>
                      <a:pt x="5" y="52"/>
                      <a:pt x="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5" y="36"/>
                      <a:pt x="16" y="35"/>
                      <a:pt x="16" y="34"/>
                    </a:cubicBezTo>
                    <a:cubicBezTo>
                      <a:pt x="16" y="33"/>
                      <a:pt x="15" y="32"/>
                      <a:pt x="14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5" y="16"/>
                      <a:pt x="17" y="5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5"/>
                      <a:pt x="33" y="16"/>
                      <a:pt x="34" y="16"/>
                    </a:cubicBezTo>
                    <a:cubicBezTo>
                      <a:pt x="35" y="16"/>
                      <a:pt x="36" y="15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1" y="5"/>
                      <a:pt x="63" y="16"/>
                      <a:pt x="64" y="32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3" y="32"/>
                      <a:pt x="52" y="33"/>
                      <a:pt x="52" y="34"/>
                    </a:cubicBezTo>
                    <a:cubicBezTo>
                      <a:pt x="52" y="35"/>
                      <a:pt x="53" y="36"/>
                      <a:pt x="54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3" y="52"/>
                      <a:pt x="51" y="63"/>
                      <a:pt x="36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/>
              <p:cNvSpPr>
                <a:spLocks noEditPoints="1"/>
              </p:cNvSpPr>
              <p:nvPr/>
            </p:nvSpPr>
            <p:spPr bwMode="auto">
              <a:xfrm>
                <a:off x="6350000" y="2533650"/>
                <a:ext cx="238125" cy="301625"/>
              </a:xfrm>
              <a:custGeom>
                <a:avLst/>
                <a:gdLst>
                  <a:gd name="T0" fmla="*/ 80 w 92"/>
                  <a:gd name="T1" fmla="*/ 39 h 116"/>
                  <a:gd name="T2" fmla="*/ 85 w 92"/>
                  <a:gd name="T3" fmla="*/ 34 h 116"/>
                  <a:gd name="T4" fmla="*/ 88 w 92"/>
                  <a:gd name="T5" fmla="*/ 37 h 116"/>
                  <a:gd name="T6" fmla="*/ 90 w 92"/>
                  <a:gd name="T7" fmla="*/ 34 h 116"/>
                  <a:gd name="T8" fmla="*/ 82 w 92"/>
                  <a:gd name="T9" fmla="*/ 26 h 116"/>
                  <a:gd name="T10" fmla="*/ 79 w 92"/>
                  <a:gd name="T11" fmla="*/ 28 h 116"/>
                  <a:gd name="T12" fmla="*/ 82 w 92"/>
                  <a:gd name="T13" fmla="*/ 31 h 116"/>
                  <a:gd name="T14" fmla="*/ 77 w 92"/>
                  <a:gd name="T15" fmla="*/ 36 h 116"/>
                  <a:gd name="T16" fmla="*/ 55 w 92"/>
                  <a:gd name="T17" fmla="*/ 25 h 116"/>
                  <a:gd name="T18" fmla="*/ 60 w 92"/>
                  <a:gd name="T19" fmla="*/ 14 h 116"/>
                  <a:gd name="T20" fmla="*/ 46 w 92"/>
                  <a:gd name="T21" fmla="*/ 0 h 116"/>
                  <a:gd name="T22" fmla="*/ 32 w 92"/>
                  <a:gd name="T23" fmla="*/ 14 h 116"/>
                  <a:gd name="T24" fmla="*/ 37 w 92"/>
                  <a:gd name="T25" fmla="*/ 25 h 116"/>
                  <a:gd name="T26" fmla="*/ 15 w 92"/>
                  <a:gd name="T27" fmla="*/ 36 h 116"/>
                  <a:gd name="T28" fmla="*/ 10 w 92"/>
                  <a:gd name="T29" fmla="*/ 31 h 116"/>
                  <a:gd name="T30" fmla="*/ 13 w 92"/>
                  <a:gd name="T31" fmla="*/ 28 h 116"/>
                  <a:gd name="T32" fmla="*/ 10 w 92"/>
                  <a:gd name="T33" fmla="*/ 26 h 116"/>
                  <a:gd name="T34" fmla="*/ 2 w 92"/>
                  <a:gd name="T35" fmla="*/ 34 h 116"/>
                  <a:gd name="T36" fmla="*/ 4 w 92"/>
                  <a:gd name="T37" fmla="*/ 37 h 116"/>
                  <a:gd name="T38" fmla="*/ 7 w 92"/>
                  <a:gd name="T39" fmla="*/ 34 h 116"/>
                  <a:gd name="T40" fmla="*/ 12 w 92"/>
                  <a:gd name="T41" fmla="*/ 39 h 116"/>
                  <a:gd name="T42" fmla="*/ 0 w 92"/>
                  <a:gd name="T43" fmla="*/ 70 h 116"/>
                  <a:gd name="T44" fmla="*/ 46 w 92"/>
                  <a:gd name="T45" fmla="*/ 116 h 116"/>
                  <a:gd name="T46" fmla="*/ 92 w 92"/>
                  <a:gd name="T47" fmla="*/ 70 h 116"/>
                  <a:gd name="T48" fmla="*/ 80 w 92"/>
                  <a:gd name="T49" fmla="*/ 39 h 116"/>
                  <a:gd name="T50" fmla="*/ 36 w 92"/>
                  <a:gd name="T51" fmla="*/ 14 h 116"/>
                  <a:gd name="T52" fmla="*/ 46 w 92"/>
                  <a:gd name="T53" fmla="*/ 4 h 116"/>
                  <a:gd name="T54" fmla="*/ 56 w 92"/>
                  <a:gd name="T55" fmla="*/ 14 h 116"/>
                  <a:gd name="T56" fmla="*/ 48 w 92"/>
                  <a:gd name="T57" fmla="*/ 24 h 116"/>
                  <a:gd name="T58" fmla="*/ 48 w 92"/>
                  <a:gd name="T59" fmla="*/ 16 h 116"/>
                  <a:gd name="T60" fmla="*/ 52 w 92"/>
                  <a:gd name="T61" fmla="*/ 16 h 116"/>
                  <a:gd name="T62" fmla="*/ 52 w 92"/>
                  <a:gd name="T63" fmla="*/ 12 h 116"/>
                  <a:gd name="T64" fmla="*/ 40 w 92"/>
                  <a:gd name="T65" fmla="*/ 12 h 116"/>
                  <a:gd name="T66" fmla="*/ 40 w 92"/>
                  <a:gd name="T67" fmla="*/ 16 h 116"/>
                  <a:gd name="T68" fmla="*/ 44 w 92"/>
                  <a:gd name="T69" fmla="*/ 16 h 116"/>
                  <a:gd name="T70" fmla="*/ 44 w 92"/>
                  <a:gd name="T71" fmla="*/ 24 h 116"/>
                  <a:gd name="T72" fmla="*/ 36 w 92"/>
                  <a:gd name="T73" fmla="*/ 14 h 116"/>
                  <a:gd name="T74" fmla="*/ 46 w 92"/>
                  <a:gd name="T75" fmla="*/ 112 h 116"/>
                  <a:gd name="T76" fmla="*/ 4 w 92"/>
                  <a:gd name="T77" fmla="*/ 70 h 116"/>
                  <a:gd name="T78" fmla="*/ 46 w 92"/>
                  <a:gd name="T79" fmla="*/ 28 h 116"/>
                  <a:gd name="T80" fmla="*/ 88 w 92"/>
                  <a:gd name="T81" fmla="*/ 70 h 116"/>
                  <a:gd name="T82" fmla="*/ 46 w 92"/>
                  <a:gd name="T83" fmla="*/ 11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2" h="116">
                    <a:moveTo>
                      <a:pt x="80" y="39"/>
                    </a:moveTo>
                    <a:cubicBezTo>
                      <a:pt x="85" y="34"/>
                      <a:pt x="85" y="34"/>
                      <a:pt x="85" y="34"/>
                    </a:cubicBezTo>
                    <a:cubicBezTo>
                      <a:pt x="88" y="37"/>
                      <a:pt x="88" y="37"/>
                      <a:pt x="88" y="37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2" y="26"/>
                      <a:pt x="82" y="26"/>
                      <a:pt x="82" y="26"/>
                    </a:cubicBezTo>
                    <a:cubicBezTo>
                      <a:pt x="79" y="28"/>
                      <a:pt x="79" y="28"/>
                      <a:pt x="79" y="28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77" y="36"/>
                      <a:pt x="77" y="36"/>
                      <a:pt x="77" y="36"/>
                    </a:cubicBezTo>
                    <a:cubicBezTo>
                      <a:pt x="71" y="30"/>
                      <a:pt x="63" y="27"/>
                      <a:pt x="55" y="25"/>
                    </a:cubicBezTo>
                    <a:cubicBezTo>
                      <a:pt x="58" y="22"/>
                      <a:pt x="60" y="18"/>
                      <a:pt x="60" y="14"/>
                    </a:cubicBezTo>
                    <a:cubicBezTo>
                      <a:pt x="60" y="6"/>
                      <a:pt x="54" y="0"/>
                      <a:pt x="46" y="0"/>
                    </a:cubicBezTo>
                    <a:cubicBezTo>
                      <a:pt x="38" y="0"/>
                      <a:pt x="32" y="6"/>
                      <a:pt x="32" y="14"/>
                    </a:cubicBezTo>
                    <a:cubicBezTo>
                      <a:pt x="32" y="18"/>
                      <a:pt x="34" y="22"/>
                      <a:pt x="37" y="25"/>
                    </a:cubicBezTo>
                    <a:cubicBezTo>
                      <a:pt x="29" y="27"/>
                      <a:pt x="21" y="30"/>
                      <a:pt x="15" y="36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5" y="47"/>
                      <a:pt x="0" y="58"/>
                      <a:pt x="0" y="70"/>
                    </a:cubicBezTo>
                    <a:cubicBezTo>
                      <a:pt x="0" y="95"/>
                      <a:pt x="21" y="116"/>
                      <a:pt x="46" y="116"/>
                    </a:cubicBezTo>
                    <a:cubicBezTo>
                      <a:pt x="71" y="116"/>
                      <a:pt x="92" y="95"/>
                      <a:pt x="92" y="70"/>
                    </a:cubicBezTo>
                    <a:cubicBezTo>
                      <a:pt x="92" y="58"/>
                      <a:pt x="87" y="47"/>
                      <a:pt x="80" y="39"/>
                    </a:cubicBezTo>
                    <a:close/>
                    <a:moveTo>
                      <a:pt x="36" y="14"/>
                    </a:moveTo>
                    <a:cubicBezTo>
                      <a:pt x="36" y="8"/>
                      <a:pt x="40" y="4"/>
                      <a:pt x="46" y="4"/>
                    </a:cubicBezTo>
                    <a:cubicBezTo>
                      <a:pt x="52" y="4"/>
                      <a:pt x="56" y="8"/>
                      <a:pt x="56" y="14"/>
                    </a:cubicBezTo>
                    <a:cubicBezTo>
                      <a:pt x="56" y="19"/>
                      <a:pt x="53" y="23"/>
                      <a:pt x="48" y="2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39" y="23"/>
                      <a:pt x="36" y="19"/>
                      <a:pt x="36" y="14"/>
                    </a:cubicBezTo>
                    <a:close/>
                    <a:moveTo>
                      <a:pt x="46" y="112"/>
                    </a:moveTo>
                    <a:cubicBezTo>
                      <a:pt x="23" y="112"/>
                      <a:pt x="4" y="93"/>
                      <a:pt x="4" y="70"/>
                    </a:cubicBezTo>
                    <a:cubicBezTo>
                      <a:pt x="4" y="47"/>
                      <a:pt x="23" y="28"/>
                      <a:pt x="46" y="28"/>
                    </a:cubicBezTo>
                    <a:cubicBezTo>
                      <a:pt x="69" y="28"/>
                      <a:pt x="88" y="47"/>
                      <a:pt x="88" y="70"/>
                    </a:cubicBezTo>
                    <a:cubicBezTo>
                      <a:pt x="88" y="93"/>
                      <a:pt x="69" y="112"/>
                      <a:pt x="46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11075581" y="528361"/>
              <a:ext cx="462862" cy="508841"/>
              <a:chOff x="6983413" y="2554288"/>
              <a:chExt cx="239713" cy="263525"/>
            </a:xfrm>
            <a:grpFill/>
          </p:grpSpPr>
          <p:sp>
            <p:nvSpPr>
              <p:cNvPr id="189" name="Freeform 188"/>
              <p:cNvSpPr>
                <a:spLocks noEditPoints="1"/>
              </p:cNvSpPr>
              <p:nvPr/>
            </p:nvSpPr>
            <p:spPr bwMode="auto">
              <a:xfrm>
                <a:off x="7088188" y="2619375"/>
                <a:ext cx="30163" cy="114300"/>
              </a:xfrm>
              <a:custGeom>
                <a:avLst/>
                <a:gdLst>
                  <a:gd name="T0" fmla="*/ 8 w 12"/>
                  <a:gd name="T1" fmla="*/ 24 h 44"/>
                  <a:gd name="T2" fmla="*/ 8 w 12"/>
                  <a:gd name="T3" fmla="*/ 2 h 44"/>
                  <a:gd name="T4" fmla="*/ 6 w 12"/>
                  <a:gd name="T5" fmla="*/ 0 h 44"/>
                  <a:gd name="T6" fmla="*/ 4 w 12"/>
                  <a:gd name="T7" fmla="*/ 2 h 44"/>
                  <a:gd name="T8" fmla="*/ 4 w 12"/>
                  <a:gd name="T9" fmla="*/ 24 h 44"/>
                  <a:gd name="T10" fmla="*/ 0 w 12"/>
                  <a:gd name="T11" fmla="*/ 30 h 44"/>
                  <a:gd name="T12" fmla="*/ 4 w 12"/>
                  <a:gd name="T13" fmla="*/ 36 h 44"/>
                  <a:gd name="T14" fmla="*/ 4 w 12"/>
                  <a:gd name="T15" fmla="*/ 42 h 44"/>
                  <a:gd name="T16" fmla="*/ 6 w 12"/>
                  <a:gd name="T17" fmla="*/ 44 h 44"/>
                  <a:gd name="T18" fmla="*/ 8 w 12"/>
                  <a:gd name="T19" fmla="*/ 42 h 44"/>
                  <a:gd name="T20" fmla="*/ 8 w 12"/>
                  <a:gd name="T21" fmla="*/ 36 h 44"/>
                  <a:gd name="T22" fmla="*/ 12 w 12"/>
                  <a:gd name="T23" fmla="*/ 30 h 44"/>
                  <a:gd name="T24" fmla="*/ 8 w 12"/>
                  <a:gd name="T25" fmla="*/ 24 h 44"/>
                  <a:gd name="T26" fmla="*/ 6 w 12"/>
                  <a:gd name="T27" fmla="*/ 32 h 44"/>
                  <a:gd name="T28" fmla="*/ 4 w 12"/>
                  <a:gd name="T29" fmla="*/ 30 h 44"/>
                  <a:gd name="T30" fmla="*/ 6 w 12"/>
                  <a:gd name="T31" fmla="*/ 28 h 44"/>
                  <a:gd name="T32" fmla="*/ 8 w 12"/>
                  <a:gd name="T33" fmla="*/ 30 h 44"/>
                  <a:gd name="T34" fmla="*/ 6 w 12"/>
                  <a:gd name="T35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" h="44">
                    <a:moveTo>
                      <a:pt x="8" y="24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4" y="1"/>
                      <a:pt x="4" y="2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2" y="25"/>
                      <a:pt x="0" y="27"/>
                      <a:pt x="0" y="30"/>
                    </a:cubicBezTo>
                    <a:cubicBezTo>
                      <a:pt x="0" y="33"/>
                      <a:pt x="2" y="35"/>
                      <a:pt x="4" y="36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43"/>
                      <a:pt x="5" y="44"/>
                      <a:pt x="6" y="44"/>
                    </a:cubicBezTo>
                    <a:cubicBezTo>
                      <a:pt x="7" y="44"/>
                      <a:pt x="8" y="43"/>
                      <a:pt x="8" y="4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0" y="35"/>
                      <a:pt x="12" y="33"/>
                      <a:pt x="12" y="30"/>
                    </a:cubicBezTo>
                    <a:cubicBezTo>
                      <a:pt x="12" y="27"/>
                      <a:pt x="10" y="25"/>
                      <a:pt x="8" y="24"/>
                    </a:cubicBezTo>
                    <a:close/>
                    <a:moveTo>
                      <a:pt x="6" y="32"/>
                    </a:moveTo>
                    <a:cubicBezTo>
                      <a:pt x="5" y="32"/>
                      <a:pt x="4" y="31"/>
                      <a:pt x="4" y="30"/>
                    </a:cubicBezTo>
                    <a:cubicBezTo>
                      <a:pt x="4" y="29"/>
                      <a:pt x="5" y="28"/>
                      <a:pt x="6" y="28"/>
                    </a:cubicBezTo>
                    <a:cubicBezTo>
                      <a:pt x="7" y="28"/>
                      <a:pt x="8" y="29"/>
                      <a:pt x="8" y="30"/>
                    </a:cubicBezTo>
                    <a:cubicBezTo>
                      <a:pt x="8" y="31"/>
                      <a:pt x="7" y="32"/>
                      <a:pt x="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/>
              <p:cNvSpPr>
                <a:spLocks noEditPoints="1"/>
              </p:cNvSpPr>
              <p:nvPr/>
            </p:nvSpPr>
            <p:spPr bwMode="auto">
              <a:xfrm>
                <a:off x="6983413" y="2554288"/>
                <a:ext cx="239713" cy="263525"/>
              </a:xfrm>
              <a:custGeom>
                <a:avLst/>
                <a:gdLst>
                  <a:gd name="T0" fmla="*/ 80 w 92"/>
                  <a:gd name="T1" fmla="*/ 24 h 101"/>
                  <a:gd name="T2" fmla="*/ 85 w 92"/>
                  <a:gd name="T3" fmla="*/ 19 h 101"/>
                  <a:gd name="T4" fmla="*/ 88 w 92"/>
                  <a:gd name="T5" fmla="*/ 22 h 101"/>
                  <a:gd name="T6" fmla="*/ 90 w 92"/>
                  <a:gd name="T7" fmla="*/ 19 h 101"/>
                  <a:gd name="T8" fmla="*/ 82 w 92"/>
                  <a:gd name="T9" fmla="*/ 11 h 101"/>
                  <a:gd name="T10" fmla="*/ 79 w 92"/>
                  <a:gd name="T11" fmla="*/ 13 h 101"/>
                  <a:gd name="T12" fmla="*/ 82 w 92"/>
                  <a:gd name="T13" fmla="*/ 16 h 101"/>
                  <a:gd name="T14" fmla="*/ 77 w 92"/>
                  <a:gd name="T15" fmla="*/ 21 h 101"/>
                  <a:gd name="T16" fmla="*/ 48 w 92"/>
                  <a:gd name="T17" fmla="*/ 9 h 101"/>
                  <a:gd name="T18" fmla="*/ 48 w 92"/>
                  <a:gd name="T19" fmla="*/ 4 h 101"/>
                  <a:gd name="T20" fmla="*/ 52 w 92"/>
                  <a:gd name="T21" fmla="*/ 4 h 101"/>
                  <a:gd name="T22" fmla="*/ 52 w 92"/>
                  <a:gd name="T23" fmla="*/ 0 h 101"/>
                  <a:gd name="T24" fmla="*/ 40 w 92"/>
                  <a:gd name="T25" fmla="*/ 0 h 101"/>
                  <a:gd name="T26" fmla="*/ 40 w 92"/>
                  <a:gd name="T27" fmla="*/ 4 h 101"/>
                  <a:gd name="T28" fmla="*/ 44 w 92"/>
                  <a:gd name="T29" fmla="*/ 4 h 101"/>
                  <a:gd name="T30" fmla="*/ 44 w 92"/>
                  <a:gd name="T31" fmla="*/ 9 h 101"/>
                  <a:gd name="T32" fmla="*/ 0 w 92"/>
                  <a:gd name="T33" fmla="*/ 55 h 101"/>
                  <a:gd name="T34" fmla="*/ 46 w 92"/>
                  <a:gd name="T35" fmla="*/ 101 h 101"/>
                  <a:gd name="T36" fmla="*/ 92 w 92"/>
                  <a:gd name="T37" fmla="*/ 55 h 101"/>
                  <a:gd name="T38" fmla="*/ 80 w 92"/>
                  <a:gd name="T39" fmla="*/ 24 h 101"/>
                  <a:gd name="T40" fmla="*/ 46 w 92"/>
                  <a:gd name="T41" fmla="*/ 97 h 101"/>
                  <a:gd name="T42" fmla="*/ 4 w 92"/>
                  <a:gd name="T43" fmla="*/ 55 h 101"/>
                  <a:gd name="T44" fmla="*/ 46 w 92"/>
                  <a:gd name="T45" fmla="*/ 13 h 101"/>
                  <a:gd name="T46" fmla="*/ 88 w 92"/>
                  <a:gd name="T47" fmla="*/ 55 h 101"/>
                  <a:gd name="T48" fmla="*/ 46 w 92"/>
                  <a:gd name="T49" fmla="*/ 9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2" h="101">
                    <a:moveTo>
                      <a:pt x="80" y="24"/>
                    </a:moveTo>
                    <a:cubicBezTo>
                      <a:pt x="85" y="19"/>
                      <a:pt x="85" y="19"/>
                      <a:pt x="85" y="19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77" y="21"/>
                      <a:pt x="77" y="21"/>
                      <a:pt x="77" y="21"/>
                    </a:cubicBezTo>
                    <a:cubicBezTo>
                      <a:pt x="69" y="14"/>
                      <a:pt x="59" y="10"/>
                      <a:pt x="48" y="9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20" y="10"/>
                      <a:pt x="0" y="30"/>
                      <a:pt x="0" y="55"/>
                    </a:cubicBezTo>
                    <a:cubicBezTo>
                      <a:pt x="0" y="80"/>
                      <a:pt x="21" y="101"/>
                      <a:pt x="46" y="101"/>
                    </a:cubicBezTo>
                    <a:cubicBezTo>
                      <a:pt x="71" y="101"/>
                      <a:pt x="92" y="80"/>
                      <a:pt x="92" y="55"/>
                    </a:cubicBezTo>
                    <a:cubicBezTo>
                      <a:pt x="92" y="43"/>
                      <a:pt x="87" y="32"/>
                      <a:pt x="80" y="24"/>
                    </a:cubicBezTo>
                    <a:close/>
                    <a:moveTo>
                      <a:pt x="46" y="97"/>
                    </a:moveTo>
                    <a:cubicBezTo>
                      <a:pt x="23" y="97"/>
                      <a:pt x="4" y="78"/>
                      <a:pt x="4" y="55"/>
                    </a:cubicBezTo>
                    <a:cubicBezTo>
                      <a:pt x="4" y="32"/>
                      <a:pt x="23" y="13"/>
                      <a:pt x="46" y="13"/>
                    </a:cubicBezTo>
                    <a:cubicBezTo>
                      <a:pt x="69" y="13"/>
                      <a:pt x="88" y="32"/>
                      <a:pt x="88" y="55"/>
                    </a:cubicBezTo>
                    <a:cubicBezTo>
                      <a:pt x="88" y="78"/>
                      <a:pt x="69" y="97"/>
                      <a:pt x="46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2480489" y="2779292"/>
              <a:ext cx="239713" cy="292100"/>
              <a:chOff x="1273175" y="3175000"/>
              <a:chExt cx="239713" cy="292100"/>
            </a:xfrm>
            <a:grpFill/>
          </p:grpSpPr>
          <p:sp>
            <p:nvSpPr>
              <p:cNvPr id="187" name="Oval 186"/>
              <p:cNvSpPr>
                <a:spLocks noChangeArrowheads="1"/>
              </p:cNvSpPr>
              <p:nvPr/>
            </p:nvSpPr>
            <p:spPr bwMode="auto">
              <a:xfrm>
                <a:off x="1419225" y="3403600"/>
                <a:ext cx="31750" cy="2063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/>
              <p:cNvSpPr>
                <a:spLocks noEditPoints="1"/>
              </p:cNvSpPr>
              <p:nvPr/>
            </p:nvSpPr>
            <p:spPr bwMode="auto">
              <a:xfrm>
                <a:off x="1273175" y="3175000"/>
                <a:ext cx="239713" cy="292100"/>
              </a:xfrm>
              <a:custGeom>
                <a:avLst/>
                <a:gdLst>
                  <a:gd name="T0" fmla="*/ 46 w 92"/>
                  <a:gd name="T1" fmla="*/ 76 h 112"/>
                  <a:gd name="T2" fmla="*/ 32 w 92"/>
                  <a:gd name="T3" fmla="*/ 77 h 112"/>
                  <a:gd name="T4" fmla="*/ 32 w 92"/>
                  <a:gd name="T5" fmla="*/ 46 h 112"/>
                  <a:gd name="T6" fmla="*/ 84 w 92"/>
                  <a:gd name="T7" fmla="*/ 24 h 112"/>
                  <a:gd name="T8" fmla="*/ 28 w 92"/>
                  <a:gd name="T9" fmla="*/ 0 h 112"/>
                  <a:gd name="T10" fmla="*/ 28 w 92"/>
                  <a:gd name="T11" fmla="*/ 26 h 112"/>
                  <a:gd name="T12" fmla="*/ 28 w 92"/>
                  <a:gd name="T13" fmla="*/ 77 h 112"/>
                  <a:gd name="T14" fmla="*/ 0 w 92"/>
                  <a:gd name="T15" fmla="*/ 94 h 112"/>
                  <a:gd name="T16" fmla="*/ 46 w 92"/>
                  <a:gd name="T17" fmla="*/ 112 h 112"/>
                  <a:gd name="T18" fmla="*/ 92 w 92"/>
                  <a:gd name="T19" fmla="*/ 94 h 112"/>
                  <a:gd name="T20" fmla="*/ 46 w 92"/>
                  <a:gd name="T21" fmla="*/ 76 h 112"/>
                  <a:gd name="T22" fmla="*/ 32 w 92"/>
                  <a:gd name="T23" fmla="*/ 6 h 112"/>
                  <a:gd name="T24" fmla="*/ 74 w 92"/>
                  <a:gd name="T25" fmla="*/ 24 h 112"/>
                  <a:gd name="T26" fmla="*/ 32 w 92"/>
                  <a:gd name="T27" fmla="*/ 42 h 112"/>
                  <a:gd name="T28" fmla="*/ 32 w 92"/>
                  <a:gd name="T29" fmla="*/ 6 h 112"/>
                  <a:gd name="T30" fmla="*/ 46 w 92"/>
                  <a:gd name="T31" fmla="*/ 108 h 112"/>
                  <a:gd name="T32" fmla="*/ 4 w 92"/>
                  <a:gd name="T33" fmla="*/ 94 h 112"/>
                  <a:gd name="T34" fmla="*/ 28 w 92"/>
                  <a:gd name="T35" fmla="*/ 81 h 112"/>
                  <a:gd name="T36" fmla="*/ 28 w 92"/>
                  <a:gd name="T37" fmla="*/ 88 h 112"/>
                  <a:gd name="T38" fmla="*/ 20 w 92"/>
                  <a:gd name="T39" fmla="*/ 94 h 112"/>
                  <a:gd name="T40" fmla="*/ 30 w 92"/>
                  <a:gd name="T41" fmla="*/ 100 h 112"/>
                  <a:gd name="T42" fmla="*/ 40 w 92"/>
                  <a:gd name="T43" fmla="*/ 94 h 112"/>
                  <a:gd name="T44" fmla="*/ 32 w 92"/>
                  <a:gd name="T45" fmla="*/ 88 h 112"/>
                  <a:gd name="T46" fmla="*/ 32 w 92"/>
                  <a:gd name="T47" fmla="*/ 81 h 112"/>
                  <a:gd name="T48" fmla="*/ 46 w 92"/>
                  <a:gd name="T49" fmla="*/ 80 h 112"/>
                  <a:gd name="T50" fmla="*/ 88 w 92"/>
                  <a:gd name="T51" fmla="*/ 94 h 112"/>
                  <a:gd name="T52" fmla="*/ 46 w 92"/>
                  <a:gd name="T53" fmla="*/ 10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2" h="112">
                    <a:moveTo>
                      <a:pt x="46" y="76"/>
                    </a:moveTo>
                    <a:cubicBezTo>
                      <a:pt x="41" y="76"/>
                      <a:pt x="36" y="76"/>
                      <a:pt x="32" y="7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84" y="24"/>
                      <a:pt x="84" y="24"/>
                      <a:pt x="84" y="2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12" y="80"/>
                      <a:pt x="0" y="87"/>
                      <a:pt x="0" y="94"/>
                    </a:cubicBezTo>
                    <a:cubicBezTo>
                      <a:pt x="0" y="104"/>
                      <a:pt x="21" y="112"/>
                      <a:pt x="46" y="112"/>
                    </a:cubicBezTo>
                    <a:cubicBezTo>
                      <a:pt x="71" y="112"/>
                      <a:pt x="92" y="104"/>
                      <a:pt x="92" y="94"/>
                    </a:cubicBezTo>
                    <a:cubicBezTo>
                      <a:pt x="92" y="84"/>
                      <a:pt x="71" y="76"/>
                      <a:pt x="46" y="76"/>
                    </a:cubicBezTo>
                    <a:close/>
                    <a:moveTo>
                      <a:pt x="32" y="6"/>
                    </a:moveTo>
                    <a:cubicBezTo>
                      <a:pt x="74" y="24"/>
                      <a:pt x="74" y="24"/>
                      <a:pt x="74" y="24"/>
                    </a:cubicBezTo>
                    <a:cubicBezTo>
                      <a:pt x="32" y="42"/>
                      <a:pt x="32" y="42"/>
                      <a:pt x="32" y="42"/>
                    </a:cubicBezTo>
                    <a:lnTo>
                      <a:pt x="32" y="6"/>
                    </a:lnTo>
                    <a:close/>
                    <a:moveTo>
                      <a:pt x="46" y="108"/>
                    </a:moveTo>
                    <a:cubicBezTo>
                      <a:pt x="23" y="108"/>
                      <a:pt x="4" y="102"/>
                      <a:pt x="4" y="94"/>
                    </a:cubicBezTo>
                    <a:cubicBezTo>
                      <a:pt x="4" y="88"/>
                      <a:pt x="14" y="84"/>
                      <a:pt x="28" y="81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3" y="89"/>
                      <a:pt x="20" y="91"/>
                      <a:pt x="20" y="94"/>
                    </a:cubicBezTo>
                    <a:cubicBezTo>
                      <a:pt x="20" y="97"/>
                      <a:pt x="24" y="100"/>
                      <a:pt x="30" y="100"/>
                    </a:cubicBezTo>
                    <a:cubicBezTo>
                      <a:pt x="36" y="100"/>
                      <a:pt x="40" y="97"/>
                      <a:pt x="40" y="94"/>
                    </a:cubicBezTo>
                    <a:cubicBezTo>
                      <a:pt x="40" y="91"/>
                      <a:pt x="37" y="89"/>
                      <a:pt x="32" y="8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6" y="80"/>
                      <a:pt x="41" y="80"/>
                      <a:pt x="46" y="80"/>
                    </a:cubicBezTo>
                    <a:cubicBezTo>
                      <a:pt x="69" y="80"/>
                      <a:pt x="88" y="86"/>
                      <a:pt x="88" y="94"/>
                    </a:cubicBezTo>
                    <a:cubicBezTo>
                      <a:pt x="88" y="102"/>
                      <a:pt x="69" y="108"/>
                      <a:pt x="46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0" name="Freeform 99"/>
            <p:cNvSpPr>
              <a:spLocks noEditPoints="1"/>
            </p:cNvSpPr>
            <p:nvPr/>
          </p:nvSpPr>
          <p:spPr bwMode="auto">
            <a:xfrm>
              <a:off x="9288758" y="231629"/>
              <a:ext cx="590966" cy="590964"/>
            </a:xfrm>
            <a:custGeom>
              <a:avLst/>
              <a:gdLst>
                <a:gd name="T0" fmla="*/ 16 w 96"/>
                <a:gd name="T1" fmla="*/ 83 h 96"/>
                <a:gd name="T2" fmla="*/ 16 w 96"/>
                <a:gd name="T3" fmla="*/ 84 h 96"/>
                <a:gd name="T4" fmla="*/ 16 w 96"/>
                <a:gd name="T5" fmla="*/ 96 h 96"/>
                <a:gd name="T6" fmla="*/ 12 w 96"/>
                <a:gd name="T7" fmla="*/ 87 h 96"/>
                <a:gd name="T8" fmla="*/ 4 w 96"/>
                <a:gd name="T9" fmla="*/ 89 h 96"/>
                <a:gd name="T10" fmla="*/ 0 w 96"/>
                <a:gd name="T11" fmla="*/ 84 h 96"/>
                <a:gd name="T12" fmla="*/ 13 w 96"/>
                <a:gd name="T13" fmla="*/ 80 h 96"/>
                <a:gd name="T14" fmla="*/ 17 w 96"/>
                <a:gd name="T15" fmla="*/ 76 h 96"/>
                <a:gd name="T16" fmla="*/ 8 w 96"/>
                <a:gd name="T17" fmla="*/ 72 h 96"/>
                <a:gd name="T18" fmla="*/ 43 w 96"/>
                <a:gd name="T19" fmla="*/ 51 h 96"/>
                <a:gd name="T20" fmla="*/ 40 w 96"/>
                <a:gd name="T21" fmla="*/ 48 h 96"/>
                <a:gd name="T22" fmla="*/ 48 w 96"/>
                <a:gd name="T23" fmla="*/ 56 h 96"/>
                <a:gd name="T24" fmla="*/ 24 w 96"/>
                <a:gd name="T25" fmla="*/ 75 h 96"/>
                <a:gd name="T26" fmla="*/ 24 w 96"/>
                <a:gd name="T27" fmla="*/ 88 h 96"/>
                <a:gd name="T28" fmla="*/ 20 w 96"/>
                <a:gd name="T29" fmla="*/ 79 h 96"/>
                <a:gd name="T30" fmla="*/ 8 w 96"/>
                <a:gd name="T31" fmla="*/ 44 h 96"/>
                <a:gd name="T32" fmla="*/ 96 w 96"/>
                <a:gd name="T33" fmla="*/ 44 h 96"/>
                <a:gd name="T34" fmla="*/ 28 w 96"/>
                <a:gd name="T35" fmla="*/ 81 h 96"/>
                <a:gd name="T36" fmla="*/ 28 w 96"/>
                <a:gd name="T37" fmla="*/ 76 h 96"/>
                <a:gd name="T38" fmla="*/ 92 w 96"/>
                <a:gd name="T39" fmla="*/ 44 h 96"/>
                <a:gd name="T40" fmla="*/ 12 w 96"/>
                <a:gd name="T41" fmla="*/ 44 h 96"/>
                <a:gd name="T42" fmla="*/ 20 w 96"/>
                <a:gd name="T43" fmla="*/ 68 h 96"/>
                <a:gd name="T44" fmla="*/ 15 w 96"/>
                <a:gd name="T45" fmla="*/ 68 h 96"/>
                <a:gd name="T46" fmla="*/ 40 w 96"/>
                <a:gd name="T47" fmla="*/ 44 h 96"/>
                <a:gd name="T48" fmla="*/ 64 w 96"/>
                <a:gd name="T49" fmla="*/ 44 h 96"/>
                <a:gd name="T50" fmla="*/ 51 w 96"/>
                <a:gd name="T51" fmla="*/ 56 h 96"/>
                <a:gd name="T52" fmla="*/ 53 w 96"/>
                <a:gd name="T53" fmla="*/ 52 h 96"/>
                <a:gd name="T54" fmla="*/ 52 w 96"/>
                <a:gd name="T55" fmla="*/ 36 h 96"/>
                <a:gd name="T56" fmla="*/ 40 w 96"/>
                <a:gd name="T57" fmla="*/ 45 h 96"/>
                <a:gd name="T58" fmla="*/ 28 w 96"/>
                <a:gd name="T59" fmla="*/ 59 h 96"/>
                <a:gd name="T60" fmla="*/ 52 w 96"/>
                <a:gd name="T61" fmla="*/ 16 h 96"/>
                <a:gd name="T62" fmla="*/ 52 w 96"/>
                <a:gd name="T63" fmla="*/ 72 h 96"/>
                <a:gd name="T64" fmla="*/ 40 w 96"/>
                <a:gd name="T65" fmla="*/ 65 h 96"/>
                <a:gd name="T66" fmla="*/ 76 w 96"/>
                <a:gd name="T67" fmla="*/ 44 h 96"/>
                <a:gd name="T68" fmla="*/ 28 w 96"/>
                <a:gd name="T69" fmla="*/ 44 h 96"/>
                <a:gd name="T70" fmla="*/ 28 w 96"/>
                <a:gd name="T71" fmla="*/ 5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96">
                  <a:moveTo>
                    <a:pt x="20" y="79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87"/>
                    <a:pt x="12" y="87"/>
                    <a:pt x="12" y="87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0" y="79"/>
                    <a:pt x="20" y="79"/>
                    <a:pt x="20" y="79"/>
                  </a:cubicBezTo>
                  <a:close/>
                  <a:moveTo>
                    <a:pt x="15" y="68"/>
                  </a:moveTo>
                  <a:cubicBezTo>
                    <a:pt x="11" y="61"/>
                    <a:pt x="8" y="53"/>
                    <a:pt x="8" y="44"/>
                  </a:cubicBezTo>
                  <a:cubicBezTo>
                    <a:pt x="8" y="20"/>
                    <a:pt x="28" y="0"/>
                    <a:pt x="52" y="0"/>
                  </a:cubicBezTo>
                  <a:cubicBezTo>
                    <a:pt x="76" y="0"/>
                    <a:pt x="96" y="20"/>
                    <a:pt x="96" y="44"/>
                  </a:cubicBezTo>
                  <a:cubicBezTo>
                    <a:pt x="96" y="68"/>
                    <a:pt x="76" y="88"/>
                    <a:pt x="52" y="88"/>
                  </a:cubicBezTo>
                  <a:cubicBezTo>
                    <a:pt x="43" y="88"/>
                    <a:pt x="35" y="85"/>
                    <a:pt x="28" y="81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35" y="81"/>
                    <a:pt x="43" y="84"/>
                    <a:pt x="52" y="84"/>
                  </a:cubicBezTo>
                  <a:cubicBezTo>
                    <a:pt x="74" y="84"/>
                    <a:pt x="92" y="66"/>
                    <a:pt x="92" y="44"/>
                  </a:cubicBezTo>
                  <a:cubicBezTo>
                    <a:pt x="92" y="22"/>
                    <a:pt x="74" y="4"/>
                    <a:pt x="52" y="4"/>
                  </a:cubicBezTo>
                  <a:cubicBezTo>
                    <a:pt x="30" y="4"/>
                    <a:pt x="12" y="22"/>
                    <a:pt x="12" y="44"/>
                  </a:cubicBezTo>
                  <a:cubicBezTo>
                    <a:pt x="12" y="53"/>
                    <a:pt x="15" y="61"/>
                    <a:pt x="20" y="6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68"/>
                    <a:pt x="15" y="68"/>
                    <a:pt x="15" y="68"/>
                  </a:cubicBezTo>
                  <a:close/>
                  <a:moveTo>
                    <a:pt x="40" y="45"/>
                  </a:move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45" y="32"/>
                    <a:pt x="52" y="32"/>
                  </a:cubicBezTo>
                  <a:cubicBezTo>
                    <a:pt x="59" y="32"/>
                    <a:pt x="64" y="37"/>
                    <a:pt x="64" y="44"/>
                  </a:cubicBezTo>
                  <a:cubicBezTo>
                    <a:pt x="64" y="51"/>
                    <a:pt x="59" y="56"/>
                    <a:pt x="52" y="56"/>
                  </a:cubicBezTo>
                  <a:cubicBezTo>
                    <a:pt x="52" y="56"/>
                    <a:pt x="52" y="56"/>
                    <a:pt x="51" y="56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7" y="52"/>
                    <a:pt x="60" y="48"/>
                    <a:pt x="60" y="44"/>
                  </a:cubicBezTo>
                  <a:cubicBezTo>
                    <a:pt x="60" y="40"/>
                    <a:pt x="56" y="36"/>
                    <a:pt x="52" y="36"/>
                  </a:cubicBezTo>
                  <a:cubicBezTo>
                    <a:pt x="48" y="36"/>
                    <a:pt x="44" y="39"/>
                    <a:pt x="44" y="43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  <a:moveTo>
                    <a:pt x="28" y="59"/>
                  </a:moveTo>
                  <a:cubicBezTo>
                    <a:pt x="26" y="55"/>
                    <a:pt x="24" y="50"/>
                    <a:pt x="24" y="44"/>
                  </a:cubicBezTo>
                  <a:cubicBezTo>
                    <a:pt x="24" y="29"/>
                    <a:pt x="37" y="16"/>
                    <a:pt x="52" y="16"/>
                  </a:cubicBezTo>
                  <a:cubicBezTo>
                    <a:pt x="67" y="16"/>
                    <a:pt x="80" y="29"/>
                    <a:pt x="80" y="44"/>
                  </a:cubicBezTo>
                  <a:cubicBezTo>
                    <a:pt x="80" y="59"/>
                    <a:pt x="67" y="72"/>
                    <a:pt x="52" y="72"/>
                  </a:cubicBezTo>
                  <a:cubicBezTo>
                    <a:pt x="46" y="72"/>
                    <a:pt x="41" y="70"/>
                    <a:pt x="37" y="68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3" y="67"/>
                    <a:pt x="48" y="68"/>
                    <a:pt x="52" y="68"/>
                  </a:cubicBezTo>
                  <a:cubicBezTo>
                    <a:pt x="65" y="68"/>
                    <a:pt x="76" y="57"/>
                    <a:pt x="76" y="44"/>
                  </a:cubicBezTo>
                  <a:cubicBezTo>
                    <a:pt x="76" y="31"/>
                    <a:pt x="65" y="20"/>
                    <a:pt x="52" y="20"/>
                  </a:cubicBezTo>
                  <a:cubicBezTo>
                    <a:pt x="39" y="20"/>
                    <a:pt x="28" y="31"/>
                    <a:pt x="28" y="44"/>
                  </a:cubicBezTo>
                  <a:cubicBezTo>
                    <a:pt x="28" y="48"/>
                    <a:pt x="29" y="53"/>
                    <a:pt x="31" y="56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59"/>
                    <a:pt x="28" y="59"/>
                    <a:pt x="28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1" name="Group 100"/>
            <p:cNvGrpSpPr/>
            <p:nvPr/>
          </p:nvGrpSpPr>
          <p:grpSpPr>
            <a:xfrm>
              <a:off x="2623073" y="5695915"/>
              <a:ext cx="636112" cy="640528"/>
              <a:chOff x="1908175" y="3841750"/>
              <a:chExt cx="228600" cy="230187"/>
            </a:xfrm>
            <a:grpFill/>
          </p:grpSpPr>
          <p:sp>
            <p:nvSpPr>
              <p:cNvPr id="184" name="Freeform 183"/>
              <p:cNvSpPr>
                <a:spLocks noEditPoints="1"/>
              </p:cNvSpPr>
              <p:nvPr/>
            </p:nvSpPr>
            <p:spPr bwMode="auto">
              <a:xfrm>
                <a:off x="1990725" y="3925888"/>
                <a:ext cx="63500" cy="61912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/>
              <p:cNvSpPr>
                <a:spLocks noEditPoints="1"/>
              </p:cNvSpPr>
              <p:nvPr/>
            </p:nvSpPr>
            <p:spPr bwMode="auto">
              <a:xfrm>
                <a:off x="1908175" y="3841750"/>
                <a:ext cx="228600" cy="230187"/>
              </a:xfrm>
              <a:custGeom>
                <a:avLst/>
                <a:gdLst>
                  <a:gd name="T0" fmla="*/ 44 w 88"/>
                  <a:gd name="T1" fmla="*/ 0 h 88"/>
                  <a:gd name="T2" fmla="*/ 0 w 88"/>
                  <a:gd name="T3" fmla="*/ 44 h 88"/>
                  <a:gd name="T4" fmla="*/ 44 w 88"/>
                  <a:gd name="T5" fmla="*/ 88 h 88"/>
                  <a:gd name="T6" fmla="*/ 88 w 88"/>
                  <a:gd name="T7" fmla="*/ 44 h 88"/>
                  <a:gd name="T8" fmla="*/ 44 w 88"/>
                  <a:gd name="T9" fmla="*/ 0 h 88"/>
                  <a:gd name="T10" fmla="*/ 44 w 88"/>
                  <a:gd name="T11" fmla="*/ 84 h 88"/>
                  <a:gd name="T12" fmla="*/ 4 w 88"/>
                  <a:gd name="T13" fmla="*/ 44 h 88"/>
                  <a:gd name="T14" fmla="*/ 44 w 88"/>
                  <a:gd name="T15" fmla="*/ 4 h 88"/>
                  <a:gd name="T16" fmla="*/ 84 w 88"/>
                  <a:gd name="T17" fmla="*/ 44 h 88"/>
                  <a:gd name="T18" fmla="*/ 44 w 88"/>
                  <a:gd name="T19" fmla="*/ 8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8"/>
                      <a:pt x="44" y="88"/>
                    </a:cubicBezTo>
                    <a:cubicBezTo>
                      <a:pt x="68" y="88"/>
                      <a:pt x="88" y="68"/>
                      <a:pt x="88" y="44"/>
                    </a:cubicBezTo>
                    <a:cubicBezTo>
                      <a:pt x="88" y="20"/>
                      <a:pt x="68" y="0"/>
                      <a:pt x="44" y="0"/>
                    </a:cubicBezTo>
                    <a:close/>
                    <a:moveTo>
                      <a:pt x="44" y="84"/>
                    </a:moveTo>
                    <a:cubicBezTo>
                      <a:pt x="22" y="84"/>
                      <a:pt x="4" y="66"/>
                      <a:pt x="4" y="44"/>
                    </a:cubicBezTo>
                    <a:cubicBezTo>
                      <a:pt x="4" y="22"/>
                      <a:pt x="22" y="4"/>
                      <a:pt x="44" y="4"/>
                    </a:cubicBezTo>
                    <a:cubicBezTo>
                      <a:pt x="66" y="4"/>
                      <a:pt x="84" y="22"/>
                      <a:pt x="84" y="44"/>
                    </a:cubicBezTo>
                    <a:cubicBezTo>
                      <a:pt x="84" y="66"/>
                      <a:pt x="66" y="84"/>
                      <a:pt x="44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/>
              <p:cNvSpPr>
                <a:spLocks noEditPoints="1"/>
              </p:cNvSpPr>
              <p:nvPr/>
            </p:nvSpPr>
            <p:spPr bwMode="auto">
              <a:xfrm>
                <a:off x="1949450" y="3884613"/>
                <a:ext cx="146050" cy="146050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2 h 56"/>
                  <a:gd name="T12" fmla="*/ 4 w 56"/>
                  <a:gd name="T13" fmla="*/ 28 h 56"/>
                  <a:gd name="T14" fmla="*/ 28 w 56"/>
                  <a:gd name="T15" fmla="*/ 4 h 56"/>
                  <a:gd name="T16" fmla="*/ 52 w 56"/>
                  <a:gd name="T17" fmla="*/ 28 h 56"/>
                  <a:gd name="T18" fmla="*/ 28 w 56"/>
                  <a:gd name="T19" fmla="*/ 5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2"/>
                    </a:moveTo>
                    <a:cubicBezTo>
                      <a:pt x="15" y="52"/>
                      <a:pt x="4" y="41"/>
                      <a:pt x="4" y="28"/>
                    </a:cubicBezTo>
                    <a:cubicBezTo>
                      <a:pt x="4" y="15"/>
                      <a:pt x="15" y="4"/>
                      <a:pt x="28" y="4"/>
                    </a:cubicBezTo>
                    <a:cubicBezTo>
                      <a:pt x="41" y="4"/>
                      <a:pt x="52" y="15"/>
                      <a:pt x="52" y="28"/>
                    </a:cubicBezTo>
                    <a:cubicBezTo>
                      <a:pt x="52" y="41"/>
                      <a:pt x="41" y="52"/>
                      <a:pt x="28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 151"/>
            <p:cNvSpPr>
              <a:spLocks noEditPoints="1"/>
            </p:cNvSpPr>
            <p:nvPr/>
          </p:nvSpPr>
          <p:spPr bwMode="auto">
            <a:xfrm>
              <a:off x="8087826" y="2246792"/>
              <a:ext cx="100260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6 w 176"/>
                <a:gd name="T13" fmla="*/ 149 h 176"/>
                <a:gd name="T14" fmla="*/ 64 w 176"/>
                <a:gd name="T15" fmla="*/ 131 h 176"/>
                <a:gd name="T16" fmla="*/ 77 w 176"/>
                <a:gd name="T17" fmla="*/ 102 h 176"/>
                <a:gd name="T18" fmla="*/ 73 w 176"/>
                <a:gd name="T19" fmla="*/ 95 h 176"/>
                <a:gd name="T20" fmla="*/ 64 w 176"/>
                <a:gd name="T21" fmla="*/ 59 h 176"/>
                <a:gd name="T22" fmla="*/ 84 w 176"/>
                <a:gd name="T23" fmla="*/ 35 h 176"/>
                <a:gd name="T24" fmla="*/ 96 w 176"/>
                <a:gd name="T25" fmla="*/ 33 h 176"/>
                <a:gd name="T26" fmla="*/ 100 w 176"/>
                <a:gd name="T27" fmla="*/ 32 h 176"/>
                <a:gd name="T28" fmla="*/ 116 w 176"/>
                <a:gd name="T29" fmla="*/ 60 h 176"/>
                <a:gd name="T30" fmla="*/ 108 w 176"/>
                <a:gd name="T31" fmla="*/ 94 h 176"/>
                <a:gd name="T32" fmla="*/ 104 w 176"/>
                <a:gd name="T33" fmla="*/ 102 h 176"/>
                <a:gd name="T34" fmla="*/ 102 w 176"/>
                <a:gd name="T35" fmla="*/ 117 h 176"/>
                <a:gd name="T36" fmla="*/ 120 w 176"/>
                <a:gd name="T37" fmla="*/ 133 h 176"/>
                <a:gd name="T38" fmla="*/ 141 w 176"/>
                <a:gd name="T39" fmla="*/ 148 h 176"/>
                <a:gd name="T40" fmla="*/ 88 w 176"/>
                <a:gd name="T41" fmla="*/ 168 h 176"/>
                <a:gd name="T42" fmla="*/ 146 w 176"/>
                <a:gd name="T43" fmla="*/ 143 h 176"/>
                <a:gd name="T44" fmla="*/ 123 w 176"/>
                <a:gd name="T45" fmla="*/ 126 h 176"/>
                <a:gd name="T46" fmla="*/ 110 w 176"/>
                <a:gd name="T47" fmla="*/ 115 h 176"/>
                <a:gd name="T48" fmla="*/ 111 w 176"/>
                <a:gd name="T49" fmla="*/ 105 h 176"/>
                <a:gd name="T50" fmla="*/ 115 w 176"/>
                <a:gd name="T51" fmla="*/ 98 h 176"/>
                <a:gd name="T52" fmla="*/ 124 w 176"/>
                <a:gd name="T53" fmla="*/ 60 h 176"/>
                <a:gd name="T54" fmla="*/ 100 w 176"/>
                <a:gd name="T55" fmla="*/ 24 h 176"/>
                <a:gd name="T56" fmla="*/ 93 w 176"/>
                <a:gd name="T57" fmla="*/ 25 h 176"/>
                <a:gd name="T58" fmla="*/ 84 w 176"/>
                <a:gd name="T59" fmla="*/ 27 h 176"/>
                <a:gd name="T60" fmla="*/ 56 w 176"/>
                <a:gd name="T61" fmla="*/ 59 h 176"/>
                <a:gd name="T62" fmla="*/ 66 w 176"/>
                <a:gd name="T63" fmla="*/ 99 h 176"/>
                <a:gd name="T64" fmla="*/ 69 w 176"/>
                <a:gd name="T65" fmla="*/ 105 h 176"/>
                <a:gd name="T66" fmla="*/ 61 w 176"/>
                <a:gd name="T67" fmla="*/ 124 h 176"/>
                <a:gd name="T68" fmla="*/ 30 w 176"/>
                <a:gd name="T69" fmla="*/ 143 h 176"/>
                <a:gd name="T70" fmla="*/ 8 w 176"/>
                <a:gd name="T71" fmla="*/ 88 h 176"/>
                <a:gd name="T72" fmla="*/ 88 w 176"/>
                <a:gd name="T73" fmla="*/ 8 h 176"/>
                <a:gd name="T74" fmla="*/ 168 w 176"/>
                <a:gd name="T75" fmla="*/ 88 h 176"/>
                <a:gd name="T76" fmla="*/ 146 w 176"/>
                <a:gd name="T77" fmla="*/ 14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8" y="168"/>
                    <a:pt x="50" y="161"/>
                    <a:pt x="36" y="149"/>
                  </a:cubicBezTo>
                  <a:cubicBezTo>
                    <a:pt x="47" y="139"/>
                    <a:pt x="52" y="137"/>
                    <a:pt x="64" y="131"/>
                  </a:cubicBezTo>
                  <a:cubicBezTo>
                    <a:pt x="78" y="125"/>
                    <a:pt x="82" y="114"/>
                    <a:pt x="77" y="102"/>
                  </a:cubicBezTo>
                  <a:cubicBezTo>
                    <a:pt x="76" y="99"/>
                    <a:pt x="74" y="97"/>
                    <a:pt x="73" y="95"/>
                  </a:cubicBezTo>
                  <a:cubicBezTo>
                    <a:pt x="69" y="87"/>
                    <a:pt x="64" y="79"/>
                    <a:pt x="64" y="59"/>
                  </a:cubicBezTo>
                  <a:cubicBezTo>
                    <a:pt x="64" y="35"/>
                    <a:pt x="75" y="35"/>
                    <a:pt x="84" y="35"/>
                  </a:cubicBezTo>
                  <a:cubicBezTo>
                    <a:pt x="90" y="35"/>
                    <a:pt x="93" y="34"/>
                    <a:pt x="96" y="33"/>
                  </a:cubicBezTo>
                  <a:cubicBezTo>
                    <a:pt x="97" y="32"/>
                    <a:pt x="98" y="32"/>
                    <a:pt x="100" y="32"/>
                  </a:cubicBezTo>
                  <a:cubicBezTo>
                    <a:pt x="108" y="32"/>
                    <a:pt x="116" y="39"/>
                    <a:pt x="116" y="60"/>
                  </a:cubicBezTo>
                  <a:cubicBezTo>
                    <a:pt x="116" y="81"/>
                    <a:pt x="113" y="86"/>
                    <a:pt x="108" y="94"/>
                  </a:cubicBezTo>
                  <a:cubicBezTo>
                    <a:pt x="107" y="96"/>
                    <a:pt x="105" y="99"/>
                    <a:pt x="104" y="102"/>
                  </a:cubicBezTo>
                  <a:cubicBezTo>
                    <a:pt x="101" y="107"/>
                    <a:pt x="101" y="112"/>
                    <a:pt x="102" y="117"/>
                  </a:cubicBezTo>
                  <a:cubicBezTo>
                    <a:pt x="105" y="123"/>
                    <a:pt x="110" y="128"/>
                    <a:pt x="120" y="133"/>
                  </a:cubicBezTo>
                  <a:cubicBezTo>
                    <a:pt x="128" y="137"/>
                    <a:pt x="136" y="144"/>
                    <a:pt x="141" y="148"/>
                  </a:cubicBezTo>
                  <a:cubicBezTo>
                    <a:pt x="127" y="160"/>
                    <a:pt x="108" y="168"/>
                    <a:pt x="88" y="168"/>
                  </a:cubicBezTo>
                  <a:moveTo>
                    <a:pt x="146" y="143"/>
                  </a:moveTo>
                  <a:cubicBezTo>
                    <a:pt x="142" y="138"/>
                    <a:pt x="132" y="130"/>
                    <a:pt x="123" y="126"/>
                  </a:cubicBezTo>
                  <a:cubicBezTo>
                    <a:pt x="116" y="122"/>
                    <a:pt x="111" y="118"/>
                    <a:pt x="110" y="115"/>
                  </a:cubicBezTo>
                  <a:cubicBezTo>
                    <a:pt x="109" y="112"/>
                    <a:pt x="109" y="109"/>
                    <a:pt x="111" y="105"/>
                  </a:cubicBezTo>
                  <a:cubicBezTo>
                    <a:pt x="113" y="102"/>
                    <a:pt x="114" y="100"/>
                    <a:pt x="115" y="98"/>
                  </a:cubicBezTo>
                  <a:cubicBezTo>
                    <a:pt x="120" y="89"/>
                    <a:pt x="124" y="83"/>
                    <a:pt x="124" y="60"/>
                  </a:cubicBezTo>
                  <a:cubicBezTo>
                    <a:pt x="124" y="26"/>
                    <a:pt x="104" y="24"/>
                    <a:pt x="100" y="24"/>
                  </a:cubicBezTo>
                  <a:cubicBezTo>
                    <a:pt x="97" y="24"/>
                    <a:pt x="95" y="25"/>
                    <a:pt x="93" y="25"/>
                  </a:cubicBezTo>
                  <a:cubicBezTo>
                    <a:pt x="91" y="26"/>
                    <a:pt x="89" y="27"/>
                    <a:pt x="84" y="27"/>
                  </a:cubicBezTo>
                  <a:cubicBezTo>
                    <a:pt x="75" y="27"/>
                    <a:pt x="56" y="28"/>
                    <a:pt x="56" y="59"/>
                  </a:cubicBezTo>
                  <a:cubicBezTo>
                    <a:pt x="56" y="81"/>
                    <a:pt x="62" y="91"/>
                    <a:pt x="66" y="99"/>
                  </a:cubicBezTo>
                  <a:cubicBezTo>
                    <a:pt x="67" y="101"/>
                    <a:pt x="68" y="103"/>
                    <a:pt x="69" y="105"/>
                  </a:cubicBezTo>
                  <a:cubicBezTo>
                    <a:pt x="73" y="114"/>
                    <a:pt x="70" y="120"/>
                    <a:pt x="61" y="124"/>
                  </a:cubicBezTo>
                  <a:cubicBezTo>
                    <a:pt x="48" y="130"/>
                    <a:pt x="42" y="132"/>
                    <a:pt x="30" y="143"/>
                  </a:cubicBezTo>
                  <a:cubicBezTo>
                    <a:pt x="16" y="129"/>
                    <a:pt x="8" y="109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09"/>
                    <a:pt x="160" y="128"/>
                    <a:pt x="146" y="14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3" name="Freeform 152"/>
            <p:cNvSpPr>
              <a:spLocks noEditPoints="1"/>
            </p:cNvSpPr>
            <p:nvPr/>
          </p:nvSpPr>
          <p:spPr bwMode="auto">
            <a:xfrm>
              <a:off x="608526" y="399766"/>
              <a:ext cx="100747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8 w 176"/>
                <a:gd name="T13" fmla="*/ 151 h 176"/>
                <a:gd name="T14" fmla="*/ 64 w 176"/>
                <a:gd name="T15" fmla="*/ 133 h 176"/>
                <a:gd name="T16" fmla="*/ 74 w 176"/>
                <a:gd name="T17" fmla="*/ 124 h 176"/>
                <a:gd name="T18" fmla="*/ 71 w 176"/>
                <a:gd name="T19" fmla="*/ 116 h 176"/>
                <a:gd name="T20" fmla="*/ 67 w 176"/>
                <a:gd name="T21" fmla="*/ 115 h 176"/>
                <a:gd name="T22" fmla="*/ 50 w 176"/>
                <a:gd name="T23" fmla="*/ 112 h 176"/>
                <a:gd name="T24" fmla="*/ 56 w 176"/>
                <a:gd name="T25" fmla="*/ 72 h 176"/>
                <a:gd name="T26" fmla="*/ 90 w 176"/>
                <a:gd name="T27" fmla="*/ 32 h 176"/>
                <a:gd name="T28" fmla="*/ 120 w 176"/>
                <a:gd name="T29" fmla="*/ 74 h 176"/>
                <a:gd name="T30" fmla="*/ 126 w 176"/>
                <a:gd name="T31" fmla="*/ 111 h 176"/>
                <a:gd name="T32" fmla="*/ 107 w 176"/>
                <a:gd name="T33" fmla="*/ 114 h 176"/>
                <a:gd name="T34" fmla="*/ 103 w 176"/>
                <a:gd name="T35" fmla="*/ 116 h 176"/>
                <a:gd name="T36" fmla="*/ 111 w 176"/>
                <a:gd name="T37" fmla="*/ 132 h 176"/>
                <a:gd name="T38" fmla="*/ 137 w 176"/>
                <a:gd name="T39" fmla="*/ 151 h 176"/>
                <a:gd name="T40" fmla="*/ 88 w 176"/>
                <a:gd name="T41" fmla="*/ 168 h 176"/>
                <a:gd name="T42" fmla="*/ 143 w 176"/>
                <a:gd name="T43" fmla="*/ 146 h 176"/>
                <a:gd name="T44" fmla="*/ 115 w 176"/>
                <a:gd name="T45" fmla="*/ 125 h 176"/>
                <a:gd name="T46" fmla="*/ 111 w 176"/>
                <a:gd name="T47" fmla="*/ 122 h 176"/>
                <a:gd name="T48" fmla="*/ 135 w 176"/>
                <a:gd name="T49" fmla="*/ 116 h 176"/>
                <a:gd name="T50" fmla="*/ 137 w 176"/>
                <a:gd name="T51" fmla="*/ 112 h 176"/>
                <a:gd name="T52" fmla="*/ 135 w 176"/>
                <a:gd name="T53" fmla="*/ 109 h 176"/>
                <a:gd name="T54" fmla="*/ 128 w 176"/>
                <a:gd name="T55" fmla="*/ 74 h 176"/>
                <a:gd name="T56" fmla="*/ 90 w 176"/>
                <a:gd name="T57" fmla="*/ 24 h 176"/>
                <a:gd name="T58" fmla="*/ 48 w 176"/>
                <a:gd name="T59" fmla="*/ 72 h 176"/>
                <a:gd name="T60" fmla="*/ 42 w 176"/>
                <a:gd name="T61" fmla="*/ 109 h 176"/>
                <a:gd name="T62" fmla="*/ 39 w 176"/>
                <a:gd name="T63" fmla="*/ 112 h 176"/>
                <a:gd name="T64" fmla="*/ 41 w 176"/>
                <a:gd name="T65" fmla="*/ 116 h 176"/>
                <a:gd name="T66" fmla="*/ 66 w 176"/>
                <a:gd name="T67" fmla="*/ 123 h 176"/>
                <a:gd name="T68" fmla="*/ 62 w 176"/>
                <a:gd name="T69" fmla="*/ 125 h 176"/>
                <a:gd name="T70" fmla="*/ 32 w 176"/>
                <a:gd name="T71" fmla="*/ 145 h 176"/>
                <a:gd name="T72" fmla="*/ 8 w 176"/>
                <a:gd name="T73" fmla="*/ 88 h 176"/>
                <a:gd name="T74" fmla="*/ 88 w 176"/>
                <a:gd name="T75" fmla="*/ 8 h 176"/>
                <a:gd name="T76" fmla="*/ 168 w 176"/>
                <a:gd name="T77" fmla="*/ 88 h 176"/>
                <a:gd name="T78" fmla="*/ 143 w 176"/>
                <a:gd name="T79" fmla="*/ 14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9" y="168"/>
                    <a:pt x="52" y="161"/>
                    <a:pt x="38" y="151"/>
                  </a:cubicBezTo>
                  <a:cubicBezTo>
                    <a:pt x="44" y="143"/>
                    <a:pt x="55" y="136"/>
                    <a:pt x="64" y="133"/>
                  </a:cubicBezTo>
                  <a:cubicBezTo>
                    <a:pt x="70" y="131"/>
                    <a:pt x="73" y="128"/>
                    <a:pt x="74" y="124"/>
                  </a:cubicBezTo>
                  <a:cubicBezTo>
                    <a:pt x="75" y="119"/>
                    <a:pt x="72" y="116"/>
                    <a:pt x="71" y="116"/>
                  </a:cubicBezTo>
                  <a:cubicBezTo>
                    <a:pt x="70" y="115"/>
                    <a:pt x="69" y="114"/>
                    <a:pt x="67" y="115"/>
                  </a:cubicBezTo>
                  <a:cubicBezTo>
                    <a:pt x="67" y="115"/>
                    <a:pt x="60" y="117"/>
                    <a:pt x="50" y="112"/>
                  </a:cubicBezTo>
                  <a:cubicBezTo>
                    <a:pt x="53" y="106"/>
                    <a:pt x="56" y="95"/>
                    <a:pt x="56" y="72"/>
                  </a:cubicBezTo>
                  <a:cubicBezTo>
                    <a:pt x="56" y="35"/>
                    <a:pt x="72" y="32"/>
                    <a:pt x="90" y="32"/>
                  </a:cubicBezTo>
                  <a:cubicBezTo>
                    <a:pt x="103" y="32"/>
                    <a:pt x="120" y="36"/>
                    <a:pt x="120" y="74"/>
                  </a:cubicBezTo>
                  <a:cubicBezTo>
                    <a:pt x="120" y="95"/>
                    <a:pt x="123" y="106"/>
                    <a:pt x="126" y="111"/>
                  </a:cubicBezTo>
                  <a:cubicBezTo>
                    <a:pt x="122" y="113"/>
                    <a:pt x="115" y="115"/>
                    <a:pt x="107" y="114"/>
                  </a:cubicBezTo>
                  <a:cubicBezTo>
                    <a:pt x="105" y="114"/>
                    <a:pt x="103" y="115"/>
                    <a:pt x="103" y="116"/>
                  </a:cubicBezTo>
                  <a:cubicBezTo>
                    <a:pt x="101" y="120"/>
                    <a:pt x="101" y="128"/>
                    <a:pt x="111" y="132"/>
                  </a:cubicBezTo>
                  <a:cubicBezTo>
                    <a:pt x="120" y="136"/>
                    <a:pt x="129" y="141"/>
                    <a:pt x="137" y="151"/>
                  </a:cubicBezTo>
                  <a:cubicBezTo>
                    <a:pt x="124" y="162"/>
                    <a:pt x="107" y="168"/>
                    <a:pt x="88" y="168"/>
                  </a:cubicBezTo>
                  <a:moveTo>
                    <a:pt x="143" y="146"/>
                  </a:moveTo>
                  <a:cubicBezTo>
                    <a:pt x="135" y="135"/>
                    <a:pt x="124" y="129"/>
                    <a:pt x="115" y="125"/>
                  </a:cubicBezTo>
                  <a:cubicBezTo>
                    <a:pt x="113" y="124"/>
                    <a:pt x="112" y="123"/>
                    <a:pt x="111" y="122"/>
                  </a:cubicBezTo>
                  <a:cubicBezTo>
                    <a:pt x="124" y="122"/>
                    <a:pt x="135" y="116"/>
                    <a:pt x="135" y="116"/>
                  </a:cubicBezTo>
                  <a:cubicBezTo>
                    <a:pt x="136" y="115"/>
                    <a:pt x="137" y="113"/>
                    <a:pt x="137" y="112"/>
                  </a:cubicBezTo>
                  <a:cubicBezTo>
                    <a:pt x="137" y="110"/>
                    <a:pt x="136" y="109"/>
                    <a:pt x="135" y="109"/>
                  </a:cubicBezTo>
                  <a:cubicBezTo>
                    <a:pt x="134" y="108"/>
                    <a:pt x="128" y="103"/>
                    <a:pt x="128" y="74"/>
                  </a:cubicBezTo>
                  <a:cubicBezTo>
                    <a:pt x="128" y="41"/>
                    <a:pt x="115" y="24"/>
                    <a:pt x="90" y="24"/>
                  </a:cubicBezTo>
                  <a:cubicBezTo>
                    <a:pt x="69" y="24"/>
                    <a:pt x="48" y="30"/>
                    <a:pt x="48" y="72"/>
                  </a:cubicBezTo>
                  <a:cubicBezTo>
                    <a:pt x="48" y="102"/>
                    <a:pt x="43" y="108"/>
                    <a:pt x="42" y="109"/>
                  </a:cubicBezTo>
                  <a:cubicBezTo>
                    <a:pt x="40" y="109"/>
                    <a:pt x="39" y="110"/>
                    <a:pt x="39" y="112"/>
                  </a:cubicBezTo>
                  <a:cubicBezTo>
                    <a:pt x="39" y="114"/>
                    <a:pt x="39" y="115"/>
                    <a:pt x="41" y="116"/>
                  </a:cubicBezTo>
                  <a:cubicBezTo>
                    <a:pt x="52" y="123"/>
                    <a:pt x="61" y="123"/>
                    <a:pt x="66" y="123"/>
                  </a:cubicBezTo>
                  <a:cubicBezTo>
                    <a:pt x="65" y="123"/>
                    <a:pt x="64" y="124"/>
                    <a:pt x="62" y="125"/>
                  </a:cubicBezTo>
                  <a:cubicBezTo>
                    <a:pt x="51" y="129"/>
                    <a:pt x="39" y="137"/>
                    <a:pt x="32" y="145"/>
                  </a:cubicBezTo>
                  <a:cubicBezTo>
                    <a:pt x="17" y="131"/>
                    <a:pt x="8" y="110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11"/>
                    <a:pt x="159" y="131"/>
                    <a:pt x="143" y="14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Freeform 153"/>
            <p:cNvSpPr>
              <a:spLocks noEditPoints="1"/>
            </p:cNvSpPr>
            <p:nvPr/>
          </p:nvSpPr>
          <p:spPr bwMode="auto">
            <a:xfrm>
              <a:off x="1519359" y="3906624"/>
              <a:ext cx="1002610" cy="910140"/>
            </a:xfrm>
            <a:custGeom>
              <a:avLst/>
              <a:gdLst>
                <a:gd name="T0" fmla="*/ 132 w 176"/>
                <a:gd name="T1" fmla="*/ 98 h 160"/>
                <a:gd name="T2" fmla="*/ 143 w 176"/>
                <a:gd name="T3" fmla="*/ 60 h 160"/>
                <a:gd name="T4" fmla="*/ 131 w 176"/>
                <a:gd name="T5" fmla="*/ 11 h 160"/>
                <a:gd name="T6" fmla="*/ 104 w 176"/>
                <a:gd name="T7" fmla="*/ 11 h 160"/>
                <a:gd name="T8" fmla="*/ 107 w 176"/>
                <a:gd name="T9" fmla="*/ 18 h 160"/>
                <a:gd name="T10" fmla="*/ 127 w 176"/>
                <a:gd name="T11" fmla="*/ 18 h 160"/>
                <a:gd name="T12" fmla="*/ 137 w 176"/>
                <a:gd name="T13" fmla="*/ 55 h 160"/>
                <a:gd name="T14" fmla="*/ 136 w 176"/>
                <a:gd name="T15" fmla="*/ 72 h 160"/>
                <a:gd name="T16" fmla="*/ 134 w 176"/>
                <a:gd name="T17" fmla="*/ 74 h 160"/>
                <a:gd name="T18" fmla="*/ 145 w 176"/>
                <a:gd name="T19" fmla="*/ 125 h 160"/>
                <a:gd name="T20" fmla="*/ 142 w 176"/>
                <a:gd name="T21" fmla="*/ 144 h 160"/>
                <a:gd name="T22" fmla="*/ 172 w 176"/>
                <a:gd name="T23" fmla="*/ 152 h 160"/>
                <a:gd name="T24" fmla="*/ 147 w 176"/>
                <a:gd name="T25" fmla="*/ 117 h 160"/>
                <a:gd name="T26" fmla="*/ 88 w 176"/>
                <a:gd name="T27" fmla="*/ 101 h 160"/>
                <a:gd name="T28" fmla="*/ 99 w 176"/>
                <a:gd name="T29" fmla="*/ 58 h 160"/>
                <a:gd name="T30" fmla="*/ 86 w 176"/>
                <a:gd name="T31" fmla="*/ 3 h 160"/>
                <a:gd name="T32" fmla="*/ 55 w 176"/>
                <a:gd name="T33" fmla="*/ 5 h 160"/>
                <a:gd name="T34" fmla="*/ 37 w 176"/>
                <a:gd name="T35" fmla="*/ 57 h 160"/>
                <a:gd name="T36" fmla="*/ 48 w 176"/>
                <a:gd name="T37" fmla="*/ 101 h 160"/>
                <a:gd name="T38" fmla="*/ 0 w 176"/>
                <a:gd name="T39" fmla="*/ 156 h 160"/>
                <a:gd name="T40" fmla="*/ 132 w 176"/>
                <a:gd name="T41" fmla="*/ 160 h 160"/>
                <a:gd name="T42" fmla="*/ 104 w 176"/>
                <a:gd name="T43" fmla="*/ 121 h 160"/>
                <a:gd name="T44" fmla="*/ 34 w 176"/>
                <a:gd name="T45" fmla="*/ 129 h 160"/>
                <a:gd name="T46" fmla="*/ 46 w 176"/>
                <a:gd name="T47" fmla="*/ 74 h 160"/>
                <a:gd name="T48" fmla="*/ 45 w 176"/>
                <a:gd name="T49" fmla="*/ 72 h 160"/>
                <a:gd name="T50" fmla="*/ 45 w 176"/>
                <a:gd name="T51" fmla="*/ 54 h 160"/>
                <a:gd name="T52" fmla="*/ 58 w 176"/>
                <a:gd name="T53" fmla="*/ 12 h 160"/>
                <a:gd name="T54" fmla="*/ 74 w 176"/>
                <a:gd name="T55" fmla="*/ 8 h 160"/>
                <a:gd name="T56" fmla="*/ 92 w 176"/>
                <a:gd name="T57" fmla="*/ 24 h 160"/>
                <a:gd name="T58" fmla="*/ 91 w 176"/>
                <a:gd name="T59" fmla="*/ 60 h 160"/>
                <a:gd name="T60" fmla="*/ 91 w 176"/>
                <a:gd name="T61" fmla="*/ 72 h 160"/>
                <a:gd name="T62" fmla="*/ 80 w 176"/>
                <a:gd name="T63" fmla="*/ 101 h 160"/>
                <a:gd name="T64" fmla="*/ 128 w 176"/>
                <a:gd name="T65" fmla="*/ 15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6" h="160">
                  <a:moveTo>
                    <a:pt x="147" y="117"/>
                  </a:moveTo>
                  <a:cubicBezTo>
                    <a:pt x="147" y="117"/>
                    <a:pt x="132" y="113"/>
                    <a:pt x="132" y="98"/>
                  </a:cubicBezTo>
                  <a:cubicBezTo>
                    <a:pt x="132" y="85"/>
                    <a:pt x="139" y="81"/>
                    <a:pt x="142" y="77"/>
                  </a:cubicBezTo>
                  <a:cubicBezTo>
                    <a:pt x="142" y="77"/>
                    <a:pt x="146" y="73"/>
                    <a:pt x="143" y="60"/>
                  </a:cubicBezTo>
                  <a:cubicBezTo>
                    <a:pt x="149" y="53"/>
                    <a:pt x="150" y="40"/>
                    <a:pt x="144" y="27"/>
                  </a:cubicBezTo>
                  <a:cubicBezTo>
                    <a:pt x="140" y="18"/>
                    <a:pt x="136" y="13"/>
                    <a:pt x="131" y="11"/>
                  </a:cubicBezTo>
                  <a:cubicBezTo>
                    <a:pt x="127" y="9"/>
                    <a:pt x="123" y="8"/>
                    <a:pt x="119" y="8"/>
                  </a:cubicBezTo>
                  <a:cubicBezTo>
                    <a:pt x="113" y="8"/>
                    <a:pt x="107" y="10"/>
                    <a:pt x="104" y="11"/>
                  </a:cubicBezTo>
                  <a:cubicBezTo>
                    <a:pt x="105" y="13"/>
                    <a:pt x="106" y="15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9" y="17"/>
                    <a:pt x="114" y="16"/>
                    <a:pt x="119" y="16"/>
                  </a:cubicBezTo>
                  <a:cubicBezTo>
                    <a:pt x="122" y="16"/>
                    <a:pt x="125" y="17"/>
                    <a:pt x="127" y="18"/>
                  </a:cubicBezTo>
                  <a:cubicBezTo>
                    <a:pt x="129" y="19"/>
                    <a:pt x="133" y="22"/>
                    <a:pt x="137" y="30"/>
                  </a:cubicBezTo>
                  <a:cubicBezTo>
                    <a:pt x="142" y="41"/>
                    <a:pt x="140" y="51"/>
                    <a:pt x="137" y="55"/>
                  </a:cubicBezTo>
                  <a:cubicBezTo>
                    <a:pt x="135" y="57"/>
                    <a:pt x="135" y="60"/>
                    <a:pt x="135" y="62"/>
                  </a:cubicBezTo>
                  <a:cubicBezTo>
                    <a:pt x="137" y="69"/>
                    <a:pt x="136" y="71"/>
                    <a:pt x="136" y="72"/>
                  </a:cubicBezTo>
                  <a:cubicBezTo>
                    <a:pt x="136" y="72"/>
                    <a:pt x="135" y="72"/>
                    <a:pt x="135" y="73"/>
                  </a:cubicBezTo>
                  <a:cubicBezTo>
                    <a:pt x="135" y="73"/>
                    <a:pt x="134" y="74"/>
                    <a:pt x="134" y="74"/>
                  </a:cubicBezTo>
                  <a:cubicBezTo>
                    <a:pt x="131" y="78"/>
                    <a:pt x="124" y="85"/>
                    <a:pt x="124" y="98"/>
                  </a:cubicBezTo>
                  <a:cubicBezTo>
                    <a:pt x="124" y="115"/>
                    <a:pt x="137" y="123"/>
                    <a:pt x="145" y="125"/>
                  </a:cubicBezTo>
                  <a:cubicBezTo>
                    <a:pt x="155" y="128"/>
                    <a:pt x="166" y="133"/>
                    <a:pt x="168" y="144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3" y="146"/>
                    <a:pt x="144" y="149"/>
                    <a:pt x="144" y="152"/>
                  </a:cubicBezTo>
                  <a:cubicBezTo>
                    <a:pt x="172" y="152"/>
                    <a:pt x="172" y="152"/>
                    <a:pt x="172" y="152"/>
                  </a:cubicBezTo>
                  <a:cubicBezTo>
                    <a:pt x="176" y="152"/>
                    <a:pt x="176" y="148"/>
                    <a:pt x="176" y="148"/>
                  </a:cubicBezTo>
                  <a:cubicBezTo>
                    <a:pt x="176" y="127"/>
                    <a:pt x="156" y="120"/>
                    <a:pt x="147" y="117"/>
                  </a:cubicBezTo>
                  <a:moveTo>
                    <a:pt x="104" y="121"/>
                  </a:moveTo>
                  <a:cubicBezTo>
                    <a:pt x="104" y="121"/>
                    <a:pt x="88" y="117"/>
                    <a:pt x="88" y="101"/>
                  </a:cubicBezTo>
                  <a:cubicBezTo>
                    <a:pt x="88" y="86"/>
                    <a:pt x="95" y="81"/>
                    <a:pt x="97" y="77"/>
                  </a:cubicBezTo>
                  <a:cubicBezTo>
                    <a:pt x="97" y="77"/>
                    <a:pt x="102" y="73"/>
                    <a:pt x="99" y="58"/>
                  </a:cubicBezTo>
                  <a:cubicBezTo>
                    <a:pt x="105" y="50"/>
                    <a:pt x="106" y="36"/>
                    <a:pt x="100" y="21"/>
                  </a:cubicBezTo>
                  <a:cubicBezTo>
                    <a:pt x="95" y="11"/>
                    <a:pt x="92" y="6"/>
                    <a:pt x="86" y="3"/>
                  </a:cubicBezTo>
                  <a:cubicBezTo>
                    <a:pt x="82" y="1"/>
                    <a:pt x="78" y="0"/>
                    <a:pt x="74" y="0"/>
                  </a:cubicBezTo>
                  <a:cubicBezTo>
                    <a:pt x="65" y="0"/>
                    <a:pt x="58" y="3"/>
                    <a:pt x="55" y="5"/>
                  </a:cubicBezTo>
                  <a:cubicBezTo>
                    <a:pt x="45" y="9"/>
                    <a:pt x="39" y="12"/>
                    <a:pt x="34" y="26"/>
                  </a:cubicBezTo>
                  <a:cubicBezTo>
                    <a:pt x="29" y="38"/>
                    <a:pt x="35" y="51"/>
                    <a:pt x="37" y="57"/>
                  </a:cubicBezTo>
                  <a:cubicBezTo>
                    <a:pt x="34" y="72"/>
                    <a:pt x="39" y="77"/>
                    <a:pt x="39" y="77"/>
                  </a:cubicBezTo>
                  <a:cubicBezTo>
                    <a:pt x="41" y="81"/>
                    <a:pt x="48" y="86"/>
                    <a:pt x="48" y="101"/>
                  </a:cubicBezTo>
                  <a:cubicBezTo>
                    <a:pt x="48" y="117"/>
                    <a:pt x="32" y="121"/>
                    <a:pt x="32" y="121"/>
                  </a:cubicBezTo>
                  <a:cubicBezTo>
                    <a:pt x="22" y="125"/>
                    <a:pt x="0" y="132"/>
                    <a:pt x="0" y="156"/>
                  </a:cubicBezTo>
                  <a:cubicBezTo>
                    <a:pt x="0" y="156"/>
                    <a:pt x="0" y="160"/>
                    <a:pt x="4" y="160"/>
                  </a:cubicBezTo>
                  <a:cubicBezTo>
                    <a:pt x="132" y="160"/>
                    <a:pt x="132" y="160"/>
                    <a:pt x="132" y="160"/>
                  </a:cubicBezTo>
                  <a:cubicBezTo>
                    <a:pt x="136" y="160"/>
                    <a:pt x="136" y="156"/>
                    <a:pt x="136" y="156"/>
                  </a:cubicBezTo>
                  <a:cubicBezTo>
                    <a:pt x="136" y="132"/>
                    <a:pt x="114" y="125"/>
                    <a:pt x="104" y="121"/>
                  </a:cubicBezTo>
                  <a:moveTo>
                    <a:pt x="8" y="152"/>
                  </a:moveTo>
                  <a:cubicBezTo>
                    <a:pt x="10" y="138"/>
                    <a:pt x="22" y="133"/>
                    <a:pt x="34" y="129"/>
                  </a:cubicBezTo>
                  <a:cubicBezTo>
                    <a:pt x="42" y="127"/>
                    <a:pt x="56" y="118"/>
                    <a:pt x="56" y="101"/>
                  </a:cubicBezTo>
                  <a:cubicBezTo>
                    <a:pt x="56" y="85"/>
                    <a:pt x="50" y="78"/>
                    <a:pt x="46" y="74"/>
                  </a:cubicBezTo>
                  <a:cubicBezTo>
                    <a:pt x="46" y="73"/>
                    <a:pt x="46" y="73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3" y="68"/>
                    <a:pt x="45" y="59"/>
                  </a:cubicBezTo>
                  <a:cubicBezTo>
                    <a:pt x="46" y="58"/>
                    <a:pt x="45" y="56"/>
                    <a:pt x="45" y="54"/>
                  </a:cubicBezTo>
                  <a:cubicBezTo>
                    <a:pt x="43" y="50"/>
                    <a:pt x="38" y="38"/>
                    <a:pt x="41" y="30"/>
                  </a:cubicBezTo>
                  <a:cubicBezTo>
                    <a:pt x="46" y="18"/>
                    <a:pt x="50" y="16"/>
                    <a:pt x="58" y="12"/>
                  </a:cubicBezTo>
                  <a:cubicBezTo>
                    <a:pt x="58" y="12"/>
                    <a:pt x="58" y="12"/>
                    <a:pt x="59" y="12"/>
                  </a:cubicBezTo>
                  <a:cubicBezTo>
                    <a:pt x="61" y="10"/>
                    <a:pt x="67" y="8"/>
                    <a:pt x="74" y="8"/>
                  </a:cubicBezTo>
                  <a:cubicBezTo>
                    <a:pt x="77" y="8"/>
                    <a:pt x="80" y="9"/>
                    <a:pt x="83" y="10"/>
                  </a:cubicBezTo>
                  <a:cubicBezTo>
                    <a:pt x="85" y="12"/>
                    <a:pt x="88" y="15"/>
                    <a:pt x="92" y="24"/>
                  </a:cubicBezTo>
                  <a:cubicBezTo>
                    <a:pt x="98" y="37"/>
                    <a:pt x="96" y="48"/>
                    <a:pt x="92" y="53"/>
                  </a:cubicBezTo>
                  <a:cubicBezTo>
                    <a:pt x="91" y="55"/>
                    <a:pt x="91" y="58"/>
                    <a:pt x="91" y="60"/>
                  </a:cubicBezTo>
                  <a:cubicBezTo>
                    <a:pt x="93" y="68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0" y="73"/>
                    <a:pt x="90" y="73"/>
                    <a:pt x="90" y="74"/>
                  </a:cubicBezTo>
                  <a:cubicBezTo>
                    <a:pt x="86" y="78"/>
                    <a:pt x="80" y="85"/>
                    <a:pt x="80" y="101"/>
                  </a:cubicBezTo>
                  <a:cubicBezTo>
                    <a:pt x="80" y="118"/>
                    <a:pt x="94" y="127"/>
                    <a:pt x="102" y="129"/>
                  </a:cubicBezTo>
                  <a:cubicBezTo>
                    <a:pt x="113" y="133"/>
                    <a:pt x="126" y="138"/>
                    <a:pt x="128" y="152"/>
                  </a:cubicBezTo>
                  <a:lnTo>
                    <a:pt x="8" y="1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Freeform 154"/>
            <p:cNvSpPr>
              <a:spLocks noEditPoints="1"/>
            </p:cNvSpPr>
            <p:nvPr/>
          </p:nvSpPr>
          <p:spPr bwMode="auto">
            <a:xfrm>
              <a:off x="6918672" y="207220"/>
              <a:ext cx="1002608" cy="822532"/>
            </a:xfrm>
            <a:custGeom>
              <a:avLst/>
              <a:gdLst>
                <a:gd name="T0" fmla="*/ 34 w 176"/>
                <a:gd name="T1" fmla="*/ 86 h 144"/>
                <a:gd name="T2" fmla="*/ 28 w 176"/>
                <a:gd name="T3" fmla="*/ 65 h 144"/>
                <a:gd name="T4" fmla="*/ 28 w 176"/>
                <a:gd name="T5" fmla="*/ 58 h 144"/>
                <a:gd name="T6" fmla="*/ 25 w 176"/>
                <a:gd name="T7" fmla="*/ 38 h 144"/>
                <a:gd name="T8" fmla="*/ 35 w 176"/>
                <a:gd name="T9" fmla="*/ 26 h 144"/>
                <a:gd name="T10" fmla="*/ 49 w 176"/>
                <a:gd name="T11" fmla="*/ 25 h 144"/>
                <a:gd name="T12" fmla="*/ 52 w 176"/>
                <a:gd name="T13" fmla="*/ 18 h 144"/>
                <a:gd name="T14" fmla="*/ 30 w 176"/>
                <a:gd name="T15" fmla="*/ 19 h 144"/>
                <a:gd name="T16" fmla="*/ 20 w 176"/>
                <a:gd name="T17" fmla="*/ 56 h 144"/>
                <a:gd name="T18" fmla="*/ 26 w 176"/>
                <a:gd name="T19" fmla="*/ 86 h 144"/>
                <a:gd name="T20" fmla="*/ 0 w 176"/>
                <a:gd name="T21" fmla="*/ 124 h 144"/>
                <a:gd name="T22" fmla="*/ 22 w 176"/>
                <a:gd name="T23" fmla="*/ 128 h 144"/>
                <a:gd name="T24" fmla="*/ 8 w 176"/>
                <a:gd name="T25" fmla="*/ 120 h 144"/>
                <a:gd name="T26" fmla="*/ 159 w 176"/>
                <a:gd name="T27" fmla="*/ 100 h 144"/>
                <a:gd name="T28" fmla="*/ 155 w 176"/>
                <a:gd name="T29" fmla="*/ 70 h 144"/>
                <a:gd name="T30" fmla="*/ 159 w 176"/>
                <a:gd name="T31" fmla="*/ 35 h 144"/>
                <a:gd name="T32" fmla="*/ 132 w 176"/>
                <a:gd name="T33" fmla="*/ 16 h 144"/>
                <a:gd name="T34" fmla="*/ 126 w 176"/>
                <a:gd name="T35" fmla="*/ 25 h 144"/>
                <a:gd name="T36" fmla="*/ 132 w 176"/>
                <a:gd name="T37" fmla="*/ 24 h 144"/>
                <a:gd name="T38" fmla="*/ 142 w 176"/>
                <a:gd name="T39" fmla="*/ 27 h 144"/>
                <a:gd name="T40" fmla="*/ 149 w 176"/>
                <a:gd name="T41" fmla="*/ 53 h 144"/>
                <a:gd name="T42" fmla="*/ 149 w 176"/>
                <a:gd name="T43" fmla="*/ 65 h 144"/>
                <a:gd name="T44" fmla="*/ 148 w 176"/>
                <a:gd name="T45" fmla="*/ 66 h 144"/>
                <a:gd name="T46" fmla="*/ 157 w 176"/>
                <a:gd name="T47" fmla="*/ 108 h 144"/>
                <a:gd name="T48" fmla="*/ 150 w 176"/>
                <a:gd name="T49" fmla="*/ 120 h 144"/>
                <a:gd name="T50" fmla="*/ 172 w 176"/>
                <a:gd name="T51" fmla="*/ 128 h 144"/>
                <a:gd name="T52" fmla="*/ 159 w 176"/>
                <a:gd name="T53" fmla="*/ 100 h 144"/>
                <a:gd name="T54" fmla="*/ 106 w 176"/>
                <a:gd name="T55" fmla="*/ 90 h 144"/>
                <a:gd name="T56" fmla="*/ 115 w 176"/>
                <a:gd name="T57" fmla="*/ 52 h 144"/>
                <a:gd name="T58" fmla="*/ 104 w 176"/>
                <a:gd name="T59" fmla="*/ 3 h 144"/>
                <a:gd name="T60" fmla="*/ 76 w 176"/>
                <a:gd name="T61" fmla="*/ 4 h 144"/>
                <a:gd name="T62" fmla="*/ 61 w 176"/>
                <a:gd name="T63" fmla="*/ 52 h 144"/>
                <a:gd name="T64" fmla="*/ 70 w 176"/>
                <a:gd name="T65" fmla="*/ 90 h 144"/>
                <a:gd name="T66" fmla="*/ 28 w 176"/>
                <a:gd name="T67" fmla="*/ 140 h 144"/>
                <a:gd name="T68" fmla="*/ 144 w 176"/>
                <a:gd name="T69" fmla="*/ 144 h 144"/>
                <a:gd name="T70" fmla="*/ 120 w 176"/>
                <a:gd name="T71" fmla="*/ 109 h 144"/>
                <a:gd name="T72" fmla="*/ 58 w 176"/>
                <a:gd name="T73" fmla="*/ 117 h 144"/>
                <a:gd name="T74" fmla="*/ 78 w 176"/>
                <a:gd name="T75" fmla="*/ 90 h 144"/>
                <a:gd name="T76" fmla="*/ 69 w 176"/>
                <a:gd name="T77" fmla="*/ 65 h 144"/>
                <a:gd name="T78" fmla="*/ 68 w 176"/>
                <a:gd name="T79" fmla="*/ 48 h 144"/>
                <a:gd name="T80" fmla="*/ 79 w 176"/>
                <a:gd name="T81" fmla="*/ 12 h 144"/>
                <a:gd name="T82" fmla="*/ 93 w 176"/>
                <a:gd name="T83" fmla="*/ 8 h 144"/>
                <a:gd name="T84" fmla="*/ 108 w 176"/>
                <a:gd name="T85" fmla="*/ 22 h 144"/>
                <a:gd name="T86" fmla="*/ 107 w 176"/>
                <a:gd name="T87" fmla="*/ 54 h 144"/>
                <a:gd name="T88" fmla="*/ 106 w 176"/>
                <a:gd name="T89" fmla="*/ 66 h 144"/>
                <a:gd name="T90" fmla="*/ 118 w 176"/>
                <a:gd name="T91" fmla="*/ 117 h 144"/>
                <a:gd name="T92" fmla="*/ 140 w 176"/>
                <a:gd name="T93" fmla="*/ 13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6" h="144">
                  <a:moveTo>
                    <a:pt x="19" y="108"/>
                  </a:moveTo>
                  <a:cubicBezTo>
                    <a:pt x="25" y="106"/>
                    <a:pt x="34" y="100"/>
                    <a:pt x="34" y="86"/>
                  </a:cubicBezTo>
                  <a:cubicBezTo>
                    <a:pt x="34" y="74"/>
                    <a:pt x="30" y="69"/>
                    <a:pt x="28" y="66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7" y="65"/>
                    <a:pt x="27" y="63"/>
                    <a:pt x="28" y="58"/>
                  </a:cubicBezTo>
                  <a:cubicBezTo>
                    <a:pt x="28" y="56"/>
                    <a:pt x="28" y="54"/>
                    <a:pt x="27" y="53"/>
                  </a:cubicBezTo>
                  <a:cubicBezTo>
                    <a:pt x="26" y="49"/>
                    <a:pt x="23" y="43"/>
                    <a:pt x="25" y="38"/>
                  </a:cubicBezTo>
                  <a:cubicBezTo>
                    <a:pt x="28" y="29"/>
                    <a:pt x="30" y="28"/>
                    <a:pt x="34" y="27"/>
                  </a:cubicBezTo>
                  <a:cubicBezTo>
                    <a:pt x="34" y="27"/>
                    <a:pt x="34" y="26"/>
                    <a:pt x="35" y="26"/>
                  </a:cubicBezTo>
                  <a:cubicBezTo>
                    <a:pt x="36" y="25"/>
                    <a:pt x="40" y="24"/>
                    <a:pt x="44" y="24"/>
                  </a:cubicBezTo>
                  <a:cubicBezTo>
                    <a:pt x="46" y="24"/>
                    <a:pt x="48" y="24"/>
                    <a:pt x="49" y="25"/>
                  </a:cubicBezTo>
                  <a:cubicBezTo>
                    <a:pt x="49" y="24"/>
                    <a:pt x="50" y="22"/>
                    <a:pt x="50" y="21"/>
                  </a:cubicBezTo>
                  <a:cubicBezTo>
                    <a:pt x="51" y="20"/>
                    <a:pt x="51" y="19"/>
                    <a:pt x="52" y="18"/>
                  </a:cubicBezTo>
                  <a:cubicBezTo>
                    <a:pt x="49" y="16"/>
                    <a:pt x="47" y="16"/>
                    <a:pt x="44" y="16"/>
                  </a:cubicBezTo>
                  <a:cubicBezTo>
                    <a:pt x="38" y="16"/>
                    <a:pt x="33" y="18"/>
                    <a:pt x="30" y="19"/>
                  </a:cubicBezTo>
                  <a:cubicBezTo>
                    <a:pt x="24" y="22"/>
                    <a:pt x="21" y="25"/>
                    <a:pt x="17" y="35"/>
                  </a:cubicBezTo>
                  <a:cubicBezTo>
                    <a:pt x="14" y="43"/>
                    <a:pt x="18" y="52"/>
                    <a:pt x="20" y="56"/>
                  </a:cubicBezTo>
                  <a:cubicBezTo>
                    <a:pt x="18" y="66"/>
                    <a:pt x="21" y="70"/>
                    <a:pt x="21" y="70"/>
                  </a:cubicBezTo>
                  <a:cubicBezTo>
                    <a:pt x="23" y="73"/>
                    <a:pt x="26" y="76"/>
                    <a:pt x="26" y="86"/>
                  </a:cubicBezTo>
                  <a:cubicBezTo>
                    <a:pt x="26" y="98"/>
                    <a:pt x="17" y="100"/>
                    <a:pt x="17" y="100"/>
                  </a:cubicBezTo>
                  <a:cubicBezTo>
                    <a:pt x="10" y="103"/>
                    <a:pt x="0" y="108"/>
                    <a:pt x="0" y="124"/>
                  </a:cubicBezTo>
                  <a:cubicBezTo>
                    <a:pt x="0" y="124"/>
                    <a:pt x="0" y="128"/>
                    <a:pt x="4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3" y="125"/>
                    <a:pt x="24" y="122"/>
                    <a:pt x="26" y="120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9" y="112"/>
                    <a:pt x="14" y="110"/>
                    <a:pt x="19" y="108"/>
                  </a:cubicBezTo>
                  <a:moveTo>
                    <a:pt x="159" y="100"/>
                  </a:moveTo>
                  <a:cubicBezTo>
                    <a:pt x="159" y="100"/>
                    <a:pt x="150" y="98"/>
                    <a:pt x="150" y="86"/>
                  </a:cubicBezTo>
                  <a:cubicBezTo>
                    <a:pt x="150" y="76"/>
                    <a:pt x="153" y="73"/>
                    <a:pt x="155" y="70"/>
                  </a:cubicBezTo>
                  <a:cubicBezTo>
                    <a:pt x="155" y="70"/>
                    <a:pt x="158" y="66"/>
                    <a:pt x="156" y="56"/>
                  </a:cubicBezTo>
                  <a:cubicBezTo>
                    <a:pt x="158" y="52"/>
                    <a:pt x="162" y="43"/>
                    <a:pt x="159" y="35"/>
                  </a:cubicBezTo>
                  <a:cubicBezTo>
                    <a:pt x="155" y="25"/>
                    <a:pt x="152" y="22"/>
                    <a:pt x="146" y="19"/>
                  </a:cubicBezTo>
                  <a:cubicBezTo>
                    <a:pt x="143" y="18"/>
                    <a:pt x="138" y="16"/>
                    <a:pt x="132" y="16"/>
                  </a:cubicBezTo>
                  <a:cubicBezTo>
                    <a:pt x="129" y="16"/>
                    <a:pt x="127" y="16"/>
                    <a:pt x="124" y="18"/>
                  </a:cubicBezTo>
                  <a:cubicBezTo>
                    <a:pt x="125" y="20"/>
                    <a:pt x="126" y="23"/>
                    <a:pt x="126" y="25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8" y="24"/>
                    <a:pt x="130" y="24"/>
                    <a:pt x="132" y="24"/>
                  </a:cubicBezTo>
                  <a:cubicBezTo>
                    <a:pt x="136" y="24"/>
                    <a:pt x="140" y="25"/>
                    <a:pt x="141" y="26"/>
                  </a:cubicBezTo>
                  <a:cubicBezTo>
                    <a:pt x="142" y="26"/>
                    <a:pt x="142" y="27"/>
                    <a:pt x="142" y="27"/>
                  </a:cubicBezTo>
                  <a:cubicBezTo>
                    <a:pt x="146" y="28"/>
                    <a:pt x="148" y="29"/>
                    <a:pt x="151" y="38"/>
                  </a:cubicBezTo>
                  <a:cubicBezTo>
                    <a:pt x="153" y="43"/>
                    <a:pt x="150" y="49"/>
                    <a:pt x="149" y="53"/>
                  </a:cubicBezTo>
                  <a:cubicBezTo>
                    <a:pt x="148" y="54"/>
                    <a:pt x="148" y="56"/>
                    <a:pt x="148" y="58"/>
                  </a:cubicBezTo>
                  <a:cubicBezTo>
                    <a:pt x="149" y="63"/>
                    <a:pt x="149" y="65"/>
                    <a:pt x="149" y="65"/>
                  </a:cubicBezTo>
                  <a:cubicBezTo>
                    <a:pt x="149" y="65"/>
                    <a:pt x="149" y="65"/>
                    <a:pt x="148" y="65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46" y="69"/>
                    <a:pt x="142" y="74"/>
                    <a:pt x="142" y="86"/>
                  </a:cubicBezTo>
                  <a:cubicBezTo>
                    <a:pt x="142" y="100"/>
                    <a:pt x="151" y="106"/>
                    <a:pt x="157" y="108"/>
                  </a:cubicBezTo>
                  <a:cubicBezTo>
                    <a:pt x="162" y="110"/>
                    <a:pt x="167" y="112"/>
                    <a:pt x="168" y="120"/>
                  </a:cubicBezTo>
                  <a:cubicBezTo>
                    <a:pt x="150" y="120"/>
                    <a:pt x="150" y="120"/>
                    <a:pt x="150" y="120"/>
                  </a:cubicBezTo>
                  <a:cubicBezTo>
                    <a:pt x="152" y="122"/>
                    <a:pt x="153" y="125"/>
                    <a:pt x="154" y="128"/>
                  </a:cubicBezTo>
                  <a:cubicBezTo>
                    <a:pt x="172" y="128"/>
                    <a:pt x="172" y="128"/>
                    <a:pt x="172" y="128"/>
                  </a:cubicBezTo>
                  <a:cubicBezTo>
                    <a:pt x="176" y="128"/>
                    <a:pt x="176" y="124"/>
                    <a:pt x="176" y="124"/>
                  </a:cubicBezTo>
                  <a:cubicBezTo>
                    <a:pt x="176" y="108"/>
                    <a:pt x="166" y="103"/>
                    <a:pt x="159" y="100"/>
                  </a:cubicBezTo>
                  <a:moveTo>
                    <a:pt x="120" y="109"/>
                  </a:moveTo>
                  <a:cubicBezTo>
                    <a:pt x="120" y="109"/>
                    <a:pt x="106" y="105"/>
                    <a:pt x="106" y="90"/>
                  </a:cubicBezTo>
                  <a:cubicBezTo>
                    <a:pt x="106" y="77"/>
                    <a:pt x="111" y="73"/>
                    <a:pt x="114" y="69"/>
                  </a:cubicBezTo>
                  <a:cubicBezTo>
                    <a:pt x="114" y="69"/>
                    <a:pt x="118" y="65"/>
                    <a:pt x="115" y="52"/>
                  </a:cubicBezTo>
                  <a:cubicBezTo>
                    <a:pt x="120" y="45"/>
                    <a:pt x="122" y="33"/>
                    <a:pt x="116" y="19"/>
                  </a:cubicBezTo>
                  <a:cubicBezTo>
                    <a:pt x="112" y="10"/>
                    <a:pt x="109" y="5"/>
                    <a:pt x="104" y="3"/>
                  </a:cubicBezTo>
                  <a:cubicBezTo>
                    <a:pt x="101" y="1"/>
                    <a:pt x="97" y="0"/>
                    <a:pt x="93" y="0"/>
                  </a:cubicBezTo>
                  <a:cubicBezTo>
                    <a:pt x="86" y="0"/>
                    <a:pt x="79" y="3"/>
                    <a:pt x="76" y="4"/>
                  </a:cubicBezTo>
                  <a:cubicBezTo>
                    <a:pt x="68" y="8"/>
                    <a:pt x="63" y="11"/>
                    <a:pt x="58" y="24"/>
                  </a:cubicBezTo>
                  <a:cubicBezTo>
                    <a:pt x="53" y="34"/>
                    <a:pt x="58" y="46"/>
                    <a:pt x="61" y="52"/>
                  </a:cubicBezTo>
                  <a:cubicBezTo>
                    <a:pt x="58" y="65"/>
                    <a:pt x="62" y="69"/>
                    <a:pt x="62" y="69"/>
                  </a:cubicBezTo>
                  <a:cubicBezTo>
                    <a:pt x="65" y="73"/>
                    <a:pt x="70" y="77"/>
                    <a:pt x="70" y="90"/>
                  </a:cubicBezTo>
                  <a:cubicBezTo>
                    <a:pt x="70" y="105"/>
                    <a:pt x="56" y="109"/>
                    <a:pt x="56" y="109"/>
                  </a:cubicBezTo>
                  <a:cubicBezTo>
                    <a:pt x="47" y="112"/>
                    <a:pt x="28" y="118"/>
                    <a:pt x="28" y="140"/>
                  </a:cubicBezTo>
                  <a:cubicBezTo>
                    <a:pt x="28" y="140"/>
                    <a:pt x="28" y="144"/>
                    <a:pt x="32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8" y="144"/>
                    <a:pt x="148" y="140"/>
                    <a:pt x="148" y="140"/>
                  </a:cubicBezTo>
                  <a:cubicBezTo>
                    <a:pt x="148" y="118"/>
                    <a:pt x="129" y="112"/>
                    <a:pt x="120" y="109"/>
                  </a:cubicBezTo>
                  <a:moveTo>
                    <a:pt x="36" y="136"/>
                  </a:moveTo>
                  <a:cubicBezTo>
                    <a:pt x="38" y="125"/>
                    <a:pt x="48" y="120"/>
                    <a:pt x="58" y="117"/>
                  </a:cubicBezTo>
                  <a:cubicBezTo>
                    <a:pt x="58" y="117"/>
                    <a:pt x="58" y="117"/>
                    <a:pt x="58" y="117"/>
                  </a:cubicBezTo>
                  <a:cubicBezTo>
                    <a:pt x="66" y="115"/>
                    <a:pt x="78" y="107"/>
                    <a:pt x="78" y="90"/>
                  </a:cubicBezTo>
                  <a:cubicBezTo>
                    <a:pt x="78" y="76"/>
                    <a:pt x="73" y="70"/>
                    <a:pt x="70" y="66"/>
                  </a:cubicBezTo>
                  <a:cubicBezTo>
                    <a:pt x="69" y="65"/>
                    <a:pt x="68" y="64"/>
                    <a:pt x="69" y="65"/>
                  </a:cubicBezTo>
                  <a:cubicBezTo>
                    <a:pt x="68" y="64"/>
                    <a:pt x="67" y="61"/>
                    <a:pt x="69" y="54"/>
                  </a:cubicBezTo>
                  <a:cubicBezTo>
                    <a:pt x="70" y="50"/>
                    <a:pt x="68" y="48"/>
                    <a:pt x="68" y="48"/>
                  </a:cubicBezTo>
                  <a:cubicBezTo>
                    <a:pt x="66" y="43"/>
                    <a:pt x="62" y="34"/>
                    <a:pt x="65" y="27"/>
                  </a:cubicBezTo>
                  <a:cubicBezTo>
                    <a:pt x="69" y="17"/>
                    <a:pt x="73" y="15"/>
                    <a:pt x="79" y="12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0"/>
                    <a:pt x="87" y="8"/>
                    <a:pt x="93" y="8"/>
                  </a:cubicBezTo>
                  <a:cubicBezTo>
                    <a:pt x="96" y="8"/>
                    <a:pt x="98" y="9"/>
                    <a:pt x="100" y="10"/>
                  </a:cubicBezTo>
                  <a:cubicBezTo>
                    <a:pt x="103" y="11"/>
                    <a:pt x="105" y="14"/>
                    <a:pt x="108" y="22"/>
                  </a:cubicBezTo>
                  <a:cubicBezTo>
                    <a:pt x="115" y="36"/>
                    <a:pt x="111" y="45"/>
                    <a:pt x="109" y="47"/>
                  </a:cubicBezTo>
                  <a:cubicBezTo>
                    <a:pt x="107" y="49"/>
                    <a:pt x="107" y="52"/>
                    <a:pt x="107" y="54"/>
                  </a:cubicBezTo>
                  <a:cubicBezTo>
                    <a:pt x="109" y="61"/>
                    <a:pt x="108" y="64"/>
                    <a:pt x="108" y="64"/>
                  </a:cubicBezTo>
                  <a:cubicBezTo>
                    <a:pt x="108" y="64"/>
                    <a:pt x="107" y="65"/>
                    <a:pt x="106" y="66"/>
                  </a:cubicBezTo>
                  <a:cubicBezTo>
                    <a:pt x="103" y="70"/>
                    <a:pt x="98" y="76"/>
                    <a:pt x="98" y="90"/>
                  </a:cubicBezTo>
                  <a:cubicBezTo>
                    <a:pt x="98" y="107"/>
                    <a:pt x="110" y="115"/>
                    <a:pt x="118" y="117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128" y="120"/>
                    <a:pt x="138" y="125"/>
                    <a:pt x="140" y="136"/>
                  </a:cubicBezTo>
                  <a:lnTo>
                    <a:pt x="36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11585614" y="1493587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79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0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1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2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3" name="Freeform 227"/>
              <p:cNvSpPr>
                <a:spLocks/>
              </p:cNvSpPr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7" name="Group 106"/>
            <p:cNvGrpSpPr/>
            <p:nvPr/>
          </p:nvGrpSpPr>
          <p:grpSpPr>
            <a:xfrm>
              <a:off x="10480502" y="207492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177" name="Freeform 238"/>
              <p:cNvSpPr>
                <a:spLocks/>
              </p:cNvSpPr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8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10666781" y="1478614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173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4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5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6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11720135" y="195770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69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0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2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11534193" y="6376915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163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6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7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4838688" y="6491061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9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0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2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>
              <a:off x="5166934" y="266108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5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6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8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295825" y="4072051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149" name="Freeform 114"/>
              <p:cNvSpPr>
                <a:spLocks/>
              </p:cNvSpPr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0" name="Freeform 115"/>
              <p:cNvSpPr>
                <a:spLocks/>
              </p:cNvSpPr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1" name="Freeform 116"/>
              <p:cNvSpPr>
                <a:spLocks/>
              </p:cNvSpPr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2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3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4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Group 113"/>
            <p:cNvGrpSpPr/>
            <p:nvPr/>
          </p:nvGrpSpPr>
          <p:grpSpPr>
            <a:xfrm>
              <a:off x="5729642" y="3419615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45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6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8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15" name="Freeform 114"/>
            <p:cNvSpPr>
              <a:spLocks noEditPoints="1"/>
            </p:cNvSpPr>
            <p:nvPr/>
          </p:nvSpPr>
          <p:spPr bwMode="auto">
            <a:xfrm>
              <a:off x="7744559" y="5866193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6" name="Freeform 115"/>
            <p:cNvSpPr>
              <a:spLocks noEditPoints="1"/>
            </p:cNvSpPr>
            <p:nvPr/>
          </p:nvSpPr>
          <p:spPr bwMode="auto">
            <a:xfrm>
              <a:off x="470756" y="4536601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7" name="Freeform 116"/>
            <p:cNvSpPr>
              <a:spLocks noEditPoints="1"/>
            </p:cNvSpPr>
            <p:nvPr/>
          </p:nvSpPr>
          <p:spPr bwMode="auto">
            <a:xfrm>
              <a:off x="11478799" y="3631863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18" name="Group 117"/>
            <p:cNvGrpSpPr/>
            <p:nvPr/>
          </p:nvGrpSpPr>
          <p:grpSpPr>
            <a:xfrm>
              <a:off x="11221394" y="1876194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3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4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4797147" y="511176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1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2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10742529" y="4103554"/>
              <a:ext cx="371620" cy="373885"/>
              <a:chOff x="6061716" y="3185154"/>
              <a:chExt cx="218527" cy="219859"/>
            </a:xfrm>
            <a:grpFill/>
          </p:grpSpPr>
          <p:sp>
            <p:nvSpPr>
              <p:cNvPr id="137" name="Freeform 232"/>
              <p:cNvSpPr>
                <a:spLocks/>
              </p:cNvSpPr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8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9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0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Group 120"/>
            <p:cNvGrpSpPr/>
            <p:nvPr/>
          </p:nvGrpSpPr>
          <p:grpSpPr>
            <a:xfrm>
              <a:off x="8425950" y="195769"/>
              <a:ext cx="353212" cy="355365"/>
              <a:chOff x="3396750" y="3185154"/>
              <a:chExt cx="218527" cy="219859"/>
            </a:xfrm>
            <a:grpFill/>
          </p:grpSpPr>
          <p:sp>
            <p:nvSpPr>
              <p:cNvPr id="133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4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5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6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2429891" y="6569679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2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2" name="Freeform 227"/>
              <p:cNvSpPr>
                <a:spLocks/>
              </p:cNvSpPr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9442085" y="4437671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124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5" name="Freeform 111"/>
              <p:cNvSpPr>
                <a:spLocks/>
              </p:cNvSpPr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6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7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359727" y="1307205"/>
            <a:ext cx="4512508" cy="4243590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99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" grpId="0"/>
    </p:bld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2167984" y="3958814"/>
            <a:ext cx="1946048" cy="1447413"/>
          </a:xfrm>
          <a:noFill/>
          <a:effectLst>
            <a:outerShdw blurRad="571500" dist="635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297230" y="3958814"/>
            <a:ext cx="3459034" cy="14474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939462" y="3958814"/>
            <a:ext cx="2151212" cy="144741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07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 p14:presetBounceEnd="40000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 p14:presetBounceEnd="40000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10" grpId="0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10" grpId="0"/>
          <p:bldP spid="6" grpId="0"/>
        </p:bldLst>
      </p:timing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55707" y="91494"/>
            <a:ext cx="11833095" cy="6698044"/>
            <a:chOff x="155707" y="91494"/>
            <a:chExt cx="11833095" cy="6698044"/>
          </a:xfrm>
          <a:solidFill>
            <a:schemeClr val="tx1">
              <a:alpha val="20000"/>
            </a:schemeClr>
          </a:solidFill>
        </p:grpSpPr>
        <p:grpSp>
          <p:nvGrpSpPr>
            <p:cNvPr id="3" name="Group 2"/>
            <p:cNvGrpSpPr/>
            <p:nvPr/>
          </p:nvGrpSpPr>
          <p:grpSpPr>
            <a:xfrm>
              <a:off x="1264778" y="1582176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464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5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6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7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8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9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2746370" y="3550345"/>
              <a:ext cx="218527" cy="218527"/>
              <a:chOff x="1797771" y="1582176"/>
              <a:chExt cx="218527" cy="218527"/>
            </a:xfrm>
            <a:grpFill/>
          </p:grpSpPr>
          <p:sp>
            <p:nvSpPr>
              <p:cNvPr id="458" name="Freeform 11"/>
              <p:cNvSpPr>
                <a:spLocks noEditPoints="1"/>
              </p:cNvSpPr>
              <p:nvPr/>
            </p:nvSpPr>
            <p:spPr bwMode="auto">
              <a:xfrm>
                <a:off x="1884383" y="1714092"/>
                <a:ext cx="43972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9" name="Freeform 12"/>
              <p:cNvSpPr>
                <a:spLocks noEditPoints="1"/>
              </p:cNvSpPr>
              <p:nvPr/>
            </p:nvSpPr>
            <p:spPr bwMode="auto">
              <a:xfrm>
                <a:off x="1841743" y="1634143"/>
                <a:ext cx="51967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0" name="Oval 13"/>
              <p:cNvSpPr>
                <a:spLocks noChangeArrowheads="1"/>
              </p:cNvSpPr>
              <p:nvPr/>
            </p:nvSpPr>
            <p:spPr bwMode="auto">
              <a:xfrm>
                <a:off x="185906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1" name="Freeform 14"/>
              <p:cNvSpPr>
                <a:spLocks noEditPoints="1"/>
              </p:cNvSpPr>
              <p:nvPr/>
            </p:nvSpPr>
            <p:spPr bwMode="auto">
              <a:xfrm>
                <a:off x="1797771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2" name="Freeform 15"/>
              <p:cNvSpPr>
                <a:spLocks noEditPoints="1"/>
              </p:cNvSpPr>
              <p:nvPr/>
            </p:nvSpPr>
            <p:spPr bwMode="auto">
              <a:xfrm>
                <a:off x="1920359" y="1634143"/>
                <a:ext cx="51967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3" name="Oval 16"/>
              <p:cNvSpPr>
                <a:spLocks noChangeArrowheads="1"/>
              </p:cNvSpPr>
              <p:nvPr/>
            </p:nvSpPr>
            <p:spPr bwMode="auto">
              <a:xfrm>
                <a:off x="193768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3104088" y="817980"/>
              <a:ext cx="473986" cy="476875"/>
              <a:chOff x="2330764" y="1579511"/>
              <a:chExt cx="218527" cy="219859"/>
            </a:xfrm>
            <a:grpFill/>
          </p:grpSpPr>
          <p:sp>
            <p:nvSpPr>
              <p:cNvPr id="454" name="Freeform 17"/>
              <p:cNvSpPr>
                <a:spLocks noEditPoints="1"/>
              </p:cNvSpPr>
              <p:nvPr/>
            </p:nvSpPr>
            <p:spPr bwMode="auto">
              <a:xfrm>
                <a:off x="2330764" y="1579511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9 w 100"/>
                  <a:gd name="T13" fmla="*/ 25 h 100"/>
                  <a:gd name="T14" fmla="*/ 79 w 100"/>
                  <a:gd name="T15" fmla="*/ 31 h 100"/>
                  <a:gd name="T16" fmla="*/ 68 w 100"/>
                  <a:gd name="T17" fmla="*/ 24 h 100"/>
                  <a:gd name="T18" fmla="*/ 57 w 100"/>
                  <a:gd name="T19" fmla="*/ 33 h 100"/>
                  <a:gd name="T20" fmla="*/ 43 w 100"/>
                  <a:gd name="T21" fmla="*/ 33 h 100"/>
                  <a:gd name="T22" fmla="*/ 32 w 100"/>
                  <a:gd name="T23" fmla="*/ 24 h 100"/>
                  <a:gd name="T24" fmla="*/ 21 w 100"/>
                  <a:gd name="T25" fmla="*/ 31 h 100"/>
                  <a:gd name="T26" fmla="*/ 11 w 100"/>
                  <a:gd name="T27" fmla="*/ 25 h 100"/>
                  <a:gd name="T28" fmla="*/ 50 w 100"/>
                  <a:gd name="T29" fmla="*/ 4 h 100"/>
                  <a:gd name="T30" fmla="*/ 76 w 100"/>
                  <a:gd name="T31" fmla="*/ 36 h 100"/>
                  <a:gd name="T32" fmla="*/ 68 w 100"/>
                  <a:gd name="T33" fmla="*/ 44 h 100"/>
                  <a:gd name="T34" fmla="*/ 60 w 100"/>
                  <a:gd name="T35" fmla="*/ 36 h 100"/>
                  <a:gd name="T36" fmla="*/ 68 w 100"/>
                  <a:gd name="T37" fmla="*/ 28 h 100"/>
                  <a:gd name="T38" fmla="*/ 76 w 100"/>
                  <a:gd name="T39" fmla="*/ 36 h 100"/>
                  <a:gd name="T40" fmla="*/ 40 w 100"/>
                  <a:gd name="T41" fmla="*/ 36 h 100"/>
                  <a:gd name="T42" fmla="*/ 32 w 100"/>
                  <a:gd name="T43" fmla="*/ 44 h 100"/>
                  <a:gd name="T44" fmla="*/ 24 w 100"/>
                  <a:gd name="T45" fmla="*/ 36 h 100"/>
                  <a:gd name="T46" fmla="*/ 32 w 100"/>
                  <a:gd name="T47" fmla="*/ 28 h 100"/>
                  <a:gd name="T48" fmla="*/ 40 w 100"/>
                  <a:gd name="T49" fmla="*/ 36 h 100"/>
                  <a:gd name="T50" fmla="*/ 50 w 100"/>
                  <a:gd name="T51" fmla="*/ 96 h 100"/>
                  <a:gd name="T52" fmla="*/ 4 w 100"/>
                  <a:gd name="T53" fmla="*/ 50 h 100"/>
                  <a:gd name="T54" fmla="*/ 9 w 100"/>
                  <a:gd name="T55" fmla="*/ 28 h 100"/>
                  <a:gd name="T56" fmla="*/ 20 w 100"/>
                  <a:gd name="T57" fmla="*/ 35 h 100"/>
                  <a:gd name="T58" fmla="*/ 20 w 100"/>
                  <a:gd name="T59" fmla="*/ 36 h 100"/>
                  <a:gd name="T60" fmla="*/ 32 w 100"/>
                  <a:gd name="T61" fmla="*/ 48 h 100"/>
                  <a:gd name="T62" fmla="*/ 44 w 100"/>
                  <a:gd name="T63" fmla="*/ 37 h 100"/>
                  <a:gd name="T64" fmla="*/ 56 w 100"/>
                  <a:gd name="T65" fmla="*/ 37 h 100"/>
                  <a:gd name="T66" fmla="*/ 68 w 100"/>
                  <a:gd name="T67" fmla="*/ 48 h 100"/>
                  <a:gd name="T68" fmla="*/ 80 w 100"/>
                  <a:gd name="T69" fmla="*/ 36 h 100"/>
                  <a:gd name="T70" fmla="*/ 80 w 100"/>
                  <a:gd name="T71" fmla="*/ 35 h 100"/>
                  <a:gd name="T72" fmla="*/ 91 w 100"/>
                  <a:gd name="T73" fmla="*/ 28 h 100"/>
                  <a:gd name="T74" fmla="*/ 96 w 100"/>
                  <a:gd name="T75" fmla="*/ 50 h 100"/>
                  <a:gd name="T76" fmla="*/ 50 w 100"/>
                  <a:gd name="T77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7"/>
                      <a:pt x="22" y="100"/>
                      <a:pt x="50" y="100"/>
                    </a:cubicBezTo>
                    <a:cubicBezTo>
                      <a:pt x="78" y="100"/>
                      <a:pt x="100" y="77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9" y="25"/>
                    </a:cubicBezTo>
                    <a:cubicBezTo>
                      <a:pt x="79" y="31"/>
                      <a:pt x="79" y="31"/>
                      <a:pt x="79" y="31"/>
                    </a:cubicBezTo>
                    <a:cubicBezTo>
                      <a:pt x="77" y="27"/>
                      <a:pt x="73" y="24"/>
                      <a:pt x="68" y="24"/>
                    </a:cubicBezTo>
                    <a:cubicBezTo>
                      <a:pt x="63" y="24"/>
                      <a:pt x="58" y="29"/>
                      <a:pt x="57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2" y="29"/>
                      <a:pt x="37" y="24"/>
                      <a:pt x="32" y="24"/>
                    </a:cubicBezTo>
                    <a:cubicBezTo>
                      <a:pt x="27" y="24"/>
                      <a:pt x="23" y="27"/>
                      <a:pt x="21" y="31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76" y="36"/>
                    </a:moveTo>
                    <a:cubicBezTo>
                      <a:pt x="76" y="40"/>
                      <a:pt x="72" y="44"/>
                      <a:pt x="68" y="44"/>
                    </a:cubicBezTo>
                    <a:cubicBezTo>
                      <a:pt x="64" y="44"/>
                      <a:pt x="60" y="40"/>
                      <a:pt x="60" y="36"/>
                    </a:cubicBezTo>
                    <a:cubicBezTo>
                      <a:pt x="60" y="31"/>
                      <a:pt x="64" y="28"/>
                      <a:pt x="68" y="28"/>
                    </a:cubicBezTo>
                    <a:cubicBezTo>
                      <a:pt x="72" y="28"/>
                      <a:pt x="76" y="31"/>
                      <a:pt x="76" y="36"/>
                    </a:cubicBezTo>
                    <a:close/>
                    <a:moveTo>
                      <a:pt x="40" y="36"/>
                    </a:moveTo>
                    <a:cubicBezTo>
                      <a:pt x="40" y="40"/>
                      <a:pt x="36" y="44"/>
                      <a:pt x="32" y="44"/>
                    </a:cubicBezTo>
                    <a:cubicBezTo>
                      <a:pt x="28" y="44"/>
                      <a:pt x="24" y="40"/>
                      <a:pt x="24" y="36"/>
                    </a:cubicBezTo>
                    <a:cubicBezTo>
                      <a:pt x="24" y="31"/>
                      <a:pt x="28" y="28"/>
                      <a:pt x="32" y="28"/>
                    </a:cubicBezTo>
                    <a:cubicBezTo>
                      <a:pt x="36" y="28"/>
                      <a:pt x="40" y="31"/>
                      <a:pt x="40" y="36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2"/>
                      <a:pt x="6" y="35"/>
                      <a:pt x="9" y="28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0" y="35"/>
                      <a:pt x="20" y="35"/>
                      <a:pt x="20" y="36"/>
                    </a:cubicBezTo>
                    <a:cubicBezTo>
                      <a:pt x="20" y="42"/>
                      <a:pt x="25" y="48"/>
                      <a:pt x="32" y="48"/>
                    </a:cubicBezTo>
                    <a:cubicBezTo>
                      <a:pt x="39" y="48"/>
                      <a:pt x="44" y="41"/>
                      <a:pt x="44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6" y="41"/>
                      <a:pt x="61" y="48"/>
                      <a:pt x="68" y="48"/>
                    </a:cubicBezTo>
                    <a:cubicBezTo>
                      <a:pt x="75" y="48"/>
                      <a:pt x="80" y="43"/>
                      <a:pt x="80" y="36"/>
                    </a:cubicBezTo>
                    <a:cubicBezTo>
                      <a:pt x="80" y="36"/>
                      <a:pt x="80" y="35"/>
                      <a:pt x="80" y="35"/>
                    </a:cubicBezTo>
                    <a:cubicBezTo>
                      <a:pt x="91" y="28"/>
                      <a:pt x="91" y="28"/>
                      <a:pt x="91" y="28"/>
                    </a:cubicBezTo>
                    <a:cubicBezTo>
                      <a:pt x="94" y="35"/>
                      <a:pt x="96" y="42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5" name="Oval 18"/>
              <p:cNvSpPr>
                <a:spLocks noChangeArrowheads="1"/>
              </p:cNvSpPr>
              <p:nvPr/>
            </p:nvSpPr>
            <p:spPr bwMode="auto">
              <a:xfrm>
                <a:off x="2392058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6" name="Oval 19"/>
              <p:cNvSpPr>
                <a:spLocks noChangeArrowheads="1"/>
              </p:cNvSpPr>
              <p:nvPr/>
            </p:nvSpPr>
            <p:spPr bwMode="auto">
              <a:xfrm>
                <a:off x="2470675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7" name="Freeform 20"/>
              <p:cNvSpPr>
                <a:spLocks noEditPoints="1"/>
              </p:cNvSpPr>
              <p:nvPr/>
            </p:nvSpPr>
            <p:spPr bwMode="auto">
              <a:xfrm>
                <a:off x="2417376" y="1711427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20"/>
                      <a:pt x="10" y="20"/>
                    </a:cubicBezTo>
                    <a:cubicBezTo>
                      <a:pt x="16" y="20"/>
                      <a:pt x="20" y="15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6"/>
                      <a:pt x="7" y="4"/>
                      <a:pt x="10" y="4"/>
                    </a:cubicBezTo>
                    <a:cubicBezTo>
                      <a:pt x="13" y="4"/>
                      <a:pt x="16" y="6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574717" y="245562"/>
              <a:ext cx="218527" cy="218527"/>
              <a:chOff x="2863757" y="1582176"/>
              <a:chExt cx="218527" cy="218527"/>
            </a:xfrm>
            <a:grpFill/>
          </p:grpSpPr>
          <p:sp>
            <p:nvSpPr>
              <p:cNvPr id="451" name="Oval 450"/>
              <p:cNvSpPr>
                <a:spLocks noChangeArrowheads="1"/>
              </p:cNvSpPr>
              <p:nvPr/>
            </p:nvSpPr>
            <p:spPr bwMode="auto">
              <a:xfrm>
                <a:off x="3003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2" name="Oval 451"/>
              <p:cNvSpPr>
                <a:spLocks noChangeArrowheads="1"/>
              </p:cNvSpPr>
              <p:nvPr/>
            </p:nvSpPr>
            <p:spPr bwMode="auto">
              <a:xfrm>
                <a:off x="292505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/>
              <p:cNvSpPr>
                <a:spLocks noEditPoints="1"/>
              </p:cNvSpPr>
              <p:nvPr/>
            </p:nvSpPr>
            <p:spPr bwMode="auto">
              <a:xfrm>
                <a:off x="2863757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396750" y="1582176"/>
              <a:ext cx="218527" cy="218527"/>
              <a:chOff x="3396750" y="1582176"/>
              <a:chExt cx="218527" cy="218527"/>
            </a:xfrm>
            <a:grpFill/>
          </p:grpSpPr>
          <p:sp>
            <p:nvSpPr>
              <p:cNvPr id="447" name="Rectangle 24"/>
              <p:cNvSpPr>
                <a:spLocks noChangeArrowheads="1"/>
              </p:cNvSpPr>
              <p:nvPr/>
            </p:nvSpPr>
            <p:spPr bwMode="auto">
              <a:xfrm>
                <a:off x="3466039" y="1731414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8" name="Oval 25"/>
              <p:cNvSpPr>
                <a:spLocks noChangeArrowheads="1"/>
              </p:cNvSpPr>
              <p:nvPr/>
            </p:nvSpPr>
            <p:spPr bwMode="auto">
              <a:xfrm>
                <a:off x="345804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9" name="Freeform 26"/>
              <p:cNvSpPr>
                <a:spLocks noEditPoints="1"/>
              </p:cNvSpPr>
              <p:nvPr/>
            </p:nvSpPr>
            <p:spPr bwMode="auto">
              <a:xfrm>
                <a:off x="3396750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0" name="Oval 27"/>
              <p:cNvSpPr>
                <a:spLocks noChangeArrowheads="1"/>
              </p:cNvSpPr>
              <p:nvPr/>
            </p:nvSpPr>
            <p:spPr bwMode="auto">
              <a:xfrm>
                <a:off x="353666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155707" y="1147908"/>
              <a:ext cx="218527" cy="218527"/>
              <a:chOff x="3929743" y="1582176"/>
              <a:chExt cx="218527" cy="218527"/>
            </a:xfrm>
            <a:grpFill/>
          </p:grpSpPr>
          <p:sp>
            <p:nvSpPr>
              <p:cNvPr id="443" name="Freeform 28"/>
              <p:cNvSpPr>
                <a:spLocks/>
              </p:cNvSpPr>
              <p:nvPr/>
            </p:nvSpPr>
            <p:spPr bwMode="auto">
              <a:xfrm>
                <a:off x="3991038" y="1722087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4" name="Oval 29"/>
              <p:cNvSpPr>
                <a:spLocks noChangeArrowheads="1"/>
              </p:cNvSpPr>
              <p:nvPr/>
            </p:nvSpPr>
            <p:spPr bwMode="auto">
              <a:xfrm>
                <a:off x="399103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5" name="Freeform 30"/>
              <p:cNvSpPr>
                <a:spLocks noEditPoints="1"/>
              </p:cNvSpPr>
              <p:nvPr/>
            </p:nvSpPr>
            <p:spPr bwMode="auto">
              <a:xfrm>
                <a:off x="3929743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6" name="Oval 31"/>
              <p:cNvSpPr>
                <a:spLocks noChangeArrowheads="1"/>
              </p:cNvSpPr>
              <p:nvPr/>
            </p:nvSpPr>
            <p:spPr bwMode="auto">
              <a:xfrm>
                <a:off x="406965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828906" y="3733030"/>
              <a:ext cx="218527" cy="218527"/>
              <a:chOff x="4462736" y="1582176"/>
              <a:chExt cx="218527" cy="218527"/>
            </a:xfrm>
            <a:grpFill/>
          </p:grpSpPr>
          <p:sp>
            <p:nvSpPr>
              <p:cNvPr id="439" name="Freeform 32"/>
              <p:cNvSpPr>
                <a:spLocks/>
              </p:cNvSpPr>
              <p:nvPr/>
            </p:nvSpPr>
            <p:spPr bwMode="auto">
              <a:xfrm>
                <a:off x="4524031" y="1722087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0" name="Oval 33"/>
              <p:cNvSpPr>
                <a:spLocks noChangeArrowheads="1"/>
              </p:cNvSpPr>
              <p:nvPr/>
            </p:nvSpPr>
            <p:spPr bwMode="auto">
              <a:xfrm>
                <a:off x="4602648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1" name="Oval 34"/>
              <p:cNvSpPr>
                <a:spLocks noChangeArrowheads="1"/>
              </p:cNvSpPr>
              <p:nvPr/>
            </p:nvSpPr>
            <p:spPr bwMode="auto">
              <a:xfrm>
                <a:off x="4524031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2" name="Freeform 35"/>
              <p:cNvSpPr>
                <a:spLocks noEditPoints="1"/>
              </p:cNvSpPr>
              <p:nvPr/>
            </p:nvSpPr>
            <p:spPr bwMode="auto">
              <a:xfrm>
                <a:off x="446273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221164" y="161006"/>
              <a:ext cx="218527" cy="218527"/>
              <a:chOff x="4995729" y="1582176"/>
              <a:chExt cx="218527" cy="218527"/>
            </a:xfrm>
            <a:grpFill/>
          </p:grpSpPr>
          <p:sp>
            <p:nvSpPr>
              <p:cNvPr id="435" name="Freeform 36"/>
              <p:cNvSpPr>
                <a:spLocks noEditPoints="1"/>
              </p:cNvSpPr>
              <p:nvPr/>
            </p:nvSpPr>
            <p:spPr bwMode="auto">
              <a:xfrm>
                <a:off x="5083673" y="1714092"/>
                <a:ext cx="42639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6" name="Oval 37"/>
              <p:cNvSpPr>
                <a:spLocks noChangeArrowheads="1"/>
              </p:cNvSpPr>
              <p:nvPr/>
            </p:nvSpPr>
            <p:spPr bwMode="auto">
              <a:xfrm>
                <a:off x="505702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7" name="Freeform 38"/>
              <p:cNvSpPr>
                <a:spLocks noEditPoints="1"/>
              </p:cNvSpPr>
              <p:nvPr/>
            </p:nvSpPr>
            <p:spPr bwMode="auto">
              <a:xfrm>
                <a:off x="4995729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8" name="Oval 39"/>
              <p:cNvSpPr>
                <a:spLocks noChangeArrowheads="1"/>
              </p:cNvSpPr>
              <p:nvPr/>
            </p:nvSpPr>
            <p:spPr bwMode="auto">
              <a:xfrm>
                <a:off x="513564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5528723" y="1578179"/>
              <a:ext cx="218527" cy="218527"/>
              <a:chOff x="5528723" y="1578179"/>
              <a:chExt cx="218527" cy="218527"/>
            </a:xfrm>
            <a:grpFill/>
          </p:grpSpPr>
          <p:sp>
            <p:nvSpPr>
              <p:cNvPr id="431" name="Oval 40"/>
              <p:cNvSpPr>
                <a:spLocks noChangeArrowheads="1"/>
              </p:cNvSpPr>
              <p:nvPr/>
            </p:nvSpPr>
            <p:spPr bwMode="auto">
              <a:xfrm>
                <a:off x="5590017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2" name="Freeform 41"/>
              <p:cNvSpPr>
                <a:spLocks noEditPoints="1"/>
              </p:cNvSpPr>
              <p:nvPr/>
            </p:nvSpPr>
            <p:spPr bwMode="auto">
              <a:xfrm>
                <a:off x="5599345" y="1708762"/>
                <a:ext cx="78617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5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5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3" name="Freeform 42"/>
              <p:cNvSpPr>
                <a:spLocks noEditPoints="1"/>
              </p:cNvSpPr>
              <p:nvPr/>
            </p:nvSpPr>
            <p:spPr bwMode="auto">
              <a:xfrm>
                <a:off x="5528723" y="1578179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4" name="Oval 43"/>
              <p:cNvSpPr>
                <a:spLocks noChangeArrowheads="1"/>
              </p:cNvSpPr>
              <p:nvPr/>
            </p:nvSpPr>
            <p:spPr bwMode="auto">
              <a:xfrm>
                <a:off x="5668634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131671" y="245562"/>
              <a:ext cx="218527" cy="218527"/>
              <a:chOff x="6061716" y="1582176"/>
              <a:chExt cx="218527" cy="218527"/>
            </a:xfrm>
            <a:grpFill/>
          </p:grpSpPr>
          <p:sp>
            <p:nvSpPr>
              <p:cNvPr id="427" name="Freeform 44"/>
              <p:cNvSpPr>
                <a:spLocks/>
              </p:cNvSpPr>
              <p:nvPr/>
            </p:nvSpPr>
            <p:spPr bwMode="auto">
              <a:xfrm>
                <a:off x="6132338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8" name="Rectangle 45"/>
              <p:cNvSpPr>
                <a:spLocks noChangeArrowheads="1"/>
              </p:cNvSpPr>
              <p:nvPr/>
            </p:nvSpPr>
            <p:spPr bwMode="auto">
              <a:xfrm>
                <a:off x="6123010" y="1660793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9" name="Oval 46"/>
              <p:cNvSpPr>
                <a:spLocks noChangeArrowheads="1"/>
              </p:cNvSpPr>
              <p:nvPr/>
            </p:nvSpPr>
            <p:spPr bwMode="auto">
              <a:xfrm>
                <a:off x="6201627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0" name="Freeform 47"/>
              <p:cNvSpPr>
                <a:spLocks noEditPoints="1"/>
              </p:cNvSpPr>
              <p:nvPr/>
            </p:nvSpPr>
            <p:spPr bwMode="auto">
              <a:xfrm>
                <a:off x="606171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986140" y="1302986"/>
              <a:ext cx="382203" cy="382203"/>
              <a:chOff x="6597374" y="1582176"/>
              <a:chExt cx="218527" cy="218527"/>
            </a:xfrm>
            <a:grpFill/>
          </p:grpSpPr>
          <p:sp>
            <p:nvSpPr>
              <p:cNvPr id="423" name="Oval 48"/>
              <p:cNvSpPr>
                <a:spLocks noChangeArrowheads="1"/>
              </p:cNvSpPr>
              <p:nvPr/>
            </p:nvSpPr>
            <p:spPr bwMode="auto">
              <a:xfrm>
                <a:off x="6658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4" name="Oval 49"/>
              <p:cNvSpPr>
                <a:spLocks noChangeArrowheads="1"/>
              </p:cNvSpPr>
              <p:nvPr/>
            </p:nvSpPr>
            <p:spPr bwMode="auto">
              <a:xfrm>
                <a:off x="673728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5" name="Freeform 50"/>
              <p:cNvSpPr>
                <a:spLocks noEditPoints="1"/>
              </p:cNvSpPr>
              <p:nvPr/>
            </p:nvSpPr>
            <p:spPr bwMode="auto">
              <a:xfrm>
                <a:off x="6597374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6" name="Freeform 51"/>
              <p:cNvSpPr>
                <a:spLocks noEditPoints="1"/>
              </p:cNvSpPr>
              <p:nvPr/>
            </p:nvSpPr>
            <p:spPr bwMode="auto">
              <a:xfrm>
                <a:off x="6641346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6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6" y="4"/>
                      <a:pt x="6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632609" y="2123120"/>
              <a:ext cx="218527" cy="218527"/>
              <a:chOff x="7127702" y="1582176"/>
              <a:chExt cx="218527" cy="218527"/>
            </a:xfrm>
            <a:grpFill/>
          </p:grpSpPr>
          <p:sp>
            <p:nvSpPr>
              <p:cNvPr id="419" name="Rectangle 52"/>
              <p:cNvSpPr>
                <a:spLocks noChangeArrowheads="1"/>
              </p:cNvSpPr>
              <p:nvPr/>
            </p:nvSpPr>
            <p:spPr bwMode="auto">
              <a:xfrm>
                <a:off x="7181001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0" name="Rectangle 53"/>
              <p:cNvSpPr>
                <a:spLocks noChangeArrowheads="1"/>
              </p:cNvSpPr>
              <p:nvPr/>
            </p:nvSpPr>
            <p:spPr bwMode="auto">
              <a:xfrm>
                <a:off x="7259618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1" name="Freeform 54"/>
              <p:cNvSpPr>
                <a:spLocks noEditPoints="1"/>
              </p:cNvSpPr>
              <p:nvPr/>
            </p:nvSpPr>
            <p:spPr bwMode="auto">
              <a:xfrm>
                <a:off x="7171674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2" name="Freeform 55"/>
              <p:cNvSpPr>
                <a:spLocks noEditPoints="1"/>
              </p:cNvSpPr>
              <p:nvPr/>
            </p:nvSpPr>
            <p:spPr bwMode="auto">
              <a:xfrm>
                <a:off x="7127702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7920440" y="1337989"/>
              <a:ext cx="218527" cy="218527"/>
              <a:chOff x="7660695" y="1582176"/>
              <a:chExt cx="218527" cy="218527"/>
            </a:xfrm>
            <a:grpFill/>
          </p:grpSpPr>
          <p:sp>
            <p:nvSpPr>
              <p:cNvPr id="415" name="Freeform 56"/>
              <p:cNvSpPr>
                <a:spLocks/>
              </p:cNvSpPr>
              <p:nvPr/>
            </p:nvSpPr>
            <p:spPr bwMode="auto">
              <a:xfrm>
                <a:off x="7721989" y="1652798"/>
                <a:ext cx="35977" cy="17322"/>
              </a:xfrm>
              <a:custGeom>
                <a:avLst/>
                <a:gdLst>
                  <a:gd name="T0" fmla="*/ 12 w 16"/>
                  <a:gd name="T1" fmla="*/ 8 h 8"/>
                  <a:gd name="T2" fmla="*/ 16 w 16"/>
                  <a:gd name="T3" fmla="*/ 4 h 8"/>
                  <a:gd name="T4" fmla="*/ 12 w 16"/>
                  <a:gd name="T5" fmla="*/ 0 h 8"/>
                  <a:gd name="T6" fmla="*/ 0 w 16"/>
                  <a:gd name="T7" fmla="*/ 0 h 8"/>
                  <a:gd name="T8" fmla="*/ 0 w 16"/>
                  <a:gd name="T9" fmla="*/ 4 h 8"/>
                  <a:gd name="T10" fmla="*/ 8 w 16"/>
                  <a:gd name="T11" fmla="*/ 4 h 8"/>
                  <a:gd name="T12" fmla="*/ 12 w 1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8"/>
                    </a:move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6" name="Freeform 57"/>
              <p:cNvSpPr>
                <a:spLocks noEditPoints="1"/>
              </p:cNvSpPr>
              <p:nvPr/>
            </p:nvSpPr>
            <p:spPr bwMode="auto">
              <a:xfrm>
                <a:off x="7660695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7" name="Freeform 58"/>
              <p:cNvSpPr>
                <a:spLocks/>
              </p:cNvSpPr>
              <p:nvPr/>
            </p:nvSpPr>
            <p:spPr bwMode="auto">
              <a:xfrm>
                <a:off x="7731317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8" name="Freeform 59"/>
              <p:cNvSpPr>
                <a:spLocks/>
              </p:cNvSpPr>
              <p:nvPr/>
            </p:nvSpPr>
            <p:spPr bwMode="auto">
              <a:xfrm>
                <a:off x="7783283" y="1652798"/>
                <a:ext cx="34645" cy="17322"/>
              </a:xfrm>
              <a:custGeom>
                <a:avLst/>
                <a:gdLst>
                  <a:gd name="T0" fmla="*/ 12 w 16"/>
                  <a:gd name="T1" fmla="*/ 0 h 8"/>
                  <a:gd name="T2" fmla="*/ 0 w 16"/>
                  <a:gd name="T3" fmla="*/ 0 h 8"/>
                  <a:gd name="T4" fmla="*/ 0 w 16"/>
                  <a:gd name="T5" fmla="*/ 4 h 8"/>
                  <a:gd name="T6" fmla="*/ 8 w 16"/>
                  <a:gd name="T7" fmla="*/ 4 h 8"/>
                  <a:gd name="T8" fmla="*/ 12 w 16"/>
                  <a:gd name="T9" fmla="*/ 8 h 8"/>
                  <a:gd name="T10" fmla="*/ 16 w 16"/>
                  <a:gd name="T11" fmla="*/ 4 h 8"/>
                  <a:gd name="T12" fmla="*/ 12 w 1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549929" y="6210355"/>
              <a:ext cx="218527" cy="218527"/>
              <a:chOff x="1264778" y="2116502"/>
              <a:chExt cx="218527" cy="218527"/>
            </a:xfrm>
            <a:grpFill/>
          </p:grpSpPr>
          <p:sp>
            <p:nvSpPr>
              <p:cNvPr id="411" name="Freeform 60"/>
              <p:cNvSpPr>
                <a:spLocks/>
              </p:cNvSpPr>
              <p:nvPr/>
            </p:nvSpPr>
            <p:spPr bwMode="auto">
              <a:xfrm>
                <a:off x="1395361" y="2177796"/>
                <a:ext cx="34645" cy="26650"/>
              </a:xfrm>
              <a:custGeom>
                <a:avLst/>
                <a:gdLst>
                  <a:gd name="T0" fmla="*/ 0 w 26"/>
                  <a:gd name="T1" fmla="*/ 15 h 20"/>
                  <a:gd name="T2" fmla="*/ 3 w 26"/>
                  <a:gd name="T3" fmla="*/ 20 h 20"/>
                  <a:gd name="T4" fmla="*/ 26 w 26"/>
                  <a:gd name="T5" fmla="*/ 5 h 20"/>
                  <a:gd name="T6" fmla="*/ 23 w 26"/>
                  <a:gd name="T7" fmla="*/ 0 h 20"/>
                  <a:gd name="T8" fmla="*/ 0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15"/>
                    </a:move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2" name="Rectangle 61"/>
              <p:cNvSpPr>
                <a:spLocks noChangeArrowheads="1"/>
              </p:cNvSpPr>
              <p:nvPr/>
            </p:nvSpPr>
            <p:spPr bwMode="auto">
              <a:xfrm>
                <a:off x="1334067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3" name="Freeform 62"/>
              <p:cNvSpPr>
                <a:spLocks/>
              </p:cNvSpPr>
              <p:nvPr/>
            </p:nvSpPr>
            <p:spPr bwMode="auto">
              <a:xfrm>
                <a:off x="1316745" y="2177796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4" name="Freeform 63"/>
              <p:cNvSpPr>
                <a:spLocks noEditPoints="1"/>
              </p:cNvSpPr>
              <p:nvPr/>
            </p:nvSpPr>
            <p:spPr bwMode="auto">
              <a:xfrm>
                <a:off x="126477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797771" y="2116502"/>
              <a:ext cx="218527" cy="218527"/>
              <a:chOff x="1797771" y="2116502"/>
              <a:chExt cx="218527" cy="218527"/>
            </a:xfrm>
            <a:grpFill/>
          </p:grpSpPr>
          <p:sp>
            <p:nvSpPr>
              <p:cNvPr id="407" name="Rectangle 64"/>
              <p:cNvSpPr>
                <a:spLocks noChangeArrowheads="1"/>
              </p:cNvSpPr>
              <p:nvPr/>
            </p:nvSpPr>
            <p:spPr bwMode="auto">
              <a:xfrm>
                <a:off x="1849738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8" name="Rectangle 65"/>
              <p:cNvSpPr>
                <a:spLocks noChangeArrowheads="1"/>
              </p:cNvSpPr>
              <p:nvPr/>
            </p:nvSpPr>
            <p:spPr bwMode="auto">
              <a:xfrm>
                <a:off x="192835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9" name="Rectangle 66"/>
              <p:cNvSpPr>
                <a:spLocks noChangeArrowheads="1"/>
              </p:cNvSpPr>
              <p:nvPr/>
            </p:nvSpPr>
            <p:spPr bwMode="auto">
              <a:xfrm>
                <a:off x="1867060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0" name="Freeform 67"/>
              <p:cNvSpPr>
                <a:spLocks noEditPoints="1"/>
              </p:cNvSpPr>
              <p:nvPr/>
            </p:nvSpPr>
            <p:spPr bwMode="auto">
              <a:xfrm>
                <a:off x="1797771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1477149" y="2626842"/>
              <a:ext cx="218527" cy="218527"/>
              <a:chOff x="2330764" y="2116502"/>
              <a:chExt cx="218527" cy="218527"/>
            </a:xfrm>
            <a:grpFill/>
          </p:grpSpPr>
          <p:sp>
            <p:nvSpPr>
              <p:cNvPr id="403" name="Rectangle 68"/>
              <p:cNvSpPr>
                <a:spLocks noChangeArrowheads="1"/>
              </p:cNvSpPr>
              <p:nvPr/>
            </p:nvSpPr>
            <p:spPr bwMode="auto">
              <a:xfrm>
                <a:off x="238273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4" name="Freeform 69"/>
              <p:cNvSpPr>
                <a:spLocks/>
              </p:cNvSpPr>
              <p:nvPr/>
            </p:nvSpPr>
            <p:spPr bwMode="auto">
              <a:xfrm>
                <a:off x="2392058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5" name="Freeform 70"/>
              <p:cNvSpPr>
                <a:spLocks noEditPoints="1"/>
              </p:cNvSpPr>
              <p:nvPr/>
            </p:nvSpPr>
            <p:spPr bwMode="auto">
              <a:xfrm>
                <a:off x="2330764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6" name="Rectangle 71"/>
              <p:cNvSpPr>
                <a:spLocks noChangeArrowheads="1"/>
              </p:cNvSpPr>
              <p:nvPr/>
            </p:nvSpPr>
            <p:spPr bwMode="auto">
              <a:xfrm>
                <a:off x="2461347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8486318" y="6291379"/>
              <a:ext cx="218527" cy="218527"/>
              <a:chOff x="2863757" y="2116502"/>
              <a:chExt cx="218527" cy="218527"/>
            </a:xfrm>
            <a:grpFill/>
          </p:grpSpPr>
          <p:sp>
            <p:nvSpPr>
              <p:cNvPr id="399" name="Rectangle 72"/>
              <p:cNvSpPr>
                <a:spLocks noChangeArrowheads="1"/>
              </p:cNvSpPr>
              <p:nvPr/>
            </p:nvSpPr>
            <p:spPr bwMode="auto">
              <a:xfrm>
                <a:off x="299434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0" name="Freeform 73"/>
              <p:cNvSpPr>
                <a:spLocks/>
              </p:cNvSpPr>
              <p:nvPr/>
            </p:nvSpPr>
            <p:spPr bwMode="auto">
              <a:xfrm>
                <a:off x="2925051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1" name="Rectangle 74"/>
              <p:cNvSpPr>
                <a:spLocks noChangeArrowheads="1"/>
              </p:cNvSpPr>
              <p:nvPr/>
            </p:nvSpPr>
            <p:spPr bwMode="auto">
              <a:xfrm>
                <a:off x="291572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2" name="Freeform 75"/>
              <p:cNvSpPr>
                <a:spLocks noEditPoints="1"/>
              </p:cNvSpPr>
              <p:nvPr/>
            </p:nvSpPr>
            <p:spPr bwMode="auto">
              <a:xfrm>
                <a:off x="286375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10052307" y="1932705"/>
              <a:ext cx="485603" cy="485603"/>
              <a:chOff x="3396750" y="2116502"/>
              <a:chExt cx="218527" cy="218527"/>
            </a:xfrm>
            <a:grpFill/>
          </p:grpSpPr>
          <p:sp>
            <p:nvSpPr>
              <p:cNvPr id="393" name="Freeform 76"/>
              <p:cNvSpPr>
                <a:spLocks/>
              </p:cNvSpPr>
              <p:nvPr/>
            </p:nvSpPr>
            <p:spPr bwMode="auto">
              <a:xfrm>
                <a:off x="3458044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4" name="Oval 77"/>
              <p:cNvSpPr>
                <a:spLocks noChangeArrowheads="1"/>
              </p:cNvSpPr>
              <p:nvPr/>
            </p:nvSpPr>
            <p:spPr bwMode="auto">
              <a:xfrm>
                <a:off x="345804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5" name="Freeform 78"/>
              <p:cNvSpPr>
                <a:spLocks/>
              </p:cNvSpPr>
              <p:nvPr/>
            </p:nvSpPr>
            <p:spPr bwMode="auto">
              <a:xfrm>
                <a:off x="3440723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6" name="Freeform 79"/>
              <p:cNvSpPr>
                <a:spLocks/>
              </p:cNvSpPr>
              <p:nvPr/>
            </p:nvSpPr>
            <p:spPr bwMode="auto">
              <a:xfrm>
                <a:off x="353666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7" name="Freeform 80"/>
              <p:cNvSpPr>
                <a:spLocks noEditPoints="1"/>
              </p:cNvSpPr>
              <p:nvPr/>
            </p:nvSpPr>
            <p:spPr bwMode="auto">
              <a:xfrm>
                <a:off x="3396750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8" name="Oval 81"/>
              <p:cNvSpPr>
                <a:spLocks noChangeArrowheads="1"/>
              </p:cNvSpPr>
              <p:nvPr/>
            </p:nvSpPr>
            <p:spPr bwMode="auto">
              <a:xfrm>
                <a:off x="353666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3886558" y="3523100"/>
              <a:ext cx="218527" cy="218527"/>
              <a:chOff x="3932408" y="2116502"/>
              <a:chExt cx="218527" cy="218527"/>
            </a:xfrm>
            <a:grpFill/>
          </p:grpSpPr>
          <p:sp>
            <p:nvSpPr>
              <p:cNvPr id="389" name="Freeform 82"/>
              <p:cNvSpPr>
                <a:spLocks/>
              </p:cNvSpPr>
              <p:nvPr/>
            </p:nvSpPr>
            <p:spPr bwMode="auto">
              <a:xfrm>
                <a:off x="400169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0" name="Rectangle 83"/>
              <p:cNvSpPr>
                <a:spLocks noChangeArrowheads="1"/>
              </p:cNvSpPr>
              <p:nvPr/>
            </p:nvSpPr>
            <p:spPr bwMode="auto">
              <a:xfrm>
                <a:off x="3981711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1" name="Rectangle 84"/>
              <p:cNvSpPr>
                <a:spLocks noChangeArrowheads="1"/>
              </p:cNvSpPr>
              <p:nvPr/>
            </p:nvSpPr>
            <p:spPr bwMode="auto">
              <a:xfrm>
                <a:off x="4060327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2" name="Freeform 85"/>
              <p:cNvSpPr>
                <a:spLocks noEditPoints="1"/>
              </p:cNvSpPr>
              <p:nvPr/>
            </p:nvSpPr>
            <p:spPr bwMode="auto">
              <a:xfrm>
                <a:off x="393240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4462736" y="2116502"/>
              <a:ext cx="218527" cy="218527"/>
              <a:chOff x="4462736" y="2116502"/>
              <a:chExt cx="218527" cy="218527"/>
            </a:xfrm>
            <a:grpFill/>
          </p:grpSpPr>
          <p:sp>
            <p:nvSpPr>
              <p:cNvPr id="383" name="Freeform 86"/>
              <p:cNvSpPr>
                <a:spLocks/>
              </p:cNvSpPr>
              <p:nvPr/>
            </p:nvSpPr>
            <p:spPr bwMode="auto">
              <a:xfrm>
                <a:off x="4524031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4" name="Freeform 87"/>
              <p:cNvSpPr>
                <a:spLocks/>
              </p:cNvSpPr>
              <p:nvPr/>
            </p:nvSpPr>
            <p:spPr bwMode="auto">
              <a:xfrm>
                <a:off x="4506709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5" name="Oval 88"/>
              <p:cNvSpPr>
                <a:spLocks noChangeArrowheads="1"/>
              </p:cNvSpPr>
              <p:nvPr/>
            </p:nvSpPr>
            <p:spPr bwMode="auto">
              <a:xfrm>
                <a:off x="4602648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6" name="Oval 89"/>
              <p:cNvSpPr>
                <a:spLocks noChangeArrowheads="1"/>
              </p:cNvSpPr>
              <p:nvPr/>
            </p:nvSpPr>
            <p:spPr bwMode="auto">
              <a:xfrm>
                <a:off x="452403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7" name="Freeform 90"/>
              <p:cNvSpPr>
                <a:spLocks/>
              </p:cNvSpPr>
              <p:nvPr/>
            </p:nvSpPr>
            <p:spPr bwMode="auto">
              <a:xfrm>
                <a:off x="4602648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8" name="Freeform 91"/>
              <p:cNvSpPr>
                <a:spLocks noEditPoints="1"/>
              </p:cNvSpPr>
              <p:nvPr/>
            </p:nvSpPr>
            <p:spPr bwMode="auto">
              <a:xfrm>
                <a:off x="446273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8337080" y="5632647"/>
              <a:ext cx="218527" cy="218527"/>
              <a:chOff x="4995729" y="2116502"/>
              <a:chExt cx="218527" cy="218527"/>
            </a:xfrm>
            <a:grpFill/>
          </p:grpSpPr>
          <p:sp>
            <p:nvSpPr>
              <p:cNvPr id="377" name="Rectangle 92"/>
              <p:cNvSpPr>
                <a:spLocks noChangeArrowheads="1"/>
              </p:cNvSpPr>
              <p:nvPr/>
            </p:nvSpPr>
            <p:spPr bwMode="auto">
              <a:xfrm>
                <a:off x="5066351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8" name="Oval 93"/>
              <p:cNvSpPr>
                <a:spLocks noChangeArrowheads="1"/>
              </p:cNvSpPr>
              <p:nvPr/>
            </p:nvSpPr>
            <p:spPr bwMode="auto">
              <a:xfrm>
                <a:off x="505702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9" name="Freeform 94"/>
              <p:cNvSpPr>
                <a:spLocks/>
              </p:cNvSpPr>
              <p:nvPr/>
            </p:nvSpPr>
            <p:spPr bwMode="auto">
              <a:xfrm>
                <a:off x="5039702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0" name="Freeform 95"/>
              <p:cNvSpPr>
                <a:spLocks/>
              </p:cNvSpPr>
              <p:nvPr/>
            </p:nvSpPr>
            <p:spPr bwMode="auto">
              <a:xfrm>
                <a:off x="513564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1" name="Freeform 96"/>
              <p:cNvSpPr>
                <a:spLocks noEditPoints="1"/>
              </p:cNvSpPr>
              <p:nvPr/>
            </p:nvSpPr>
            <p:spPr bwMode="auto">
              <a:xfrm>
                <a:off x="4995729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2" name="Oval 97"/>
              <p:cNvSpPr>
                <a:spLocks noChangeArrowheads="1"/>
              </p:cNvSpPr>
              <p:nvPr/>
            </p:nvSpPr>
            <p:spPr bwMode="auto">
              <a:xfrm>
                <a:off x="513564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528723" y="2116502"/>
              <a:ext cx="218527" cy="218527"/>
              <a:chOff x="5528723" y="2116502"/>
              <a:chExt cx="218527" cy="218527"/>
            </a:xfrm>
            <a:grpFill/>
          </p:grpSpPr>
          <p:sp>
            <p:nvSpPr>
              <p:cNvPr id="371" name="Oval 98"/>
              <p:cNvSpPr>
                <a:spLocks noChangeArrowheads="1"/>
              </p:cNvSpPr>
              <p:nvPr/>
            </p:nvSpPr>
            <p:spPr bwMode="auto">
              <a:xfrm>
                <a:off x="559001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2" name="Freeform 99"/>
              <p:cNvSpPr>
                <a:spLocks/>
              </p:cNvSpPr>
              <p:nvPr/>
            </p:nvSpPr>
            <p:spPr bwMode="auto">
              <a:xfrm>
                <a:off x="5651311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3" name="Freeform 100"/>
              <p:cNvSpPr>
                <a:spLocks/>
              </p:cNvSpPr>
              <p:nvPr/>
            </p:nvSpPr>
            <p:spPr bwMode="auto">
              <a:xfrm>
                <a:off x="5590017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4" name="Rectangle 101"/>
              <p:cNvSpPr>
                <a:spLocks noChangeArrowheads="1"/>
              </p:cNvSpPr>
              <p:nvPr/>
            </p:nvSpPr>
            <p:spPr bwMode="auto">
              <a:xfrm>
                <a:off x="5599345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5" name="Oval 102"/>
              <p:cNvSpPr>
                <a:spLocks noChangeArrowheads="1"/>
              </p:cNvSpPr>
              <p:nvPr/>
            </p:nvSpPr>
            <p:spPr bwMode="auto">
              <a:xfrm>
                <a:off x="566863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6" name="Freeform 103"/>
              <p:cNvSpPr>
                <a:spLocks noEditPoints="1"/>
              </p:cNvSpPr>
              <p:nvPr/>
            </p:nvSpPr>
            <p:spPr bwMode="auto">
              <a:xfrm>
                <a:off x="5528723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629923" y="3662071"/>
              <a:ext cx="218527" cy="218527"/>
              <a:chOff x="6061716" y="2116502"/>
              <a:chExt cx="218527" cy="218527"/>
            </a:xfrm>
            <a:grpFill/>
          </p:grpSpPr>
          <p:sp>
            <p:nvSpPr>
              <p:cNvPr id="365" name="Oval 104"/>
              <p:cNvSpPr>
                <a:spLocks noChangeArrowheads="1"/>
              </p:cNvSpPr>
              <p:nvPr/>
            </p:nvSpPr>
            <p:spPr bwMode="auto">
              <a:xfrm>
                <a:off x="6123010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6" name="Freeform 105"/>
              <p:cNvSpPr>
                <a:spLocks/>
              </p:cNvSpPr>
              <p:nvPr/>
            </p:nvSpPr>
            <p:spPr bwMode="auto">
              <a:xfrm>
                <a:off x="6132338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7" name="Rectangle 106"/>
              <p:cNvSpPr>
                <a:spLocks noChangeArrowheads="1"/>
              </p:cNvSpPr>
              <p:nvPr/>
            </p:nvSpPr>
            <p:spPr bwMode="auto">
              <a:xfrm>
                <a:off x="6115015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8" name="Oval 107"/>
              <p:cNvSpPr>
                <a:spLocks noChangeArrowheads="1"/>
              </p:cNvSpPr>
              <p:nvPr/>
            </p:nvSpPr>
            <p:spPr bwMode="auto">
              <a:xfrm>
                <a:off x="620162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9" name="Freeform 108"/>
              <p:cNvSpPr>
                <a:spLocks noEditPoints="1"/>
              </p:cNvSpPr>
              <p:nvPr/>
            </p:nvSpPr>
            <p:spPr bwMode="auto">
              <a:xfrm>
                <a:off x="606171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0" name="Rectangle 109"/>
              <p:cNvSpPr>
                <a:spLocks noChangeArrowheads="1"/>
              </p:cNvSpPr>
              <p:nvPr/>
            </p:nvSpPr>
            <p:spPr bwMode="auto">
              <a:xfrm>
                <a:off x="6193632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6593377" y="2116502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361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2" name="Freeform 111"/>
              <p:cNvSpPr>
                <a:spLocks/>
              </p:cNvSpPr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3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4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083487" y="3016974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355" name="Freeform 114"/>
              <p:cNvSpPr>
                <a:spLocks/>
              </p:cNvSpPr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6" name="Freeform 115"/>
              <p:cNvSpPr>
                <a:spLocks/>
              </p:cNvSpPr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7" name="Freeform 116"/>
              <p:cNvSpPr>
                <a:spLocks/>
              </p:cNvSpPr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8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9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0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0076581" y="3680007"/>
              <a:ext cx="218527" cy="218527"/>
              <a:chOff x="7660695" y="2116502"/>
              <a:chExt cx="218527" cy="218527"/>
            </a:xfrm>
            <a:grpFill/>
          </p:grpSpPr>
          <p:sp>
            <p:nvSpPr>
              <p:cNvPr id="351" name="Oval 120"/>
              <p:cNvSpPr>
                <a:spLocks noChangeArrowheads="1"/>
              </p:cNvSpPr>
              <p:nvPr/>
            </p:nvSpPr>
            <p:spPr bwMode="auto">
              <a:xfrm>
                <a:off x="7800606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2" name="Oval 121"/>
              <p:cNvSpPr>
                <a:spLocks noChangeArrowheads="1"/>
              </p:cNvSpPr>
              <p:nvPr/>
            </p:nvSpPr>
            <p:spPr bwMode="auto">
              <a:xfrm>
                <a:off x="7721989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3" name="Freeform 122"/>
              <p:cNvSpPr>
                <a:spLocks/>
              </p:cNvSpPr>
              <p:nvPr/>
            </p:nvSpPr>
            <p:spPr bwMode="auto">
              <a:xfrm>
                <a:off x="773131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4" name="Freeform 123"/>
              <p:cNvSpPr>
                <a:spLocks noEditPoints="1"/>
              </p:cNvSpPr>
              <p:nvPr/>
            </p:nvSpPr>
            <p:spPr bwMode="auto">
              <a:xfrm>
                <a:off x="7660695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264778" y="2649495"/>
              <a:ext cx="218527" cy="218527"/>
              <a:chOff x="1264778" y="2649495"/>
              <a:chExt cx="218527" cy="218527"/>
            </a:xfrm>
            <a:grpFill/>
          </p:grpSpPr>
          <p:sp>
            <p:nvSpPr>
              <p:cNvPr id="347" name="Freeform 124"/>
              <p:cNvSpPr>
                <a:spLocks/>
              </p:cNvSpPr>
              <p:nvPr/>
            </p:nvSpPr>
            <p:spPr bwMode="auto">
              <a:xfrm>
                <a:off x="1334067" y="2789406"/>
                <a:ext cx="78617" cy="25317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8" name="Oval 125"/>
              <p:cNvSpPr>
                <a:spLocks noChangeArrowheads="1"/>
              </p:cNvSpPr>
              <p:nvPr/>
            </p:nvSpPr>
            <p:spPr bwMode="auto">
              <a:xfrm>
                <a:off x="1326072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9" name="Oval 126"/>
              <p:cNvSpPr>
                <a:spLocks noChangeArrowheads="1"/>
              </p:cNvSpPr>
              <p:nvPr/>
            </p:nvSpPr>
            <p:spPr bwMode="auto">
              <a:xfrm>
                <a:off x="1404689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0" name="Freeform 127"/>
              <p:cNvSpPr>
                <a:spLocks noEditPoints="1"/>
              </p:cNvSpPr>
              <p:nvPr/>
            </p:nvSpPr>
            <p:spPr bwMode="auto">
              <a:xfrm>
                <a:off x="1264778" y="2649495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3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3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6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6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9048348" y="1118811"/>
              <a:ext cx="218527" cy="219859"/>
              <a:chOff x="1797771" y="2650828"/>
              <a:chExt cx="218527" cy="219859"/>
            </a:xfrm>
            <a:grpFill/>
          </p:grpSpPr>
          <p:sp>
            <p:nvSpPr>
              <p:cNvPr id="341" name="Freeform 128"/>
              <p:cNvSpPr>
                <a:spLocks/>
              </p:cNvSpPr>
              <p:nvPr/>
            </p:nvSpPr>
            <p:spPr bwMode="auto">
              <a:xfrm>
                <a:off x="1867060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2" name="Freeform 129"/>
              <p:cNvSpPr>
                <a:spLocks noEditPoints="1"/>
              </p:cNvSpPr>
              <p:nvPr/>
            </p:nvSpPr>
            <p:spPr bwMode="auto">
              <a:xfrm>
                <a:off x="1797771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3" name="Rectangle 130"/>
              <p:cNvSpPr>
                <a:spLocks noChangeArrowheads="1"/>
              </p:cNvSpPr>
              <p:nvPr/>
            </p:nvSpPr>
            <p:spPr bwMode="auto">
              <a:xfrm>
                <a:off x="1849738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4" name="Oval 131"/>
              <p:cNvSpPr>
                <a:spLocks noChangeArrowheads="1"/>
              </p:cNvSpPr>
              <p:nvPr/>
            </p:nvSpPr>
            <p:spPr bwMode="auto">
              <a:xfrm>
                <a:off x="185906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5" name="Oval 132"/>
              <p:cNvSpPr>
                <a:spLocks noChangeArrowheads="1"/>
              </p:cNvSpPr>
              <p:nvPr/>
            </p:nvSpPr>
            <p:spPr bwMode="auto">
              <a:xfrm>
                <a:off x="1937682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6" name="Rectangle 133"/>
              <p:cNvSpPr>
                <a:spLocks noChangeArrowheads="1"/>
              </p:cNvSpPr>
              <p:nvPr/>
            </p:nvSpPr>
            <p:spPr bwMode="auto">
              <a:xfrm>
                <a:off x="1928354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2783421" y="5204209"/>
              <a:ext cx="218527" cy="219859"/>
              <a:chOff x="2330764" y="2650828"/>
              <a:chExt cx="218527" cy="219859"/>
            </a:xfrm>
            <a:grpFill/>
          </p:grpSpPr>
          <p:sp>
            <p:nvSpPr>
              <p:cNvPr id="335" name="Freeform 134"/>
              <p:cNvSpPr>
                <a:spLocks/>
              </p:cNvSpPr>
              <p:nvPr/>
            </p:nvSpPr>
            <p:spPr bwMode="auto">
              <a:xfrm>
                <a:off x="2374736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6" name="Oval 135"/>
              <p:cNvSpPr>
                <a:spLocks noChangeArrowheads="1"/>
              </p:cNvSpPr>
              <p:nvPr/>
            </p:nvSpPr>
            <p:spPr bwMode="auto">
              <a:xfrm>
                <a:off x="239205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7" name="Freeform 136"/>
              <p:cNvSpPr>
                <a:spLocks/>
              </p:cNvSpPr>
              <p:nvPr/>
            </p:nvSpPr>
            <p:spPr bwMode="auto">
              <a:xfrm>
                <a:off x="2400053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8" name="Freeform 137"/>
              <p:cNvSpPr>
                <a:spLocks noEditPoints="1"/>
              </p:cNvSpPr>
              <p:nvPr/>
            </p:nvSpPr>
            <p:spPr bwMode="auto">
              <a:xfrm>
                <a:off x="2330764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9" name="Oval 138"/>
              <p:cNvSpPr>
                <a:spLocks noChangeArrowheads="1"/>
              </p:cNvSpPr>
              <p:nvPr/>
            </p:nvSpPr>
            <p:spPr bwMode="auto">
              <a:xfrm>
                <a:off x="247067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0" name="Freeform 139"/>
              <p:cNvSpPr>
                <a:spLocks/>
              </p:cNvSpPr>
              <p:nvPr/>
            </p:nvSpPr>
            <p:spPr bwMode="auto">
              <a:xfrm>
                <a:off x="2470675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4401443" y="5888928"/>
              <a:ext cx="218527" cy="219859"/>
              <a:chOff x="2863757" y="2650828"/>
              <a:chExt cx="218527" cy="219859"/>
            </a:xfrm>
            <a:grpFill/>
          </p:grpSpPr>
          <p:sp>
            <p:nvSpPr>
              <p:cNvPr id="329" name="Oval 140"/>
              <p:cNvSpPr>
                <a:spLocks noChangeArrowheads="1"/>
              </p:cNvSpPr>
              <p:nvPr/>
            </p:nvSpPr>
            <p:spPr bwMode="auto">
              <a:xfrm>
                <a:off x="292505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0" name="Freeform 141"/>
              <p:cNvSpPr>
                <a:spLocks/>
              </p:cNvSpPr>
              <p:nvPr/>
            </p:nvSpPr>
            <p:spPr bwMode="auto">
              <a:xfrm>
                <a:off x="2907730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1" name="Freeform 142"/>
              <p:cNvSpPr>
                <a:spLocks/>
              </p:cNvSpPr>
              <p:nvPr/>
            </p:nvSpPr>
            <p:spPr bwMode="auto">
              <a:xfrm>
                <a:off x="2933046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2" name="Freeform 143"/>
              <p:cNvSpPr>
                <a:spLocks noEditPoints="1"/>
              </p:cNvSpPr>
              <p:nvPr/>
            </p:nvSpPr>
            <p:spPr bwMode="auto">
              <a:xfrm>
                <a:off x="2863757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3" name="Oval 144"/>
              <p:cNvSpPr>
                <a:spLocks noChangeArrowheads="1"/>
              </p:cNvSpPr>
              <p:nvPr/>
            </p:nvSpPr>
            <p:spPr bwMode="auto">
              <a:xfrm>
                <a:off x="300366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4" name="Freeform 145"/>
              <p:cNvSpPr>
                <a:spLocks/>
              </p:cNvSpPr>
              <p:nvPr/>
            </p:nvSpPr>
            <p:spPr bwMode="auto">
              <a:xfrm>
                <a:off x="3003668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9869" y="2107404"/>
              <a:ext cx="722470" cy="726874"/>
              <a:chOff x="3396750" y="2650828"/>
              <a:chExt cx="218527" cy="219859"/>
            </a:xfrm>
            <a:grpFill/>
          </p:grpSpPr>
          <p:sp>
            <p:nvSpPr>
              <p:cNvPr id="325" name="Oval 146"/>
              <p:cNvSpPr>
                <a:spLocks noChangeArrowheads="1"/>
              </p:cNvSpPr>
              <p:nvPr/>
            </p:nvSpPr>
            <p:spPr bwMode="auto">
              <a:xfrm>
                <a:off x="345804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6" name="Freeform 147"/>
              <p:cNvSpPr>
                <a:spLocks noEditPoints="1"/>
              </p:cNvSpPr>
              <p:nvPr/>
            </p:nvSpPr>
            <p:spPr bwMode="auto">
              <a:xfrm>
                <a:off x="3458044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7" name="Oval 148"/>
              <p:cNvSpPr>
                <a:spLocks noChangeArrowheads="1"/>
              </p:cNvSpPr>
              <p:nvPr/>
            </p:nvSpPr>
            <p:spPr bwMode="auto">
              <a:xfrm>
                <a:off x="353666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8" name="Freeform 149"/>
              <p:cNvSpPr>
                <a:spLocks noEditPoints="1"/>
              </p:cNvSpPr>
              <p:nvPr/>
            </p:nvSpPr>
            <p:spPr bwMode="auto">
              <a:xfrm>
                <a:off x="3396750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0279919" y="5722368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321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2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3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4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4977992" y="2656823"/>
              <a:ext cx="218527" cy="219859"/>
              <a:chOff x="4462736" y="2650828"/>
              <a:chExt cx="218527" cy="219859"/>
            </a:xfrm>
            <a:grpFill/>
          </p:grpSpPr>
          <p:sp>
            <p:nvSpPr>
              <p:cNvPr id="317" name="Oval 154"/>
              <p:cNvSpPr>
                <a:spLocks noChangeArrowheads="1"/>
              </p:cNvSpPr>
              <p:nvPr/>
            </p:nvSpPr>
            <p:spPr bwMode="auto">
              <a:xfrm>
                <a:off x="4602648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8" name="Oval 155"/>
              <p:cNvSpPr>
                <a:spLocks noChangeArrowheads="1"/>
              </p:cNvSpPr>
              <p:nvPr/>
            </p:nvSpPr>
            <p:spPr bwMode="auto">
              <a:xfrm>
                <a:off x="452403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9" name="Freeform 156"/>
              <p:cNvSpPr>
                <a:spLocks/>
              </p:cNvSpPr>
              <p:nvPr/>
            </p:nvSpPr>
            <p:spPr bwMode="auto">
              <a:xfrm>
                <a:off x="4524031" y="2786741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0" name="Freeform 157"/>
              <p:cNvSpPr>
                <a:spLocks noEditPoints="1"/>
              </p:cNvSpPr>
              <p:nvPr/>
            </p:nvSpPr>
            <p:spPr bwMode="auto">
              <a:xfrm>
                <a:off x="446273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6182520" y="5292152"/>
              <a:ext cx="218527" cy="219859"/>
              <a:chOff x="4995729" y="2650828"/>
              <a:chExt cx="218527" cy="219859"/>
            </a:xfrm>
            <a:grpFill/>
          </p:grpSpPr>
          <p:sp>
            <p:nvSpPr>
              <p:cNvPr id="311" name="Rectangle 158"/>
              <p:cNvSpPr>
                <a:spLocks noChangeArrowheads="1"/>
              </p:cNvSpPr>
              <p:nvPr/>
            </p:nvSpPr>
            <p:spPr bwMode="auto">
              <a:xfrm>
                <a:off x="5047697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2" name="Oval 159"/>
              <p:cNvSpPr>
                <a:spLocks noChangeArrowheads="1"/>
              </p:cNvSpPr>
              <p:nvPr/>
            </p:nvSpPr>
            <p:spPr bwMode="auto">
              <a:xfrm>
                <a:off x="505702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3" name="Rectangle 160"/>
              <p:cNvSpPr>
                <a:spLocks noChangeArrowheads="1"/>
              </p:cNvSpPr>
              <p:nvPr/>
            </p:nvSpPr>
            <p:spPr bwMode="auto">
              <a:xfrm>
                <a:off x="5126313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4" name="Oval 161"/>
              <p:cNvSpPr>
                <a:spLocks noChangeArrowheads="1"/>
              </p:cNvSpPr>
              <p:nvPr/>
            </p:nvSpPr>
            <p:spPr bwMode="auto">
              <a:xfrm>
                <a:off x="513564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5" name="Freeform 162"/>
              <p:cNvSpPr>
                <a:spLocks noEditPoints="1"/>
              </p:cNvSpPr>
              <p:nvPr/>
            </p:nvSpPr>
            <p:spPr bwMode="auto">
              <a:xfrm>
                <a:off x="499572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6" name="Freeform 163"/>
              <p:cNvSpPr>
                <a:spLocks noEditPoints="1"/>
              </p:cNvSpPr>
              <p:nvPr/>
            </p:nvSpPr>
            <p:spPr bwMode="auto">
              <a:xfrm>
                <a:off x="5047697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7532778" y="6479095"/>
              <a:ext cx="218527" cy="219859"/>
              <a:chOff x="5528723" y="2650828"/>
              <a:chExt cx="218527" cy="219859"/>
            </a:xfrm>
            <a:grpFill/>
          </p:grpSpPr>
          <p:sp>
            <p:nvSpPr>
              <p:cNvPr id="305" name="Freeform 164"/>
              <p:cNvSpPr>
                <a:spLocks/>
              </p:cNvSpPr>
              <p:nvPr/>
            </p:nvSpPr>
            <p:spPr bwMode="auto">
              <a:xfrm>
                <a:off x="5590017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6" name="Oval 165"/>
              <p:cNvSpPr>
                <a:spLocks noChangeArrowheads="1"/>
              </p:cNvSpPr>
              <p:nvPr/>
            </p:nvSpPr>
            <p:spPr bwMode="auto">
              <a:xfrm>
                <a:off x="559001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7" name="Freeform 166"/>
              <p:cNvSpPr>
                <a:spLocks/>
              </p:cNvSpPr>
              <p:nvPr/>
            </p:nvSpPr>
            <p:spPr bwMode="auto">
              <a:xfrm>
                <a:off x="5651311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8" name="Oval 167"/>
              <p:cNvSpPr>
                <a:spLocks noChangeArrowheads="1"/>
              </p:cNvSpPr>
              <p:nvPr/>
            </p:nvSpPr>
            <p:spPr bwMode="auto">
              <a:xfrm>
                <a:off x="566863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9" name="Freeform 168"/>
              <p:cNvSpPr>
                <a:spLocks noEditPoints="1"/>
              </p:cNvSpPr>
              <p:nvPr/>
            </p:nvSpPr>
            <p:spPr bwMode="auto">
              <a:xfrm>
                <a:off x="5580690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0" name="Freeform 169"/>
              <p:cNvSpPr>
                <a:spLocks noEditPoints="1"/>
              </p:cNvSpPr>
              <p:nvPr/>
            </p:nvSpPr>
            <p:spPr bwMode="auto">
              <a:xfrm>
                <a:off x="552872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10266595" y="2929031"/>
              <a:ext cx="218527" cy="219859"/>
              <a:chOff x="6061716" y="2650828"/>
              <a:chExt cx="218527" cy="219859"/>
            </a:xfrm>
            <a:grpFill/>
          </p:grpSpPr>
          <p:sp>
            <p:nvSpPr>
              <p:cNvPr id="299" name="Oval 170"/>
              <p:cNvSpPr>
                <a:spLocks noChangeArrowheads="1"/>
              </p:cNvSpPr>
              <p:nvPr/>
            </p:nvSpPr>
            <p:spPr bwMode="auto">
              <a:xfrm>
                <a:off x="612301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0" name="Rectangle 171"/>
              <p:cNvSpPr>
                <a:spLocks noChangeArrowheads="1"/>
              </p:cNvSpPr>
              <p:nvPr/>
            </p:nvSpPr>
            <p:spPr bwMode="auto">
              <a:xfrm>
                <a:off x="6115015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1" name="Freeform 172"/>
              <p:cNvSpPr>
                <a:spLocks noEditPoints="1"/>
              </p:cNvSpPr>
              <p:nvPr/>
            </p:nvSpPr>
            <p:spPr bwMode="auto">
              <a:xfrm>
                <a:off x="6149659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2" name="Freeform 173"/>
              <p:cNvSpPr>
                <a:spLocks noEditPoints="1"/>
              </p:cNvSpPr>
              <p:nvPr/>
            </p:nvSpPr>
            <p:spPr bwMode="auto">
              <a:xfrm>
                <a:off x="606171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3" name="Oval 174"/>
              <p:cNvSpPr>
                <a:spLocks noChangeArrowheads="1"/>
              </p:cNvSpPr>
              <p:nvPr/>
            </p:nvSpPr>
            <p:spPr bwMode="auto">
              <a:xfrm>
                <a:off x="620162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4" name="Rectangle 175"/>
              <p:cNvSpPr>
                <a:spLocks noChangeArrowheads="1"/>
              </p:cNvSpPr>
              <p:nvPr/>
            </p:nvSpPr>
            <p:spPr bwMode="auto">
              <a:xfrm>
                <a:off x="6193632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11319916" y="5170755"/>
              <a:ext cx="218527" cy="219859"/>
              <a:chOff x="6594709" y="2650828"/>
              <a:chExt cx="218527" cy="219859"/>
            </a:xfrm>
            <a:grpFill/>
          </p:grpSpPr>
          <p:sp>
            <p:nvSpPr>
              <p:cNvPr id="293" name="Oval 176"/>
              <p:cNvSpPr>
                <a:spLocks noChangeArrowheads="1"/>
              </p:cNvSpPr>
              <p:nvPr/>
            </p:nvSpPr>
            <p:spPr bwMode="auto">
              <a:xfrm>
                <a:off x="665600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4" name="Freeform 177"/>
              <p:cNvSpPr>
                <a:spLocks/>
              </p:cNvSpPr>
              <p:nvPr/>
            </p:nvSpPr>
            <p:spPr bwMode="auto">
              <a:xfrm>
                <a:off x="6638681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5" name="Freeform 178"/>
              <p:cNvSpPr>
                <a:spLocks noEditPoints="1"/>
              </p:cNvSpPr>
              <p:nvPr/>
            </p:nvSpPr>
            <p:spPr bwMode="auto">
              <a:xfrm>
                <a:off x="6682653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6" name="Freeform 179"/>
              <p:cNvSpPr>
                <a:spLocks noEditPoints="1"/>
              </p:cNvSpPr>
              <p:nvPr/>
            </p:nvSpPr>
            <p:spPr bwMode="auto">
              <a:xfrm>
                <a:off x="659470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7" name="Freeform 180"/>
              <p:cNvSpPr>
                <a:spLocks/>
              </p:cNvSpPr>
              <p:nvPr/>
            </p:nvSpPr>
            <p:spPr bwMode="auto">
              <a:xfrm>
                <a:off x="6734620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8" name="Oval 181"/>
              <p:cNvSpPr>
                <a:spLocks noChangeArrowheads="1"/>
              </p:cNvSpPr>
              <p:nvPr/>
            </p:nvSpPr>
            <p:spPr bwMode="auto">
              <a:xfrm>
                <a:off x="673462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6732975" y="5851174"/>
              <a:ext cx="218527" cy="219859"/>
              <a:chOff x="7127702" y="2650828"/>
              <a:chExt cx="218527" cy="219859"/>
            </a:xfrm>
            <a:grpFill/>
          </p:grpSpPr>
          <p:sp>
            <p:nvSpPr>
              <p:cNvPr id="287" name="Oval 182"/>
              <p:cNvSpPr>
                <a:spLocks noChangeArrowheads="1"/>
              </p:cNvSpPr>
              <p:nvPr/>
            </p:nvSpPr>
            <p:spPr bwMode="auto">
              <a:xfrm>
                <a:off x="7188996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8" name="Freeform 183"/>
              <p:cNvSpPr>
                <a:spLocks/>
              </p:cNvSpPr>
              <p:nvPr/>
            </p:nvSpPr>
            <p:spPr bwMode="auto">
              <a:xfrm>
                <a:off x="7250290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9" name="Freeform 184"/>
              <p:cNvSpPr>
                <a:spLocks/>
              </p:cNvSpPr>
              <p:nvPr/>
            </p:nvSpPr>
            <p:spPr bwMode="auto">
              <a:xfrm>
                <a:off x="7188996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0" name="Oval 185"/>
              <p:cNvSpPr>
                <a:spLocks noChangeArrowheads="1"/>
              </p:cNvSpPr>
              <p:nvPr/>
            </p:nvSpPr>
            <p:spPr bwMode="auto">
              <a:xfrm>
                <a:off x="726761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1" name="Freeform 186"/>
              <p:cNvSpPr>
                <a:spLocks noEditPoints="1"/>
              </p:cNvSpPr>
              <p:nvPr/>
            </p:nvSpPr>
            <p:spPr bwMode="auto">
              <a:xfrm>
                <a:off x="7127702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2" name="Freeform 187"/>
              <p:cNvSpPr>
                <a:spLocks noEditPoints="1"/>
              </p:cNvSpPr>
              <p:nvPr/>
            </p:nvSpPr>
            <p:spPr bwMode="auto">
              <a:xfrm>
                <a:off x="7215646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7660695" y="2650828"/>
              <a:ext cx="218527" cy="219859"/>
              <a:chOff x="7660695" y="2650828"/>
              <a:chExt cx="218527" cy="219859"/>
            </a:xfrm>
            <a:grpFill/>
          </p:grpSpPr>
          <p:sp>
            <p:nvSpPr>
              <p:cNvPr id="283" name="Freeform 188"/>
              <p:cNvSpPr>
                <a:spLocks/>
              </p:cNvSpPr>
              <p:nvPr/>
            </p:nvSpPr>
            <p:spPr bwMode="auto">
              <a:xfrm>
                <a:off x="7731317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4" name="Freeform 189"/>
              <p:cNvSpPr>
                <a:spLocks/>
              </p:cNvSpPr>
              <p:nvPr/>
            </p:nvSpPr>
            <p:spPr bwMode="auto">
              <a:xfrm>
                <a:off x="7720657" y="2712122"/>
                <a:ext cx="30648" cy="47969"/>
              </a:xfrm>
              <a:custGeom>
                <a:avLst/>
                <a:gdLst>
                  <a:gd name="T0" fmla="*/ 5 w 23"/>
                  <a:gd name="T1" fmla="*/ 0 h 36"/>
                  <a:gd name="T2" fmla="*/ 0 w 23"/>
                  <a:gd name="T3" fmla="*/ 3 h 36"/>
                  <a:gd name="T4" fmla="*/ 13 w 23"/>
                  <a:gd name="T5" fmla="*/ 18 h 36"/>
                  <a:gd name="T6" fmla="*/ 0 w 23"/>
                  <a:gd name="T7" fmla="*/ 31 h 36"/>
                  <a:gd name="T8" fmla="*/ 5 w 23"/>
                  <a:gd name="T9" fmla="*/ 36 h 36"/>
                  <a:gd name="T10" fmla="*/ 23 w 23"/>
                  <a:gd name="T11" fmla="*/ 18 h 36"/>
                  <a:gd name="T12" fmla="*/ 5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5" y="0"/>
                    </a:moveTo>
                    <a:lnTo>
                      <a:pt x="0" y="3"/>
                    </a:lnTo>
                    <a:lnTo>
                      <a:pt x="13" y="18"/>
                    </a:lnTo>
                    <a:lnTo>
                      <a:pt x="0" y="31"/>
                    </a:lnTo>
                    <a:lnTo>
                      <a:pt x="5" y="36"/>
                    </a:lnTo>
                    <a:lnTo>
                      <a:pt x="23" y="18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5" name="Freeform 190"/>
              <p:cNvSpPr>
                <a:spLocks noEditPoints="1"/>
              </p:cNvSpPr>
              <p:nvPr/>
            </p:nvSpPr>
            <p:spPr bwMode="auto">
              <a:xfrm>
                <a:off x="7660695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6" name="Freeform 191"/>
              <p:cNvSpPr>
                <a:spLocks/>
              </p:cNvSpPr>
              <p:nvPr/>
            </p:nvSpPr>
            <p:spPr bwMode="auto">
              <a:xfrm>
                <a:off x="7789946" y="2712122"/>
                <a:ext cx="30648" cy="47969"/>
              </a:xfrm>
              <a:custGeom>
                <a:avLst/>
                <a:gdLst>
                  <a:gd name="T0" fmla="*/ 18 w 23"/>
                  <a:gd name="T1" fmla="*/ 0 h 36"/>
                  <a:gd name="T2" fmla="*/ 0 w 23"/>
                  <a:gd name="T3" fmla="*/ 18 h 36"/>
                  <a:gd name="T4" fmla="*/ 18 w 23"/>
                  <a:gd name="T5" fmla="*/ 36 h 36"/>
                  <a:gd name="T6" fmla="*/ 23 w 23"/>
                  <a:gd name="T7" fmla="*/ 31 h 36"/>
                  <a:gd name="T8" fmla="*/ 10 w 23"/>
                  <a:gd name="T9" fmla="*/ 18 h 36"/>
                  <a:gd name="T10" fmla="*/ 23 w 23"/>
                  <a:gd name="T11" fmla="*/ 3 h 36"/>
                  <a:gd name="T12" fmla="*/ 18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lnTo>
                      <a:pt x="0" y="18"/>
                    </a:lnTo>
                    <a:lnTo>
                      <a:pt x="18" y="36"/>
                    </a:lnTo>
                    <a:lnTo>
                      <a:pt x="23" y="31"/>
                    </a:lnTo>
                    <a:lnTo>
                      <a:pt x="10" y="18"/>
                    </a:lnTo>
                    <a:lnTo>
                      <a:pt x="23" y="3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1358163" y="3536727"/>
              <a:ext cx="218527" cy="219859"/>
              <a:chOff x="1264778" y="3185154"/>
              <a:chExt cx="218527" cy="219859"/>
            </a:xfrm>
            <a:grpFill/>
          </p:grpSpPr>
          <p:sp>
            <p:nvSpPr>
              <p:cNvPr id="279" name="Freeform 192"/>
              <p:cNvSpPr>
                <a:spLocks/>
              </p:cNvSpPr>
              <p:nvPr/>
            </p:nvSpPr>
            <p:spPr bwMode="auto">
              <a:xfrm>
                <a:off x="1326072" y="3326397"/>
                <a:ext cx="95939" cy="25317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0" name="Freeform 193"/>
              <p:cNvSpPr>
                <a:spLocks/>
              </p:cNvSpPr>
              <p:nvPr/>
            </p:nvSpPr>
            <p:spPr bwMode="auto">
              <a:xfrm>
                <a:off x="1323407" y="3246448"/>
                <a:ext cx="30648" cy="49301"/>
              </a:xfrm>
              <a:custGeom>
                <a:avLst/>
                <a:gdLst>
                  <a:gd name="T0" fmla="*/ 5 w 23"/>
                  <a:gd name="T1" fmla="*/ 37 h 37"/>
                  <a:gd name="T2" fmla="*/ 23 w 23"/>
                  <a:gd name="T3" fmla="*/ 18 h 37"/>
                  <a:gd name="T4" fmla="*/ 5 w 23"/>
                  <a:gd name="T5" fmla="*/ 0 h 37"/>
                  <a:gd name="T6" fmla="*/ 0 w 23"/>
                  <a:gd name="T7" fmla="*/ 4 h 37"/>
                  <a:gd name="T8" fmla="*/ 13 w 23"/>
                  <a:gd name="T9" fmla="*/ 18 h 37"/>
                  <a:gd name="T10" fmla="*/ 0 w 23"/>
                  <a:gd name="T11" fmla="*/ 32 h 37"/>
                  <a:gd name="T12" fmla="*/ 5 w 23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5" y="37"/>
                    </a:moveTo>
                    <a:lnTo>
                      <a:pt x="23" y="18"/>
                    </a:lnTo>
                    <a:lnTo>
                      <a:pt x="5" y="0"/>
                    </a:lnTo>
                    <a:lnTo>
                      <a:pt x="0" y="4"/>
                    </a:lnTo>
                    <a:lnTo>
                      <a:pt x="13" y="18"/>
                    </a:lnTo>
                    <a:lnTo>
                      <a:pt x="0" y="32"/>
                    </a:lnTo>
                    <a:lnTo>
                      <a:pt x="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1" name="Freeform 194"/>
              <p:cNvSpPr>
                <a:spLocks/>
              </p:cNvSpPr>
              <p:nvPr/>
            </p:nvSpPr>
            <p:spPr bwMode="auto">
              <a:xfrm>
                <a:off x="1392696" y="3246448"/>
                <a:ext cx="30648" cy="49301"/>
              </a:xfrm>
              <a:custGeom>
                <a:avLst/>
                <a:gdLst>
                  <a:gd name="T0" fmla="*/ 18 w 23"/>
                  <a:gd name="T1" fmla="*/ 0 h 37"/>
                  <a:gd name="T2" fmla="*/ 0 w 23"/>
                  <a:gd name="T3" fmla="*/ 18 h 37"/>
                  <a:gd name="T4" fmla="*/ 18 w 23"/>
                  <a:gd name="T5" fmla="*/ 37 h 37"/>
                  <a:gd name="T6" fmla="*/ 23 w 23"/>
                  <a:gd name="T7" fmla="*/ 32 h 37"/>
                  <a:gd name="T8" fmla="*/ 10 w 23"/>
                  <a:gd name="T9" fmla="*/ 18 h 37"/>
                  <a:gd name="T10" fmla="*/ 23 w 23"/>
                  <a:gd name="T11" fmla="*/ 4 h 37"/>
                  <a:gd name="T12" fmla="*/ 18 w 23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18" y="0"/>
                    </a:moveTo>
                    <a:lnTo>
                      <a:pt x="0" y="18"/>
                    </a:lnTo>
                    <a:lnTo>
                      <a:pt x="18" y="37"/>
                    </a:lnTo>
                    <a:lnTo>
                      <a:pt x="23" y="32"/>
                    </a:lnTo>
                    <a:lnTo>
                      <a:pt x="10" y="18"/>
                    </a:lnTo>
                    <a:lnTo>
                      <a:pt x="23" y="4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2" name="Freeform 195"/>
              <p:cNvSpPr>
                <a:spLocks noEditPoints="1"/>
              </p:cNvSpPr>
              <p:nvPr/>
            </p:nvSpPr>
            <p:spPr bwMode="auto">
              <a:xfrm>
                <a:off x="1264778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069162" y="5726412"/>
              <a:ext cx="511528" cy="514646"/>
              <a:chOff x="1797771" y="3185154"/>
              <a:chExt cx="218527" cy="219859"/>
            </a:xfrm>
            <a:grpFill/>
          </p:grpSpPr>
          <p:sp>
            <p:nvSpPr>
              <p:cNvPr id="273" name="Freeform 196"/>
              <p:cNvSpPr>
                <a:spLocks/>
              </p:cNvSpPr>
              <p:nvPr/>
            </p:nvSpPr>
            <p:spPr bwMode="auto">
              <a:xfrm>
                <a:off x="1859065" y="3321067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4" name="Oval 197"/>
              <p:cNvSpPr>
                <a:spLocks noChangeArrowheads="1"/>
              </p:cNvSpPr>
              <p:nvPr/>
            </p:nvSpPr>
            <p:spPr bwMode="auto">
              <a:xfrm>
                <a:off x="1859065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5" name="Rectangle 198"/>
              <p:cNvSpPr>
                <a:spLocks noChangeArrowheads="1"/>
              </p:cNvSpPr>
              <p:nvPr/>
            </p:nvSpPr>
            <p:spPr bwMode="auto">
              <a:xfrm>
                <a:off x="1849738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6" name="Oval 199"/>
              <p:cNvSpPr>
                <a:spLocks noChangeArrowheads="1"/>
              </p:cNvSpPr>
              <p:nvPr/>
            </p:nvSpPr>
            <p:spPr bwMode="auto">
              <a:xfrm>
                <a:off x="1937682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7" name="Freeform 200"/>
              <p:cNvSpPr>
                <a:spLocks noEditPoints="1"/>
              </p:cNvSpPr>
              <p:nvPr/>
            </p:nvSpPr>
            <p:spPr bwMode="auto">
              <a:xfrm>
                <a:off x="1797771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8" name="Rectangle 201"/>
              <p:cNvSpPr>
                <a:spLocks noChangeArrowheads="1"/>
              </p:cNvSpPr>
              <p:nvPr/>
            </p:nvSpPr>
            <p:spPr bwMode="auto">
              <a:xfrm>
                <a:off x="1928354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261117" y="5120236"/>
              <a:ext cx="218527" cy="219859"/>
              <a:chOff x="2330764" y="3185154"/>
              <a:chExt cx="218527" cy="219859"/>
            </a:xfrm>
            <a:grpFill/>
          </p:grpSpPr>
          <p:sp>
            <p:nvSpPr>
              <p:cNvPr id="269" name="Freeform 202"/>
              <p:cNvSpPr>
                <a:spLocks/>
              </p:cNvSpPr>
              <p:nvPr/>
            </p:nvSpPr>
            <p:spPr bwMode="auto">
              <a:xfrm>
                <a:off x="2400053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0" name="Rectangle 203"/>
              <p:cNvSpPr>
                <a:spLocks noChangeArrowheads="1"/>
              </p:cNvSpPr>
              <p:nvPr/>
            </p:nvSpPr>
            <p:spPr bwMode="auto">
              <a:xfrm>
                <a:off x="2382731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1" name="Freeform 204"/>
              <p:cNvSpPr>
                <a:spLocks noEditPoints="1"/>
              </p:cNvSpPr>
              <p:nvPr/>
            </p:nvSpPr>
            <p:spPr bwMode="auto">
              <a:xfrm>
                <a:off x="2330764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2" name="Rectangle 206"/>
              <p:cNvSpPr>
                <a:spLocks noChangeArrowheads="1"/>
              </p:cNvSpPr>
              <p:nvPr/>
            </p:nvSpPr>
            <p:spPr bwMode="auto">
              <a:xfrm>
                <a:off x="2461347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167507" y="4474516"/>
              <a:ext cx="218527" cy="219859"/>
              <a:chOff x="2863757" y="3185154"/>
              <a:chExt cx="218527" cy="219859"/>
            </a:xfrm>
            <a:grpFill/>
          </p:grpSpPr>
          <p:sp>
            <p:nvSpPr>
              <p:cNvPr id="265" name="Freeform 207"/>
              <p:cNvSpPr>
                <a:spLocks/>
              </p:cNvSpPr>
              <p:nvPr/>
            </p:nvSpPr>
            <p:spPr bwMode="auto">
              <a:xfrm>
                <a:off x="2905065" y="3246448"/>
                <a:ext cx="47969" cy="30647"/>
              </a:xfrm>
              <a:custGeom>
                <a:avLst/>
                <a:gdLst>
                  <a:gd name="T0" fmla="*/ 18 w 36"/>
                  <a:gd name="T1" fmla="*/ 10 h 23"/>
                  <a:gd name="T2" fmla="*/ 31 w 36"/>
                  <a:gd name="T3" fmla="*/ 23 h 23"/>
                  <a:gd name="T4" fmla="*/ 36 w 36"/>
                  <a:gd name="T5" fmla="*/ 18 h 23"/>
                  <a:gd name="T6" fmla="*/ 18 w 36"/>
                  <a:gd name="T7" fmla="*/ 0 h 23"/>
                  <a:gd name="T8" fmla="*/ 0 w 36"/>
                  <a:gd name="T9" fmla="*/ 18 h 23"/>
                  <a:gd name="T10" fmla="*/ 5 w 36"/>
                  <a:gd name="T11" fmla="*/ 23 h 23"/>
                  <a:gd name="T12" fmla="*/ 18 w 36"/>
                  <a:gd name="T13" fmla="*/ 1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18" y="10"/>
                    </a:move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6" name="Freeform 208"/>
              <p:cNvSpPr>
                <a:spLocks noEditPoints="1"/>
              </p:cNvSpPr>
              <p:nvPr/>
            </p:nvSpPr>
            <p:spPr bwMode="auto">
              <a:xfrm>
                <a:off x="2907730" y="3317069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7" name="Freeform 209"/>
              <p:cNvSpPr>
                <a:spLocks/>
              </p:cNvSpPr>
              <p:nvPr/>
            </p:nvSpPr>
            <p:spPr bwMode="auto">
              <a:xfrm>
                <a:off x="2993008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8" name="Freeform 210"/>
              <p:cNvSpPr>
                <a:spLocks noEditPoints="1"/>
              </p:cNvSpPr>
              <p:nvPr/>
            </p:nvSpPr>
            <p:spPr bwMode="auto">
              <a:xfrm>
                <a:off x="2863757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3396750" y="3185154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261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2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3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4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3730738" y="4288200"/>
              <a:ext cx="218527" cy="219859"/>
              <a:chOff x="3929743" y="3185154"/>
              <a:chExt cx="218527" cy="219859"/>
            </a:xfrm>
            <a:grpFill/>
          </p:grpSpPr>
          <p:sp>
            <p:nvSpPr>
              <p:cNvPr id="257" name="Freeform 215"/>
              <p:cNvSpPr>
                <a:spLocks/>
              </p:cNvSpPr>
              <p:nvPr/>
            </p:nvSpPr>
            <p:spPr bwMode="auto">
              <a:xfrm>
                <a:off x="3981711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8" name="Freeform 216"/>
              <p:cNvSpPr>
                <a:spLocks noEditPoints="1"/>
              </p:cNvSpPr>
              <p:nvPr/>
            </p:nvSpPr>
            <p:spPr bwMode="auto">
              <a:xfrm>
                <a:off x="4017687" y="3317069"/>
                <a:ext cx="42639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9" name="Freeform 217"/>
              <p:cNvSpPr>
                <a:spLocks noEditPoints="1"/>
              </p:cNvSpPr>
              <p:nvPr/>
            </p:nvSpPr>
            <p:spPr bwMode="auto">
              <a:xfrm>
                <a:off x="392974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0" name="Freeform 218"/>
              <p:cNvSpPr>
                <a:spLocks/>
              </p:cNvSpPr>
              <p:nvPr/>
            </p:nvSpPr>
            <p:spPr bwMode="auto">
              <a:xfrm>
                <a:off x="4060327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4462736" y="3185154"/>
              <a:ext cx="218527" cy="219859"/>
              <a:chOff x="4462736" y="3185154"/>
              <a:chExt cx="218527" cy="219859"/>
            </a:xfrm>
            <a:grpFill/>
          </p:grpSpPr>
          <p:sp>
            <p:nvSpPr>
              <p:cNvPr id="253" name="Freeform 219"/>
              <p:cNvSpPr>
                <a:spLocks noEditPoints="1"/>
              </p:cNvSpPr>
              <p:nvPr/>
            </p:nvSpPr>
            <p:spPr bwMode="auto">
              <a:xfrm>
                <a:off x="4532026" y="3317069"/>
                <a:ext cx="79949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4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4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4" name="Freeform 220"/>
              <p:cNvSpPr>
                <a:spLocks/>
              </p:cNvSpPr>
              <p:nvPr/>
            </p:nvSpPr>
            <p:spPr bwMode="auto">
              <a:xfrm>
                <a:off x="4514704" y="3246448"/>
                <a:ext cx="35977" cy="26650"/>
              </a:xfrm>
              <a:custGeom>
                <a:avLst/>
                <a:gdLst>
                  <a:gd name="T0" fmla="*/ 23 w 27"/>
                  <a:gd name="T1" fmla="*/ 20 h 20"/>
                  <a:gd name="T2" fmla="*/ 27 w 27"/>
                  <a:gd name="T3" fmla="*/ 15 h 20"/>
                  <a:gd name="T4" fmla="*/ 20 w 27"/>
                  <a:gd name="T5" fmla="*/ 10 h 20"/>
                  <a:gd name="T6" fmla="*/ 27 w 27"/>
                  <a:gd name="T7" fmla="*/ 5 h 20"/>
                  <a:gd name="T8" fmla="*/ 23 w 27"/>
                  <a:gd name="T9" fmla="*/ 0 h 20"/>
                  <a:gd name="T10" fmla="*/ 13 w 27"/>
                  <a:gd name="T11" fmla="*/ 7 h 20"/>
                  <a:gd name="T12" fmla="*/ 4 w 27"/>
                  <a:gd name="T13" fmla="*/ 0 h 20"/>
                  <a:gd name="T14" fmla="*/ 0 w 27"/>
                  <a:gd name="T15" fmla="*/ 5 h 20"/>
                  <a:gd name="T16" fmla="*/ 7 w 27"/>
                  <a:gd name="T17" fmla="*/ 10 h 20"/>
                  <a:gd name="T18" fmla="*/ 0 w 27"/>
                  <a:gd name="T19" fmla="*/ 15 h 20"/>
                  <a:gd name="T20" fmla="*/ 4 w 27"/>
                  <a:gd name="T21" fmla="*/ 20 h 20"/>
                  <a:gd name="T22" fmla="*/ 13 w 27"/>
                  <a:gd name="T23" fmla="*/ 13 h 20"/>
                  <a:gd name="T24" fmla="*/ 23 w 27"/>
                  <a:gd name="T2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20"/>
                    </a:move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5" name="Freeform 221"/>
              <p:cNvSpPr>
                <a:spLocks noEditPoints="1"/>
              </p:cNvSpPr>
              <p:nvPr/>
            </p:nvSpPr>
            <p:spPr bwMode="auto">
              <a:xfrm>
                <a:off x="446273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6" name="Freeform 222"/>
              <p:cNvSpPr>
                <a:spLocks/>
              </p:cNvSpPr>
              <p:nvPr/>
            </p:nvSpPr>
            <p:spPr bwMode="auto">
              <a:xfrm>
                <a:off x="4593320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4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4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4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4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5630291" y="4318848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24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2" name="Freeform 227"/>
              <p:cNvSpPr>
                <a:spLocks/>
              </p:cNvSpPr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4302389" y="1067927"/>
              <a:ext cx="604982" cy="608670"/>
              <a:chOff x="5528723" y="3185154"/>
              <a:chExt cx="218527" cy="219859"/>
            </a:xfrm>
            <a:grpFill/>
          </p:grpSpPr>
          <p:sp>
            <p:nvSpPr>
              <p:cNvPr id="244" name="Oval 228"/>
              <p:cNvSpPr>
                <a:spLocks noChangeArrowheads="1"/>
              </p:cNvSpPr>
              <p:nvPr/>
            </p:nvSpPr>
            <p:spPr bwMode="auto">
              <a:xfrm>
                <a:off x="559001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5" name="Oval 229"/>
              <p:cNvSpPr>
                <a:spLocks noChangeArrowheads="1"/>
              </p:cNvSpPr>
              <p:nvPr/>
            </p:nvSpPr>
            <p:spPr bwMode="auto">
              <a:xfrm>
                <a:off x="566863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6" name="Freeform 230"/>
              <p:cNvSpPr>
                <a:spLocks/>
              </p:cNvSpPr>
              <p:nvPr/>
            </p:nvSpPr>
            <p:spPr bwMode="auto">
              <a:xfrm>
                <a:off x="5563367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7" name="Freeform 231"/>
              <p:cNvSpPr>
                <a:spLocks noEditPoints="1"/>
              </p:cNvSpPr>
              <p:nvPr/>
            </p:nvSpPr>
            <p:spPr bwMode="auto">
              <a:xfrm>
                <a:off x="552872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2618548" y="785679"/>
              <a:ext cx="218527" cy="219859"/>
              <a:chOff x="6061716" y="3185154"/>
              <a:chExt cx="218527" cy="219859"/>
            </a:xfrm>
            <a:grpFill/>
          </p:grpSpPr>
          <p:sp>
            <p:nvSpPr>
              <p:cNvPr id="240" name="Freeform 232"/>
              <p:cNvSpPr>
                <a:spLocks/>
              </p:cNvSpPr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1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2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3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6201627" y="2789676"/>
              <a:ext cx="611609" cy="615337"/>
              <a:chOff x="6594709" y="3185154"/>
              <a:chExt cx="218527" cy="219859"/>
            </a:xfrm>
            <a:grpFill/>
          </p:grpSpPr>
          <p:sp>
            <p:nvSpPr>
              <p:cNvPr id="238" name="Freeform 236"/>
              <p:cNvSpPr>
                <a:spLocks/>
              </p:cNvSpPr>
              <p:nvPr/>
            </p:nvSpPr>
            <p:spPr bwMode="auto">
              <a:xfrm>
                <a:off x="6656003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7"/>
              <p:cNvSpPr>
                <a:spLocks noEditPoints="1"/>
              </p:cNvSpPr>
              <p:nvPr/>
            </p:nvSpPr>
            <p:spPr bwMode="auto">
              <a:xfrm>
                <a:off x="659470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9835733" y="5037400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236" name="Freeform 238"/>
              <p:cNvSpPr>
                <a:spLocks/>
              </p:cNvSpPr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7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6"/>
            <p:cNvSpPr>
              <a:spLocks noEditPoints="1"/>
            </p:cNvSpPr>
            <p:nvPr/>
          </p:nvSpPr>
          <p:spPr bwMode="auto">
            <a:xfrm>
              <a:off x="4977992" y="773677"/>
              <a:ext cx="254000" cy="271463"/>
            </a:xfrm>
            <a:custGeom>
              <a:avLst/>
              <a:gdLst>
                <a:gd name="T0" fmla="*/ 88 w 98"/>
                <a:gd name="T1" fmla="*/ 12 h 104"/>
                <a:gd name="T2" fmla="*/ 78 w 98"/>
                <a:gd name="T3" fmla="*/ 22 h 104"/>
                <a:gd name="T4" fmla="*/ 78 w 98"/>
                <a:gd name="T5" fmla="*/ 34 h 104"/>
                <a:gd name="T6" fmla="*/ 72 w 98"/>
                <a:gd name="T7" fmla="*/ 32 h 104"/>
                <a:gd name="T8" fmla="*/ 65 w 98"/>
                <a:gd name="T9" fmla="*/ 35 h 104"/>
                <a:gd name="T10" fmla="*/ 56 w 98"/>
                <a:gd name="T11" fmla="*/ 28 h 104"/>
                <a:gd name="T12" fmla="*/ 50 w 98"/>
                <a:gd name="T13" fmla="*/ 30 h 104"/>
                <a:gd name="T14" fmla="*/ 50 w 98"/>
                <a:gd name="T15" fmla="*/ 10 h 104"/>
                <a:gd name="T16" fmla="*/ 40 w 98"/>
                <a:gd name="T17" fmla="*/ 0 h 104"/>
                <a:gd name="T18" fmla="*/ 30 w 98"/>
                <a:gd name="T19" fmla="*/ 10 h 104"/>
                <a:gd name="T20" fmla="*/ 30 w 98"/>
                <a:gd name="T21" fmla="*/ 41 h 104"/>
                <a:gd name="T22" fmla="*/ 8 w 98"/>
                <a:gd name="T23" fmla="*/ 34 h 104"/>
                <a:gd name="T24" fmla="*/ 29 w 98"/>
                <a:gd name="T25" fmla="*/ 82 h 104"/>
                <a:gd name="T26" fmla="*/ 64 w 98"/>
                <a:gd name="T27" fmla="*/ 104 h 104"/>
                <a:gd name="T28" fmla="*/ 98 w 98"/>
                <a:gd name="T29" fmla="*/ 70 h 104"/>
                <a:gd name="T30" fmla="*/ 98 w 98"/>
                <a:gd name="T31" fmla="*/ 22 h 104"/>
                <a:gd name="T32" fmla="*/ 88 w 98"/>
                <a:gd name="T33" fmla="*/ 12 h 104"/>
                <a:gd name="T34" fmla="*/ 94 w 98"/>
                <a:gd name="T35" fmla="*/ 55 h 104"/>
                <a:gd name="T36" fmla="*/ 94 w 98"/>
                <a:gd name="T37" fmla="*/ 70 h 104"/>
                <a:gd name="T38" fmla="*/ 64 w 98"/>
                <a:gd name="T39" fmla="*/ 100 h 104"/>
                <a:gd name="T40" fmla="*/ 33 w 98"/>
                <a:gd name="T41" fmla="*/ 80 h 104"/>
                <a:gd name="T42" fmla="*/ 10 w 98"/>
                <a:gd name="T43" fmla="*/ 37 h 104"/>
                <a:gd name="T44" fmla="*/ 34 w 98"/>
                <a:gd name="T45" fmla="*/ 51 h 104"/>
                <a:gd name="T46" fmla="*/ 34 w 98"/>
                <a:gd name="T47" fmla="*/ 10 h 104"/>
                <a:gd name="T48" fmla="*/ 40 w 98"/>
                <a:gd name="T49" fmla="*/ 4 h 104"/>
                <a:gd name="T50" fmla="*/ 46 w 98"/>
                <a:gd name="T51" fmla="*/ 10 h 104"/>
                <a:gd name="T52" fmla="*/ 46 w 98"/>
                <a:gd name="T53" fmla="*/ 46 h 104"/>
                <a:gd name="T54" fmla="*/ 50 w 98"/>
                <a:gd name="T55" fmla="*/ 46 h 104"/>
                <a:gd name="T56" fmla="*/ 50 w 98"/>
                <a:gd name="T57" fmla="*/ 38 h 104"/>
                <a:gd name="T58" fmla="*/ 56 w 98"/>
                <a:gd name="T59" fmla="*/ 32 h 104"/>
                <a:gd name="T60" fmla="*/ 62 w 98"/>
                <a:gd name="T61" fmla="*/ 38 h 104"/>
                <a:gd name="T62" fmla="*/ 62 w 98"/>
                <a:gd name="T63" fmla="*/ 42 h 104"/>
                <a:gd name="T64" fmla="*/ 66 w 98"/>
                <a:gd name="T65" fmla="*/ 42 h 104"/>
                <a:gd name="T66" fmla="*/ 66 w 98"/>
                <a:gd name="T67" fmla="*/ 42 h 104"/>
                <a:gd name="T68" fmla="*/ 72 w 98"/>
                <a:gd name="T69" fmla="*/ 36 h 104"/>
                <a:gd name="T70" fmla="*/ 78 w 98"/>
                <a:gd name="T71" fmla="*/ 42 h 104"/>
                <a:gd name="T72" fmla="*/ 78 w 98"/>
                <a:gd name="T73" fmla="*/ 46 h 104"/>
                <a:gd name="T74" fmla="*/ 82 w 98"/>
                <a:gd name="T75" fmla="*/ 46 h 104"/>
                <a:gd name="T76" fmla="*/ 82 w 98"/>
                <a:gd name="T77" fmla="*/ 22 h 104"/>
                <a:gd name="T78" fmla="*/ 88 w 98"/>
                <a:gd name="T79" fmla="*/ 16 h 104"/>
                <a:gd name="T80" fmla="*/ 94 w 98"/>
                <a:gd name="T81" fmla="*/ 22 h 104"/>
                <a:gd name="T82" fmla="*/ 94 w 98"/>
                <a:gd name="T83" fmla="*/ 5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04">
                  <a:moveTo>
                    <a:pt x="88" y="12"/>
                  </a:moveTo>
                  <a:cubicBezTo>
                    <a:pt x="82" y="12"/>
                    <a:pt x="78" y="16"/>
                    <a:pt x="78" y="2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4" y="33"/>
                    <a:pt x="74" y="32"/>
                    <a:pt x="72" y="32"/>
                  </a:cubicBezTo>
                  <a:cubicBezTo>
                    <a:pt x="69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2" y="34"/>
                    <a:pt x="13" y="29"/>
                    <a:pt x="8" y="34"/>
                  </a:cubicBezTo>
                  <a:cubicBezTo>
                    <a:pt x="0" y="42"/>
                    <a:pt x="16" y="58"/>
                    <a:pt x="29" y="82"/>
                  </a:cubicBezTo>
                  <a:cubicBezTo>
                    <a:pt x="38" y="98"/>
                    <a:pt x="52" y="104"/>
                    <a:pt x="64" y="104"/>
                  </a:cubicBezTo>
                  <a:cubicBezTo>
                    <a:pt x="83" y="104"/>
                    <a:pt x="98" y="89"/>
                    <a:pt x="98" y="70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8" y="16"/>
                    <a:pt x="94" y="12"/>
                    <a:pt x="88" y="12"/>
                  </a:cubicBezTo>
                  <a:close/>
                  <a:moveTo>
                    <a:pt x="94" y="55"/>
                  </a:moveTo>
                  <a:cubicBezTo>
                    <a:pt x="94" y="70"/>
                    <a:pt x="94" y="70"/>
                    <a:pt x="94" y="70"/>
                  </a:cubicBezTo>
                  <a:cubicBezTo>
                    <a:pt x="94" y="87"/>
                    <a:pt x="81" y="100"/>
                    <a:pt x="64" y="100"/>
                  </a:cubicBezTo>
                  <a:cubicBezTo>
                    <a:pt x="49" y="100"/>
                    <a:pt x="40" y="92"/>
                    <a:pt x="33" y="80"/>
                  </a:cubicBezTo>
                  <a:cubicBezTo>
                    <a:pt x="17" y="54"/>
                    <a:pt x="6" y="42"/>
                    <a:pt x="10" y="37"/>
                  </a:cubicBezTo>
                  <a:cubicBezTo>
                    <a:pt x="15" y="33"/>
                    <a:pt x="26" y="42"/>
                    <a:pt x="34" y="5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19"/>
                    <a:pt x="85" y="16"/>
                    <a:pt x="88" y="16"/>
                  </a:cubicBezTo>
                  <a:cubicBezTo>
                    <a:pt x="91" y="16"/>
                    <a:pt x="94" y="19"/>
                    <a:pt x="94" y="22"/>
                  </a:cubicBezTo>
                  <a:lnTo>
                    <a:pt x="94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5" name="Freeform 7"/>
            <p:cNvSpPr>
              <a:spLocks noEditPoints="1"/>
            </p:cNvSpPr>
            <p:nvPr/>
          </p:nvSpPr>
          <p:spPr bwMode="auto">
            <a:xfrm>
              <a:off x="4881564" y="3550345"/>
              <a:ext cx="255588" cy="292100"/>
            </a:xfrm>
            <a:custGeom>
              <a:avLst/>
              <a:gdLst>
                <a:gd name="T0" fmla="*/ 88 w 98"/>
                <a:gd name="T1" fmla="*/ 20 h 112"/>
                <a:gd name="T2" fmla="*/ 82 w 98"/>
                <a:gd name="T3" fmla="*/ 22 h 112"/>
                <a:gd name="T4" fmla="*/ 82 w 98"/>
                <a:gd name="T5" fmla="*/ 18 h 112"/>
                <a:gd name="T6" fmla="*/ 72 w 98"/>
                <a:gd name="T7" fmla="*/ 8 h 112"/>
                <a:gd name="T8" fmla="*/ 67 w 98"/>
                <a:gd name="T9" fmla="*/ 10 h 112"/>
                <a:gd name="T10" fmla="*/ 57 w 98"/>
                <a:gd name="T11" fmla="*/ 0 h 112"/>
                <a:gd name="T12" fmla="*/ 47 w 98"/>
                <a:gd name="T13" fmla="*/ 10 h 112"/>
                <a:gd name="T14" fmla="*/ 40 w 98"/>
                <a:gd name="T15" fmla="*/ 8 h 112"/>
                <a:gd name="T16" fmla="*/ 30 w 98"/>
                <a:gd name="T17" fmla="*/ 18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30 h 112"/>
                <a:gd name="T30" fmla="*/ 88 w 98"/>
                <a:gd name="T31" fmla="*/ 20 h 112"/>
                <a:gd name="T32" fmla="*/ 94 w 98"/>
                <a:gd name="T33" fmla="*/ 63 h 112"/>
                <a:gd name="T34" fmla="*/ 94 w 98"/>
                <a:gd name="T35" fmla="*/ 78 h 112"/>
                <a:gd name="T36" fmla="*/ 64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8 h 112"/>
                <a:gd name="T46" fmla="*/ 40 w 98"/>
                <a:gd name="T47" fmla="*/ 12 h 112"/>
                <a:gd name="T48" fmla="*/ 46 w 98"/>
                <a:gd name="T49" fmla="*/ 18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8 h 112"/>
                <a:gd name="T66" fmla="*/ 72 w 98"/>
                <a:gd name="T67" fmla="*/ 12 h 112"/>
                <a:gd name="T68" fmla="*/ 78 w 98"/>
                <a:gd name="T69" fmla="*/ 18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30 h 112"/>
                <a:gd name="T76" fmla="*/ 88 w 98"/>
                <a:gd name="T77" fmla="*/ 24 h 112"/>
                <a:gd name="T78" fmla="*/ 94 w 98"/>
                <a:gd name="T79" fmla="*/ 30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20"/>
                  </a:moveTo>
                  <a:cubicBezTo>
                    <a:pt x="86" y="20"/>
                    <a:pt x="86" y="21"/>
                    <a:pt x="82" y="22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2"/>
                    <a:pt x="78" y="8"/>
                    <a:pt x="72" y="8"/>
                  </a:cubicBezTo>
                  <a:cubicBezTo>
                    <a:pt x="70" y="8"/>
                    <a:pt x="68" y="9"/>
                    <a:pt x="67" y="10"/>
                  </a:cubicBezTo>
                  <a:cubicBezTo>
                    <a:pt x="67" y="4"/>
                    <a:pt x="62" y="0"/>
                    <a:pt x="57" y="0"/>
                  </a:cubicBezTo>
                  <a:cubicBezTo>
                    <a:pt x="51" y="0"/>
                    <a:pt x="47" y="4"/>
                    <a:pt x="47" y="10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8" y="24"/>
                    <a:pt x="94" y="20"/>
                    <a:pt x="88" y="20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4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5"/>
                    <a:pt x="69" y="12"/>
                    <a:pt x="72" y="12"/>
                  </a:cubicBezTo>
                  <a:cubicBezTo>
                    <a:pt x="75" y="12"/>
                    <a:pt x="78" y="15"/>
                    <a:pt x="78" y="18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7"/>
                    <a:pt x="85" y="24"/>
                    <a:pt x="88" y="24"/>
                  </a:cubicBezTo>
                  <a:cubicBezTo>
                    <a:pt x="91" y="24"/>
                    <a:pt x="94" y="27"/>
                    <a:pt x="94" y="30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647179" y="194653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234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5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10038206" y="6400642"/>
              <a:ext cx="295275" cy="292100"/>
              <a:chOff x="3138488" y="1911350"/>
              <a:chExt cx="295275" cy="292100"/>
            </a:xfrm>
            <a:grpFill/>
          </p:grpSpPr>
          <p:sp>
            <p:nvSpPr>
              <p:cNvPr id="232" name="Oval 10"/>
              <p:cNvSpPr>
                <a:spLocks noChangeArrowheads="1"/>
              </p:cNvSpPr>
              <p:nvPr/>
            </p:nvSpPr>
            <p:spPr bwMode="auto">
              <a:xfrm>
                <a:off x="3175000" y="1936750"/>
                <a:ext cx="20638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3" name="Freeform 11"/>
              <p:cNvSpPr>
                <a:spLocks noEditPoints="1"/>
              </p:cNvSpPr>
              <p:nvPr/>
            </p:nvSpPr>
            <p:spPr bwMode="auto">
              <a:xfrm>
                <a:off x="3138488" y="1911350"/>
                <a:ext cx="295275" cy="292100"/>
              </a:xfrm>
              <a:custGeom>
                <a:avLst/>
                <a:gdLst>
                  <a:gd name="T0" fmla="*/ 107 w 114"/>
                  <a:gd name="T1" fmla="*/ 47 h 112"/>
                  <a:gd name="T2" fmla="*/ 110 w 114"/>
                  <a:gd name="T3" fmla="*/ 40 h 112"/>
                  <a:gd name="T4" fmla="*/ 103 w 114"/>
                  <a:gd name="T5" fmla="*/ 31 h 112"/>
                  <a:gd name="T6" fmla="*/ 106 w 114"/>
                  <a:gd name="T7" fmla="*/ 24 h 112"/>
                  <a:gd name="T8" fmla="*/ 96 w 114"/>
                  <a:gd name="T9" fmla="*/ 14 h 112"/>
                  <a:gd name="T10" fmla="*/ 98 w 114"/>
                  <a:gd name="T11" fmla="*/ 9 h 112"/>
                  <a:gd name="T12" fmla="*/ 88 w 114"/>
                  <a:gd name="T13" fmla="*/ 0 h 112"/>
                  <a:gd name="T14" fmla="*/ 55 w 114"/>
                  <a:gd name="T15" fmla="*/ 0 h 112"/>
                  <a:gd name="T16" fmla="*/ 32 w 114"/>
                  <a:gd name="T17" fmla="*/ 0 h 112"/>
                  <a:gd name="T18" fmla="*/ 10 w 114"/>
                  <a:gd name="T19" fmla="*/ 0 h 112"/>
                  <a:gd name="T20" fmla="*/ 0 w 114"/>
                  <a:gd name="T21" fmla="*/ 6 h 112"/>
                  <a:gd name="T22" fmla="*/ 0 w 114"/>
                  <a:gd name="T23" fmla="*/ 58 h 112"/>
                  <a:gd name="T24" fmla="*/ 10 w 114"/>
                  <a:gd name="T25" fmla="*/ 68 h 112"/>
                  <a:gd name="T26" fmla="*/ 32 w 114"/>
                  <a:gd name="T27" fmla="*/ 68 h 112"/>
                  <a:gd name="T28" fmla="*/ 34 w 114"/>
                  <a:gd name="T29" fmla="*/ 68 h 112"/>
                  <a:gd name="T30" fmla="*/ 52 w 114"/>
                  <a:gd name="T31" fmla="*/ 80 h 112"/>
                  <a:gd name="T32" fmla="*/ 66 w 114"/>
                  <a:gd name="T33" fmla="*/ 112 h 112"/>
                  <a:gd name="T34" fmla="*/ 80 w 114"/>
                  <a:gd name="T35" fmla="*/ 68 h 112"/>
                  <a:gd name="T36" fmla="*/ 104 w 114"/>
                  <a:gd name="T37" fmla="*/ 68 h 112"/>
                  <a:gd name="T38" fmla="*/ 114 w 114"/>
                  <a:gd name="T39" fmla="*/ 57 h 112"/>
                  <a:gd name="T40" fmla="*/ 107 w 114"/>
                  <a:gd name="T41" fmla="*/ 47 h 112"/>
                  <a:gd name="T42" fmla="*/ 28 w 114"/>
                  <a:gd name="T43" fmla="*/ 64 h 112"/>
                  <a:gd name="T44" fmla="*/ 10 w 114"/>
                  <a:gd name="T45" fmla="*/ 64 h 112"/>
                  <a:gd name="T46" fmla="*/ 4 w 114"/>
                  <a:gd name="T47" fmla="*/ 58 h 112"/>
                  <a:gd name="T48" fmla="*/ 4 w 114"/>
                  <a:gd name="T49" fmla="*/ 6 h 112"/>
                  <a:gd name="T50" fmla="*/ 10 w 114"/>
                  <a:gd name="T51" fmla="*/ 4 h 112"/>
                  <a:gd name="T52" fmla="*/ 28 w 114"/>
                  <a:gd name="T53" fmla="*/ 4 h 112"/>
                  <a:gd name="T54" fmla="*/ 28 w 114"/>
                  <a:gd name="T55" fmla="*/ 64 h 112"/>
                  <a:gd name="T56" fmla="*/ 104 w 114"/>
                  <a:gd name="T57" fmla="*/ 64 h 112"/>
                  <a:gd name="T58" fmla="*/ 75 w 114"/>
                  <a:gd name="T59" fmla="*/ 64 h 112"/>
                  <a:gd name="T60" fmla="*/ 76 w 114"/>
                  <a:gd name="T61" fmla="*/ 67 h 112"/>
                  <a:gd name="T62" fmla="*/ 66 w 114"/>
                  <a:gd name="T63" fmla="*/ 107 h 112"/>
                  <a:gd name="T64" fmla="*/ 55 w 114"/>
                  <a:gd name="T65" fmla="*/ 77 h 112"/>
                  <a:gd name="T66" fmla="*/ 44 w 114"/>
                  <a:gd name="T67" fmla="*/ 66 h 112"/>
                  <a:gd name="T68" fmla="*/ 32 w 114"/>
                  <a:gd name="T69" fmla="*/ 62 h 112"/>
                  <a:gd name="T70" fmla="*/ 32 w 114"/>
                  <a:gd name="T71" fmla="*/ 4 h 112"/>
                  <a:gd name="T72" fmla="*/ 73 w 114"/>
                  <a:gd name="T73" fmla="*/ 4 h 112"/>
                  <a:gd name="T74" fmla="*/ 88 w 114"/>
                  <a:gd name="T75" fmla="*/ 4 h 112"/>
                  <a:gd name="T76" fmla="*/ 94 w 114"/>
                  <a:gd name="T77" fmla="*/ 10 h 112"/>
                  <a:gd name="T78" fmla="*/ 88 w 114"/>
                  <a:gd name="T79" fmla="*/ 16 h 112"/>
                  <a:gd name="T80" fmla="*/ 80 w 114"/>
                  <a:gd name="T81" fmla="*/ 16 h 112"/>
                  <a:gd name="T82" fmla="*/ 80 w 114"/>
                  <a:gd name="T83" fmla="*/ 20 h 112"/>
                  <a:gd name="T84" fmla="*/ 96 w 114"/>
                  <a:gd name="T85" fmla="*/ 20 h 112"/>
                  <a:gd name="T86" fmla="*/ 102 w 114"/>
                  <a:gd name="T87" fmla="*/ 26 h 112"/>
                  <a:gd name="T88" fmla="*/ 96 w 114"/>
                  <a:gd name="T89" fmla="*/ 32 h 112"/>
                  <a:gd name="T90" fmla="*/ 84 w 114"/>
                  <a:gd name="T91" fmla="*/ 32 h 112"/>
                  <a:gd name="T92" fmla="*/ 84 w 114"/>
                  <a:gd name="T93" fmla="*/ 36 h 112"/>
                  <a:gd name="T94" fmla="*/ 100 w 114"/>
                  <a:gd name="T95" fmla="*/ 36 h 112"/>
                  <a:gd name="T96" fmla="*/ 106 w 114"/>
                  <a:gd name="T97" fmla="*/ 42 h 112"/>
                  <a:gd name="T98" fmla="*/ 100 w 114"/>
                  <a:gd name="T99" fmla="*/ 48 h 112"/>
                  <a:gd name="T100" fmla="*/ 88 w 114"/>
                  <a:gd name="T101" fmla="*/ 48 h 112"/>
                  <a:gd name="T102" fmla="*/ 88 w 114"/>
                  <a:gd name="T103" fmla="*/ 52 h 112"/>
                  <a:gd name="T104" fmla="*/ 104 w 114"/>
                  <a:gd name="T105" fmla="*/ 52 h 112"/>
                  <a:gd name="T106" fmla="*/ 110 w 114"/>
                  <a:gd name="T107" fmla="*/ 58 h 112"/>
                  <a:gd name="T108" fmla="*/ 104 w 114"/>
                  <a:gd name="T109" fmla="*/ 6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4" h="112">
                    <a:moveTo>
                      <a:pt x="107" y="47"/>
                    </a:moveTo>
                    <a:cubicBezTo>
                      <a:pt x="109" y="45"/>
                      <a:pt x="110" y="43"/>
                      <a:pt x="110" y="40"/>
                    </a:cubicBezTo>
                    <a:cubicBezTo>
                      <a:pt x="110" y="36"/>
                      <a:pt x="107" y="32"/>
                      <a:pt x="103" y="31"/>
                    </a:cubicBezTo>
                    <a:cubicBezTo>
                      <a:pt x="105" y="29"/>
                      <a:pt x="106" y="27"/>
                      <a:pt x="106" y="24"/>
                    </a:cubicBezTo>
                    <a:cubicBezTo>
                      <a:pt x="106" y="18"/>
                      <a:pt x="102" y="14"/>
                      <a:pt x="96" y="14"/>
                    </a:cubicBezTo>
                    <a:cubicBezTo>
                      <a:pt x="97" y="12"/>
                      <a:pt x="98" y="11"/>
                      <a:pt x="98" y="9"/>
                    </a:cubicBezTo>
                    <a:cubicBezTo>
                      <a:pt x="98" y="3"/>
                      <a:pt x="94" y="0"/>
                      <a:pt x="88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0"/>
                      <a:pt x="0" y="2"/>
                      <a:pt x="0" y="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2"/>
                      <a:pt x="6" y="68"/>
                      <a:pt x="10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68"/>
                      <a:pt x="46" y="68"/>
                      <a:pt x="52" y="80"/>
                    </a:cubicBezTo>
                    <a:cubicBezTo>
                      <a:pt x="58" y="92"/>
                      <a:pt x="50" y="112"/>
                      <a:pt x="66" y="112"/>
                    </a:cubicBezTo>
                    <a:cubicBezTo>
                      <a:pt x="82" y="112"/>
                      <a:pt x="84" y="88"/>
                      <a:pt x="80" y="68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110" y="68"/>
                      <a:pt x="114" y="63"/>
                      <a:pt x="114" y="57"/>
                    </a:cubicBezTo>
                    <a:cubicBezTo>
                      <a:pt x="114" y="53"/>
                      <a:pt x="111" y="48"/>
                      <a:pt x="107" y="47"/>
                    </a:cubicBezTo>
                    <a:close/>
                    <a:moveTo>
                      <a:pt x="28" y="64"/>
                    </a:moveTo>
                    <a:cubicBezTo>
                      <a:pt x="10" y="64"/>
                      <a:pt x="10" y="64"/>
                      <a:pt x="10" y="64"/>
                    </a:cubicBezTo>
                    <a:cubicBezTo>
                      <a:pt x="8" y="64"/>
                      <a:pt x="4" y="60"/>
                      <a:pt x="4" y="58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4"/>
                      <a:pt x="8" y="4"/>
                      <a:pt x="10" y="4"/>
                    </a:cubicBezTo>
                    <a:cubicBezTo>
                      <a:pt x="28" y="4"/>
                      <a:pt x="28" y="4"/>
                      <a:pt x="28" y="4"/>
                    </a:cubicBezTo>
                    <a:lnTo>
                      <a:pt x="28" y="64"/>
                    </a:lnTo>
                    <a:close/>
                    <a:moveTo>
                      <a:pt x="104" y="64"/>
                    </a:moveTo>
                    <a:cubicBezTo>
                      <a:pt x="75" y="64"/>
                      <a:pt x="75" y="64"/>
                      <a:pt x="75" y="64"/>
                    </a:cubicBezTo>
                    <a:cubicBezTo>
                      <a:pt x="76" y="67"/>
                      <a:pt x="76" y="67"/>
                      <a:pt x="76" y="67"/>
                    </a:cubicBezTo>
                    <a:cubicBezTo>
                      <a:pt x="80" y="88"/>
                      <a:pt x="78" y="107"/>
                      <a:pt x="66" y="107"/>
                    </a:cubicBezTo>
                    <a:cubicBezTo>
                      <a:pt x="55" y="107"/>
                      <a:pt x="62" y="89"/>
                      <a:pt x="55" y="77"/>
                    </a:cubicBezTo>
                    <a:cubicBezTo>
                      <a:pt x="53" y="72"/>
                      <a:pt x="48" y="68"/>
                      <a:pt x="44" y="66"/>
                    </a:cubicBezTo>
                    <a:cubicBezTo>
                      <a:pt x="44" y="66"/>
                      <a:pt x="40" y="62"/>
                      <a:pt x="32" y="62"/>
                    </a:cubicBezTo>
                    <a:cubicBezTo>
                      <a:pt x="32" y="54"/>
                      <a:pt x="32" y="4"/>
                      <a:pt x="32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91" y="4"/>
                      <a:pt x="94" y="7"/>
                      <a:pt x="94" y="10"/>
                    </a:cubicBezTo>
                    <a:cubicBezTo>
                      <a:pt x="94" y="13"/>
                      <a:pt x="91" y="16"/>
                      <a:pt x="88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9" y="20"/>
                      <a:pt x="102" y="23"/>
                      <a:pt x="102" y="26"/>
                    </a:cubicBezTo>
                    <a:cubicBezTo>
                      <a:pt x="102" y="29"/>
                      <a:pt x="99" y="32"/>
                      <a:pt x="96" y="32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84" y="36"/>
                      <a:pt x="84" y="36"/>
                      <a:pt x="84" y="36"/>
                    </a:cubicBezTo>
                    <a:cubicBezTo>
                      <a:pt x="100" y="36"/>
                      <a:pt x="100" y="36"/>
                      <a:pt x="100" y="36"/>
                    </a:cubicBezTo>
                    <a:cubicBezTo>
                      <a:pt x="103" y="36"/>
                      <a:pt x="106" y="39"/>
                      <a:pt x="106" y="42"/>
                    </a:cubicBezTo>
                    <a:cubicBezTo>
                      <a:pt x="106" y="45"/>
                      <a:pt x="103" y="48"/>
                      <a:pt x="100" y="48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52"/>
                      <a:pt x="88" y="52"/>
                      <a:pt x="88" y="52"/>
                    </a:cubicBezTo>
                    <a:cubicBezTo>
                      <a:pt x="104" y="52"/>
                      <a:pt x="104" y="52"/>
                      <a:pt x="104" y="52"/>
                    </a:cubicBezTo>
                    <a:cubicBezTo>
                      <a:pt x="107" y="52"/>
                      <a:pt x="110" y="55"/>
                      <a:pt x="110" y="58"/>
                    </a:cubicBezTo>
                    <a:cubicBezTo>
                      <a:pt x="110" y="61"/>
                      <a:pt x="107" y="64"/>
                      <a:pt x="104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8" name="Freeform 12"/>
            <p:cNvSpPr>
              <a:spLocks noEditPoints="1"/>
            </p:cNvSpPr>
            <p:nvPr/>
          </p:nvSpPr>
          <p:spPr bwMode="auto">
            <a:xfrm>
              <a:off x="2883729" y="4147913"/>
              <a:ext cx="290513" cy="292100"/>
            </a:xfrm>
            <a:custGeom>
              <a:avLst/>
              <a:gdLst>
                <a:gd name="T0" fmla="*/ 69 w 112"/>
                <a:gd name="T1" fmla="*/ 112 h 112"/>
                <a:gd name="T2" fmla="*/ 86 w 112"/>
                <a:gd name="T3" fmla="*/ 112 h 112"/>
                <a:gd name="T4" fmla="*/ 96 w 112"/>
                <a:gd name="T5" fmla="*/ 102 h 112"/>
                <a:gd name="T6" fmla="*/ 94 w 112"/>
                <a:gd name="T7" fmla="*/ 96 h 112"/>
                <a:gd name="T8" fmla="*/ 104 w 112"/>
                <a:gd name="T9" fmla="*/ 86 h 112"/>
                <a:gd name="T10" fmla="*/ 101 w 112"/>
                <a:gd name="T11" fmla="*/ 79 h 112"/>
                <a:gd name="T12" fmla="*/ 101 w 112"/>
                <a:gd name="T13" fmla="*/ 79 h 112"/>
                <a:gd name="T14" fmla="*/ 108 w 112"/>
                <a:gd name="T15" fmla="*/ 70 h 112"/>
                <a:gd name="T16" fmla="*/ 105 w 112"/>
                <a:gd name="T17" fmla="*/ 63 h 112"/>
                <a:gd name="T18" fmla="*/ 112 w 112"/>
                <a:gd name="T19" fmla="*/ 54 h 112"/>
                <a:gd name="T20" fmla="*/ 102 w 112"/>
                <a:gd name="T21" fmla="*/ 44 h 112"/>
                <a:gd name="T22" fmla="*/ 78 w 112"/>
                <a:gd name="T23" fmla="*/ 44 h 112"/>
                <a:gd name="T24" fmla="*/ 64 w 112"/>
                <a:gd name="T25" fmla="*/ 0 h 112"/>
                <a:gd name="T26" fmla="*/ 50 w 112"/>
                <a:gd name="T27" fmla="*/ 31 h 112"/>
                <a:gd name="T28" fmla="*/ 32 w 112"/>
                <a:gd name="T29" fmla="*/ 44 h 112"/>
                <a:gd name="T30" fmla="*/ 8 w 112"/>
                <a:gd name="T31" fmla="*/ 44 h 112"/>
                <a:gd name="T32" fmla="*/ 0 w 112"/>
                <a:gd name="T33" fmla="*/ 52 h 112"/>
                <a:gd name="T34" fmla="*/ 0 w 112"/>
                <a:gd name="T35" fmla="*/ 96 h 112"/>
                <a:gd name="T36" fmla="*/ 8 w 112"/>
                <a:gd name="T37" fmla="*/ 104 h 112"/>
                <a:gd name="T38" fmla="*/ 32 w 112"/>
                <a:gd name="T39" fmla="*/ 104 h 112"/>
                <a:gd name="T40" fmla="*/ 56 w 112"/>
                <a:gd name="T41" fmla="*/ 112 h 112"/>
                <a:gd name="T42" fmla="*/ 69 w 112"/>
                <a:gd name="T43" fmla="*/ 112 h 112"/>
                <a:gd name="T44" fmla="*/ 34 w 112"/>
                <a:gd name="T45" fmla="*/ 48 h 112"/>
                <a:gd name="T46" fmla="*/ 53 w 112"/>
                <a:gd name="T47" fmla="*/ 33 h 112"/>
                <a:gd name="T48" fmla="*/ 64 w 112"/>
                <a:gd name="T49" fmla="*/ 4 h 112"/>
                <a:gd name="T50" fmla="*/ 73 w 112"/>
                <a:gd name="T51" fmla="*/ 48 h 112"/>
                <a:gd name="T52" fmla="*/ 73 w 112"/>
                <a:gd name="T53" fmla="*/ 48 h 112"/>
                <a:gd name="T54" fmla="*/ 102 w 112"/>
                <a:gd name="T55" fmla="*/ 48 h 112"/>
                <a:gd name="T56" fmla="*/ 108 w 112"/>
                <a:gd name="T57" fmla="*/ 54 h 112"/>
                <a:gd name="T58" fmla="*/ 102 w 112"/>
                <a:gd name="T59" fmla="*/ 60 h 112"/>
                <a:gd name="T60" fmla="*/ 88 w 112"/>
                <a:gd name="T61" fmla="*/ 60 h 112"/>
                <a:gd name="T62" fmla="*/ 88 w 112"/>
                <a:gd name="T63" fmla="*/ 64 h 112"/>
                <a:gd name="T64" fmla="*/ 98 w 112"/>
                <a:gd name="T65" fmla="*/ 64 h 112"/>
                <a:gd name="T66" fmla="*/ 104 w 112"/>
                <a:gd name="T67" fmla="*/ 70 h 112"/>
                <a:gd name="T68" fmla="*/ 98 w 112"/>
                <a:gd name="T69" fmla="*/ 76 h 112"/>
                <a:gd name="T70" fmla="*/ 84 w 112"/>
                <a:gd name="T71" fmla="*/ 76 h 112"/>
                <a:gd name="T72" fmla="*/ 84 w 112"/>
                <a:gd name="T73" fmla="*/ 76 h 112"/>
                <a:gd name="T74" fmla="*/ 84 w 112"/>
                <a:gd name="T75" fmla="*/ 80 h 112"/>
                <a:gd name="T76" fmla="*/ 94 w 112"/>
                <a:gd name="T77" fmla="*/ 80 h 112"/>
                <a:gd name="T78" fmla="*/ 100 w 112"/>
                <a:gd name="T79" fmla="*/ 86 h 112"/>
                <a:gd name="T80" fmla="*/ 94 w 112"/>
                <a:gd name="T81" fmla="*/ 92 h 112"/>
                <a:gd name="T82" fmla="*/ 80 w 112"/>
                <a:gd name="T83" fmla="*/ 92 h 112"/>
                <a:gd name="T84" fmla="*/ 80 w 112"/>
                <a:gd name="T85" fmla="*/ 92 h 112"/>
                <a:gd name="T86" fmla="*/ 80 w 112"/>
                <a:gd name="T87" fmla="*/ 96 h 112"/>
                <a:gd name="T88" fmla="*/ 86 w 112"/>
                <a:gd name="T89" fmla="*/ 96 h 112"/>
                <a:gd name="T90" fmla="*/ 92 w 112"/>
                <a:gd name="T91" fmla="*/ 102 h 112"/>
                <a:gd name="T92" fmla="*/ 86 w 112"/>
                <a:gd name="T93" fmla="*/ 108 h 112"/>
                <a:gd name="T94" fmla="*/ 71 w 112"/>
                <a:gd name="T95" fmla="*/ 108 h 112"/>
                <a:gd name="T96" fmla="*/ 56 w 112"/>
                <a:gd name="T97" fmla="*/ 108 h 112"/>
                <a:gd name="T98" fmla="*/ 32 w 112"/>
                <a:gd name="T99" fmla="*/ 100 h 112"/>
                <a:gd name="T100" fmla="*/ 8 w 112"/>
                <a:gd name="T101" fmla="*/ 100 h 112"/>
                <a:gd name="T102" fmla="*/ 4 w 112"/>
                <a:gd name="T103" fmla="*/ 96 h 112"/>
                <a:gd name="T104" fmla="*/ 4 w 112"/>
                <a:gd name="T105" fmla="*/ 52 h 112"/>
                <a:gd name="T106" fmla="*/ 8 w 112"/>
                <a:gd name="T107" fmla="*/ 48 h 112"/>
                <a:gd name="T108" fmla="*/ 34 w 112"/>
                <a:gd name="T109" fmla="*/ 48 h 112"/>
                <a:gd name="T110" fmla="*/ 34 w 112"/>
                <a:gd name="T111" fmla="*/ 4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112"/>
                  </a:moveTo>
                  <a:cubicBezTo>
                    <a:pt x="86" y="112"/>
                    <a:pt x="86" y="112"/>
                    <a:pt x="86" y="112"/>
                  </a:cubicBezTo>
                  <a:cubicBezTo>
                    <a:pt x="92" y="112"/>
                    <a:pt x="96" y="108"/>
                    <a:pt x="96" y="102"/>
                  </a:cubicBezTo>
                  <a:cubicBezTo>
                    <a:pt x="96" y="100"/>
                    <a:pt x="95" y="98"/>
                    <a:pt x="94" y="96"/>
                  </a:cubicBezTo>
                  <a:cubicBezTo>
                    <a:pt x="100" y="96"/>
                    <a:pt x="104" y="92"/>
                    <a:pt x="104" y="86"/>
                  </a:cubicBezTo>
                  <a:cubicBezTo>
                    <a:pt x="104" y="83"/>
                    <a:pt x="103" y="81"/>
                    <a:pt x="101" y="79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5" y="78"/>
                    <a:pt x="108" y="74"/>
                    <a:pt x="108" y="70"/>
                  </a:cubicBezTo>
                  <a:cubicBezTo>
                    <a:pt x="108" y="67"/>
                    <a:pt x="107" y="65"/>
                    <a:pt x="105" y="63"/>
                  </a:cubicBezTo>
                  <a:cubicBezTo>
                    <a:pt x="109" y="62"/>
                    <a:pt x="112" y="58"/>
                    <a:pt x="112" y="54"/>
                  </a:cubicBezTo>
                  <a:cubicBezTo>
                    <a:pt x="112" y="48"/>
                    <a:pt x="108" y="44"/>
                    <a:pt x="102" y="44"/>
                  </a:cubicBezTo>
                  <a:cubicBezTo>
                    <a:pt x="78" y="44"/>
                    <a:pt x="78" y="44"/>
                    <a:pt x="78" y="44"/>
                  </a:cubicBezTo>
                  <a:cubicBezTo>
                    <a:pt x="82" y="24"/>
                    <a:pt x="80" y="0"/>
                    <a:pt x="64" y="0"/>
                  </a:cubicBezTo>
                  <a:cubicBezTo>
                    <a:pt x="48" y="0"/>
                    <a:pt x="56" y="19"/>
                    <a:pt x="50" y="31"/>
                  </a:cubicBezTo>
                  <a:cubicBezTo>
                    <a:pt x="44" y="43"/>
                    <a:pt x="32" y="44"/>
                    <a:pt x="32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4" y="44"/>
                    <a:pt x="0" y="48"/>
                    <a:pt x="0" y="52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0"/>
                    <a:pt x="4" y="104"/>
                    <a:pt x="8" y="104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69" y="112"/>
                    <a:pt x="69" y="112"/>
                    <a:pt x="69" y="112"/>
                  </a:cubicBezTo>
                  <a:close/>
                  <a:moveTo>
                    <a:pt x="34" y="48"/>
                  </a:moveTo>
                  <a:cubicBezTo>
                    <a:pt x="34" y="48"/>
                    <a:pt x="47" y="45"/>
                    <a:pt x="53" y="33"/>
                  </a:cubicBezTo>
                  <a:cubicBezTo>
                    <a:pt x="60" y="21"/>
                    <a:pt x="53" y="4"/>
                    <a:pt x="64" y="4"/>
                  </a:cubicBezTo>
                  <a:cubicBezTo>
                    <a:pt x="77" y="4"/>
                    <a:pt x="78" y="26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5" y="48"/>
                    <a:pt x="108" y="51"/>
                    <a:pt x="108" y="54"/>
                  </a:cubicBezTo>
                  <a:cubicBezTo>
                    <a:pt x="108" y="57"/>
                    <a:pt x="105" y="60"/>
                    <a:pt x="102" y="60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101" y="64"/>
                    <a:pt x="104" y="67"/>
                    <a:pt x="104" y="70"/>
                  </a:cubicBezTo>
                  <a:cubicBezTo>
                    <a:pt x="104" y="73"/>
                    <a:pt x="101" y="76"/>
                    <a:pt x="98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7" y="80"/>
                    <a:pt x="100" y="83"/>
                    <a:pt x="100" y="86"/>
                  </a:cubicBezTo>
                  <a:cubicBezTo>
                    <a:pt x="100" y="89"/>
                    <a:pt x="97" y="92"/>
                    <a:pt x="94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6" y="96"/>
                    <a:pt x="86" y="96"/>
                    <a:pt x="86" y="96"/>
                  </a:cubicBezTo>
                  <a:cubicBezTo>
                    <a:pt x="89" y="96"/>
                    <a:pt x="92" y="99"/>
                    <a:pt x="92" y="102"/>
                  </a:cubicBezTo>
                  <a:cubicBezTo>
                    <a:pt x="92" y="105"/>
                    <a:pt x="89" y="108"/>
                    <a:pt x="86" y="108"/>
                  </a:cubicBezTo>
                  <a:cubicBezTo>
                    <a:pt x="71" y="108"/>
                    <a:pt x="71" y="108"/>
                    <a:pt x="71" y="108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32" y="100"/>
                    <a:pt x="32" y="100"/>
                    <a:pt x="32" y="100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6" y="100"/>
                    <a:pt x="4" y="98"/>
                    <a:pt x="4" y="9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0"/>
                    <a:pt x="6" y="48"/>
                    <a:pt x="8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9" name="Freeform 13"/>
            <p:cNvSpPr>
              <a:spLocks noEditPoints="1"/>
            </p:cNvSpPr>
            <p:nvPr/>
          </p:nvSpPr>
          <p:spPr bwMode="auto">
            <a:xfrm>
              <a:off x="7408864" y="3550345"/>
              <a:ext cx="292100" cy="292100"/>
            </a:xfrm>
            <a:custGeom>
              <a:avLst/>
              <a:gdLst>
                <a:gd name="T0" fmla="*/ 69 w 112"/>
                <a:gd name="T1" fmla="*/ 0 h 112"/>
                <a:gd name="T2" fmla="*/ 86 w 112"/>
                <a:gd name="T3" fmla="*/ 0 h 112"/>
                <a:gd name="T4" fmla="*/ 96 w 112"/>
                <a:gd name="T5" fmla="*/ 10 h 112"/>
                <a:gd name="T6" fmla="*/ 94 w 112"/>
                <a:gd name="T7" fmla="*/ 16 h 112"/>
                <a:gd name="T8" fmla="*/ 104 w 112"/>
                <a:gd name="T9" fmla="*/ 26 h 112"/>
                <a:gd name="T10" fmla="*/ 101 w 112"/>
                <a:gd name="T11" fmla="*/ 33 h 112"/>
                <a:gd name="T12" fmla="*/ 101 w 112"/>
                <a:gd name="T13" fmla="*/ 33 h 112"/>
                <a:gd name="T14" fmla="*/ 108 w 112"/>
                <a:gd name="T15" fmla="*/ 42 h 112"/>
                <a:gd name="T16" fmla="*/ 105 w 112"/>
                <a:gd name="T17" fmla="*/ 49 h 112"/>
                <a:gd name="T18" fmla="*/ 112 w 112"/>
                <a:gd name="T19" fmla="*/ 58 h 112"/>
                <a:gd name="T20" fmla="*/ 102 w 112"/>
                <a:gd name="T21" fmla="*/ 68 h 112"/>
                <a:gd name="T22" fmla="*/ 78 w 112"/>
                <a:gd name="T23" fmla="*/ 68 h 112"/>
                <a:gd name="T24" fmla="*/ 64 w 112"/>
                <a:gd name="T25" fmla="*/ 112 h 112"/>
                <a:gd name="T26" fmla="*/ 50 w 112"/>
                <a:gd name="T27" fmla="*/ 81 h 112"/>
                <a:gd name="T28" fmla="*/ 32 w 112"/>
                <a:gd name="T29" fmla="*/ 68 h 112"/>
                <a:gd name="T30" fmla="*/ 8 w 112"/>
                <a:gd name="T31" fmla="*/ 68 h 112"/>
                <a:gd name="T32" fmla="*/ 0 w 112"/>
                <a:gd name="T33" fmla="*/ 60 h 112"/>
                <a:gd name="T34" fmla="*/ 0 w 112"/>
                <a:gd name="T35" fmla="*/ 16 h 112"/>
                <a:gd name="T36" fmla="*/ 8 w 112"/>
                <a:gd name="T37" fmla="*/ 8 h 112"/>
                <a:gd name="T38" fmla="*/ 32 w 112"/>
                <a:gd name="T39" fmla="*/ 8 h 112"/>
                <a:gd name="T40" fmla="*/ 56 w 112"/>
                <a:gd name="T41" fmla="*/ 0 h 112"/>
                <a:gd name="T42" fmla="*/ 69 w 112"/>
                <a:gd name="T43" fmla="*/ 0 h 112"/>
                <a:gd name="T44" fmla="*/ 34 w 112"/>
                <a:gd name="T45" fmla="*/ 64 h 112"/>
                <a:gd name="T46" fmla="*/ 53 w 112"/>
                <a:gd name="T47" fmla="*/ 79 h 112"/>
                <a:gd name="T48" fmla="*/ 64 w 112"/>
                <a:gd name="T49" fmla="*/ 108 h 112"/>
                <a:gd name="T50" fmla="*/ 73 w 112"/>
                <a:gd name="T51" fmla="*/ 64 h 112"/>
                <a:gd name="T52" fmla="*/ 73 w 112"/>
                <a:gd name="T53" fmla="*/ 64 h 112"/>
                <a:gd name="T54" fmla="*/ 102 w 112"/>
                <a:gd name="T55" fmla="*/ 64 h 112"/>
                <a:gd name="T56" fmla="*/ 108 w 112"/>
                <a:gd name="T57" fmla="*/ 58 h 112"/>
                <a:gd name="T58" fmla="*/ 102 w 112"/>
                <a:gd name="T59" fmla="*/ 52 h 112"/>
                <a:gd name="T60" fmla="*/ 88 w 112"/>
                <a:gd name="T61" fmla="*/ 52 h 112"/>
                <a:gd name="T62" fmla="*/ 88 w 112"/>
                <a:gd name="T63" fmla="*/ 48 h 112"/>
                <a:gd name="T64" fmla="*/ 98 w 112"/>
                <a:gd name="T65" fmla="*/ 48 h 112"/>
                <a:gd name="T66" fmla="*/ 104 w 112"/>
                <a:gd name="T67" fmla="*/ 42 h 112"/>
                <a:gd name="T68" fmla="*/ 98 w 112"/>
                <a:gd name="T69" fmla="*/ 36 h 112"/>
                <a:gd name="T70" fmla="*/ 84 w 112"/>
                <a:gd name="T71" fmla="*/ 36 h 112"/>
                <a:gd name="T72" fmla="*/ 84 w 112"/>
                <a:gd name="T73" fmla="*/ 36 h 112"/>
                <a:gd name="T74" fmla="*/ 84 w 112"/>
                <a:gd name="T75" fmla="*/ 32 h 112"/>
                <a:gd name="T76" fmla="*/ 94 w 112"/>
                <a:gd name="T77" fmla="*/ 32 h 112"/>
                <a:gd name="T78" fmla="*/ 100 w 112"/>
                <a:gd name="T79" fmla="*/ 26 h 112"/>
                <a:gd name="T80" fmla="*/ 94 w 112"/>
                <a:gd name="T81" fmla="*/ 20 h 112"/>
                <a:gd name="T82" fmla="*/ 80 w 112"/>
                <a:gd name="T83" fmla="*/ 20 h 112"/>
                <a:gd name="T84" fmla="*/ 80 w 112"/>
                <a:gd name="T85" fmla="*/ 20 h 112"/>
                <a:gd name="T86" fmla="*/ 80 w 112"/>
                <a:gd name="T87" fmla="*/ 16 h 112"/>
                <a:gd name="T88" fmla="*/ 86 w 112"/>
                <a:gd name="T89" fmla="*/ 16 h 112"/>
                <a:gd name="T90" fmla="*/ 92 w 112"/>
                <a:gd name="T91" fmla="*/ 10 h 112"/>
                <a:gd name="T92" fmla="*/ 86 w 112"/>
                <a:gd name="T93" fmla="*/ 4 h 112"/>
                <a:gd name="T94" fmla="*/ 71 w 112"/>
                <a:gd name="T95" fmla="*/ 4 h 112"/>
                <a:gd name="T96" fmla="*/ 56 w 112"/>
                <a:gd name="T97" fmla="*/ 4 h 112"/>
                <a:gd name="T98" fmla="*/ 32 w 112"/>
                <a:gd name="T99" fmla="*/ 12 h 112"/>
                <a:gd name="T100" fmla="*/ 8 w 112"/>
                <a:gd name="T101" fmla="*/ 12 h 112"/>
                <a:gd name="T102" fmla="*/ 4 w 112"/>
                <a:gd name="T103" fmla="*/ 16 h 112"/>
                <a:gd name="T104" fmla="*/ 4 w 112"/>
                <a:gd name="T105" fmla="*/ 60 h 112"/>
                <a:gd name="T106" fmla="*/ 8 w 112"/>
                <a:gd name="T107" fmla="*/ 64 h 112"/>
                <a:gd name="T108" fmla="*/ 34 w 112"/>
                <a:gd name="T109" fmla="*/ 64 h 112"/>
                <a:gd name="T110" fmla="*/ 34 w 112"/>
                <a:gd name="T111" fmla="*/ 6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0"/>
                  </a:moveTo>
                  <a:cubicBezTo>
                    <a:pt x="86" y="0"/>
                    <a:pt x="86" y="0"/>
                    <a:pt x="86" y="0"/>
                  </a:cubicBezTo>
                  <a:cubicBezTo>
                    <a:pt x="92" y="0"/>
                    <a:pt x="96" y="4"/>
                    <a:pt x="96" y="10"/>
                  </a:cubicBezTo>
                  <a:cubicBezTo>
                    <a:pt x="96" y="12"/>
                    <a:pt x="95" y="14"/>
                    <a:pt x="94" y="16"/>
                  </a:cubicBezTo>
                  <a:cubicBezTo>
                    <a:pt x="100" y="16"/>
                    <a:pt x="104" y="20"/>
                    <a:pt x="104" y="26"/>
                  </a:cubicBezTo>
                  <a:cubicBezTo>
                    <a:pt x="104" y="29"/>
                    <a:pt x="103" y="31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5" y="34"/>
                    <a:pt x="108" y="38"/>
                    <a:pt x="108" y="42"/>
                  </a:cubicBezTo>
                  <a:cubicBezTo>
                    <a:pt x="108" y="45"/>
                    <a:pt x="107" y="47"/>
                    <a:pt x="105" y="49"/>
                  </a:cubicBezTo>
                  <a:cubicBezTo>
                    <a:pt x="109" y="50"/>
                    <a:pt x="112" y="54"/>
                    <a:pt x="112" y="58"/>
                  </a:cubicBezTo>
                  <a:cubicBezTo>
                    <a:pt x="112" y="64"/>
                    <a:pt x="108" y="68"/>
                    <a:pt x="10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82" y="88"/>
                    <a:pt x="80" y="112"/>
                    <a:pt x="64" y="112"/>
                  </a:cubicBezTo>
                  <a:cubicBezTo>
                    <a:pt x="48" y="112"/>
                    <a:pt x="56" y="93"/>
                    <a:pt x="50" y="81"/>
                  </a:cubicBezTo>
                  <a:cubicBezTo>
                    <a:pt x="44" y="69"/>
                    <a:pt x="32" y="68"/>
                    <a:pt x="32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64"/>
                    <a:pt x="0" y="6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2"/>
                    <a:pt x="4" y="8"/>
                    <a:pt x="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9" y="0"/>
                    <a:pt x="69" y="0"/>
                    <a:pt x="69" y="0"/>
                  </a:cubicBezTo>
                  <a:close/>
                  <a:moveTo>
                    <a:pt x="34" y="64"/>
                  </a:moveTo>
                  <a:cubicBezTo>
                    <a:pt x="34" y="64"/>
                    <a:pt x="47" y="67"/>
                    <a:pt x="53" y="79"/>
                  </a:cubicBezTo>
                  <a:cubicBezTo>
                    <a:pt x="60" y="91"/>
                    <a:pt x="53" y="108"/>
                    <a:pt x="64" y="108"/>
                  </a:cubicBezTo>
                  <a:cubicBezTo>
                    <a:pt x="77" y="108"/>
                    <a:pt x="78" y="86"/>
                    <a:pt x="73" y="64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5" y="64"/>
                    <a:pt x="108" y="61"/>
                    <a:pt x="108" y="58"/>
                  </a:cubicBezTo>
                  <a:cubicBezTo>
                    <a:pt x="108" y="55"/>
                    <a:pt x="105" y="52"/>
                    <a:pt x="102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48"/>
                    <a:pt x="104" y="45"/>
                    <a:pt x="104" y="42"/>
                  </a:cubicBezTo>
                  <a:cubicBezTo>
                    <a:pt x="104" y="39"/>
                    <a:pt x="101" y="36"/>
                    <a:pt x="98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2"/>
                    <a:pt x="84" y="32"/>
                    <a:pt x="84" y="32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97" y="32"/>
                    <a:pt x="100" y="29"/>
                    <a:pt x="100" y="26"/>
                  </a:cubicBezTo>
                  <a:cubicBezTo>
                    <a:pt x="100" y="23"/>
                    <a:pt x="97" y="20"/>
                    <a:pt x="94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9" y="16"/>
                    <a:pt x="92" y="13"/>
                    <a:pt x="92" y="10"/>
                  </a:cubicBezTo>
                  <a:cubicBezTo>
                    <a:pt x="92" y="7"/>
                    <a:pt x="89" y="4"/>
                    <a:pt x="86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6" y="12"/>
                    <a:pt x="4" y="14"/>
                    <a:pt x="4" y="16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2"/>
                    <a:pt x="6" y="64"/>
                    <a:pt x="8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4" y="64"/>
                    <a:pt x="34" y="64"/>
                    <a:pt x="34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0" name="Freeform 14"/>
            <p:cNvSpPr>
              <a:spLocks noEditPoints="1"/>
            </p:cNvSpPr>
            <p:nvPr/>
          </p:nvSpPr>
          <p:spPr bwMode="auto">
            <a:xfrm>
              <a:off x="8501667" y="4868321"/>
              <a:ext cx="265113" cy="303213"/>
            </a:xfrm>
            <a:custGeom>
              <a:avLst/>
              <a:gdLst>
                <a:gd name="T0" fmla="*/ 92 w 102"/>
                <a:gd name="T1" fmla="*/ 48 h 116"/>
                <a:gd name="T2" fmla="*/ 86 w 102"/>
                <a:gd name="T3" fmla="*/ 50 h 116"/>
                <a:gd name="T4" fmla="*/ 86 w 102"/>
                <a:gd name="T5" fmla="*/ 50 h 116"/>
                <a:gd name="T6" fmla="*/ 76 w 102"/>
                <a:gd name="T7" fmla="*/ 40 h 116"/>
                <a:gd name="T8" fmla="*/ 70 w 102"/>
                <a:gd name="T9" fmla="*/ 42 h 116"/>
                <a:gd name="T10" fmla="*/ 70 w 102"/>
                <a:gd name="T11" fmla="*/ 14 h 116"/>
                <a:gd name="T12" fmla="*/ 61 w 102"/>
                <a:gd name="T13" fmla="*/ 4 h 116"/>
                <a:gd name="T14" fmla="*/ 53 w 102"/>
                <a:gd name="T15" fmla="*/ 10 h 116"/>
                <a:gd name="T16" fmla="*/ 46 w 102"/>
                <a:gd name="T17" fmla="*/ 8 h 116"/>
                <a:gd name="T18" fmla="*/ 37 w 102"/>
                <a:gd name="T19" fmla="*/ 16 h 116"/>
                <a:gd name="T20" fmla="*/ 8 w 102"/>
                <a:gd name="T21" fmla="*/ 16 h 116"/>
                <a:gd name="T22" fmla="*/ 21 w 102"/>
                <a:gd name="T23" fmla="*/ 3 h 116"/>
                <a:gd name="T24" fmla="*/ 18 w 102"/>
                <a:gd name="T25" fmla="*/ 0 h 116"/>
                <a:gd name="T26" fmla="*/ 0 w 102"/>
                <a:gd name="T27" fmla="*/ 18 h 116"/>
                <a:gd name="T28" fmla="*/ 18 w 102"/>
                <a:gd name="T29" fmla="*/ 36 h 116"/>
                <a:gd name="T30" fmla="*/ 21 w 102"/>
                <a:gd name="T31" fmla="*/ 33 h 116"/>
                <a:gd name="T32" fmla="*/ 8 w 102"/>
                <a:gd name="T33" fmla="*/ 20 h 116"/>
                <a:gd name="T34" fmla="*/ 34 w 102"/>
                <a:gd name="T35" fmla="*/ 20 h 116"/>
                <a:gd name="T36" fmla="*/ 34 w 102"/>
                <a:gd name="T37" fmla="*/ 53 h 116"/>
                <a:gd name="T38" fmla="*/ 13 w 102"/>
                <a:gd name="T39" fmla="*/ 46 h 116"/>
                <a:gd name="T40" fmla="*/ 35 w 102"/>
                <a:gd name="T41" fmla="*/ 94 h 116"/>
                <a:gd name="T42" fmla="*/ 69 w 102"/>
                <a:gd name="T43" fmla="*/ 116 h 116"/>
                <a:gd name="T44" fmla="*/ 102 w 102"/>
                <a:gd name="T45" fmla="*/ 82 h 116"/>
                <a:gd name="T46" fmla="*/ 102 w 102"/>
                <a:gd name="T47" fmla="*/ 58 h 116"/>
                <a:gd name="T48" fmla="*/ 92 w 102"/>
                <a:gd name="T49" fmla="*/ 48 h 116"/>
                <a:gd name="T50" fmla="*/ 98 w 102"/>
                <a:gd name="T51" fmla="*/ 67 h 116"/>
                <a:gd name="T52" fmla="*/ 98 w 102"/>
                <a:gd name="T53" fmla="*/ 82 h 116"/>
                <a:gd name="T54" fmla="*/ 69 w 102"/>
                <a:gd name="T55" fmla="*/ 112 h 116"/>
                <a:gd name="T56" fmla="*/ 39 w 102"/>
                <a:gd name="T57" fmla="*/ 92 h 116"/>
                <a:gd name="T58" fmla="*/ 15 w 102"/>
                <a:gd name="T59" fmla="*/ 49 h 116"/>
                <a:gd name="T60" fmla="*/ 38 w 102"/>
                <a:gd name="T61" fmla="*/ 63 h 116"/>
                <a:gd name="T62" fmla="*/ 38 w 102"/>
                <a:gd name="T63" fmla="*/ 18 h 116"/>
                <a:gd name="T64" fmla="*/ 44 w 102"/>
                <a:gd name="T65" fmla="*/ 12 h 116"/>
                <a:gd name="T66" fmla="*/ 50 w 102"/>
                <a:gd name="T67" fmla="*/ 18 h 116"/>
                <a:gd name="T68" fmla="*/ 50 w 102"/>
                <a:gd name="T69" fmla="*/ 60 h 116"/>
                <a:gd name="T70" fmla="*/ 54 w 102"/>
                <a:gd name="T71" fmla="*/ 60 h 116"/>
                <a:gd name="T72" fmla="*/ 54 w 102"/>
                <a:gd name="T73" fmla="*/ 14 h 116"/>
                <a:gd name="T74" fmla="*/ 60 w 102"/>
                <a:gd name="T75" fmla="*/ 8 h 116"/>
                <a:gd name="T76" fmla="*/ 66 w 102"/>
                <a:gd name="T77" fmla="*/ 14 h 116"/>
                <a:gd name="T78" fmla="*/ 66 w 102"/>
                <a:gd name="T79" fmla="*/ 56 h 116"/>
                <a:gd name="T80" fmla="*/ 70 w 102"/>
                <a:gd name="T81" fmla="*/ 56 h 116"/>
                <a:gd name="T82" fmla="*/ 70 w 102"/>
                <a:gd name="T83" fmla="*/ 50 h 116"/>
                <a:gd name="T84" fmla="*/ 76 w 102"/>
                <a:gd name="T85" fmla="*/ 44 h 116"/>
                <a:gd name="T86" fmla="*/ 82 w 102"/>
                <a:gd name="T87" fmla="*/ 50 h 116"/>
                <a:gd name="T88" fmla="*/ 82 w 102"/>
                <a:gd name="T89" fmla="*/ 60 h 116"/>
                <a:gd name="T90" fmla="*/ 86 w 102"/>
                <a:gd name="T91" fmla="*/ 60 h 116"/>
                <a:gd name="T92" fmla="*/ 86 w 102"/>
                <a:gd name="T93" fmla="*/ 58 h 116"/>
                <a:gd name="T94" fmla="*/ 92 w 102"/>
                <a:gd name="T95" fmla="*/ 52 h 116"/>
                <a:gd name="T96" fmla="*/ 98 w 102"/>
                <a:gd name="T97" fmla="*/ 58 h 116"/>
                <a:gd name="T98" fmla="*/ 98 w 102"/>
                <a:gd name="T99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2" h="116">
                  <a:moveTo>
                    <a:pt x="92" y="48"/>
                  </a:moveTo>
                  <a:cubicBezTo>
                    <a:pt x="90" y="48"/>
                    <a:pt x="90" y="49"/>
                    <a:pt x="86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6" y="44"/>
                    <a:pt x="82" y="40"/>
                    <a:pt x="76" y="40"/>
                  </a:cubicBezTo>
                  <a:cubicBezTo>
                    <a:pt x="74" y="40"/>
                    <a:pt x="74" y="41"/>
                    <a:pt x="70" y="42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8"/>
                    <a:pt x="67" y="4"/>
                    <a:pt x="61" y="4"/>
                  </a:cubicBezTo>
                  <a:cubicBezTo>
                    <a:pt x="57" y="4"/>
                    <a:pt x="54" y="6"/>
                    <a:pt x="53" y="10"/>
                  </a:cubicBezTo>
                  <a:cubicBezTo>
                    <a:pt x="51" y="9"/>
                    <a:pt x="49" y="8"/>
                    <a:pt x="46" y="8"/>
                  </a:cubicBezTo>
                  <a:cubicBezTo>
                    <a:pt x="41" y="8"/>
                    <a:pt x="38" y="8"/>
                    <a:pt x="37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26" y="46"/>
                    <a:pt x="19" y="40"/>
                    <a:pt x="13" y="46"/>
                  </a:cubicBezTo>
                  <a:cubicBezTo>
                    <a:pt x="5" y="54"/>
                    <a:pt x="22" y="70"/>
                    <a:pt x="35" y="94"/>
                  </a:cubicBezTo>
                  <a:cubicBezTo>
                    <a:pt x="44" y="110"/>
                    <a:pt x="57" y="116"/>
                    <a:pt x="69" y="116"/>
                  </a:cubicBezTo>
                  <a:cubicBezTo>
                    <a:pt x="88" y="116"/>
                    <a:pt x="102" y="101"/>
                    <a:pt x="102" y="82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2"/>
                    <a:pt x="98" y="48"/>
                    <a:pt x="92" y="48"/>
                  </a:cubicBezTo>
                  <a:close/>
                  <a:moveTo>
                    <a:pt x="98" y="67"/>
                  </a:moveTo>
                  <a:cubicBezTo>
                    <a:pt x="98" y="82"/>
                    <a:pt x="98" y="82"/>
                    <a:pt x="98" y="82"/>
                  </a:cubicBezTo>
                  <a:cubicBezTo>
                    <a:pt x="98" y="98"/>
                    <a:pt x="86" y="112"/>
                    <a:pt x="69" y="112"/>
                  </a:cubicBezTo>
                  <a:cubicBezTo>
                    <a:pt x="54" y="112"/>
                    <a:pt x="46" y="104"/>
                    <a:pt x="39" y="92"/>
                  </a:cubicBezTo>
                  <a:cubicBezTo>
                    <a:pt x="23" y="65"/>
                    <a:pt x="11" y="53"/>
                    <a:pt x="15" y="49"/>
                  </a:cubicBezTo>
                  <a:cubicBezTo>
                    <a:pt x="20" y="45"/>
                    <a:pt x="30" y="54"/>
                    <a:pt x="38" y="63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4"/>
                    <a:pt x="41" y="12"/>
                    <a:pt x="44" y="12"/>
                  </a:cubicBezTo>
                  <a:cubicBezTo>
                    <a:pt x="47" y="12"/>
                    <a:pt x="50" y="14"/>
                    <a:pt x="50" y="18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0"/>
                    <a:pt x="57" y="8"/>
                    <a:pt x="60" y="8"/>
                  </a:cubicBezTo>
                  <a:cubicBezTo>
                    <a:pt x="63" y="8"/>
                    <a:pt x="66" y="10"/>
                    <a:pt x="66" y="14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70" y="46"/>
                    <a:pt x="73" y="44"/>
                    <a:pt x="76" y="44"/>
                  </a:cubicBezTo>
                  <a:cubicBezTo>
                    <a:pt x="79" y="44"/>
                    <a:pt x="82" y="46"/>
                    <a:pt x="82" y="5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58"/>
                    <a:pt x="86" y="58"/>
                    <a:pt x="86" y="58"/>
                  </a:cubicBezTo>
                  <a:cubicBezTo>
                    <a:pt x="86" y="54"/>
                    <a:pt x="89" y="52"/>
                    <a:pt x="92" y="52"/>
                  </a:cubicBezTo>
                  <a:cubicBezTo>
                    <a:pt x="95" y="52"/>
                    <a:pt x="98" y="54"/>
                    <a:pt x="98" y="58"/>
                  </a:cubicBezTo>
                  <a:lnTo>
                    <a:pt x="98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 15"/>
            <p:cNvSpPr>
              <a:spLocks noEditPoints="1"/>
            </p:cNvSpPr>
            <p:nvPr/>
          </p:nvSpPr>
          <p:spPr bwMode="auto">
            <a:xfrm>
              <a:off x="2189012" y="1023282"/>
              <a:ext cx="265113" cy="303213"/>
            </a:xfrm>
            <a:custGeom>
              <a:avLst/>
              <a:gdLst>
                <a:gd name="T0" fmla="*/ 66 w 102"/>
                <a:gd name="T1" fmla="*/ 20 h 116"/>
                <a:gd name="T2" fmla="*/ 94 w 102"/>
                <a:gd name="T3" fmla="*/ 20 h 116"/>
                <a:gd name="T4" fmla="*/ 81 w 102"/>
                <a:gd name="T5" fmla="*/ 33 h 116"/>
                <a:gd name="T6" fmla="*/ 84 w 102"/>
                <a:gd name="T7" fmla="*/ 36 h 116"/>
                <a:gd name="T8" fmla="*/ 102 w 102"/>
                <a:gd name="T9" fmla="*/ 18 h 116"/>
                <a:gd name="T10" fmla="*/ 84 w 102"/>
                <a:gd name="T11" fmla="*/ 0 h 116"/>
                <a:gd name="T12" fmla="*/ 81 w 102"/>
                <a:gd name="T13" fmla="*/ 3 h 116"/>
                <a:gd name="T14" fmla="*/ 94 w 102"/>
                <a:gd name="T15" fmla="*/ 16 h 116"/>
                <a:gd name="T16" fmla="*/ 66 w 102"/>
                <a:gd name="T17" fmla="*/ 16 h 116"/>
                <a:gd name="T18" fmla="*/ 66 w 102"/>
                <a:gd name="T19" fmla="*/ 14 h 116"/>
                <a:gd name="T20" fmla="*/ 56 w 102"/>
                <a:gd name="T21" fmla="*/ 4 h 116"/>
                <a:gd name="T22" fmla="*/ 47 w 102"/>
                <a:gd name="T23" fmla="*/ 11 h 116"/>
                <a:gd name="T24" fmla="*/ 40 w 102"/>
                <a:gd name="T25" fmla="*/ 8 h 116"/>
                <a:gd name="T26" fmla="*/ 30 w 102"/>
                <a:gd name="T27" fmla="*/ 18 h 116"/>
                <a:gd name="T28" fmla="*/ 30 w 102"/>
                <a:gd name="T29" fmla="*/ 53 h 116"/>
                <a:gd name="T30" fmla="*/ 30 w 102"/>
                <a:gd name="T31" fmla="*/ 53 h 116"/>
                <a:gd name="T32" fmla="*/ 8 w 102"/>
                <a:gd name="T33" fmla="*/ 46 h 116"/>
                <a:gd name="T34" fmla="*/ 30 w 102"/>
                <a:gd name="T35" fmla="*/ 94 h 116"/>
                <a:gd name="T36" fmla="*/ 64 w 102"/>
                <a:gd name="T37" fmla="*/ 116 h 116"/>
                <a:gd name="T38" fmla="*/ 98 w 102"/>
                <a:gd name="T39" fmla="*/ 82 h 116"/>
                <a:gd name="T40" fmla="*/ 98 w 102"/>
                <a:gd name="T41" fmla="*/ 58 h 116"/>
                <a:gd name="T42" fmla="*/ 88 w 102"/>
                <a:gd name="T43" fmla="*/ 48 h 116"/>
                <a:gd name="T44" fmla="*/ 82 w 102"/>
                <a:gd name="T45" fmla="*/ 50 h 116"/>
                <a:gd name="T46" fmla="*/ 82 w 102"/>
                <a:gd name="T47" fmla="*/ 50 h 116"/>
                <a:gd name="T48" fmla="*/ 72 w 102"/>
                <a:gd name="T49" fmla="*/ 40 h 116"/>
                <a:gd name="T50" fmla="*/ 66 w 102"/>
                <a:gd name="T51" fmla="*/ 42 h 116"/>
                <a:gd name="T52" fmla="*/ 66 w 102"/>
                <a:gd name="T53" fmla="*/ 20 h 116"/>
                <a:gd name="T54" fmla="*/ 64 w 102"/>
                <a:gd name="T55" fmla="*/ 112 h 116"/>
                <a:gd name="T56" fmla="*/ 33 w 102"/>
                <a:gd name="T57" fmla="*/ 92 h 116"/>
                <a:gd name="T58" fmla="*/ 11 w 102"/>
                <a:gd name="T59" fmla="*/ 49 h 116"/>
                <a:gd name="T60" fmla="*/ 34 w 102"/>
                <a:gd name="T61" fmla="*/ 63 h 116"/>
                <a:gd name="T62" fmla="*/ 34 w 102"/>
                <a:gd name="T63" fmla="*/ 18 h 116"/>
                <a:gd name="T64" fmla="*/ 40 w 102"/>
                <a:gd name="T65" fmla="*/ 12 h 116"/>
                <a:gd name="T66" fmla="*/ 46 w 102"/>
                <a:gd name="T67" fmla="*/ 18 h 116"/>
                <a:gd name="T68" fmla="*/ 46 w 102"/>
                <a:gd name="T69" fmla="*/ 60 h 116"/>
                <a:gd name="T70" fmla="*/ 50 w 102"/>
                <a:gd name="T71" fmla="*/ 60 h 116"/>
                <a:gd name="T72" fmla="*/ 50 w 102"/>
                <a:gd name="T73" fmla="*/ 14 h 116"/>
                <a:gd name="T74" fmla="*/ 56 w 102"/>
                <a:gd name="T75" fmla="*/ 8 h 116"/>
                <a:gd name="T76" fmla="*/ 62 w 102"/>
                <a:gd name="T77" fmla="*/ 14 h 116"/>
                <a:gd name="T78" fmla="*/ 62 w 102"/>
                <a:gd name="T79" fmla="*/ 56 h 116"/>
                <a:gd name="T80" fmla="*/ 66 w 102"/>
                <a:gd name="T81" fmla="*/ 56 h 116"/>
                <a:gd name="T82" fmla="*/ 66 w 102"/>
                <a:gd name="T83" fmla="*/ 50 h 116"/>
                <a:gd name="T84" fmla="*/ 72 w 102"/>
                <a:gd name="T85" fmla="*/ 44 h 116"/>
                <a:gd name="T86" fmla="*/ 78 w 102"/>
                <a:gd name="T87" fmla="*/ 50 h 116"/>
                <a:gd name="T88" fmla="*/ 78 w 102"/>
                <a:gd name="T89" fmla="*/ 60 h 116"/>
                <a:gd name="T90" fmla="*/ 82 w 102"/>
                <a:gd name="T91" fmla="*/ 60 h 116"/>
                <a:gd name="T92" fmla="*/ 82 w 102"/>
                <a:gd name="T93" fmla="*/ 58 h 116"/>
                <a:gd name="T94" fmla="*/ 88 w 102"/>
                <a:gd name="T95" fmla="*/ 52 h 116"/>
                <a:gd name="T96" fmla="*/ 94 w 102"/>
                <a:gd name="T97" fmla="*/ 58 h 116"/>
                <a:gd name="T98" fmla="*/ 94 w 102"/>
                <a:gd name="T99" fmla="*/ 67 h 116"/>
                <a:gd name="T100" fmla="*/ 94 w 102"/>
                <a:gd name="T101" fmla="*/ 82 h 116"/>
                <a:gd name="T102" fmla="*/ 64 w 102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2" h="116">
                  <a:moveTo>
                    <a:pt x="66" y="20"/>
                  </a:moveTo>
                  <a:cubicBezTo>
                    <a:pt x="94" y="20"/>
                    <a:pt x="94" y="20"/>
                    <a:pt x="94" y="20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8"/>
                    <a:pt x="62" y="4"/>
                    <a:pt x="56" y="4"/>
                  </a:cubicBezTo>
                  <a:cubicBezTo>
                    <a:pt x="52" y="4"/>
                    <a:pt x="48" y="7"/>
                    <a:pt x="47" y="11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3" y="41"/>
                    <a:pt x="8" y="46"/>
                  </a:cubicBezTo>
                  <a:cubicBezTo>
                    <a:pt x="0" y="54"/>
                    <a:pt x="16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ubicBezTo>
                    <a:pt x="86" y="48"/>
                    <a:pt x="84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2"/>
                  </a:cubicBezTo>
                  <a:cubicBezTo>
                    <a:pt x="66" y="20"/>
                    <a:pt x="66" y="20"/>
                    <a:pt x="66" y="20"/>
                  </a:cubicBezTo>
                  <a:close/>
                  <a:moveTo>
                    <a:pt x="64" y="112"/>
                  </a:moveTo>
                  <a:cubicBezTo>
                    <a:pt x="49" y="112"/>
                    <a:pt x="40" y="104"/>
                    <a:pt x="33" y="92"/>
                  </a:cubicBezTo>
                  <a:cubicBezTo>
                    <a:pt x="17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1"/>
                    <a:pt x="53" y="8"/>
                    <a:pt x="56" y="8"/>
                  </a:cubicBezTo>
                  <a:cubicBezTo>
                    <a:pt x="59" y="8"/>
                    <a:pt x="62" y="11"/>
                    <a:pt x="62" y="14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82"/>
                    <a:pt x="94" y="82"/>
                    <a:pt x="94" y="82"/>
                  </a:cubicBezTo>
                  <a:cubicBezTo>
                    <a:pt x="94" y="99"/>
                    <a:pt x="81" y="112"/>
                    <a:pt x="64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2" name="Freeform 16"/>
            <p:cNvSpPr>
              <a:spLocks noEditPoints="1"/>
            </p:cNvSpPr>
            <p:nvPr/>
          </p:nvSpPr>
          <p:spPr bwMode="auto">
            <a:xfrm>
              <a:off x="9297948" y="2847899"/>
              <a:ext cx="254000" cy="292100"/>
            </a:xfrm>
            <a:custGeom>
              <a:avLst/>
              <a:gdLst>
                <a:gd name="T0" fmla="*/ 62 w 98"/>
                <a:gd name="T1" fmla="*/ 108 h 112"/>
                <a:gd name="T2" fmla="*/ 64 w 98"/>
                <a:gd name="T3" fmla="*/ 108 h 112"/>
                <a:gd name="T4" fmla="*/ 94 w 98"/>
                <a:gd name="T5" fmla="*/ 78 h 112"/>
                <a:gd name="T6" fmla="*/ 94 w 98"/>
                <a:gd name="T7" fmla="*/ 63 h 112"/>
                <a:gd name="T8" fmla="*/ 94 w 98"/>
                <a:gd name="T9" fmla="*/ 54 h 112"/>
                <a:gd name="T10" fmla="*/ 88 w 98"/>
                <a:gd name="T11" fmla="*/ 48 h 112"/>
                <a:gd name="T12" fmla="*/ 82 w 98"/>
                <a:gd name="T13" fmla="*/ 54 h 112"/>
                <a:gd name="T14" fmla="*/ 82 w 98"/>
                <a:gd name="T15" fmla="*/ 56 h 112"/>
                <a:gd name="T16" fmla="*/ 78 w 98"/>
                <a:gd name="T17" fmla="*/ 56 h 112"/>
                <a:gd name="T18" fmla="*/ 78 w 98"/>
                <a:gd name="T19" fmla="*/ 46 h 112"/>
                <a:gd name="T20" fmla="*/ 72 w 98"/>
                <a:gd name="T21" fmla="*/ 40 h 112"/>
                <a:gd name="T22" fmla="*/ 66 w 98"/>
                <a:gd name="T23" fmla="*/ 46 h 112"/>
                <a:gd name="T24" fmla="*/ 66 w 98"/>
                <a:gd name="T25" fmla="*/ 52 h 112"/>
                <a:gd name="T26" fmla="*/ 62 w 98"/>
                <a:gd name="T27" fmla="*/ 52 h 112"/>
                <a:gd name="T28" fmla="*/ 62 w 98"/>
                <a:gd name="T29" fmla="*/ 10 h 112"/>
                <a:gd name="T30" fmla="*/ 56 w 98"/>
                <a:gd name="T31" fmla="*/ 4 h 112"/>
                <a:gd name="T32" fmla="*/ 50 w 98"/>
                <a:gd name="T33" fmla="*/ 10 h 112"/>
                <a:gd name="T34" fmla="*/ 50 w 98"/>
                <a:gd name="T35" fmla="*/ 56 h 112"/>
                <a:gd name="T36" fmla="*/ 46 w 98"/>
                <a:gd name="T37" fmla="*/ 56 h 112"/>
                <a:gd name="T38" fmla="*/ 46 w 98"/>
                <a:gd name="T39" fmla="*/ 14 h 112"/>
                <a:gd name="T40" fmla="*/ 40 w 98"/>
                <a:gd name="T41" fmla="*/ 8 h 112"/>
                <a:gd name="T42" fmla="*/ 34 w 98"/>
                <a:gd name="T43" fmla="*/ 14 h 112"/>
                <a:gd name="T44" fmla="*/ 34 w 98"/>
                <a:gd name="T45" fmla="*/ 59 h 112"/>
                <a:gd name="T46" fmla="*/ 11 w 98"/>
                <a:gd name="T47" fmla="*/ 45 h 112"/>
                <a:gd name="T48" fmla="*/ 33 w 98"/>
                <a:gd name="T49" fmla="*/ 88 h 112"/>
                <a:gd name="T50" fmla="*/ 58 w 98"/>
                <a:gd name="T51" fmla="*/ 108 h 112"/>
                <a:gd name="T52" fmla="*/ 58 w 98"/>
                <a:gd name="T53" fmla="*/ 72 h 112"/>
                <a:gd name="T54" fmla="*/ 45 w 98"/>
                <a:gd name="T55" fmla="*/ 85 h 112"/>
                <a:gd name="T56" fmla="*/ 42 w 98"/>
                <a:gd name="T57" fmla="*/ 82 h 112"/>
                <a:gd name="T58" fmla="*/ 60 w 98"/>
                <a:gd name="T59" fmla="*/ 64 h 112"/>
                <a:gd name="T60" fmla="*/ 78 w 98"/>
                <a:gd name="T61" fmla="*/ 82 h 112"/>
                <a:gd name="T62" fmla="*/ 75 w 98"/>
                <a:gd name="T63" fmla="*/ 85 h 112"/>
                <a:gd name="T64" fmla="*/ 62 w 98"/>
                <a:gd name="T65" fmla="*/ 72 h 112"/>
                <a:gd name="T66" fmla="*/ 62 w 98"/>
                <a:gd name="T67" fmla="*/ 108 h 112"/>
                <a:gd name="T68" fmla="*/ 98 w 98"/>
                <a:gd name="T69" fmla="*/ 78 h 112"/>
                <a:gd name="T70" fmla="*/ 64 w 98"/>
                <a:gd name="T71" fmla="*/ 112 h 112"/>
                <a:gd name="T72" fmla="*/ 30 w 98"/>
                <a:gd name="T73" fmla="*/ 90 h 112"/>
                <a:gd name="T74" fmla="*/ 8 w 98"/>
                <a:gd name="T75" fmla="*/ 42 h 112"/>
                <a:gd name="T76" fmla="*/ 30 w 98"/>
                <a:gd name="T77" fmla="*/ 49 h 112"/>
                <a:gd name="T78" fmla="*/ 30 w 98"/>
                <a:gd name="T79" fmla="*/ 49 h 112"/>
                <a:gd name="T80" fmla="*/ 30 w 98"/>
                <a:gd name="T81" fmla="*/ 14 h 112"/>
                <a:gd name="T82" fmla="*/ 40 w 98"/>
                <a:gd name="T83" fmla="*/ 4 h 112"/>
                <a:gd name="T84" fmla="*/ 47 w 98"/>
                <a:gd name="T85" fmla="*/ 7 h 112"/>
                <a:gd name="T86" fmla="*/ 56 w 98"/>
                <a:gd name="T87" fmla="*/ 0 h 112"/>
                <a:gd name="T88" fmla="*/ 66 w 98"/>
                <a:gd name="T89" fmla="*/ 10 h 112"/>
                <a:gd name="T90" fmla="*/ 66 w 98"/>
                <a:gd name="T91" fmla="*/ 38 h 112"/>
                <a:gd name="T92" fmla="*/ 72 w 98"/>
                <a:gd name="T93" fmla="*/ 36 h 112"/>
                <a:gd name="T94" fmla="*/ 82 w 98"/>
                <a:gd name="T95" fmla="*/ 46 h 112"/>
                <a:gd name="T96" fmla="*/ 82 w 98"/>
                <a:gd name="T97" fmla="*/ 46 h 112"/>
                <a:gd name="T98" fmla="*/ 88 w 98"/>
                <a:gd name="T99" fmla="*/ 44 h 112"/>
                <a:gd name="T100" fmla="*/ 98 w 98"/>
                <a:gd name="T101" fmla="*/ 54 h 112"/>
                <a:gd name="T102" fmla="*/ 98 w 98"/>
                <a:gd name="T103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2">
                  <a:moveTo>
                    <a:pt x="62" y="108"/>
                  </a:moveTo>
                  <a:cubicBezTo>
                    <a:pt x="63" y="108"/>
                    <a:pt x="64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78" y="43"/>
                    <a:pt x="76" y="40"/>
                    <a:pt x="72" y="40"/>
                  </a:cubicBezTo>
                  <a:cubicBezTo>
                    <a:pt x="69" y="40"/>
                    <a:pt x="66" y="43"/>
                    <a:pt x="66" y="46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39" y="98"/>
                    <a:pt x="47" y="106"/>
                    <a:pt x="58" y="108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8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2" y="0"/>
                    <a:pt x="66" y="4"/>
                    <a:pt x="66" y="10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8" y="37"/>
                    <a:pt x="70" y="36"/>
                    <a:pt x="72" y="36"/>
                  </a:cubicBezTo>
                  <a:cubicBezTo>
                    <a:pt x="78" y="36"/>
                    <a:pt x="82" y="40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Freeform 17"/>
            <p:cNvSpPr>
              <a:spLocks noEditPoints="1"/>
            </p:cNvSpPr>
            <p:nvPr/>
          </p:nvSpPr>
          <p:spPr bwMode="auto">
            <a:xfrm>
              <a:off x="10914920" y="5783450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2 h 112"/>
                <a:gd name="T64" fmla="*/ 62 w 98"/>
                <a:gd name="T65" fmla="*/ 88 h 112"/>
                <a:gd name="T66" fmla="*/ 49 w 98"/>
                <a:gd name="T67" fmla="*/ 75 h 112"/>
                <a:gd name="T68" fmla="*/ 46 w 98"/>
                <a:gd name="T69" fmla="*/ 78 h 112"/>
                <a:gd name="T70" fmla="*/ 64 w 98"/>
                <a:gd name="T71" fmla="*/ 96 h 112"/>
                <a:gd name="T72" fmla="*/ 82 w 98"/>
                <a:gd name="T73" fmla="*/ 78 h 112"/>
                <a:gd name="T74" fmla="*/ 79 w 98"/>
                <a:gd name="T75" fmla="*/ 75 h 112"/>
                <a:gd name="T76" fmla="*/ 66 w 98"/>
                <a:gd name="T77" fmla="*/ 88 h 112"/>
                <a:gd name="T78" fmla="*/ 66 w 98"/>
                <a:gd name="T79" fmla="*/ 52 h 112"/>
                <a:gd name="T80" fmla="*/ 66 w 98"/>
                <a:gd name="T81" fmla="*/ 46 h 112"/>
                <a:gd name="T82" fmla="*/ 72 w 98"/>
                <a:gd name="T83" fmla="*/ 40 h 112"/>
                <a:gd name="T84" fmla="*/ 78 w 98"/>
                <a:gd name="T85" fmla="*/ 46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2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66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0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Freeform 18"/>
            <p:cNvSpPr>
              <a:spLocks noEditPoints="1"/>
            </p:cNvSpPr>
            <p:nvPr/>
          </p:nvSpPr>
          <p:spPr bwMode="auto">
            <a:xfrm>
              <a:off x="10591801" y="355034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4 h 112"/>
                <a:gd name="T64" fmla="*/ 66 w 98"/>
                <a:gd name="T65" fmla="*/ 54 h 112"/>
                <a:gd name="T66" fmla="*/ 66 w 98"/>
                <a:gd name="T67" fmla="*/ 46 h 112"/>
                <a:gd name="T68" fmla="*/ 72 w 98"/>
                <a:gd name="T69" fmla="*/ 40 h 112"/>
                <a:gd name="T70" fmla="*/ 78 w 98"/>
                <a:gd name="T71" fmla="*/ 46 h 112"/>
                <a:gd name="T72" fmla="*/ 78 w 98"/>
                <a:gd name="T73" fmla="*/ 58 h 112"/>
                <a:gd name="T74" fmla="*/ 82 w 98"/>
                <a:gd name="T75" fmla="*/ 58 h 112"/>
                <a:gd name="T76" fmla="*/ 82 w 98"/>
                <a:gd name="T77" fmla="*/ 54 h 112"/>
                <a:gd name="T78" fmla="*/ 88 w 98"/>
                <a:gd name="T79" fmla="*/ 48 h 112"/>
                <a:gd name="T80" fmla="*/ 94 w 98"/>
                <a:gd name="T81" fmla="*/ 54 h 112"/>
                <a:gd name="T82" fmla="*/ 94 w 98"/>
                <a:gd name="T83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70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11734802" y="4456235"/>
              <a:ext cx="254000" cy="333375"/>
              <a:chOff x="8229600" y="1885950"/>
              <a:chExt cx="254000" cy="333375"/>
            </a:xfrm>
            <a:grpFill/>
          </p:grpSpPr>
          <p:sp>
            <p:nvSpPr>
              <p:cNvPr id="229" name="Freeform 19"/>
              <p:cNvSpPr>
                <a:spLocks/>
              </p:cNvSpPr>
              <p:nvPr/>
            </p:nvSpPr>
            <p:spPr bwMode="auto">
              <a:xfrm>
                <a:off x="8286750" y="1906588"/>
                <a:ext cx="138113" cy="85725"/>
              </a:xfrm>
              <a:custGeom>
                <a:avLst/>
                <a:gdLst>
                  <a:gd name="T0" fmla="*/ 24 w 53"/>
                  <a:gd name="T1" fmla="*/ 9 h 33"/>
                  <a:gd name="T2" fmla="*/ 35 w 53"/>
                  <a:gd name="T3" fmla="*/ 5 h 33"/>
                  <a:gd name="T4" fmla="*/ 45 w 53"/>
                  <a:gd name="T5" fmla="*/ 10 h 33"/>
                  <a:gd name="T6" fmla="*/ 45 w 53"/>
                  <a:gd name="T7" fmla="*/ 10 h 33"/>
                  <a:gd name="T8" fmla="*/ 48 w 53"/>
                  <a:gd name="T9" fmla="*/ 18 h 33"/>
                  <a:gd name="T10" fmla="*/ 48 w 53"/>
                  <a:gd name="T11" fmla="*/ 29 h 33"/>
                  <a:gd name="T12" fmla="*/ 53 w 53"/>
                  <a:gd name="T13" fmla="*/ 18 h 33"/>
                  <a:gd name="T14" fmla="*/ 35 w 53"/>
                  <a:gd name="T15" fmla="*/ 0 h 33"/>
                  <a:gd name="T16" fmla="*/ 23 w 53"/>
                  <a:gd name="T17" fmla="*/ 4 h 33"/>
                  <a:gd name="T18" fmla="*/ 19 w 53"/>
                  <a:gd name="T19" fmla="*/ 4 h 33"/>
                  <a:gd name="T20" fmla="*/ 0 w 53"/>
                  <a:gd name="T21" fmla="*/ 22 h 33"/>
                  <a:gd name="T22" fmla="*/ 4 w 53"/>
                  <a:gd name="T23" fmla="*/ 33 h 33"/>
                  <a:gd name="T24" fmla="*/ 4 w 53"/>
                  <a:gd name="T25" fmla="*/ 22 h 33"/>
                  <a:gd name="T26" fmla="*/ 9 w 53"/>
                  <a:gd name="T27" fmla="*/ 14 h 33"/>
                  <a:gd name="T28" fmla="*/ 9 w 53"/>
                  <a:gd name="T29" fmla="*/ 14 h 33"/>
                  <a:gd name="T30" fmla="*/ 19 w 53"/>
                  <a:gd name="T31" fmla="*/ 9 h 33"/>
                  <a:gd name="T32" fmla="*/ 24 w 53"/>
                  <a:gd name="T33" fmla="*/ 9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" h="33">
                    <a:moveTo>
                      <a:pt x="24" y="9"/>
                    </a:moveTo>
                    <a:cubicBezTo>
                      <a:pt x="27" y="6"/>
                      <a:pt x="31" y="5"/>
                      <a:pt x="35" y="5"/>
                    </a:cubicBezTo>
                    <a:cubicBezTo>
                      <a:pt x="39" y="5"/>
                      <a:pt x="42" y="6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7" y="10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3" y="22"/>
                      <a:pt x="53" y="18"/>
                    </a:cubicBezTo>
                    <a:cubicBezTo>
                      <a:pt x="53" y="8"/>
                      <a:pt x="45" y="0"/>
                      <a:pt x="35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2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9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1" y="9"/>
                      <a:pt x="23" y="8"/>
                      <a:pt x="2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0" name="Freeform 20"/>
              <p:cNvSpPr>
                <a:spLocks/>
              </p:cNvSpPr>
              <p:nvPr/>
            </p:nvSpPr>
            <p:spPr bwMode="auto">
              <a:xfrm>
                <a:off x="8266113" y="1885950"/>
                <a:ext cx="179388" cy="134938"/>
              </a:xfrm>
              <a:custGeom>
                <a:avLst/>
                <a:gdLst>
                  <a:gd name="T0" fmla="*/ 12 w 69"/>
                  <a:gd name="T1" fmla="*/ 52 h 52"/>
                  <a:gd name="T2" fmla="*/ 12 w 69"/>
                  <a:gd name="T3" fmla="*/ 47 h 52"/>
                  <a:gd name="T4" fmla="*/ 5 w 69"/>
                  <a:gd name="T5" fmla="*/ 30 h 52"/>
                  <a:gd name="T6" fmla="*/ 27 w 69"/>
                  <a:gd name="T7" fmla="*/ 8 h 52"/>
                  <a:gd name="T8" fmla="*/ 30 w 69"/>
                  <a:gd name="T9" fmla="*/ 8 h 52"/>
                  <a:gd name="T10" fmla="*/ 43 w 69"/>
                  <a:gd name="T11" fmla="*/ 4 h 52"/>
                  <a:gd name="T12" fmla="*/ 64 w 69"/>
                  <a:gd name="T13" fmla="*/ 26 h 52"/>
                  <a:gd name="T14" fmla="*/ 56 w 69"/>
                  <a:gd name="T15" fmla="*/ 43 h 52"/>
                  <a:gd name="T16" fmla="*/ 56 w 69"/>
                  <a:gd name="T17" fmla="*/ 48 h 52"/>
                  <a:gd name="T18" fmla="*/ 69 w 69"/>
                  <a:gd name="T19" fmla="*/ 26 h 52"/>
                  <a:gd name="T20" fmla="*/ 43 w 69"/>
                  <a:gd name="T21" fmla="*/ 0 h 52"/>
                  <a:gd name="T22" fmla="*/ 29 w 69"/>
                  <a:gd name="T23" fmla="*/ 4 h 52"/>
                  <a:gd name="T24" fmla="*/ 27 w 69"/>
                  <a:gd name="T25" fmla="*/ 4 h 52"/>
                  <a:gd name="T26" fmla="*/ 0 w 69"/>
                  <a:gd name="T27" fmla="*/ 30 h 52"/>
                  <a:gd name="T28" fmla="*/ 12 w 69"/>
                  <a:gd name="T29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5" y="37"/>
                      <a:pt x="5" y="30"/>
                    </a:cubicBezTo>
                    <a:cubicBezTo>
                      <a:pt x="5" y="18"/>
                      <a:pt x="15" y="8"/>
                      <a:pt x="27" y="8"/>
                    </a:cubicBezTo>
                    <a:cubicBezTo>
                      <a:pt x="28" y="8"/>
                      <a:pt x="29" y="8"/>
                      <a:pt x="30" y="8"/>
                    </a:cubicBezTo>
                    <a:cubicBezTo>
                      <a:pt x="34" y="6"/>
                      <a:pt x="38" y="4"/>
                      <a:pt x="43" y="4"/>
                    </a:cubicBezTo>
                    <a:cubicBezTo>
                      <a:pt x="55" y="4"/>
                      <a:pt x="64" y="14"/>
                      <a:pt x="64" y="26"/>
                    </a:cubicBezTo>
                    <a:cubicBezTo>
                      <a:pt x="64" y="33"/>
                      <a:pt x="60" y="39"/>
                      <a:pt x="56" y="43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64" y="43"/>
                      <a:pt x="69" y="35"/>
                      <a:pt x="69" y="26"/>
                    </a:cubicBezTo>
                    <a:cubicBezTo>
                      <a:pt x="69" y="12"/>
                      <a:pt x="57" y="0"/>
                      <a:pt x="43" y="0"/>
                    </a:cubicBezTo>
                    <a:cubicBezTo>
                      <a:pt x="38" y="0"/>
                      <a:pt x="33" y="1"/>
                      <a:pt x="29" y="4"/>
                    </a:cubicBezTo>
                    <a:cubicBezTo>
                      <a:pt x="28" y="4"/>
                      <a:pt x="28" y="4"/>
                      <a:pt x="27" y="4"/>
                    </a:cubicBezTo>
                    <a:cubicBezTo>
                      <a:pt x="13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1" name="Freeform 21"/>
              <p:cNvSpPr>
                <a:spLocks noEditPoints="1"/>
              </p:cNvSpPr>
              <p:nvPr/>
            </p:nvSpPr>
            <p:spPr bwMode="auto">
              <a:xfrm>
                <a:off x="8229600" y="1927225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7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6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49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2458028" y="1802029"/>
              <a:ext cx="254000" cy="312737"/>
              <a:chOff x="615950" y="2532063"/>
              <a:chExt cx="254000" cy="312737"/>
            </a:xfrm>
            <a:grpFill/>
          </p:grpSpPr>
          <p:sp>
            <p:nvSpPr>
              <p:cNvPr id="227" name="Freeform 22"/>
              <p:cNvSpPr>
                <a:spLocks/>
              </p:cNvSpPr>
              <p:nvPr/>
            </p:nvSpPr>
            <p:spPr bwMode="auto">
              <a:xfrm>
                <a:off x="673100" y="2532063"/>
                <a:ext cx="134938" cy="85725"/>
              </a:xfrm>
              <a:custGeom>
                <a:avLst/>
                <a:gdLst>
                  <a:gd name="T0" fmla="*/ 4 w 52"/>
                  <a:gd name="T1" fmla="*/ 22 h 33"/>
                  <a:gd name="T2" fmla="*/ 8 w 52"/>
                  <a:gd name="T3" fmla="*/ 14 h 33"/>
                  <a:gd name="T4" fmla="*/ 9 w 52"/>
                  <a:gd name="T5" fmla="*/ 14 h 33"/>
                  <a:gd name="T6" fmla="*/ 19 w 52"/>
                  <a:gd name="T7" fmla="*/ 9 h 33"/>
                  <a:gd name="T8" fmla="*/ 24 w 52"/>
                  <a:gd name="T9" fmla="*/ 9 h 33"/>
                  <a:gd name="T10" fmla="*/ 35 w 52"/>
                  <a:gd name="T11" fmla="*/ 4 h 33"/>
                  <a:gd name="T12" fmla="*/ 44 w 52"/>
                  <a:gd name="T13" fmla="*/ 8 h 33"/>
                  <a:gd name="T14" fmla="*/ 48 w 52"/>
                  <a:gd name="T15" fmla="*/ 18 h 33"/>
                  <a:gd name="T16" fmla="*/ 48 w 52"/>
                  <a:gd name="T17" fmla="*/ 29 h 33"/>
                  <a:gd name="T18" fmla="*/ 52 w 52"/>
                  <a:gd name="T19" fmla="*/ 18 h 33"/>
                  <a:gd name="T20" fmla="*/ 34 w 52"/>
                  <a:gd name="T21" fmla="*/ 0 h 33"/>
                  <a:gd name="T22" fmla="*/ 23 w 52"/>
                  <a:gd name="T23" fmla="*/ 4 h 33"/>
                  <a:gd name="T24" fmla="*/ 19 w 52"/>
                  <a:gd name="T25" fmla="*/ 4 h 33"/>
                  <a:gd name="T26" fmla="*/ 0 w 52"/>
                  <a:gd name="T27" fmla="*/ 22 h 33"/>
                  <a:gd name="T28" fmla="*/ 4 w 52"/>
                  <a:gd name="T29" fmla="*/ 33 h 33"/>
                  <a:gd name="T30" fmla="*/ 4 w 52"/>
                  <a:gd name="T3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2" h="33">
                    <a:moveTo>
                      <a:pt x="4" y="22"/>
                    </a:moveTo>
                    <a:cubicBezTo>
                      <a:pt x="4" y="18"/>
                      <a:pt x="6" y="14"/>
                      <a:pt x="8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0" y="9"/>
                      <a:pt x="22" y="9"/>
                      <a:pt x="24" y="9"/>
                    </a:cubicBezTo>
                    <a:cubicBezTo>
                      <a:pt x="26" y="6"/>
                      <a:pt x="30" y="4"/>
                      <a:pt x="35" y="4"/>
                    </a:cubicBezTo>
                    <a:cubicBezTo>
                      <a:pt x="38" y="4"/>
                      <a:pt x="42" y="6"/>
                      <a:pt x="44" y="8"/>
                    </a:cubicBezTo>
                    <a:cubicBezTo>
                      <a:pt x="47" y="11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2" y="22"/>
                      <a:pt x="52" y="18"/>
                    </a:cubicBezTo>
                    <a:cubicBezTo>
                      <a:pt x="52" y="8"/>
                      <a:pt x="44" y="0"/>
                      <a:pt x="34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lnTo>
                      <a:pt x="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8" name="Freeform 23"/>
              <p:cNvSpPr>
                <a:spLocks noEditPoints="1"/>
              </p:cNvSpPr>
              <p:nvPr/>
            </p:nvSpPr>
            <p:spPr bwMode="auto">
              <a:xfrm>
                <a:off x="615950" y="2552700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6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4 w 98"/>
                  <a:gd name="T39" fmla="*/ 108 h 112"/>
                  <a:gd name="T40" fmla="*/ 33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4221164" y="4171057"/>
              <a:ext cx="312738" cy="322263"/>
              <a:chOff x="1223963" y="2527300"/>
              <a:chExt cx="312738" cy="322263"/>
            </a:xfrm>
            <a:grpFill/>
          </p:grpSpPr>
          <p:sp>
            <p:nvSpPr>
              <p:cNvPr id="224" name="Freeform 24"/>
              <p:cNvSpPr>
                <a:spLocks/>
              </p:cNvSpPr>
              <p:nvPr/>
            </p:nvSpPr>
            <p:spPr bwMode="auto">
              <a:xfrm>
                <a:off x="1223963" y="2592388"/>
                <a:ext cx="65088" cy="58738"/>
              </a:xfrm>
              <a:custGeom>
                <a:avLst/>
                <a:gdLst>
                  <a:gd name="T0" fmla="*/ 36 w 41"/>
                  <a:gd name="T1" fmla="*/ 0 h 37"/>
                  <a:gd name="T2" fmla="*/ 7 w 41"/>
                  <a:gd name="T3" fmla="*/ 26 h 37"/>
                  <a:gd name="T4" fmla="*/ 7 w 41"/>
                  <a:gd name="T5" fmla="*/ 5 h 37"/>
                  <a:gd name="T6" fmla="*/ 0 w 41"/>
                  <a:gd name="T7" fmla="*/ 5 h 37"/>
                  <a:gd name="T8" fmla="*/ 0 w 41"/>
                  <a:gd name="T9" fmla="*/ 37 h 37"/>
                  <a:gd name="T10" fmla="*/ 33 w 41"/>
                  <a:gd name="T11" fmla="*/ 37 h 37"/>
                  <a:gd name="T12" fmla="*/ 33 w 41"/>
                  <a:gd name="T13" fmla="*/ 31 h 37"/>
                  <a:gd name="T14" fmla="*/ 15 w 41"/>
                  <a:gd name="T15" fmla="*/ 31 h 37"/>
                  <a:gd name="T16" fmla="*/ 41 w 41"/>
                  <a:gd name="T17" fmla="*/ 5 h 37"/>
                  <a:gd name="T18" fmla="*/ 36 w 41"/>
                  <a:gd name="T1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37">
                    <a:moveTo>
                      <a:pt x="36" y="0"/>
                    </a:moveTo>
                    <a:lnTo>
                      <a:pt x="7" y="26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0" y="37"/>
                    </a:lnTo>
                    <a:lnTo>
                      <a:pt x="33" y="37"/>
                    </a:lnTo>
                    <a:lnTo>
                      <a:pt x="33" y="31"/>
                    </a:lnTo>
                    <a:lnTo>
                      <a:pt x="15" y="31"/>
                    </a:lnTo>
                    <a:lnTo>
                      <a:pt x="41" y="5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5" name="Freeform 25"/>
              <p:cNvSpPr>
                <a:spLocks/>
              </p:cNvSpPr>
              <p:nvPr/>
            </p:nvSpPr>
            <p:spPr bwMode="auto">
              <a:xfrm>
                <a:off x="1292225" y="2527300"/>
                <a:ext cx="57150" cy="58738"/>
              </a:xfrm>
              <a:custGeom>
                <a:avLst/>
                <a:gdLst>
                  <a:gd name="T0" fmla="*/ 29 w 36"/>
                  <a:gd name="T1" fmla="*/ 32 h 37"/>
                  <a:gd name="T2" fmla="*/ 36 w 36"/>
                  <a:gd name="T3" fmla="*/ 32 h 37"/>
                  <a:gd name="T4" fmla="*/ 36 w 36"/>
                  <a:gd name="T5" fmla="*/ 0 h 37"/>
                  <a:gd name="T6" fmla="*/ 3 w 36"/>
                  <a:gd name="T7" fmla="*/ 0 h 37"/>
                  <a:gd name="T8" fmla="*/ 3 w 36"/>
                  <a:gd name="T9" fmla="*/ 6 h 37"/>
                  <a:gd name="T10" fmla="*/ 28 w 36"/>
                  <a:gd name="T11" fmla="*/ 6 h 37"/>
                  <a:gd name="T12" fmla="*/ 0 w 36"/>
                  <a:gd name="T13" fmla="*/ 32 h 37"/>
                  <a:gd name="T14" fmla="*/ 3 w 36"/>
                  <a:gd name="T15" fmla="*/ 37 h 37"/>
                  <a:gd name="T16" fmla="*/ 29 w 36"/>
                  <a:gd name="T17" fmla="*/ 11 h 37"/>
                  <a:gd name="T18" fmla="*/ 29 w 36"/>
                  <a:gd name="T19" fmla="*/ 3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7">
                    <a:moveTo>
                      <a:pt x="29" y="32"/>
                    </a:moveTo>
                    <a:lnTo>
                      <a:pt x="36" y="32"/>
                    </a:lnTo>
                    <a:lnTo>
                      <a:pt x="36" y="0"/>
                    </a:lnTo>
                    <a:lnTo>
                      <a:pt x="3" y="0"/>
                    </a:lnTo>
                    <a:lnTo>
                      <a:pt x="3" y="6"/>
                    </a:lnTo>
                    <a:lnTo>
                      <a:pt x="28" y="6"/>
                    </a:lnTo>
                    <a:lnTo>
                      <a:pt x="0" y="32"/>
                    </a:lnTo>
                    <a:lnTo>
                      <a:pt x="3" y="37"/>
                    </a:lnTo>
                    <a:lnTo>
                      <a:pt x="29" y="11"/>
                    </a:lnTo>
                    <a:lnTo>
                      <a:pt x="29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6" name="Freeform 26"/>
              <p:cNvSpPr>
                <a:spLocks noEditPoints="1"/>
              </p:cNvSpPr>
              <p:nvPr/>
            </p:nvSpPr>
            <p:spPr bwMode="auto">
              <a:xfrm>
                <a:off x="1284288" y="2557463"/>
                <a:ext cx="252413" cy="292100"/>
              </a:xfrm>
              <a:custGeom>
                <a:avLst/>
                <a:gdLst>
                  <a:gd name="T0" fmla="*/ 87 w 97"/>
                  <a:gd name="T1" fmla="*/ 44 h 112"/>
                  <a:gd name="T2" fmla="*/ 81 w 97"/>
                  <a:gd name="T3" fmla="*/ 46 h 112"/>
                  <a:gd name="T4" fmla="*/ 81 w 97"/>
                  <a:gd name="T5" fmla="*/ 46 h 112"/>
                  <a:gd name="T6" fmla="*/ 71 w 97"/>
                  <a:gd name="T7" fmla="*/ 36 h 112"/>
                  <a:gd name="T8" fmla="*/ 65 w 97"/>
                  <a:gd name="T9" fmla="*/ 38 h 112"/>
                  <a:gd name="T10" fmla="*/ 65 w 97"/>
                  <a:gd name="T11" fmla="*/ 10 h 112"/>
                  <a:gd name="T12" fmla="*/ 56 w 97"/>
                  <a:gd name="T13" fmla="*/ 0 h 112"/>
                  <a:gd name="T14" fmla="*/ 47 w 97"/>
                  <a:gd name="T15" fmla="*/ 7 h 112"/>
                  <a:gd name="T16" fmla="*/ 40 w 97"/>
                  <a:gd name="T17" fmla="*/ 4 h 112"/>
                  <a:gd name="T18" fmla="*/ 29 w 97"/>
                  <a:gd name="T19" fmla="*/ 14 h 112"/>
                  <a:gd name="T20" fmla="*/ 29 w 97"/>
                  <a:gd name="T21" fmla="*/ 49 h 112"/>
                  <a:gd name="T22" fmla="*/ 8 w 97"/>
                  <a:gd name="T23" fmla="*/ 42 h 112"/>
                  <a:gd name="T24" fmla="*/ 30 w 97"/>
                  <a:gd name="T25" fmla="*/ 90 h 112"/>
                  <a:gd name="T26" fmla="*/ 64 w 97"/>
                  <a:gd name="T27" fmla="*/ 112 h 112"/>
                  <a:gd name="T28" fmla="*/ 97 w 97"/>
                  <a:gd name="T29" fmla="*/ 78 h 112"/>
                  <a:gd name="T30" fmla="*/ 97 w 97"/>
                  <a:gd name="T31" fmla="*/ 54 h 112"/>
                  <a:gd name="T32" fmla="*/ 87 w 97"/>
                  <a:gd name="T33" fmla="*/ 44 h 112"/>
                  <a:gd name="T34" fmla="*/ 93 w 97"/>
                  <a:gd name="T35" fmla="*/ 63 h 112"/>
                  <a:gd name="T36" fmla="*/ 93 w 97"/>
                  <a:gd name="T37" fmla="*/ 78 h 112"/>
                  <a:gd name="T38" fmla="*/ 64 w 97"/>
                  <a:gd name="T39" fmla="*/ 108 h 112"/>
                  <a:gd name="T40" fmla="*/ 33 w 97"/>
                  <a:gd name="T41" fmla="*/ 88 h 112"/>
                  <a:gd name="T42" fmla="*/ 10 w 97"/>
                  <a:gd name="T43" fmla="*/ 45 h 112"/>
                  <a:gd name="T44" fmla="*/ 33 w 97"/>
                  <a:gd name="T45" fmla="*/ 59 h 112"/>
                  <a:gd name="T46" fmla="*/ 33 w 97"/>
                  <a:gd name="T47" fmla="*/ 14 h 112"/>
                  <a:gd name="T48" fmla="*/ 39 w 97"/>
                  <a:gd name="T49" fmla="*/ 8 h 112"/>
                  <a:gd name="T50" fmla="*/ 45 w 97"/>
                  <a:gd name="T51" fmla="*/ 14 h 112"/>
                  <a:gd name="T52" fmla="*/ 45 w 97"/>
                  <a:gd name="T53" fmla="*/ 56 h 112"/>
                  <a:gd name="T54" fmla="*/ 49 w 97"/>
                  <a:gd name="T55" fmla="*/ 56 h 112"/>
                  <a:gd name="T56" fmla="*/ 49 w 97"/>
                  <a:gd name="T57" fmla="*/ 10 h 112"/>
                  <a:gd name="T58" fmla="*/ 55 w 97"/>
                  <a:gd name="T59" fmla="*/ 4 h 112"/>
                  <a:gd name="T60" fmla="*/ 61 w 97"/>
                  <a:gd name="T61" fmla="*/ 10 h 112"/>
                  <a:gd name="T62" fmla="*/ 61 w 97"/>
                  <a:gd name="T63" fmla="*/ 52 h 112"/>
                  <a:gd name="T64" fmla="*/ 65 w 97"/>
                  <a:gd name="T65" fmla="*/ 52 h 112"/>
                  <a:gd name="T66" fmla="*/ 65 w 97"/>
                  <a:gd name="T67" fmla="*/ 46 h 112"/>
                  <a:gd name="T68" fmla="*/ 71 w 97"/>
                  <a:gd name="T69" fmla="*/ 40 h 112"/>
                  <a:gd name="T70" fmla="*/ 77 w 97"/>
                  <a:gd name="T71" fmla="*/ 46 h 112"/>
                  <a:gd name="T72" fmla="*/ 77 w 97"/>
                  <a:gd name="T73" fmla="*/ 56 h 112"/>
                  <a:gd name="T74" fmla="*/ 81 w 97"/>
                  <a:gd name="T75" fmla="*/ 56 h 112"/>
                  <a:gd name="T76" fmla="*/ 81 w 97"/>
                  <a:gd name="T77" fmla="*/ 54 h 112"/>
                  <a:gd name="T78" fmla="*/ 87 w 97"/>
                  <a:gd name="T79" fmla="*/ 48 h 112"/>
                  <a:gd name="T80" fmla="*/ 93 w 97"/>
                  <a:gd name="T81" fmla="*/ 54 h 112"/>
                  <a:gd name="T82" fmla="*/ 93 w 97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7" h="112">
                    <a:moveTo>
                      <a:pt x="87" y="44"/>
                    </a:moveTo>
                    <a:cubicBezTo>
                      <a:pt x="85" y="44"/>
                      <a:pt x="85" y="45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0"/>
                      <a:pt x="77" y="36"/>
                      <a:pt x="71" y="36"/>
                    </a:cubicBezTo>
                    <a:cubicBezTo>
                      <a:pt x="69" y="36"/>
                      <a:pt x="69" y="37"/>
                      <a:pt x="65" y="38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5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2" y="4"/>
                      <a:pt x="40" y="4"/>
                    </a:cubicBezTo>
                    <a:cubicBezTo>
                      <a:pt x="34" y="4"/>
                      <a:pt x="29" y="8"/>
                      <a:pt x="29" y="14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5" y="42"/>
                      <a:pt x="13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1" y="112"/>
                      <a:pt x="64" y="112"/>
                    </a:cubicBezTo>
                    <a:cubicBezTo>
                      <a:pt x="83" y="112"/>
                      <a:pt x="97" y="97"/>
                      <a:pt x="97" y="78"/>
                    </a:cubicBezTo>
                    <a:cubicBezTo>
                      <a:pt x="97" y="54"/>
                      <a:pt x="97" y="54"/>
                      <a:pt x="97" y="54"/>
                    </a:cubicBezTo>
                    <a:cubicBezTo>
                      <a:pt x="97" y="49"/>
                      <a:pt x="93" y="44"/>
                      <a:pt x="87" y="44"/>
                    </a:cubicBezTo>
                    <a:close/>
                    <a:moveTo>
                      <a:pt x="93" y="63"/>
                    </a:moveTo>
                    <a:cubicBezTo>
                      <a:pt x="93" y="78"/>
                      <a:pt x="93" y="78"/>
                      <a:pt x="93" y="78"/>
                    </a:cubicBezTo>
                    <a:cubicBezTo>
                      <a:pt x="93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0" y="45"/>
                    </a:cubicBezTo>
                    <a:cubicBezTo>
                      <a:pt x="15" y="41"/>
                      <a:pt x="25" y="50"/>
                      <a:pt x="33" y="59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1"/>
                      <a:pt x="36" y="8"/>
                      <a:pt x="39" y="8"/>
                    </a:cubicBezTo>
                    <a:cubicBezTo>
                      <a:pt x="42" y="8"/>
                      <a:pt x="45" y="11"/>
                      <a:pt x="45" y="14"/>
                    </a:cubicBezTo>
                    <a:cubicBezTo>
                      <a:pt x="45" y="56"/>
                      <a:pt x="45" y="56"/>
                      <a:pt x="45" y="56"/>
                    </a:cubicBezTo>
                    <a:cubicBezTo>
                      <a:pt x="49" y="56"/>
                      <a:pt x="49" y="56"/>
                      <a:pt x="49" y="56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7"/>
                      <a:pt x="52" y="4"/>
                      <a:pt x="55" y="4"/>
                    </a:cubicBezTo>
                    <a:cubicBezTo>
                      <a:pt x="58" y="4"/>
                      <a:pt x="61" y="7"/>
                      <a:pt x="61" y="10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65" y="52"/>
                      <a:pt x="65" y="52"/>
                      <a:pt x="65" y="52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5" y="43"/>
                      <a:pt x="68" y="40"/>
                      <a:pt x="71" y="40"/>
                    </a:cubicBezTo>
                    <a:cubicBezTo>
                      <a:pt x="74" y="40"/>
                      <a:pt x="77" y="43"/>
                      <a:pt x="77" y="46"/>
                    </a:cubicBezTo>
                    <a:cubicBezTo>
                      <a:pt x="77" y="56"/>
                      <a:pt x="77" y="56"/>
                      <a:pt x="77" y="56"/>
                    </a:cubicBezTo>
                    <a:cubicBezTo>
                      <a:pt x="81" y="56"/>
                      <a:pt x="81" y="56"/>
                      <a:pt x="81" y="56"/>
                    </a:cubicBezTo>
                    <a:cubicBezTo>
                      <a:pt x="81" y="54"/>
                      <a:pt x="81" y="54"/>
                      <a:pt x="81" y="54"/>
                    </a:cubicBezTo>
                    <a:cubicBezTo>
                      <a:pt x="81" y="51"/>
                      <a:pt x="84" y="48"/>
                      <a:pt x="87" y="48"/>
                    </a:cubicBezTo>
                    <a:cubicBezTo>
                      <a:pt x="90" y="48"/>
                      <a:pt x="93" y="51"/>
                      <a:pt x="93" y="54"/>
                    </a:cubicBezTo>
                    <a:lnTo>
                      <a:pt x="93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562028" y="629976"/>
              <a:ext cx="317500" cy="322263"/>
              <a:chOff x="1863725" y="2527300"/>
              <a:chExt cx="317500" cy="322263"/>
            </a:xfrm>
            <a:grpFill/>
          </p:grpSpPr>
          <p:sp>
            <p:nvSpPr>
              <p:cNvPr id="221" name="Freeform 27"/>
              <p:cNvSpPr>
                <a:spLocks/>
              </p:cNvSpPr>
              <p:nvPr/>
            </p:nvSpPr>
            <p:spPr bwMode="auto">
              <a:xfrm>
                <a:off x="1941513" y="2527300"/>
                <a:ext cx="55563" cy="61913"/>
              </a:xfrm>
              <a:custGeom>
                <a:avLst/>
                <a:gdLst>
                  <a:gd name="T0" fmla="*/ 33 w 35"/>
                  <a:gd name="T1" fmla="*/ 32 h 39"/>
                  <a:gd name="T2" fmla="*/ 7 w 35"/>
                  <a:gd name="T3" fmla="*/ 32 h 39"/>
                  <a:gd name="T4" fmla="*/ 35 w 35"/>
                  <a:gd name="T5" fmla="*/ 5 h 39"/>
                  <a:gd name="T6" fmla="*/ 31 w 35"/>
                  <a:gd name="T7" fmla="*/ 0 h 39"/>
                  <a:gd name="T8" fmla="*/ 7 w 35"/>
                  <a:gd name="T9" fmla="*/ 28 h 39"/>
                  <a:gd name="T10" fmla="*/ 7 w 35"/>
                  <a:gd name="T11" fmla="*/ 6 h 39"/>
                  <a:gd name="T12" fmla="*/ 0 w 35"/>
                  <a:gd name="T13" fmla="*/ 6 h 39"/>
                  <a:gd name="T14" fmla="*/ 0 w 35"/>
                  <a:gd name="T15" fmla="*/ 39 h 39"/>
                  <a:gd name="T16" fmla="*/ 33 w 35"/>
                  <a:gd name="T17" fmla="*/ 39 h 39"/>
                  <a:gd name="T18" fmla="*/ 33 w 35"/>
                  <a:gd name="T19" fmla="*/ 32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5" h="39">
                    <a:moveTo>
                      <a:pt x="33" y="32"/>
                    </a:moveTo>
                    <a:lnTo>
                      <a:pt x="7" y="32"/>
                    </a:lnTo>
                    <a:lnTo>
                      <a:pt x="35" y="5"/>
                    </a:lnTo>
                    <a:lnTo>
                      <a:pt x="31" y="0"/>
                    </a:lnTo>
                    <a:lnTo>
                      <a:pt x="7" y="28"/>
                    </a:lnTo>
                    <a:lnTo>
                      <a:pt x="7" y="6"/>
                    </a:lnTo>
                    <a:lnTo>
                      <a:pt x="0" y="6"/>
                    </a:lnTo>
                    <a:lnTo>
                      <a:pt x="0" y="39"/>
                    </a:lnTo>
                    <a:lnTo>
                      <a:pt x="33" y="39"/>
                    </a:lnTo>
                    <a:lnTo>
                      <a:pt x="33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2" name="Freeform 28"/>
              <p:cNvSpPr>
                <a:spLocks/>
              </p:cNvSpPr>
              <p:nvPr/>
            </p:nvSpPr>
            <p:spPr bwMode="auto">
              <a:xfrm>
                <a:off x="1863725" y="2600325"/>
                <a:ext cx="68263" cy="58738"/>
              </a:xfrm>
              <a:custGeom>
                <a:avLst/>
                <a:gdLst>
                  <a:gd name="T0" fmla="*/ 10 w 43"/>
                  <a:gd name="T1" fmla="*/ 6 h 37"/>
                  <a:gd name="T2" fmla="*/ 26 w 43"/>
                  <a:gd name="T3" fmla="*/ 6 h 37"/>
                  <a:gd name="T4" fmla="*/ 0 w 43"/>
                  <a:gd name="T5" fmla="*/ 32 h 37"/>
                  <a:gd name="T6" fmla="*/ 7 w 43"/>
                  <a:gd name="T7" fmla="*/ 37 h 37"/>
                  <a:gd name="T8" fmla="*/ 36 w 43"/>
                  <a:gd name="T9" fmla="*/ 9 h 37"/>
                  <a:gd name="T10" fmla="*/ 36 w 43"/>
                  <a:gd name="T11" fmla="*/ 32 h 37"/>
                  <a:gd name="T12" fmla="*/ 43 w 43"/>
                  <a:gd name="T13" fmla="*/ 32 h 37"/>
                  <a:gd name="T14" fmla="*/ 43 w 43"/>
                  <a:gd name="T15" fmla="*/ 0 h 37"/>
                  <a:gd name="T16" fmla="*/ 10 w 43"/>
                  <a:gd name="T17" fmla="*/ 0 h 37"/>
                  <a:gd name="T18" fmla="*/ 10 w 43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" h="37">
                    <a:moveTo>
                      <a:pt x="10" y="6"/>
                    </a:moveTo>
                    <a:lnTo>
                      <a:pt x="26" y="6"/>
                    </a:lnTo>
                    <a:lnTo>
                      <a:pt x="0" y="32"/>
                    </a:lnTo>
                    <a:lnTo>
                      <a:pt x="7" y="37"/>
                    </a:lnTo>
                    <a:lnTo>
                      <a:pt x="36" y="9"/>
                    </a:lnTo>
                    <a:lnTo>
                      <a:pt x="36" y="32"/>
                    </a:lnTo>
                    <a:lnTo>
                      <a:pt x="43" y="32"/>
                    </a:lnTo>
                    <a:lnTo>
                      <a:pt x="43" y="0"/>
                    </a:lnTo>
                    <a:lnTo>
                      <a:pt x="10" y="0"/>
                    </a:lnTo>
                    <a:lnTo>
                      <a:pt x="1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3" name="Freeform 29"/>
              <p:cNvSpPr>
                <a:spLocks noEditPoints="1"/>
              </p:cNvSpPr>
              <p:nvPr/>
            </p:nvSpPr>
            <p:spPr bwMode="auto">
              <a:xfrm>
                <a:off x="1920875" y="2557463"/>
                <a:ext cx="260350" cy="292100"/>
              </a:xfrm>
              <a:custGeom>
                <a:avLst/>
                <a:gdLst>
                  <a:gd name="T0" fmla="*/ 90 w 100"/>
                  <a:gd name="T1" fmla="*/ 44 h 112"/>
                  <a:gd name="T2" fmla="*/ 84 w 100"/>
                  <a:gd name="T3" fmla="*/ 46 h 112"/>
                  <a:gd name="T4" fmla="*/ 84 w 100"/>
                  <a:gd name="T5" fmla="*/ 46 h 112"/>
                  <a:gd name="T6" fmla="*/ 74 w 100"/>
                  <a:gd name="T7" fmla="*/ 36 h 112"/>
                  <a:gd name="T8" fmla="*/ 68 w 100"/>
                  <a:gd name="T9" fmla="*/ 38 h 112"/>
                  <a:gd name="T10" fmla="*/ 68 w 100"/>
                  <a:gd name="T11" fmla="*/ 10 h 112"/>
                  <a:gd name="T12" fmla="*/ 57 w 100"/>
                  <a:gd name="T13" fmla="*/ 0 h 112"/>
                  <a:gd name="T14" fmla="*/ 47 w 100"/>
                  <a:gd name="T15" fmla="*/ 6 h 112"/>
                  <a:gd name="T16" fmla="*/ 41 w 100"/>
                  <a:gd name="T17" fmla="*/ 4 h 112"/>
                  <a:gd name="T18" fmla="*/ 32 w 100"/>
                  <a:gd name="T19" fmla="*/ 14 h 112"/>
                  <a:gd name="T20" fmla="*/ 32 w 100"/>
                  <a:gd name="T21" fmla="*/ 49 h 112"/>
                  <a:gd name="T22" fmla="*/ 8 w 100"/>
                  <a:gd name="T23" fmla="*/ 42 h 112"/>
                  <a:gd name="T24" fmla="*/ 29 w 100"/>
                  <a:gd name="T25" fmla="*/ 89 h 112"/>
                  <a:gd name="T26" fmla="*/ 65 w 100"/>
                  <a:gd name="T27" fmla="*/ 112 h 112"/>
                  <a:gd name="T28" fmla="*/ 100 w 100"/>
                  <a:gd name="T29" fmla="*/ 78 h 112"/>
                  <a:gd name="T30" fmla="*/ 100 w 100"/>
                  <a:gd name="T31" fmla="*/ 54 h 112"/>
                  <a:gd name="T32" fmla="*/ 90 w 100"/>
                  <a:gd name="T33" fmla="*/ 44 h 112"/>
                  <a:gd name="T34" fmla="*/ 96 w 100"/>
                  <a:gd name="T35" fmla="*/ 63 h 112"/>
                  <a:gd name="T36" fmla="*/ 96 w 100"/>
                  <a:gd name="T37" fmla="*/ 78 h 112"/>
                  <a:gd name="T38" fmla="*/ 65 w 100"/>
                  <a:gd name="T39" fmla="*/ 108 h 112"/>
                  <a:gd name="T40" fmla="*/ 33 w 100"/>
                  <a:gd name="T41" fmla="*/ 88 h 112"/>
                  <a:gd name="T42" fmla="*/ 11 w 100"/>
                  <a:gd name="T43" fmla="*/ 45 h 112"/>
                  <a:gd name="T44" fmla="*/ 36 w 100"/>
                  <a:gd name="T45" fmla="*/ 59 h 112"/>
                  <a:gd name="T46" fmla="*/ 36 w 100"/>
                  <a:gd name="T47" fmla="*/ 14 h 112"/>
                  <a:gd name="T48" fmla="*/ 42 w 100"/>
                  <a:gd name="T49" fmla="*/ 8 h 112"/>
                  <a:gd name="T50" fmla="*/ 48 w 100"/>
                  <a:gd name="T51" fmla="*/ 14 h 112"/>
                  <a:gd name="T52" fmla="*/ 48 w 100"/>
                  <a:gd name="T53" fmla="*/ 56 h 112"/>
                  <a:gd name="T54" fmla="*/ 52 w 100"/>
                  <a:gd name="T55" fmla="*/ 56 h 112"/>
                  <a:gd name="T56" fmla="*/ 52 w 100"/>
                  <a:gd name="T57" fmla="*/ 10 h 112"/>
                  <a:gd name="T58" fmla="*/ 58 w 100"/>
                  <a:gd name="T59" fmla="*/ 4 h 112"/>
                  <a:gd name="T60" fmla="*/ 64 w 100"/>
                  <a:gd name="T61" fmla="*/ 10 h 112"/>
                  <a:gd name="T62" fmla="*/ 64 w 100"/>
                  <a:gd name="T63" fmla="*/ 52 h 112"/>
                  <a:gd name="T64" fmla="*/ 68 w 100"/>
                  <a:gd name="T65" fmla="*/ 52 h 112"/>
                  <a:gd name="T66" fmla="*/ 68 w 100"/>
                  <a:gd name="T67" fmla="*/ 46 h 112"/>
                  <a:gd name="T68" fmla="*/ 74 w 100"/>
                  <a:gd name="T69" fmla="*/ 40 h 112"/>
                  <a:gd name="T70" fmla="*/ 80 w 100"/>
                  <a:gd name="T71" fmla="*/ 46 h 112"/>
                  <a:gd name="T72" fmla="*/ 80 w 100"/>
                  <a:gd name="T73" fmla="*/ 56 h 112"/>
                  <a:gd name="T74" fmla="*/ 84 w 100"/>
                  <a:gd name="T75" fmla="*/ 56 h 112"/>
                  <a:gd name="T76" fmla="*/ 84 w 100"/>
                  <a:gd name="T77" fmla="*/ 54 h 112"/>
                  <a:gd name="T78" fmla="*/ 90 w 100"/>
                  <a:gd name="T79" fmla="*/ 48 h 112"/>
                  <a:gd name="T80" fmla="*/ 96 w 100"/>
                  <a:gd name="T81" fmla="*/ 54 h 112"/>
                  <a:gd name="T82" fmla="*/ 96 w 100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00" h="112">
                    <a:moveTo>
                      <a:pt x="90" y="44"/>
                    </a:moveTo>
                    <a:cubicBezTo>
                      <a:pt x="88" y="44"/>
                      <a:pt x="84" y="44"/>
                      <a:pt x="84" y="46"/>
                    </a:cubicBezTo>
                    <a:cubicBezTo>
                      <a:pt x="84" y="46"/>
                      <a:pt x="84" y="46"/>
                      <a:pt x="84" y="46"/>
                    </a:cubicBezTo>
                    <a:cubicBezTo>
                      <a:pt x="84" y="40"/>
                      <a:pt x="80" y="36"/>
                      <a:pt x="74" y="36"/>
                    </a:cubicBezTo>
                    <a:cubicBezTo>
                      <a:pt x="72" y="36"/>
                      <a:pt x="68" y="36"/>
                      <a:pt x="68" y="38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4"/>
                      <a:pt x="62" y="0"/>
                      <a:pt x="57" y="0"/>
                    </a:cubicBezTo>
                    <a:cubicBezTo>
                      <a:pt x="52" y="0"/>
                      <a:pt x="48" y="2"/>
                      <a:pt x="47" y="6"/>
                    </a:cubicBezTo>
                    <a:cubicBezTo>
                      <a:pt x="45" y="5"/>
                      <a:pt x="44" y="4"/>
                      <a:pt x="41" y="4"/>
                    </a:cubicBezTo>
                    <a:cubicBezTo>
                      <a:pt x="35" y="4"/>
                      <a:pt x="32" y="8"/>
                      <a:pt x="32" y="14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24" y="42"/>
                      <a:pt x="14" y="36"/>
                      <a:pt x="8" y="42"/>
                    </a:cubicBezTo>
                    <a:cubicBezTo>
                      <a:pt x="0" y="50"/>
                      <a:pt x="16" y="66"/>
                      <a:pt x="29" y="89"/>
                    </a:cubicBezTo>
                    <a:cubicBezTo>
                      <a:pt x="38" y="106"/>
                      <a:pt x="53" y="112"/>
                      <a:pt x="65" y="112"/>
                    </a:cubicBezTo>
                    <a:cubicBezTo>
                      <a:pt x="84" y="112"/>
                      <a:pt x="100" y="96"/>
                      <a:pt x="100" y="78"/>
                    </a:cubicBezTo>
                    <a:cubicBezTo>
                      <a:pt x="100" y="54"/>
                      <a:pt x="100" y="54"/>
                      <a:pt x="100" y="54"/>
                    </a:cubicBezTo>
                    <a:cubicBezTo>
                      <a:pt x="100" y="48"/>
                      <a:pt x="96" y="44"/>
                      <a:pt x="90" y="44"/>
                    </a:cubicBezTo>
                    <a:close/>
                    <a:moveTo>
                      <a:pt x="96" y="63"/>
                    </a:moveTo>
                    <a:cubicBezTo>
                      <a:pt x="96" y="78"/>
                      <a:pt x="96" y="78"/>
                      <a:pt x="96" y="78"/>
                    </a:cubicBezTo>
                    <a:cubicBezTo>
                      <a:pt x="96" y="94"/>
                      <a:pt x="81" y="108"/>
                      <a:pt x="65" y="108"/>
                    </a:cubicBezTo>
                    <a:cubicBezTo>
                      <a:pt x="50" y="108"/>
                      <a:pt x="40" y="100"/>
                      <a:pt x="33" y="88"/>
                    </a:cubicBezTo>
                    <a:cubicBezTo>
                      <a:pt x="17" y="61"/>
                      <a:pt x="7" y="49"/>
                      <a:pt x="11" y="45"/>
                    </a:cubicBezTo>
                    <a:cubicBezTo>
                      <a:pt x="16" y="40"/>
                      <a:pt x="28" y="50"/>
                      <a:pt x="36" y="59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0"/>
                      <a:pt x="39" y="8"/>
                      <a:pt x="42" y="8"/>
                    </a:cubicBezTo>
                    <a:cubicBezTo>
                      <a:pt x="45" y="8"/>
                      <a:pt x="48" y="10"/>
                      <a:pt x="48" y="14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6"/>
                      <a:pt x="55" y="4"/>
                      <a:pt x="58" y="4"/>
                    </a:cubicBezTo>
                    <a:cubicBezTo>
                      <a:pt x="61" y="4"/>
                      <a:pt x="64" y="6"/>
                      <a:pt x="64" y="10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68" y="42"/>
                      <a:pt x="71" y="40"/>
                      <a:pt x="74" y="40"/>
                    </a:cubicBezTo>
                    <a:cubicBezTo>
                      <a:pt x="77" y="40"/>
                      <a:pt x="80" y="42"/>
                      <a:pt x="80" y="4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0"/>
                      <a:pt x="87" y="48"/>
                      <a:pt x="90" y="48"/>
                    </a:cubicBezTo>
                    <a:cubicBezTo>
                      <a:pt x="93" y="48"/>
                      <a:pt x="96" y="50"/>
                      <a:pt x="96" y="54"/>
                    </a:cubicBezTo>
                    <a:lnTo>
                      <a:pt x="96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319274" y="6295418"/>
              <a:ext cx="309563" cy="322263"/>
              <a:chOff x="2495550" y="2527300"/>
              <a:chExt cx="309563" cy="322263"/>
            </a:xfrm>
            <a:grpFill/>
          </p:grpSpPr>
          <p:sp>
            <p:nvSpPr>
              <p:cNvPr id="219" name="Freeform 30"/>
              <p:cNvSpPr>
                <a:spLocks/>
              </p:cNvSpPr>
              <p:nvPr/>
            </p:nvSpPr>
            <p:spPr bwMode="auto">
              <a:xfrm>
                <a:off x="2495550" y="2527300"/>
                <a:ext cx="134938" cy="134938"/>
              </a:xfrm>
              <a:custGeom>
                <a:avLst/>
                <a:gdLst>
                  <a:gd name="T0" fmla="*/ 29 w 52"/>
                  <a:gd name="T1" fmla="*/ 38 h 52"/>
                  <a:gd name="T2" fmla="*/ 26 w 52"/>
                  <a:gd name="T3" fmla="*/ 35 h 52"/>
                  <a:gd name="T4" fmla="*/ 17 w 52"/>
                  <a:gd name="T5" fmla="*/ 44 h 52"/>
                  <a:gd name="T6" fmla="*/ 17 w 52"/>
                  <a:gd name="T7" fmla="*/ 38 h 52"/>
                  <a:gd name="T8" fmla="*/ 39 w 52"/>
                  <a:gd name="T9" fmla="*/ 16 h 52"/>
                  <a:gd name="T10" fmla="*/ 44 w 52"/>
                  <a:gd name="T11" fmla="*/ 17 h 52"/>
                  <a:gd name="T12" fmla="*/ 36 w 52"/>
                  <a:gd name="T13" fmla="*/ 25 h 52"/>
                  <a:gd name="T14" fmla="*/ 39 w 52"/>
                  <a:gd name="T15" fmla="*/ 28 h 52"/>
                  <a:gd name="T16" fmla="*/ 48 w 52"/>
                  <a:gd name="T17" fmla="*/ 18 h 52"/>
                  <a:gd name="T18" fmla="*/ 47 w 52"/>
                  <a:gd name="T19" fmla="*/ 18 h 52"/>
                  <a:gd name="T20" fmla="*/ 47 w 52"/>
                  <a:gd name="T21" fmla="*/ 18 h 52"/>
                  <a:gd name="T22" fmla="*/ 49 w 52"/>
                  <a:gd name="T23" fmla="*/ 17 h 52"/>
                  <a:gd name="T24" fmla="*/ 52 w 52"/>
                  <a:gd name="T25" fmla="*/ 14 h 52"/>
                  <a:gd name="T26" fmla="*/ 38 w 52"/>
                  <a:gd name="T27" fmla="*/ 0 h 52"/>
                  <a:gd name="T28" fmla="*/ 36 w 52"/>
                  <a:gd name="T29" fmla="*/ 3 h 52"/>
                  <a:gd name="T30" fmla="*/ 46 w 52"/>
                  <a:gd name="T31" fmla="*/ 13 h 52"/>
                  <a:gd name="T32" fmla="*/ 39 w 52"/>
                  <a:gd name="T33" fmla="*/ 12 h 52"/>
                  <a:gd name="T34" fmla="*/ 13 w 52"/>
                  <a:gd name="T35" fmla="*/ 38 h 52"/>
                  <a:gd name="T36" fmla="*/ 14 w 52"/>
                  <a:gd name="T37" fmla="*/ 46 h 52"/>
                  <a:gd name="T38" fmla="*/ 3 w 52"/>
                  <a:gd name="T39" fmla="*/ 35 h 52"/>
                  <a:gd name="T40" fmla="*/ 0 w 52"/>
                  <a:gd name="T41" fmla="*/ 38 h 52"/>
                  <a:gd name="T42" fmla="*/ 12 w 52"/>
                  <a:gd name="T43" fmla="*/ 49 h 52"/>
                  <a:gd name="T44" fmla="*/ 15 w 52"/>
                  <a:gd name="T45" fmla="*/ 52 h 52"/>
                  <a:gd name="T46" fmla="*/ 19 w 52"/>
                  <a:gd name="T47" fmla="*/ 48 h 52"/>
                  <a:gd name="T48" fmla="*/ 19 w 52"/>
                  <a:gd name="T49" fmla="*/ 48 h 52"/>
                  <a:gd name="T50" fmla="*/ 19 w 52"/>
                  <a:gd name="T51" fmla="*/ 48 h 52"/>
                  <a:gd name="T52" fmla="*/ 29 w 52"/>
                  <a:gd name="T53" fmla="*/ 3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2" h="52">
                    <a:moveTo>
                      <a:pt x="29" y="38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7" y="42"/>
                      <a:pt x="17" y="40"/>
                      <a:pt x="17" y="38"/>
                    </a:cubicBezTo>
                    <a:cubicBezTo>
                      <a:pt x="17" y="26"/>
                      <a:pt x="26" y="16"/>
                      <a:pt x="39" y="16"/>
                    </a:cubicBezTo>
                    <a:cubicBezTo>
                      <a:pt x="41" y="16"/>
                      <a:pt x="42" y="16"/>
                      <a:pt x="44" y="17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9" y="28"/>
                      <a:pt x="39" y="28"/>
                      <a:pt x="39" y="28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48" y="18"/>
                      <a:pt x="47" y="18"/>
                      <a:pt x="47" y="18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2" y="14"/>
                      <a:pt x="52" y="14"/>
                      <a:pt x="52" y="14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4" y="12"/>
                      <a:pt x="41" y="12"/>
                      <a:pt x="39" y="12"/>
                    </a:cubicBezTo>
                    <a:cubicBezTo>
                      <a:pt x="24" y="12"/>
                      <a:pt x="13" y="24"/>
                      <a:pt x="13" y="38"/>
                    </a:cubicBezTo>
                    <a:cubicBezTo>
                      <a:pt x="13" y="41"/>
                      <a:pt x="13" y="43"/>
                      <a:pt x="14" y="46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lnTo>
                      <a:pt x="29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0" name="Freeform 31"/>
              <p:cNvSpPr>
                <a:spLocks noEditPoints="1"/>
              </p:cNvSpPr>
              <p:nvPr/>
            </p:nvSpPr>
            <p:spPr bwMode="auto">
              <a:xfrm>
                <a:off x="2551113" y="255746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8 w 98"/>
                  <a:gd name="T15" fmla="*/ 7 h 112"/>
                  <a:gd name="T16" fmla="*/ 41 w 98"/>
                  <a:gd name="T17" fmla="*/ 4 h 112"/>
                  <a:gd name="T18" fmla="*/ 30 w 98"/>
                  <a:gd name="T19" fmla="*/ 14 h 112"/>
                  <a:gd name="T20" fmla="*/ 30 w 98"/>
                  <a:gd name="T21" fmla="*/ 50 h 112"/>
                  <a:gd name="T22" fmla="*/ 8 w 98"/>
                  <a:gd name="T23" fmla="*/ 42 h 112"/>
                  <a:gd name="T24" fmla="*/ 31 w 98"/>
                  <a:gd name="T25" fmla="*/ 90 h 112"/>
                  <a:gd name="T26" fmla="*/ 65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6 h 112"/>
                  <a:gd name="T54" fmla="*/ 50 w 98"/>
                  <a:gd name="T55" fmla="*/ 56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2 h 112"/>
                  <a:gd name="T64" fmla="*/ 66 w 98"/>
                  <a:gd name="T65" fmla="*/ 52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6 h 112"/>
                  <a:gd name="T74" fmla="*/ 82 w 98"/>
                  <a:gd name="T75" fmla="*/ 56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1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5"/>
                      <a:pt x="62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8" y="66"/>
                      <a:pt x="31" y="90"/>
                    </a:cubicBezTo>
                    <a:cubicBezTo>
                      <a:pt x="40" y="106"/>
                      <a:pt x="52" y="112"/>
                      <a:pt x="65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9" y="62"/>
                      <a:pt x="7" y="50"/>
                      <a:pt x="11" y="45"/>
                    </a:cubicBezTo>
                    <a:cubicBezTo>
                      <a:pt x="16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0" name="Freeform 32"/>
            <p:cNvSpPr>
              <a:spLocks noEditPoints="1"/>
            </p:cNvSpPr>
            <p:nvPr/>
          </p:nvSpPr>
          <p:spPr bwMode="auto">
            <a:xfrm>
              <a:off x="1649861" y="3039669"/>
              <a:ext cx="269875" cy="303213"/>
            </a:xfrm>
            <a:custGeom>
              <a:avLst/>
              <a:gdLst>
                <a:gd name="T0" fmla="*/ 36 w 104"/>
                <a:gd name="T1" fmla="*/ 20 h 116"/>
                <a:gd name="T2" fmla="*/ 8 w 104"/>
                <a:gd name="T3" fmla="*/ 20 h 116"/>
                <a:gd name="T4" fmla="*/ 21 w 104"/>
                <a:gd name="T5" fmla="*/ 33 h 116"/>
                <a:gd name="T6" fmla="*/ 18 w 104"/>
                <a:gd name="T7" fmla="*/ 36 h 116"/>
                <a:gd name="T8" fmla="*/ 0 w 104"/>
                <a:gd name="T9" fmla="*/ 18 h 116"/>
                <a:gd name="T10" fmla="*/ 18 w 104"/>
                <a:gd name="T11" fmla="*/ 0 h 116"/>
                <a:gd name="T12" fmla="*/ 21 w 104"/>
                <a:gd name="T13" fmla="*/ 3 h 116"/>
                <a:gd name="T14" fmla="*/ 8 w 104"/>
                <a:gd name="T15" fmla="*/ 16 h 116"/>
                <a:gd name="T16" fmla="*/ 36 w 104"/>
                <a:gd name="T17" fmla="*/ 16 h 116"/>
                <a:gd name="T18" fmla="*/ 46 w 104"/>
                <a:gd name="T19" fmla="*/ 8 h 116"/>
                <a:gd name="T20" fmla="*/ 56 w 104"/>
                <a:gd name="T21" fmla="*/ 18 h 116"/>
                <a:gd name="T22" fmla="*/ 56 w 104"/>
                <a:gd name="T23" fmla="*/ 38 h 116"/>
                <a:gd name="T24" fmla="*/ 62 w 104"/>
                <a:gd name="T25" fmla="*/ 36 h 116"/>
                <a:gd name="T26" fmla="*/ 71 w 104"/>
                <a:gd name="T27" fmla="*/ 43 h 116"/>
                <a:gd name="T28" fmla="*/ 78 w 104"/>
                <a:gd name="T29" fmla="*/ 40 h 116"/>
                <a:gd name="T30" fmla="*/ 88 w 104"/>
                <a:gd name="T31" fmla="*/ 50 h 116"/>
                <a:gd name="T32" fmla="*/ 88 w 104"/>
                <a:gd name="T33" fmla="*/ 50 h 116"/>
                <a:gd name="T34" fmla="*/ 94 w 104"/>
                <a:gd name="T35" fmla="*/ 48 h 116"/>
                <a:gd name="T36" fmla="*/ 104 w 104"/>
                <a:gd name="T37" fmla="*/ 58 h 116"/>
                <a:gd name="T38" fmla="*/ 104 w 104"/>
                <a:gd name="T39" fmla="*/ 82 h 116"/>
                <a:gd name="T40" fmla="*/ 70 w 104"/>
                <a:gd name="T41" fmla="*/ 116 h 116"/>
                <a:gd name="T42" fmla="*/ 35 w 104"/>
                <a:gd name="T43" fmla="*/ 94 h 116"/>
                <a:gd name="T44" fmla="*/ 14 w 104"/>
                <a:gd name="T45" fmla="*/ 46 h 116"/>
                <a:gd name="T46" fmla="*/ 36 w 104"/>
                <a:gd name="T47" fmla="*/ 53 h 116"/>
                <a:gd name="T48" fmla="*/ 36 w 104"/>
                <a:gd name="T49" fmla="*/ 53 h 116"/>
                <a:gd name="T50" fmla="*/ 36 w 104"/>
                <a:gd name="T51" fmla="*/ 20 h 116"/>
                <a:gd name="T52" fmla="*/ 70 w 104"/>
                <a:gd name="T53" fmla="*/ 112 h 116"/>
                <a:gd name="T54" fmla="*/ 100 w 104"/>
                <a:gd name="T55" fmla="*/ 82 h 116"/>
                <a:gd name="T56" fmla="*/ 100 w 104"/>
                <a:gd name="T57" fmla="*/ 82 h 116"/>
                <a:gd name="T58" fmla="*/ 100 w 104"/>
                <a:gd name="T59" fmla="*/ 67 h 116"/>
                <a:gd name="T60" fmla="*/ 100 w 104"/>
                <a:gd name="T61" fmla="*/ 58 h 116"/>
                <a:gd name="T62" fmla="*/ 94 w 104"/>
                <a:gd name="T63" fmla="*/ 52 h 116"/>
                <a:gd name="T64" fmla="*/ 88 w 104"/>
                <a:gd name="T65" fmla="*/ 58 h 116"/>
                <a:gd name="T66" fmla="*/ 88 w 104"/>
                <a:gd name="T67" fmla="*/ 60 h 116"/>
                <a:gd name="T68" fmla="*/ 84 w 104"/>
                <a:gd name="T69" fmla="*/ 60 h 116"/>
                <a:gd name="T70" fmla="*/ 84 w 104"/>
                <a:gd name="T71" fmla="*/ 50 h 116"/>
                <a:gd name="T72" fmla="*/ 78 w 104"/>
                <a:gd name="T73" fmla="*/ 44 h 116"/>
                <a:gd name="T74" fmla="*/ 72 w 104"/>
                <a:gd name="T75" fmla="*/ 50 h 116"/>
                <a:gd name="T76" fmla="*/ 72 w 104"/>
                <a:gd name="T77" fmla="*/ 56 h 116"/>
                <a:gd name="T78" fmla="*/ 68 w 104"/>
                <a:gd name="T79" fmla="*/ 56 h 116"/>
                <a:gd name="T80" fmla="*/ 68 w 104"/>
                <a:gd name="T81" fmla="*/ 46 h 116"/>
                <a:gd name="T82" fmla="*/ 62 w 104"/>
                <a:gd name="T83" fmla="*/ 40 h 116"/>
                <a:gd name="T84" fmla="*/ 56 w 104"/>
                <a:gd name="T85" fmla="*/ 46 h 116"/>
                <a:gd name="T86" fmla="*/ 56 w 104"/>
                <a:gd name="T87" fmla="*/ 60 h 116"/>
                <a:gd name="T88" fmla="*/ 52 w 104"/>
                <a:gd name="T89" fmla="*/ 60 h 116"/>
                <a:gd name="T90" fmla="*/ 52 w 104"/>
                <a:gd name="T91" fmla="*/ 18 h 116"/>
                <a:gd name="T92" fmla="*/ 46 w 104"/>
                <a:gd name="T93" fmla="*/ 12 h 116"/>
                <a:gd name="T94" fmla="*/ 40 w 104"/>
                <a:gd name="T95" fmla="*/ 18 h 116"/>
                <a:gd name="T96" fmla="*/ 40 w 104"/>
                <a:gd name="T97" fmla="*/ 63 h 116"/>
                <a:gd name="T98" fmla="*/ 17 w 104"/>
                <a:gd name="T99" fmla="*/ 49 h 116"/>
                <a:gd name="T100" fmla="*/ 39 w 104"/>
                <a:gd name="T101" fmla="*/ 92 h 116"/>
                <a:gd name="T102" fmla="*/ 70 w 104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4" h="116">
                  <a:moveTo>
                    <a:pt x="36" y="20"/>
                  </a:moveTo>
                  <a:cubicBezTo>
                    <a:pt x="8" y="20"/>
                    <a:pt x="8" y="20"/>
                    <a:pt x="8" y="20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1"/>
                    <a:pt x="41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6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5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20"/>
                    <a:pt x="36" y="20"/>
                    <a:pt x="36" y="20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7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1" name="Freeform 33"/>
            <p:cNvSpPr>
              <a:spLocks noEditPoints="1"/>
            </p:cNvSpPr>
            <p:nvPr/>
          </p:nvSpPr>
          <p:spPr bwMode="auto">
            <a:xfrm>
              <a:off x="3737053" y="2107975"/>
              <a:ext cx="255588" cy="303213"/>
            </a:xfrm>
            <a:custGeom>
              <a:avLst/>
              <a:gdLst>
                <a:gd name="T0" fmla="*/ 88 w 98"/>
                <a:gd name="T1" fmla="*/ 48 h 116"/>
                <a:gd name="T2" fmla="*/ 82 w 98"/>
                <a:gd name="T3" fmla="*/ 50 h 116"/>
                <a:gd name="T4" fmla="*/ 82 w 98"/>
                <a:gd name="T5" fmla="*/ 50 h 116"/>
                <a:gd name="T6" fmla="*/ 72 w 98"/>
                <a:gd name="T7" fmla="*/ 40 h 116"/>
                <a:gd name="T8" fmla="*/ 66 w 98"/>
                <a:gd name="T9" fmla="*/ 43 h 116"/>
                <a:gd name="T10" fmla="*/ 56 w 98"/>
                <a:gd name="T11" fmla="*/ 36 h 116"/>
                <a:gd name="T12" fmla="*/ 50 w 98"/>
                <a:gd name="T13" fmla="*/ 38 h 116"/>
                <a:gd name="T14" fmla="*/ 50 w 98"/>
                <a:gd name="T15" fmla="*/ 20 h 116"/>
                <a:gd name="T16" fmla="*/ 79 w 98"/>
                <a:gd name="T17" fmla="*/ 20 h 116"/>
                <a:gd name="T18" fmla="*/ 66 w 98"/>
                <a:gd name="T19" fmla="*/ 33 h 116"/>
                <a:gd name="T20" fmla="*/ 69 w 98"/>
                <a:gd name="T21" fmla="*/ 36 h 116"/>
                <a:gd name="T22" fmla="*/ 87 w 98"/>
                <a:gd name="T23" fmla="*/ 18 h 116"/>
                <a:gd name="T24" fmla="*/ 69 w 98"/>
                <a:gd name="T25" fmla="*/ 0 h 116"/>
                <a:gd name="T26" fmla="*/ 66 w 98"/>
                <a:gd name="T27" fmla="*/ 3 h 116"/>
                <a:gd name="T28" fmla="*/ 79 w 98"/>
                <a:gd name="T29" fmla="*/ 16 h 116"/>
                <a:gd name="T30" fmla="*/ 50 w 98"/>
                <a:gd name="T31" fmla="*/ 16 h 116"/>
                <a:gd name="T32" fmla="*/ 40 w 98"/>
                <a:gd name="T33" fmla="*/ 8 h 116"/>
                <a:gd name="T34" fmla="*/ 30 w 98"/>
                <a:gd name="T35" fmla="*/ 18 h 116"/>
                <a:gd name="T36" fmla="*/ 30 w 98"/>
                <a:gd name="T37" fmla="*/ 53 h 116"/>
                <a:gd name="T38" fmla="*/ 8 w 98"/>
                <a:gd name="T39" fmla="*/ 46 h 116"/>
                <a:gd name="T40" fmla="*/ 30 w 98"/>
                <a:gd name="T41" fmla="*/ 94 h 116"/>
                <a:gd name="T42" fmla="*/ 64 w 98"/>
                <a:gd name="T43" fmla="*/ 116 h 116"/>
                <a:gd name="T44" fmla="*/ 98 w 98"/>
                <a:gd name="T45" fmla="*/ 82 h 116"/>
                <a:gd name="T46" fmla="*/ 98 w 98"/>
                <a:gd name="T47" fmla="*/ 58 h 116"/>
                <a:gd name="T48" fmla="*/ 88 w 98"/>
                <a:gd name="T49" fmla="*/ 48 h 116"/>
                <a:gd name="T50" fmla="*/ 94 w 98"/>
                <a:gd name="T51" fmla="*/ 67 h 116"/>
                <a:gd name="T52" fmla="*/ 94 w 98"/>
                <a:gd name="T53" fmla="*/ 82 h 116"/>
                <a:gd name="T54" fmla="*/ 94 w 98"/>
                <a:gd name="T55" fmla="*/ 86 h 116"/>
                <a:gd name="T56" fmla="*/ 94 w 98"/>
                <a:gd name="T57" fmla="*/ 82 h 116"/>
                <a:gd name="T58" fmla="*/ 64 w 98"/>
                <a:gd name="T59" fmla="*/ 112 h 116"/>
                <a:gd name="T60" fmla="*/ 33 w 98"/>
                <a:gd name="T61" fmla="*/ 92 h 116"/>
                <a:gd name="T62" fmla="*/ 11 w 98"/>
                <a:gd name="T63" fmla="*/ 49 h 116"/>
                <a:gd name="T64" fmla="*/ 34 w 98"/>
                <a:gd name="T65" fmla="*/ 63 h 116"/>
                <a:gd name="T66" fmla="*/ 34 w 98"/>
                <a:gd name="T67" fmla="*/ 18 h 116"/>
                <a:gd name="T68" fmla="*/ 40 w 98"/>
                <a:gd name="T69" fmla="*/ 12 h 116"/>
                <a:gd name="T70" fmla="*/ 46 w 98"/>
                <a:gd name="T71" fmla="*/ 18 h 116"/>
                <a:gd name="T72" fmla="*/ 46 w 98"/>
                <a:gd name="T73" fmla="*/ 60 h 116"/>
                <a:gd name="T74" fmla="*/ 50 w 98"/>
                <a:gd name="T75" fmla="*/ 60 h 116"/>
                <a:gd name="T76" fmla="*/ 50 w 98"/>
                <a:gd name="T77" fmla="*/ 46 h 116"/>
                <a:gd name="T78" fmla="*/ 56 w 98"/>
                <a:gd name="T79" fmla="*/ 40 h 116"/>
                <a:gd name="T80" fmla="*/ 62 w 98"/>
                <a:gd name="T81" fmla="*/ 46 h 116"/>
                <a:gd name="T82" fmla="*/ 62 w 98"/>
                <a:gd name="T83" fmla="*/ 56 h 116"/>
                <a:gd name="T84" fmla="*/ 66 w 98"/>
                <a:gd name="T85" fmla="*/ 56 h 116"/>
                <a:gd name="T86" fmla="*/ 66 w 98"/>
                <a:gd name="T87" fmla="*/ 50 h 116"/>
                <a:gd name="T88" fmla="*/ 72 w 98"/>
                <a:gd name="T89" fmla="*/ 44 h 116"/>
                <a:gd name="T90" fmla="*/ 78 w 98"/>
                <a:gd name="T91" fmla="*/ 50 h 116"/>
                <a:gd name="T92" fmla="*/ 78 w 98"/>
                <a:gd name="T93" fmla="*/ 60 h 116"/>
                <a:gd name="T94" fmla="*/ 82 w 98"/>
                <a:gd name="T95" fmla="*/ 60 h 116"/>
                <a:gd name="T96" fmla="*/ 82 w 98"/>
                <a:gd name="T97" fmla="*/ 58 h 116"/>
                <a:gd name="T98" fmla="*/ 88 w 98"/>
                <a:gd name="T99" fmla="*/ 52 h 116"/>
                <a:gd name="T100" fmla="*/ 94 w 98"/>
                <a:gd name="T101" fmla="*/ 58 h 116"/>
                <a:gd name="T102" fmla="*/ 94 w 98"/>
                <a:gd name="T103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6">
                  <a:moveTo>
                    <a:pt x="88" y="48"/>
                  </a:moveTo>
                  <a:cubicBezTo>
                    <a:pt x="86" y="48"/>
                    <a:pt x="86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3"/>
                  </a:cubicBezTo>
                  <a:cubicBezTo>
                    <a:pt x="64" y="39"/>
                    <a:pt x="61" y="36"/>
                    <a:pt x="56" y="36"/>
                  </a:cubicBezTo>
                  <a:cubicBezTo>
                    <a:pt x="54" y="36"/>
                    <a:pt x="54" y="37"/>
                    <a:pt x="50" y="38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9" y="12"/>
                    <a:pt x="45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4" y="41"/>
                    <a:pt x="8" y="46"/>
                  </a:cubicBezTo>
                  <a:cubicBezTo>
                    <a:pt x="0" y="54"/>
                    <a:pt x="17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lose/>
                  <a:moveTo>
                    <a:pt x="94" y="67"/>
                  </a:moveTo>
                  <a:cubicBezTo>
                    <a:pt x="94" y="82"/>
                    <a:pt x="94" y="82"/>
                    <a:pt x="94" y="82"/>
                  </a:cubicBezTo>
                  <a:cubicBezTo>
                    <a:pt x="94" y="82"/>
                    <a:pt x="94" y="86"/>
                    <a:pt x="94" y="86"/>
                  </a:cubicBezTo>
                  <a:cubicBezTo>
                    <a:pt x="94" y="86"/>
                    <a:pt x="94" y="82"/>
                    <a:pt x="94" y="82"/>
                  </a:cubicBezTo>
                  <a:cubicBezTo>
                    <a:pt x="94" y="98"/>
                    <a:pt x="81" y="112"/>
                    <a:pt x="64" y="112"/>
                  </a:cubicBezTo>
                  <a:cubicBezTo>
                    <a:pt x="49" y="112"/>
                    <a:pt x="41" y="104"/>
                    <a:pt x="33" y="92"/>
                  </a:cubicBezTo>
                  <a:cubicBezTo>
                    <a:pt x="18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43"/>
                    <a:pt x="53" y="40"/>
                    <a:pt x="56" y="40"/>
                  </a:cubicBezTo>
                  <a:cubicBezTo>
                    <a:pt x="59" y="40"/>
                    <a:pt x="62" y="43"/>
                    <a:pt x="62" y="4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lnTo>
                    <a:pt x="94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2" name="Freeform 34"/>
            <p:cNvSpPr>
              <a:spLocks noEditPoints="1"/>
            </p:cNvSpPr>
            <p:nvPr/>
          </p:nvSpPr>
          <p:spPr bwMode="auto">
            <a:xfrm>
              <a:off x="7419976" y="4191695"/>
              <a:ext cx="254000" cy="280988"/>
            </a:xfrm>
            <a:custGeom>
              <a:avLst/>
              <a:gdLst>
                <a:gd name="T0" fmla="*/ 66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2 w 98"/>
                <a:gd name="T51" fmla="*/ 104 h 108"/>
                <a:gd name="T52" fmla="*/ 62 w 98"/>
                <a:gd name="T53" fmla="*/ 68 h 108"/>
                <a:gd name="T54" fmla="*/ 49 w 98"/>
                <a:gd name="T55" fmla="*/ 81 h 108"/>
                <a:gd name="T56" fmla="*/ 46 w 98"/>
                <a:gd name="T57" fmla="*/ 78 h 108"/>
                <a:gd name="T58" fmla="*/ 64 w 98"/>
                <a:gd name="T59" fmla="*/ 60 h 108"/>
                <a:gd name="T60" fmla="*/ 82 w 98"/>
                <a:gd name="T61" fmla="*/ 78 h 108"/>
                <a:gd name="T62" fmla="*/ 79 w 98"/>
                <a:gd name="T63" fmla="*/ 81 h 108"/>
                <a:gd name="T64" fmla="*/ 66 w 98"/>
                <a:gd name="T65" fmla="*/ 68 h 108"/>
                <a:gd name="T66" fmla="*/ 66 w 98"/>
                <a:gd name="T67" fmla="*/ 104 h 108"/>
                <a:gd name="T68" fmla="*/ 98 w 98"/>
                <a:gd name="T69" fmla="*/ 74 h 108"/>
                <a:gd name="T70" fmla="*/ 64 w 98"/>
                <a:gd name="T71" fmla="*/ 108 h 108"/>
                <a:gd name="T72" fmla="*/ 30 w 98"/>
                <a:gd name="T73" fmla="*/ 86 h 108"/>
                <a:gd name="T74" fmla="*/ 8 w 98"/>
                <a:gd name="T75" fmla="*/ 38 h 108"/>
                <a:gd name="T76" fmla="*/ 30 w 98"/>
                <a:gd name="T77" fmla="*/ 45 h 108"/>
                <a:gd name="T78" fmla="*/ 30 w 98"/>
                <a:gd name="T79" fmla="*/ 45 h 108"/>
                <a:gd name="T80" fmla="*/ 30 w 98"/>
                <a:gd name="T81" fmla="*/ 10 h 108"/>
                <a:gd name="T82" fmla="*/ 40 w 98"/>
                <a:gd name="T83" fmla="*/ 0 h 108"/>
                <a:gd name="T84" fmla="*/ 50 w 98"/>
                <a:gd name="T85" fmla="*/ 10 h 108"/>
                <a:gd name="T86" fmla="*/ 50 w 98"/>
                <a:gd name="T87" fmla="*/ 30 h 108"/>
                <a:gd name="T88" fmla="*/ 56 w 98"/>
                <a:gd name="T89" fmla="*/ 28 h 108"/>
                <a:gd name="T90" fmla="*/ 66 w 98"/>
                <a:gd name="T91" fmla="*/ 35 h 108"/>
                <a:gd name="T92" fmla="*/ 72 w 98"/>
                <a:gd name="T93" fmla="*/ 32 h 108"/>
                <a:gd name="T94" fmla="*/ 82 w 98"/>
                <a:gd name="T95" fmla="*/ 42 h 108"/>
                <a:gd name="T96" fmla="*/ 82 w 98"/>
                <a:gd name="T97" fmla="*/ 42 h 108"/>
                <a:gd name="T98" fmla="*/ 88 w 98"/>
                <a:gd name="T99" fmla="*/ 40 h 108"/>
                <a:gd name="T100" fmla="*/ 98 w 98"/>
                <a:gd name="T101" fmla="*/ 50 h 108"/>
                <a:gd name="T102" fmla="*/ 98 w 98"/>
                <a:gd name="T103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08">
                  <a:moveTo>
                    <a:pt x="66" y="104"/>
                  </a:moveTo>
                  <a:cubicBezTo>
                    <a:pt x="82" y="103"/>
                    <a:pt x="94" y="89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5"/>
                    <a:pt x="48" y="103"/>
                    <a:pt x="62" y="104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6" y="104"/>
                    <a:pt x="66" y="104"/>
                    <a:pt x="66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Freeform 35"/>
            <p:cNvSpPr>
              <a:spLocks noEditPoints="1"/>
            </p:cNvSpPr>
            <p:nvPr/>
          </p:nvSpPr>
          <p:spPr bwMode="auto">
            <a:xfrm>
              <a:off x="3619622" y="592634"/>
              <a:ext cx="254000" cy="280988"/>
            </a:xfrm>
            <a:custGeom>
              <a:avLst/>
              <a:gdLst>
                <a:gd name="T0" fmla="*/ 88 w 98"/>
                <a:gd name="T1" fmla="*/ 40 h 108"/>
                <a:gd name="T2" fmla="*/ 82 w 98"/>
                <a:gd name="T3" fmla="*/ 42 h 108"/>
                <a:gd name="T4" fmla="*/ 82 w 98"/>
                <a:gd name="T5" fmla="*/ 42 h 108"/>
                <a:gd name="T6" fmla="*/ 72 w 98"/>
                <a:gd name="T7" fmla="*/ 32 h 108"/>
                <a:gd name="T8" fmla="*/ 65 w 98"/>
                <a:gd name="T9" fmla="*/ 35 h 108"/>
                <a:gd name="T10" fmla="*/ 56 w 98"/>
                <a:gd name="T11" fmla="*/ 28 h 108"/>
                <a:gd name="T12" fmla="*/ 50 w 98"/>
                <a:gd name="T13" fmla="*/ 30 h 108"/>
                <a:gd name="T14" fmla="*/ 50 w 98"/>
                <a:gd name="T15" fmla="*/ 10 h 108"/>
                <a:gd name="T16" fmla="*/ 40 w 98"/>
                <a:gd name="T17" fmla="*/ 0 h 108"/>
                <a:gd name="T18" fmla="*/ 30 w 98"/>
                <a:gd name="T19" fmla="*/ 10 h 108"/>
                <a:gd name="T20" fmla="*/ 30 w 98"/>
                <a:gd name="T21" fmla="*/ 45 h 108"/>
                <a:gd name="T22" fmla="*/ 8 w 98"/>
                <a:gd name="T23" fmla="*/ 38 h 108"/>
                <a:gd name="T24" fmla="*/ 29 w 98"/>
                <a:gd name="T25" fmla="*/ 86 h 108"/>
                <a:gd name="T26" fmla="*/ 64 w 98"/>
                <a:gd name="T27" fmla="*/ 108 h 108"/>
                <a:gd name="T28" fmla="*/ 98 w 98"/>
                <a:gd name="T29" fmla="*/ 74 h 108"/>
                <a:gd name="T30" fmla="*/ 98 w 98"/>
                <a:gd name="T31" fmla="*/ 50 h 108"/>
                <a:gd name="T32" fmla="*/ 88 w 98"/>
                <a:gd name="T33" fmla="*/ 40 h 108"/>
                <a:gd name="T34" fmla="*/ 94 w 98"/>
                <a:gd name="T35" fmla="*/ 59 h 108"/>
                <a:gd name="T36" fmla="*/ 94 w 98"/>
                <a:gd name="T37" fmla="*/ 74 h 108"/>
                <a:gd name="T38" fmla="*/ 64 w 98"/>
                <a:gd name="T39" fmla="*/ 104 h 108"/>
                <a:gd name="T40" fmla="*/ 33 w 98"/>
                <a:gd name="T41" fmla="*/ 84 h 108"/>
                <a:gd name="T42" fmla="*/ 11 w 98"/>
                <a:gd name="T43" fmla="*/ 41 h 108"/>
                <a:gd name="T44" fmla="*/ 34 w 98"/>
                <a:gd name="T45" fmla="*/ 55 h 108"/>
                <a:gd name="T46" fmla="*/ 34 w 98"/>
                <a:gd name="T47" fmla="*/ 10 h 108"/>
                <a:gd name="T48" fmla="*/ 40 w 98"/>
                <a:gd name="T49" fmla="*/ 4 h 108"/>
                <a:gd name="T50" fmla="*/ 46 w 98"/>
                <a:gd name="T51" fmla="*/ 10 h 108"/>
                <a:gd name="T52" fmla="*/ 46 w 98"/>
                <a:gd name="T53" fmla="*/ 52 h 108"/>
                <a:gd name="T54" fmla="*/ 50 w 98"/>
                <a:gd name="T55" fmla="*/ 52 h 108"/>
                <a:gd name="T56" fmla="*/ 50 w 98"/>
                <a:gd name="T57" fmla="*/ 38 h 108"/>
                <a:gd name="T58" fmla="*/ 56 w 98"/>
                <a:gd name="T59" fmla="*/ 32 h 108"/>
                <a:gd name="T60" fmla="*/ 62 w 98"/>
                <a:gd name="T61" fmla="*/ 38 h 108"/>
                <a:gd name="T62" fmla="*/ 62 w 98"/>
                <a:gd name="T63" fmla="*/ 48 h 108"/>
                <a:gd name="T64" fmla="*/ 62 w 98"/>
                <a:gd name="T65" fmla="*/ 84 h 108"/>
                <a:gd name="T66" fmla="*/ 49 w 98"/>
                <a:gd name="T67" fmla="*/ 71 h 108"/>
                <a:gd name="T68" fmla="*/ 46 w 98"/>
                <a:gd name="T69" fmla="*/ 74 h 108"/>
                <a:gd name="T70" fmla="*/ 64 w 98"/>
                <a:gd name="T71" fmla="*/ 92 h 108"/>
                <a:gd name="T72" fmla="*/ 82 w 98"/>
                <a:gd name="T73" fmla="*/ 74 h 108"/>
                <a:gd name="T74" fmla="*/ 79 w 98"/>
                <a:gd name="T75" fmla="*/ 71 h 108"/>
                <a:gd name="T76" fmla="*/ 66 w 98"/>
                <a:gd name="T77" fmla="*/ 84 h 108"/>
                <a:gd name="T78" fmla="*/ 66 w 98"/>
                <a:gd name="T79" fmla="*/ 48 h 108"/>
                <a:gd name="T80" fmla="*/ 66 w 98"/>
                <a:gd name="T81" fmla="*/ 42 h 108"/>
                <a:gd name="T82" fmla="*/ 72 w 98"/>
                <a:gd name="T83" fmla="*/ 36 h 108"/>
                <a:gd name="T84" fmla="*/ 78 w 98"/>
                <a:gd name="T85" fmla="*/ 42 h 108"/>
                <a:gd name="T86" fmla="*/ 78 w 98"/>
                <a:gd name="T87" fmla="*/ 52 h 108"/>
                <a:gd name="T88" fmla="*/ 82 w 98"/>
                <a:gd name="T89" fmla="*/ 52 h 108"/>
                <a:gd name="T90" fmla="*/ 82 w 98"/>
                <a:gd name="T91" fmla="*/ 50 h 108"/>
                <a:gd name="T92" fmla="*/ 88 w 98"/>
                <a:gd name="T93" fmla="*/ 44 h 108"/>
                <a:gd name="T94" fmla="*/ 94 w 98"/>
                <a:gd name="T95" fmla="*/ 50 h 108"/>
                <a:gd name="T96" fmla="*/ 94 w 98"/>
                <a:gd name="T97" fmla="*/ 5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08">
                  <a:moveTo>
                    <a:pt x="88" y="40"/>
                  </a:moveTo>
                  <a:cubicBezTo>
                    <a:pt x="86" y="40"/>
                    <a:pt x="82" y="41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36"/>
                    <a:pt x="78" y="32"/>
                    <a:pt x="72" y="32"/>
                  </a:cubicBezTo>
                  <a:cubicBezTo>
                    <a:pt x="70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2" y="38"/>
                    <a:pt x="13" y="33"/>
                    <a:pt x="8" y="38"/>
                  </a:cubicBezTo>
                  <a:cubicBezTo>
                    <a:pt x="0" y="46"/>
                    <a:pt x="16" y="62"/>
                    <a:pt x="29" y="86"/>
                  </a:cubicBezTo>
                  <a:cubicBezTo>
                    <a:pt x="39" y="102"/>
                    <a:pt x="52" y="108"/>
                    <a:pt x="64" y="108"/>
                  </a:cubicBezTo>
                  <a:cubicBezTo>
                    <a:pt x="83" y="108"/>
                    <a:pt x="98" y="93"/>
                    <a:pt x="98" y="74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5"/>
                    <a:pt x="94" y="40"/>
                    <a:pt x="88" y="40"/>
                  </a:cubicBezTo>
                  <a:close/>
                  <a:moveTo>
                    <a:pt x="94" y="59"/>
                  </a:moveTo>
                  <a:cubicBezTo>
                    <a:pt x="94" y="74"/>
                    <a:pt x="94" y="74"/>
                    <a:pt x="94" y="74"/>
                  </a:cubicBezTo>
                  <a:cubicBezTo>
                    <a:pt x="94" y="90"/>
                    <a:pt x="81" y="104"/>
                    <a:pt x="64" y="104"/>
                  </a:cubicBezTo>
                  <a:cubicBezTo>
                    <a:pt x="49" y="104"/>
                    <a:pt x="40" y="96"/>
                    <a:pt x="33" y="84"/>
                  </a:cubicBezTo>
                  <a:cubicBezTo>
                    <a:pt x="17" y="58"/>
                    <a:pt x="6" y="46"/>
                    <a:pt x="11" y="41"/>
                  </a:cubicBezTo>
                  <a:cubicBezTo>
                    <a:pt x="15" y="37"/>
                    <a:pt x="26" y="46"/>
                    <a:pt x="34" y="5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79" y="71"/>
                    <a:pt x="79" y="71"/>
                    <a:pt x="79" y="71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7"/>
                    <a:pt x="85" y="44"/>
                    <a:pt x="88" y="44"/>
                  </a:cubicBezTo>
                  <a:cubicBezTo>
                    <a:pt x="91" y="44"/>
                    <a:pt x="94" y="47"/>
                    <a:pt x="94" y="50"/>
                  </a:cubicBezTo>
                  <a:lnTo>
                    <a:pt x="94" y="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4" name="Freeform 36"/>
            <p:cNvSpPr>
              <a:spLocks noEditPoints="1"/>
            </p:cNvSpPr>
            <p:nvPr/>
          </p:nvSpPr>
          <p:spPr bwMode="auto">
            <a:xfrm>
              <a:off x="9288155" y="3676336"/>
              <a:ext cx="255588" cy="280988"/>
            </a:xfrm>
            <a:custGeom>
              <a:avLst/>
              <a:gdLst>
                <a:gd name="T0" fmla="*/ 64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4 w 98"/>
                <a:gd name="T51" fmla="*/ 104 h 108"/>
                <a:gd name="T52" fmla="*/ 64 w 98"/>
                <a:gd name="T53" fmla="*/ 104 h 108"/>
                <a:gd name="T54" fmla="*/ 98 w 98"/>
                <a:gd name="T55" fmla="*/ 74 h 108"/>
                <a:gd name="T56" fmla="*/ 64 w 98"/>
                <a:gd name="T57" fmla="*/ 108 h 108"/>
                <a:gd name="T58" fmla="*/ 30 w 98"/>
                <a:gd name="T59" fmla="*/ 86 h 108"/>
                <a:gd name="T60" fmla="*/ 8 w 98"/>
                <a:gd name="T61" fmla="*/ 38 h 108"/>
                <a:gd name="T62" fmla="*/ 30 w 98"/>
                <a:gd name="T63" fmla="*/ 45 h 108"/>
                <a:gd name="T64" fmla="*/ 30 w 98"/>
                <a:gd name="T65" fmla="*/ 45 h 108"/>
                <a:gd name="T66" fmla="*/ 30 w 98"/>
                <a:gd name="T67" fmla="*/ 10 h 108"/>
                <a:gd name="T68" fmla="*/ 40 w 98"/>
                <a:gd name="T69" fmla="*/ 0 h 108"/>
                <a:gd name="T70" fmla="*/ 50 w 98"/>
                <a:gd name="T71" fmla="*/ 10 h 108"/>
                <a:gd name="T72" fmla="*/ 50 w 98"/>
                <a:gd name="T73" fmla="*/ 30 h 108"/>
                <a:gd name="T74" fmla="*/ 56 w 98"/>
                <a:gd name="T75" fmla="*/ 28 h 108"/>
                <a:gd name="T76" fmla="*/ 66 w 98"/>
                <a:gd name="T77" fmla="*/ 35 h 108"/>
                <a:gd name="T78" fmla="*/ 72 w 98"/>
                <a:gd name="T79" fmla="*/ 32 h 108"/>
                <a:gd name="T80" fmla="*/ 82 w 98"/>
                <a:gd name="T81" fmla="*/ 42 h 108"/>
                <a:gd name="T82" fmla="*/ 82 w 98"/>
                <a:gd name="T83" fmla="*/ 42 h 108"/>
                <a:gd name="T84" fmla="*/ 88 w 98"/>
                <a:gd name="T85" fmla="*/ 40 h 108"/>
                <a:gd name="T86" fmla="*/ 98 w 98"/>
                <a:gd name="T87" fmla="*/ 50 h 108"/>
                <a:gd name="T88" fmla="*/ 98 w 98"/>
                <a:gd name="T89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108">
                  <a:moveTo>
                    <a:pt x="64" y="104"/>
                  </a:moveTo>
                  <a:cubicBezTo>
                    <a:pt x="81" y="104"/>
                    <a:pt x="94" y="90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6"/>
                    <a:pt x="49" y="104"/>
                    <a:pt x="64" y="104"/>
                  </a:cubicBezTo>
                  <a:cubicBezTo>
                    <a:pt x="64" y="104"/>
                    <a:pt x="64" y="104"/>
                    <a:pt x="64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5" name="Freeform 37"/>
            <p:cNvSpPr>
              <a:spLocks noEditPoints="1"/>
            </p:cNvSpPr>
            <p:nvPr/>
          </p:nvSpPr>
          <p:spPr bwMode="auto">
            <a:xfrm>
              <a:off x="320572" y="184483"/>
              <a:ext cx="254000" cy="322263"/>
            </a:xfrm>
            <a:custGeom>
              <a:avLst/>
              <a:gdLst>
                <a:gd name="T0" fmla="*/ 66 w 98"/>
                <a:gd name="T1" fmla="*/ 26 h 124"/>
                <a:gd name="T2" fmla="*/ 14 w 98"/>
                <a:gd name="T3" fmla="*/ 26 h 124"/>
                <a:gd name="T4" fmla="*/ 26 w 98"/>
                <a:gd name="T5" fmla="*/ 43 h 124"/>
                <a:gd name="T6" fmla="*/ 40 w 98"/>
                <a:gd name="T7" fmla="*/ 4 h 124"/>
                <a:gd name="T8" fmla="*/ 57 w 98"/>
                <a:gd name="T9" fmla="*/ 40 h 124"/>
                <a:gd name="T10" fmla="*/ 61 w 98"/>
                <a:gd name="T11" fmla="*/ 41 h 124"/>
                <a:gd name="T12" fmla="*/ 58 w 98"/>
                <a:gd name="T13" fmla="*/ 26 h 124"/>
                <a:gd name="T14" fmla="*/ 22 w 98"/>
                <a:gd name="T15" fmla="*/ 26 h 124"/>
                <a:gd name="T16" fmla="*/ 26 w 98"/>
                <a:gd name="T17" fmla="*/ 26 h 124"/>
                <a:gd name="T18" fmla="*/ 54 w 98"/>
                <a:gd name="T19" fmla="*/ 26 h 124"/>
                <a:gd name="T20" fmla="*/ 54 w 98"/>
                <a:gd name="T21" fmla="*/ 37 h 124"/>
                <a:gd name="T22" fmla="*/ 94 w 98"/>
                <a:gd name="T23" fmla="*/ 90 h 124"/>
                <a:gd name="T24" fmla="*/ 94 w 98"/>
                <a:gd name="T25" fmla="*/ 75 h 124"/>
                <a:gd name="T26" fmla="*/ 88 w 98"/>
                <a:gd name="T27" fmla="*/ 60 h 124"/>
                <a:gd name="T28" fmla="*/ 82 w 98"/>
                <a:gd name="T29" fmla="*/ 68 h 124"/>
                <a:gd name="T30" fmla="*/ 78 w 98"/>
                <a:gd name="T31" fmla="*/ 58 h 124"/>
                <a:gd name="T32" fmla="*/ 66 w 98"/>
                <a:gd name="T33" fmla="*/ 58 h 124"/>
                <a:gd name="T34" fmla="*/ 62 w 98"/>
                <a:gd name="T35" fmla="*/ 64 h 124"/>
                <a:gd name="T36" fmla="*/ 56 w 98"/>
                <a:gd name="T37" fmla="*/ 48 h 124"/>
                <a:gd name="T38" fmla="*/ 50 w 98"/>
                <a:gd name="T39" fmla="*/ 68 h 124"/>
                <a:gd name="T40" fmla="*/ 46 w 98"/>
                <a:gd name="T41" fmla="*/ 26 h 124"/>
                <a:gd name="T42" fmla="*/ 34 w 98"/>
                <a:gd name="T43" fmla="*/ 26 h 124"/>
                <a:gd name="T44" fmla="*/ 11 w 98"/>
                <a:gd name="T45" fmla="*/ 57 h 124"/>
                <a:gd name="T46" fmla="*/ 64 w 98"/>
                <a:gd name="T47" fmla="*/ 120 h 124"/>
                <a:gd name="T48" fmla="*/ 64 w 98"/>
                <a:gd name="T49" fmla="*/ 124 h 124"/>
                <a:gd name="T50" fmla="*/ 8 w 98"/>
                <a:gd name="T51" fmla="*/ 54 h 124"/>
                <a:gd name="T52" fmla="*/ 30 w 98"/>
                <a:gd name="T53" fmla="*/ 61 h 124"/>
                <a:gd name="T54" fmla="*/ 40 w 98"/>
                <a:gd name="T55" fmla="*/ 16 h 124"/>
                <a:gd name="T56" fmla="*/ 50 w 98"/>
                <a:gd name="T57" fmla="*/ 46 h 124"/>
                <a:gd name="T58" fmla="*/ 66 w 98"/>
                <a:gd name="T59" fmla="*/ 51 h 124"/>
                <a:gd name="T60" fmla="*/ 82 w 98"/>
                <a:gd name="T61" fmla="*/ 58 h 124"/>
                <a:gd name="T62" fmla="*/ 88 w 98"/>
                <a:gd name="T63" fmla="*/ 56 h 124"/>
                <a:gd name="T64" fmla="*/ 98 w 98"/>
                <a:gd name="T65" fmla="*/ 9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8" h="124">
                  <a:moveTo>
                    <a:pt x="61" y="41"/>
                  </a:moveTo>
                  <a:cubicBezTo>
                    <a:pt x="64" y="37"/>
                    <a:pt x="66" y="32"/>
                    <a:pt x="66" y="26"/>
                  </a:cubicBezTo>
                  <a:cubicBezTo>
                    <a:pt x="66" y="12"/>
                    <a:pt x="55" y="0"/>
                    <a:pt x="40" y="0"/>
                  </a:cubicBezTo>
                  <a:cubicBezTo>
                    <a:pt x="26" y="0"/>
                    <a:pt x="14" y="12"/>
                    <a:pt x="14" y="26"/>
                  </a:cubicBezTo>
                  <a:cubicBezTo>
                    <a:pt x="14" y="35"/>
                    <a:pt x="19" y="43"/>
                    <a:pt x="26" y="48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1" y="39"/>
                    <a:pt x="18" y="33"/>
                    <a:pt x="18" y="26"/>
                  </a:cubicBezTo>
                  <a:cubicBezTo>
                    <a:pt x="18" y="14"/>
                    <a:pt x="28" y="4"/>
                    <a:pt x="40" y="4"/>
                  </a:cubicBezTo>
                  <a:cubicBezTo>
                    <a:pt x="52" y="4"/>
                    <a:pt x="62" y="14"/>
                    <a:pt x="62" y="26"/>
                  </a:cubicBezTo>
                  <a:cubicBezTo>
                    <a:pt x="62" y="31"/>
                    <a:pt x="60" y="36"/>
                    <a:pt x="57" y="40"/>
                  </a:cubicBezTo>
                  <a:cubicBezTo>
                    <a:pt x="59" y="40"/>
                    <a:pt x="60" y="40"/>
                    <a:pt x="61" y="41"/>
                  </a:cubicBezTo>
                  <a:cubicBezTo>
                    <a:pt x="61" y="41"/>
                    <a:pt x="61" y="41"/>
                    <a:pt x="61" y="41"/>
                  </a:cubicBezTo>
                  <a:close/>
                  <a:moveTo>
                    <a:pt x="54" y="37"/>
                  </a:moveTo>
                  <a:cubicBezTo>
                    <a:pt x="57" y="34"/>
                    <a:pt x="58" y="30"/>
                    <a:pt x="58" y="26"/>
                  </a:cubicBezTo>
                  <a:cubicBezTo>
                    <a:pt x="58" y="16"/>
                    <a:pt x="50" y="8"/>
                    <a:pt x="40" y="8"/>
                  </a:cubicBezTo>
                  <a:cubicBezTo>
                    <a:pt x="30" y="8"/>
                    <a:pt x="22" y="16"/>
                    <a:pt x="22" y="26"/>
                  </a:cubicBezTo>
                  <a:cubicBezTo>
                    <a:pt x="22" y="30"/>
                    <a:pt x="24" y="34"/>
                    <a:pt x="26" y="37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18"/>
                    <a:pt x="33" y="12"/>
                    <a:pt x="40" y="12"/>
                  </a:cubicBezTo>
                  <a:cubicBezTo>
                    <a:pt x="48" y="12"/>
                    <a:pt x="54" y="18"/>
                    <a:pt x="54" y="26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lose/>
                  <a:moveTo>
                    <a:pt x="64" y="120"/>
                  </a:moveTo>
                  <a:cubicBezTo>
                    <a:pt x="81" y="120"/>
                    <a:pt x="94" y="106"/>
                    <a:pt x="94" y="90"/>
                  </a:cubicBezTo>
                  <a:cubicBezTo>
                    <a:pt x="94" y="90"/>
                    <a:pt x="94" y="99"/>
                    <a:pt x="94" y="90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94" y="63"/>
                    <a:pt x="92" y="60"/>
                    <a:pt x="88" y="60"/>
                  </a:cubicBezTo>
                  <a:cubicBezTo>
                    <a:pt x="85" y="60"/>
                    <a:pt x="82" y="63"/>
                    <a:pt x="82" y="66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55"/>
                    <a:pt x="76" y="52"/>
                    <a:pt x="72" y="52"/>
                  </a:cubicBezTo>
                  <a:cubicBezTo>
                    <a:pt x="69" y="52"/>
                    <a:pt x="66" y="55"/>
                    <a:pt x="66" y="58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2" y="51"/>
                    <a:pt x="60" y="48"/>
                    <a:pt x="56" y="48"/>
                  </a:cubicBezTo>
                  <a:cubicBezTo>
                    <a:pt x="53" y="48"/>
                    <a:pt x="50" y="51"/>
                    <a:pt x="50" y="54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46" y="68"/>
                    <a:pt x="46" y="68"/>
                    <a:pt x="46" y="68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3"/>
                    <a:pt x="44" y="20"/>
                    <a:pt x="40" y="20"/>
                  </a:cubicBezTo>
                  <a:cubicBezTo>
                    <a:pt x="37" y="20"/>
                    <a:pt x="34" y="23"/>
                    <a:pt x="34" y="26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26" y="62"/>
                    <a:pt x="15" y="53"/>
                    <a:pt x="11" y="57"/>
                  </a:cubicBezTo>
                  <a:cubicBezTo>
                    <a:pt x="6" y="62"/>
                    <a:pt x="18" y="74"/>
                    <a:pt x="33" y="100"/>
                  </a:cubicBezTo>
                  <a:cubicBezTo>
                    <a:pt x="40" y="112"/>
                    <a:pt x="49" y="120"/>
                    <a:pt x="64" y="120"/>
                  </a:cubicBezTo>
                  <a:close/>
                  <a:moveTo>
                    <a:pt x="98" y="90"/>
                  </a:moveTo>
                  <a:cubicBezTo>
                    <a:pt x="98" y="109"/>
                    <a:pt x="83" y="124"/>
                    <a:pt x="64" y="124"/>
                  </a:cubicBezTo>
                  <a:cubicBezTo>
                    <a:pt x="52" y="124"/>
                    <a:pt x="39" y="118"/>
                    <a:pt x="30" y="102"/>
                  </a:cubicBezTo>
                  <a:cubicBezTo>
                    <a:pt x="17" y="78"/>
                    <a:pt x="0" y="62"/>
                    <a:pt x="8" y="54"/>
                  </a:cubicBezTo>
                  <a:cubicBezTo>
                    <a:pt x="14" y="49"/>
                    <a:pt x="22" y="54"/>
                    <a:pt x="30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0"/>
                    <a:pt x="35" y="16"/>
                    <a:pt x="40" y="16"/>
                  </a:cubicBezTo>
                  <a:cubicBezTo>
                    <a:pt x="46" y="16"/>
                    <a:pt x="50" y="20"/>
                    <a:pt x="50" y="2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2" y="45"/>
                    <a:pt x="54" y="44"/>
                    <a:pt x="56" y="44"/>
                  </a:cubicBezTo>
                  <a:cubicBezTo>
                    <a:pt x="61" y="44"/>
                    <a:pt x="64" y="47"/>
                    <a:pt x="66" y="51"/>
                  </a:cubicBezTo>
                  <a:cubicBezTo>
                    <a:pt x="67" y="49"/>
                    <a:pt x="70" y="48"/>
                    <a:pt x="72" y="48"/>
                  </a:cubicBezTo>
                  <a:cubicBezTo>
                    <a:pt x="78" y="48"/>
                    <a:pt x="82" y="52"/>
                    <a:pt x="82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4" y="57"/>
                    <a:pt x="86" y="56"/>
                    <a:pt x="88" y="56"/>
                  </a:cubicBezTo>
                  <a:cubicBezTo>
                    <a:pt x="94" y="56"/>
                    <a:pt x="98" y="61"/>
                    <a:pt x="98" y="66"/>
                  </a:cubicBezTo>
                  <a:cubicBezTo>
                    <a:pt x="98" y="90"/>
                    <a:pt x="98" y="90"/>
                    <a:pt x="98" y="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6" name="Freeform 38"/>
            <p:cNvSpPr>
              <a:spLocks noEditPoints="1"/>
            </p:cNvSpPr>
            <p:nvPr/>
          </p:nvSpPr>
          <p:spPr bwMode="auto">
            <a:xfrm>
              <a:off x="8269432" y="4112575"/>
              <a:ext cx="254000" cy="303213"/>
            </a:xfrm>
            <a:custGeom>
              <a:avLst/>
              <a:gdLst>
                <a:gd name="T0" fmla="*/ 54 w 98"/>
                <a:gd name="T1" fmla="*/ 29 h 116"/>
                <a:gd name="T2" fmla="*/ 58 w 98"/>
                <a:gd name="T3" fmla="*/ 18 h 116"/>
                <a:gd name="T4" fmla="*/ 40 w 98"/>
                <a:gd name="T5" fmla="*/ 0 h 116"/>
                <a:gd name="T6" fmla="*/ 22 w 98"/>
                <a:gd name="T7" fmla="*/ 18 h 116"/>
                <a:gd name="T8" fmla="*/ 26 w 98"/>
                <a:gd name="T9" fmla="*/ 29 h 116"/>
                <a:gd name="T10" fmla="*/ 26 w 98"/>
                <a:gd name="T11" fmla="*/ 18 h 116"/>
                <a:gd name="T12" fmla="*/ 40 w 98"/>
                <a:gd name="T13" fmla="*/ 4 h 116"/>
                <a:gd name="T14" fmla="*/ 54 w 98"/>
                <a:gd name="T15" fmla="*/ 18 h 116"/>
                <a:gd name="T16" fmla="*/ 54 w 98"/>
                <a:gd name="T17" fmla="*/ 29 h 116"/>
                <a:gd name="T18" fmla="*/ 54 w 98"/>
                <a:gd name="T19" fmla="*/ 29 h 116"/>
                <a:gd name="T20" fmla="*/ 64 w 98"/>
                <a:gd name="T21" fmla="*/ 112 h 116"/>
                <a:gd name="T22" fmla="*/ 94 w 98"/>
                <a:gd name="T23" fmla="*/ 82 h 116"/>
                <a:gd name="T24" fmla="*/ 94 w 98"/>
                <a:gd name="T25" fmla="*/ 82 h 116"/>
                <a:gd name="T26" fmla="*/ 94 w 98"/>
                <a:gd name="T27" fmla="*/ 67 h 116"/>
                <a:gd name="T28" fmla="*/ 94 w 98"/>
                <a:gd name="T29" fmla="*/ 58 h 116"/>
                <a:gd name="T30" fmla="*/ 88 w 98"/>
                <a:gd name="T31" fmla="*/ 52 h 116"/>
                <a:gd name="T32" fmla="*/ 82 w 98"/>
                <a:gd name="T33" fmla="*/ 58 h 116"/>
                <a:gd name="T34" fmla="*/ 82 w 98"/>
                <a:gd name="T35" fmla="*/ 60 h 116"/>
                <a:gd name="T36" fmla="*/ 78 w 98"/>
                <a:gd name="T37" fmla="*/ 60 h 116"/>
                <a:gd name="T38" fmla="*/ 78 w 98"/>
                <a:gd name="T39" fmla="*/ 50 h 116"/>
                <a:gd name="T40" fmla="*/ 72 w 98"/>
                <a:gd name="T41" fmla="*/ 44 h 116"/>
                <a:gd name="T42" fmla="*/ 66 w 98"/>
                <a:gd name="T43" fmla="*/ 50 h 116"/>
                <a:gd name="T44" fmla="*/ 66 w 98"/>
                <a:gd name="T45" fmla="*/ 56 h 116"/>
                <a:gd name="T46" fmla="*/ 62 w 98"/>
                <a:gd name="T47" fmla="*/ 56 h 116"/>
                <a:gd name="T48" fmla="*/ 62 w 98"/>
                <a:gd name="T49" fmla="*/ 46 h 116"/>
                <a:gd name="T50" fmla="*/ 56 w 98"/>
                <a:gd name="T51" fmla="*/ 40 h 116"/>
                <a:gd name="T52" fmla="*/ 50 w 98"/>
                <a:gd name="T53" fmla="*/ 46 h 116"/>
                <a:gd name="T54" fmla="*/ 50 w 98"/>
                <a:gd name="T55" fmla="*/ 60 h 116"/>
                <a:gd name="T56" fmla="*/ 46 w 98"/>
                <a:gd name="T57" fmla="*/ 60 h 116"/>
                <a:gd name="T58" fmla="*/ 46 w 98"/>
                <a:gd name="T59" fmla="*/ 18 h 116"/>
                <a:gd name="T60" fmla="*/ 40 w 98"/>
                <a:gd name="T61" fmla="*/ 12 h 116"/>
                <a:gd name="T62" fmla="*/ 34 w 98"/>
                <a:gd name="T63" fmla="*/ 18 h 116"/>
                <a:gd name="T64" fmla="*/ 34 w 98"/>
                <a:gd name="T65" fmla="*/ 63 h 116"/>
                <a:gd name="T66" fmla="*/ 11 w 98"/>
                <a:gd name="T67" fmla="*/ 49 h 116"/>
                <a:gd name="T68" fmla="*/ 33 w 98"/>
                <a:gd name="T69" fmla="*/ 92 h 116"/>
                <a:gd name="T70" fmla="*/ 64 w 98"/>
                <a:gd name="T71" fmla="*/ 112 h 116"/>
                <a:gd name="T72" fmla="*/ 98 w 98"/>
                <a:gd name="T73" fmla="*/ 82 h 116"/>
                <a:gd name="T74" fmla="*/ 64 w 98"/>
                <a:gd name="T75" fmla="*/ 116 h 116"/>
                <a:gd name="T76" fmla="*/ 30 w 98"/>
                <a:gd name="T77" fmla="*/ 94 h 116"/>
                <a:gd name="T78" fmla="*/ 8 w 98"/>
                <a:gd name="T79" fmla="*/ 46 h 116"/>
                <a:gd name="T80" fmla="*/ 30 w 98"/>
                <a:gd name="T81" fmla="*/ 53 h 116"/>
                <a:gd name="T82" fmla="*/ 30 w 98"/>
                <a:gd name="T83" fmla="*/ 53 h 116"/>
                <a:gd name="T84" fmla="*/ 30 w 98"/>
                <a:gd name="T85" fmla="*/ 18 h 116"/>
                <a:gd name="T86" fmla="*/ 40 w 98"/>
                <a:gd name="T87" fmla="*/ 8 h 116"/>
                <a:gd name="T88" fmla="*/ 50 w 98"/>
                <a:gd name="T89" fmla="*/ 18 h 116"/>
                <a:gd name="T90" fmla="*/ 50 w 98"/>
                <a:gd name="T91" fmla="*/ 38 h 116"/>
                <a:gd name="T92" fmla="*/ 56 w 98"/>
                <a:gd name="T93" fmla="*/ 36 h 116"/>
                <a:gd name="T94" fmla="*/ 66 w 98"/>
                <a:gd name="T95" fmla="*/ 43 h 116"/>
                <a:gd name="T96" fmla="*/ 72 w 98"/>
                <a:gd name="T97" fmla="*/ 40 h 116"/>
                <a:gd name="T98" fmla="*/ 82 w 98"/>
                <a:gd name="T99" fmla="*/ 50 h 116"/>
                <a:gd name="T100" fmla="*/ 82 w 98"/>
                <a:gd name="T101" fmla="*/ 50 h 116"/>
                <a:gd name="T102" fmla="*/ 88 w 98"/>
                <a:gd name="T103" fmla="*/ 48 h 116"/>
                <a:gd name="T104" fmla="*/ 98 w 98"/>
                <a:gd name="T105" fmla="*/ 58 h 116"/>
                <a:gd name="T106" fmla="*/ 98 w 98"/>
                <a:gd name="T107" fmla="*/ 8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8" h="116">
                  <a:moveTo>
                    <a:pt x="54" y="29"/>
                  </a:moveTo>
                  <a:cubicBezTo>
                    <a:pt x="57" y="26"/>
                    <a:pt x="58" y="22"/>
                    <a:pt x="58" y="18"/>
                  </a:cubicBezTo>
                  <a:cubicBezTo>
                    <a:pt x="58" y="8"/>
                    <a:pt x="50" y="0"/>
                    <a:pt x="40" y="0"/>
                  </a:cubicBezTo>
                  <a:cubicBezTo>
                    <a:pt x="30" y="0"/>
                    <a:pt x="22" y="8"/>
                    <a:pt x="22" y="18"/>
                  </a:cubicBezTo>
                  <a:cubicBezTo>
                    <a:pt x="22" y="22"/>
                    <a:pt x="24" y="26"/>
                    <a:pt x="26" y="29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0"/>
                    <a:pt x="33" y="4"/>
                    <a:pt x="40" y="4"/>
                  </a:cubicBezTo>
                  <a:cubicBezTo>
                    <a:pt x="48" y="4"/>
                    <a:pt x="54" y="10"/>
                    <a:pt x="54" y="18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9"/>
                    <a:pt x="54" y="29"/>
                    <a:pt x="54" y="29"/>
                  </a:cubicBezTo>
                  <a:close/>
                  <a:moveTo>
                    <a:pt x="64" y="112"/>
                  </a:moveTo>
                  <a:cubicBezTo>
                    <a:pt x="81" y="112"/>
                    <a:pt x="94" y="98"/>
                    <a:pt x="94" y="82"/>
                  </a:cubicBezTo>
                  <a:cubicBezTo>
                    <a:pt x="94" y="82"/>
                    <a:pt x="94" y="91"/>
                    <a:pt x="94" y="82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58"/>
                    <a:pt x="94" y="58"/>
                    <a:pt x="94" y="58"/>
                  </a:cubicBezTo>
                  <a:cubicBezTo>
                    <a:pt x="94" y="55"/>
                    <a:pt x="92" y="52"/>
                    <a:pt x="88" y="52"/>
                  </a:cubicBezTo>
                  <a:cubicBezTo>
                    <a:pt x="85" y="52"/>
                    <a:pt x="82" y="55"/>
                    <a:pt x="82" y="58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47"/>
                    <a:pt x="76" y="44"/>
                    <a:pt x="72" y="44"/>
                  </a:cubicBezTo>
                  <a:cubicBezTo>
                    <a:pt x="69" y="44"/>
                    <a:pt x="66" y="47"/>
                    <a:pt x="66" y="50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2" y="46"/>
                    <a:pt x="62" y="46"/>
                    <a:pt x="62" y="46"/>
                  </a:cubicBezTo>
                  <a:cubicBezTo>
                    <a:pt x="62" y="43"/>
                    <a:pt x="60" y="40"/>
                    <a:pt x="56" y="40"/>
                  </a:cubicBezTo>
                  <a:cubicBezTo>
                    <a:pt x="53" y="40"/>
                    <a:pt x="50" y="43"/>
                    <a:pt x="50" y="46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5"/>
                    <a:pt x="44" y="12"/>
                    <a:pt x="40" y="12"/>
                  </a:cubicBezTo>
                  <a:cubicBezTo>
                    <a:pt x="37" y="12"/>
                    <a:pt x="34" y="15"/>
                    <a:pt x="34" y="18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26" y="54"/>
                    <a:pt x="15" y="45"/>
                    <a:pt x="11" y="49"/>
                  </a:cubicBezTo>
                  <a:cubicBezTo>
                    <a:pt x="6" y="54"/>
                    <a:pt x="18" y="66"/>
                    <a:pt x="33" y="92"/>
                  </a:cubicBezTo>
                  <a:cubicBezTo>
                    <a:pt x="40" y="104"/>
                    <a:pt x="49" y="112"/>
                    <a:pt x="64" y="112"/>
                  </a:cubicBezTo>
                  <a:close/>
                  <a:moveTo>
                    <a:pt x="98" y="82"/>
                  </a:moveTo>
                  <a:cubicBezTo>
                    <a:pt x="98" y="101"/>
                    <a:pt x="83" y="116"/>
                    <a:pt x="64" y="116"/>
                  </a:cubicBezTo>
                  <a:cubicBezTo>
                    <a:pt x="52" y="116"/>
                    <a:pt x="39" y="110"/>
                    <a:pt x="30" y="94"/>
                  </a:cubicBezTo>
                  <a:cubicBezTo>
                    <a:pt x="17" y="70"/>
                    <a:pt x="0" y="54"/>
                    <a:pt x="8" y="46"/>
                  </a:cubicBezTo>
                  <a:cubicBezTo>
                    <a:pt x="14" y="41"/>
                    <a:pt x="22" y="46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2"/>
                    <a:pt x="35" y="8"/>
                    <a:pt x="40" y="8"/>
                  </a:cubicBezTo>
                  <a:cubicBezTo>
                    <a:pt x="46" y="8"/>
                    <a:pt x="50" y="12"/>
                    <a:pt x="50" y="1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7"/>
                    <a:pt x="54" y="36"/>
                    <a:pt x="56" y="36"/>
                  </a:cubicBezTo>
                  <a:cubicBezTo>
                    <a:pt x="61" y="36"/>
                    <a:pt x="64" y="39"/>
                    <a:pt x="66" y="43"/>
                  </a:cubicBezTo>
                  <a:cubicBezTo>
                    <a:pt x="67" y="41"/>
                    <a:pt x="70" y="40"/>
                    <a:pt x="72" y="40"/>
                  </a:cubicBezTo>
                  <a:cubicBezTo>
                    <a:pt x="78" y="40"/>
                    <a:pt x="82" y="44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4" y="49"/>
                    <a:pt x="86" y="48"/>
                    <a:pt x="88" y="48"/>
                  </a:cubicBezTo>
                  <a:cubicBezTo>
                    <a:pt x="94" y="48"/>
                    <a:pt x="98" y="53"/>
                    <a:pt x="98" y="58"/>
                  </a:cubicBezTo>
                  <a:cubicBezTo>
                    <a:pt x="98" y="82"/>
                    <a:pt x="98" y="82"/>
                    <a:pt x="98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5865835" y="6228619"/>
              <a:ext cx="423070" cy="514475"/>
              <a:chOff x="7593013" y="2532063"/>
              <a:chExt cx="257175" cy="312738"/>
            </a:xfrm>
            <a:grpFill/>
          </p:grpSpPr>
          <p:sp>
            <p:nvSpPr>
              <p:cNvPr id="217" name="Freeform 39"/>
              <p:cNvSpPr>
                <a:spLocks noEditPoints="1"/>
              </p:cNvSpPr>
              <p:nvPr/>
            </p:nvSpPr>
            <p:spPr bwMode="auto">
              <a:xfrm>
                <a:off x="7753350" y="2532063"/>
                <a:ext cx="93663" cy="93663"/>
              </a:xfrm>
              <a:custGeom>
                <a:avLst/>
                <a:gdLst>
                  <a:gd name="T0" fmla="*/ 18 w 36"/>
                  <a:gd name="T1" fmla="*/ 36 h 36"/>
                  <a:gd name="T2" fmla="*/ 36 w 36"/>
                  <a:gd name="T3" fmla="*/ 18 h 36"/>
                  <a:gd name="T4" fmla="*/ 18 w 36"/>
                  <a:gd name="T5" fmla="*/ 0 h 36"/>
                  <a:gd name="T6" fmla="*/ 0 w 36"/>
                  <a:gd name="T7" fmla="*/ 18 h 36"/>
                  <a:gd name="T8" fmla="*/ 18 w 36"/>
                  <a:gd name="T9" fmla="*/ 36 h 36"/>
                  <a:gd name="T10" fmla="*/ 17 w 36"/>
                  <a:gd name="T11" fmla="*/ 4 h 36"/>
                  <a:gd name="T12" fmla="*/ 17 w 36"/>
                  <a:gd name="T13" fmla="*/ 18 h 36"/>
                  <a:gd name="T14" fmla="*/ 19 w 36"/>
                  <a:gd name="T15" fmla="*/ 18 h 36"/>
                  <a:gd name="T16" fmla="*/ 29 w 36"/>
                  <a:gd name="T17" fmla="*/ 18 h 36"/>
                  <a:gd name="T18" fmla="*/ 29 w 36"/>
                  <a:gd name="T19" fmla="*/ 14 h 36"/>
                  <a:gd name="T20" fmla="*/ 21 w 36"/>
                  <a:gd name="T21" fmla="*/ 14 h 36"/>
                  <a:gd name="T22" fmla="*/ 21 w 36"/>
                  <a:gd name="T23" fmla="*/ 4 h 36"/>
                  <a:gd name="T24" fmla="*/ 33 w 36"/>
                  <a:gd name="T25" fmla="*/ 18 h 36"/>
                  <a:gd name="T26" fmla="*/ 18 w 36"/>
                  <a:gd name="T27" fmla="*/ 32 h 36"/>
                  <a:gd name="T28" fmla="*/ 5 w 36"/>
                  <a:gd name="T29" fmla="*/ 18 h 36"/>
                  <a:gd name="T30" fmla="*/ 17 w 36"/>
                  <a:gd name="T31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28" y="36"/>
                      <a:pt x="36" y="28"/>
                      <a:pt x="36" y="18"/>
                    </a:cubicBezTo>
                    <a:cubicBezTo>
                      <a:pt x="36" y="8"/>
                      <a:pt x="2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8"/>
                      <a:pt x="8" y="36"/>
                      <a:pt x="18" y="36"/>
                    </a:cubicBezTo>
                    <a:close/>
                    <a:moveTo>
                      <a:pt x="17" y="4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5" y="5"/>
                      <a:pt x="33" y="11"/>
                      <a:pt x="33" y="18"/>
                    </a:cubicBezTo>
                    <a:cubicBezTo>
                      <a:pt x="33" y="26"/>
                      <a:pt x="26" y="32"/>
                      <a:pt x="18" y="32"/>
                    </a:cubicBezTo>
                    <a:cubicBezTo>
                      <a:pt x="11" y="32"/>
                      <a:pt x="5" y="26"/>
                      <a:pt x="5" y="18"/>
                    </a:cubicBezTo>
                    <a:cubicBezTo>
                      <a:pt x="5" y="11"/>
                      <a:pt x="9" y="5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8" name="Freeform 40"/>
              <p:cNvSpPr>
                <a:spLocks noEditPoints="1"/>
              </p:cNvSpPr>
              <p:nvPr/>
            </p:nvSpPr>
            <p:spPr bwMode="auto">
              <a:xfrm>
                <a:off x="7593013" y="2563813"/>
                <a:ext cx="257175" cy="280988"/>
              </a:xfrm>
              <a:custGeom>
                <a:avLst/>
                <a:gdLst>
                  <a:gd name="T0" fmla="*/ 89 w 99"/>
                  <a:gd name="T1" fmla="*/ 40 h 108"/>
                  <a:gd name="T2" fmla="*/ 82 w 99"/>
                  <a:gd name="T3" fmla="*/ 42 h 108"/>
                  <a:gd name="T4" fmla="*/ 72 w 99"/>
                  <a:gd name="T5" fmla="*/ 32 h 108"/>
                  <a:gd name="T6" fmla="*/ 66 w 99"/>
                  <a:gd name="T7" fmla="*/ 35 h 108"/>
                  <a:gd name="T8" fmla="*/ 57 w 99"/>
                  <a:gd name="T9" fmla="*/ 28 h 108"/>
                  <a:gd name="T10" fmla="*/ 51 w 99"/>
                  <a:gd name="T11" fmla="*/ 30 h 108"/>
                  <a:gd name="T12" fmla="*/ 51 w 99"/>
                  <a:gd name="T13" fmla="*/ 10 h 108"/>
                  <a:gd name="T14" fmla="*/ 41 w 99"/>
                  <a:gd name="T15" fmla="*/ 0 h 108"/>
                  <a:gd name="T16" fmla="*/ 31 w 99"/>
                  <a:gd name="T17" fmla="*/ 10 h 108"/>
                  <a:gd name="T18" fmla="*/ 31 w 99"/>
                  <a:gd name="T19" fmla="*/ 45 h 108"/>
                  <a:gd name="T20" fmla="*/ 8 w 99"/>
                  <a:gd name="T21" fmla="*/ 38 h 108"/>
                  <a:gd name="T22" fmla="*/ 30 w 99"/>
                  <a:gd name="T23" fmla="*/ 86 h 108"/>
                  <a:gd name="T24" fmla="*/ 65 w 99"/>
                  <a:gd name="T25" fmla="*/ 108 h 108"/>
                  <a:gd name="T26" fmla="*/ 99 w 99"/>
                  <a:gd name="T27" fmla="*/ 74 h 108"/>
                  <a:gd name="T28" fmla="*/ 99 w 99"/>
                  <a:gd name="T29" fmla="*/ 50 h 108"/>
                  <a:gd name="T30" fmla="*/ 89 w 99"/>
                  <a:gd name="T31" fmla="*/ 40 h 108"/>
                  <a:gd name="T32" fmla="*/ 95 w 99"/>
                  <a:gd name="T33" fmla="*/ 59 h 108"/>
                  <a:gd name="T34" fmla="*/ 95 w 99"/>
                  <a:gd name="T35" fmla="*/ 74 h 108"/>
                  <a:gd name="T36" fmla="*/ 95 w 99"/>
                  <a:gd name="T37" fmla="*/ 78 h 108"/>
                  <a:gd name="T38" fmla="*/ 95 w 99"/>
                  <a:gd name="T39" fmla="*/ 74 h 108"/>
                  <a:gd name="T40" fmla="*/ 65 w 99"/>
                  <a:gd name="T41" fmla="*/ 104 h 108"/>
                  <a:gd name="T42" fmla="*/ 33 w 99"/>
                  <a:gd name="T43" fmla="*/ 84 h 108"/>
                  <a:gd name="T44" fmla="*/ 11 w 99"/>
                  <a:gd name="T45" fmla="*/ 41 h 108"/>
                  <a:gd name="T46" fmla="*/ 35 w 99"/>
                  <a:gd name="T47" fmla="*/ 55 h 108"/>
                  <a:gd name="T48" fmla="*/ 35 w 99"/>
                  <a:gd name="T49" fmla="*/ 10 h 108"/>
                  <a:gd name="T50" fmla="*/ 41 w 99"/>
                  <a:gd name="T51" fmla="*/ 4 h 108"/>
                  <a:gd name="T52" fmla="*/ 47 w 99"/>
                  <a:gd name="T53" fmla="*/ 10 h 108"/>
                  <a:gd name="T54" fmla="*/ 47 w 99"/>
                  <a:gd name="T55" fmla="*/ 50 h 108"/>
                  <a:gd name="T56" fmla="*/ 51 w 99"/>
                  <a:gd name="T57" fmla="*/ 50 h 108"/>
                  <a:gd name="T58" fmla="*/ 51 w 99"/>
                  <a:gd name="T59" fmla="*/ 38 h 108"/>
                  <a:gd name="T60" fmla="*/ 57 w 99"/>
                  <a:gd name="T61" fmla="*/ 32 h 108"/>
                  <a:gd name="T62" fmla="*/ 63 w 99"/>
                  <a:gd name="T63" fmla="*/ 38 h 108"/>
                  <a:gd name="T64" fmla="*/ 63 w 99"/>
                  <a:gd name="T65" fmla="*/ 46 h 108"/>
                  <a:gd name="T66" fmla="*/ 67 w 99"/>
                  <a:gd name="T67" fmla="*/ 46 h 108"/>
                  <a:gd name="T68" fmla="*/ 67 w 99"/>
                  <a:gd name="T69" fmla="*/ 42 h 108"/>
                  <a:gd name="T70" fmla="*/ 73 w 99"/>
                  <a:gd name="T71" fmla="*/ 36 h 108"/>
                  <a:gd name="T72" fmla="*/ 79 w 99"/>
                  <a:gd name="T73" fmla="*/ 42 h 108"/>
                  <a:gd name="T74" fmla="*/ 79 w 99"/>
                  <a:gd name="T75" fmla="*/ 50 h 108"/>
                  <a:gd name="T76" fmla="*/ 83 w 99"/>
                  <a:gd name="T77" fmla="*/ 50 h 108"/>
                  <a:gd name="T78" fmla="*/ 83 w 99"/>
                  <a:gd name="T79" fmla="*/ 50 h 108"/>
                  <a:gd name="T80" fmla="*/ 89 w 99"/>
                  <a:gd name="T81" fmla="*/ 44 h 108"/>
                  <a:gd name="T82" fmla="*/ 95 w 99"/>
                  <a:gd name="T83" fmla="*/ 50 h 108"/>
                  <a:gd name="T84" fmla="*/ 95 w 99"/>
                  <a:gd name="T85" fmla="*/ 59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9" h="108">
                    <a:moveTo>
                      <a:pt x="89" y="40"/>
                    </a:moveTo>
                    <a:cubicBezTo>
                      <a:pt x="86" y="40"/>
                      <a:pt x="84" y="41"/>
                      <a:pt x="82" y="42"/>
                    </a:cubicBezTo>
                    <a:cubicBezTo>
                      <a:pt x="82" y="36"/>
                      <a:pt x="78" y="32"/>
                      <a:pt x="72" y="32"/>
                    </a:cubicBezTo>
                    <a:cubicBezTo>
                      <a:pt x="70" y="32"/>
                      <a:pt x="67" y="33"/>
                      <a:pt x="66" y="35"/>
                    </a:cubicBezTo>
                    <a:cubicBezTo>
                      <a:pt x="64" y="31"/>
                      <a:pt x="61" y="28"/>
                      <a:pt x="57" y="28"/>
                    </a:cubicBezTo>
                    <a:cubicBezTo>
                      <a:pt x="54" y="28"/>
                      <a:pt x="51" y="29"/>
                      <a:pt x="51" y="30"/>
                    </a:cubicBezTo>
                    <a:cubicBezTo>
                      <a:pt x="51" y="10"/>
                      <a:pt x="51" y="10"/>
                      <a:pt x="51" y="10"/>
                    </a:cubicBezTo>
                    <a:cubicBezTo>
                      <a:pt x="51" y="4"/>
                      <a:pt x="47" y="0"/>
                      <a:pt x="41" y="0"/>
                    </a:cubicBezTo>
                    <a:cubicBezTo>
                      <a:pt x="35" y="0"/>
                      <a:pt x="31" y="4"/>
                      <a:pt x="31" y="10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3" y="38"/>
                      <a:pt x="14" y="33"/>
                      <a:pt x="8" y="38"/>
                    </a:cubicBezTo>
                    <a:cubicBezTo>
                      <a:pt x="0" y="46"/>
                      <a:pt x="17" y="62"/>
                      <a:pt x="30" y="86"/>
                    </a:cubicBezTo>
                    <a:cubicBezTo>
                      <a:pt x="39" y="102"/>
                      <a:pt x="52" y="108"/>
                      <a:pt x="65" y="108"/>
                    </a:cubicBezTo>
                    <a:cubicBezTo>
                      <a:pt x="83" y="108"/>
                      <a:pt x="99" y="93"/>
                      <a:pt x="99" y="74"/>
                    </a:cubicBezTo>
                    <a:cubicBezTo>
                      <a:pt x="99" y="50"/>
                      <a:pt x="99" y="50"/>
                      <a:pt x="99" y="50"/>
                    </a:cubicBezTo>
                    <a:cubicBezTo>
                      <a:pt x="99" y="45"/>
                      <a:pt x="94" y="40"/>
                      <a:pt x="89" y="40"/>
                    </a:cubicBezTo>
                    <a:close/>
                    <a:moveTo>
                      <a:pt x="95" y="59"/>
                    </a:move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8"/>
                      <a:pt x="95" y="78"/>
                    </a:cubicBezTo>
                    <a:cubicBezTo>
                      <a:pt x="95" y="78"/>
                      <a:pt x="95" y="74"/>
                      <a:pt x="95" y="74"/>
                    </a:cubicBezTo>
                    <a:cubicBezTo>
                      <a:pt x="95" y="90"/>
                      <a:pt x="81" y="104"/>
                      <a:pt x="65" y="104"/>
                    </a:cubicBezTo>
                    <a:cubicBezTo>
                      <a:pt x="50" y="104"/>
                      <a:pt x="40" y="96"/>
                      <a:pt x="33" y="84"/>
                    </a:cubicBezTo>
                    <a:cubicBezTo>
                      <a:pt x="18" y="58"/>
                      <a:pt x="7" y="46"/>
                      <a:pt x="11" y="41"/>
                    </a:cubicBezTo>
                    <a:cubicBezTo>
                      <a:pt x="16" y="37"/>
                      <a:pt x="27" y="46"/>
                      <a:pt x="35" y="55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7"/>
                      <a:pt x="38" y="4"/>
                      <a:pt x="41" y="4"/>
                    </a:cubicBezTo>
                    <a:cubicBezTo>
                      <a:pt x="44" y="4"/>
                      <a:pt x="47" y="7"/>
                      <a:pt x="47" y="10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51" y="35"/>
                      <a:pt x="54" y="32"/>
                      <a:pt x="57" y="32"/>
                    </a:cubicBezTo>
                    <a:cubicBezTo>
                      <a:pt x="60" y="32"/>
                      <a:pt x="63" y="35"/>
                      <a:pt x="63" y="38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7" y="46"/>
                      <a:pt x="67" y="46"/>
                      <a:pt x="67" y="46"/>
                    </a:cubicBezTo>
                    <a:cubicBezTo>
                      <a:pt x="67" y="42"/>
                      <a:pt x="67" y="42"/>
                      <a:pt x="67" y="42"/>
                    </a:cubicBezTo>
                    <a:cubicBezTo>
                      <a:pt x="67" y="39"/>
                      <a:pt x="70" y="36"/>
                      <a:pt x="73" y="36"/>
                    </a:cubicBezTo>
                    <a:cubicBezTo>
                      <a:pt x="76" y="36"/>
                      <a:pt x="79" y="39"/>
                      <a:pt x="79" y="42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47"/>
                      <a:pt x="86" y="44"/>
                      <a:pt x="89" y="44"/>
                    </a:cubicBezTo>
                    <a:cubicBezTo>
                      <a:pt x="92" y="44"/>
                      <a:pt x="95" y="47"/>
                      <a:pt x="95" y="50"/>
                    </a:cubicBezTo>
                    <a:lnTo>
                      <a:pt x="95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8" name="Freeform 41"/>
            <p:cNvSpPr>
              <a:spLocks noEditPoints="1"/>
            </p:cNvSpPr>
            <p:nvPr/>
          </p:nvSpPr>
          <p:spPr bwMode="auto">
            <a:xfrm>
              <a:off x="10844274" y="4674806"/>
              <a:ext cx="269875" cy="303213"/>
            </a:xfrm>
            <a:custGeom>
              <a:avLst/>
              <a:gdLst>
                <a:gd name="T0" fmla="*/ 18 w 104"/>
                <a:gd name="T1" fmla="*/ 32 h 116"/>
                <a:gd name="T2" fmla="*/ 13 w 104"/>
                <a:gd name="T3" fmla="*/ 67 h 116"/>
                <a:gd name="T4" fmla="*/ 4 w 104"/>
                <a:gd name="T5" fmla="*/ 50 h 116"/>
                <a:gd name="T6" fmla="*/ 31 w 104"/>
                <a:gd name="T7" fmla="*/ 44 h 116"/>
                <a:gd name="T8" fmla="*/ 32 w 104"/>
                <a:gd name="T9" fmla="*/ 39 h 116"/>
                <a:gd name="T10" fmla="*/ 60 w 104"/>
                <a:gd name="T11" fmla="*/ 29 h 116"/>
                <a:gd name="T12" fmla="*/ 46 w 104"/>
                <a:gd name="T13" fmla="*/ 0 h 116"/>
                <a:gd name="T14" fmla="*/ 32 w 104"/>
                <a:gd name="T15" fmla="*/ 29 h 116"/>
                <a:gd name="T16" fmla="*/ 46 w 104"/>
                <a:gd name="T17" fmla="*/ 4 h 116"/>
                <a:gd name="T18" fmla="*/ 60 w 104"/>
                <a:gd name="T19" fmla="*/ 29 h 116"/>
                <a:gd name="T20" fmla="*/ 70 w 104"/>
                <a:gd name="T21" fmla="*/ 112 h 116"/>
                <a:gd name="T22" fmla="*/ 100 w 104"/>
                <a:gd name="T23" fmla="*/ 82 h 116"/>
                <a:gd name="T24" fmla="*/ 100 w 104"/>
                <a:gd name="T25" fmla="*/ 58 h 116"/>
                <a:gd name="T26" fmla="*/ 88 w 104"/>
                <a:gd name="T27" fmla="*/ 58 h 116"/>
                <a:gd name="T28" fmla="*/ 84 w 104"/>
                <a:gd name="T29" fmla="*/ 60 h 116"/>
                <a:gd name="T30" fmla="*/ 78 w 104"/>
                <a:gd name="T31" fmla="*/ 44 h 116"/>
                <a:gd name="T32" fmla="*/ 72 w 104"/>
                <a:gd name="T33" fmla="*/ 56 h 116"/>
                <a:gd name="T34" fmla="*/ 68 w 104"/>
                <a:gd name="T35" fmla="*/ 46 h 116"/>
                <a:gd name="T36" fmla="*/ 56 w 104"/>
                <a:gd name="T37" fmla="*/ 46 h 116"/>
                <a:gd name="T38" fmla="*/ 52 w 104"/>
                <a:gd name="T39" fmla="*/ 60 h 116"/>
                <a:gd name="T40" fmla="*/ 46 w 104"/>
                <a:gd name="T41" fmla="*/ 12 h 116"/>
                <a:gd name="T42" fmla="*/ 40 w 104"/>
                <a:gd name="T43" fmla="*/ 63 h 116"/>
                <a:gd name="T44" fmla="*/ 39 w 104"/>
                <a:gd name="T45" fmla="*/ 92 h 116"/>
                <a:gd name="T46" fmla="*/ 104 w 104"/>
                <a:gd name="T47" fmla="*/ 82 h 116"/>
                <a:gd name="T48" fmla="*/ 35 w 104"/>
                <a:gd name="T49" fmla="*/ 94 h 116"/>
                <a:gd name="T50" fmla="*/ 36 w 104"/>
                <a:gd name="T51" fmla="*/ 53 h 116"/>
                <a:gd name="T52" fmla="*/ 36 w 104"/>
                <a:gd name="T53" fmla="*/ 18 h 116"/>
                <a:gd name="T54" fmla="*/ 56 w 104"/>
                <a:gd name="T55" fmla="*/ 18 h 116"/>
                <a:gd name="T56" fmla="*/ 62 w 104"/>
                <a:gd name="T57" fmla="*/ 36 h 116"/>
                <a:gd name="T58" fmla="*/ 78 w 104"/>
                <a:gd name="T59" fmla="*/ 40 h 116"/>
                <a:gd name="T60" fmla="*/ 88 w 104"/>
                <a:gd name="T61" fmla="*/ 50 h 116"/>
                <a:gd name="T62" fmla="*/ 104 w 104"/>
                <a:gd name="T63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4" h="116">
                  <a:moveTo>
                    <a:pt x="32" y="39"/>
                  </a:moveTo>
                  <a:cubicBezTo>
                    <a:pt x="29" y="35"/>
                    <a:pt x="24" y="32"/>
                    <a:pt x="18" y="32"/>
                  </a:cubicBezTo>
                  <a:cubicBezTo>
                    <a:pt x="8" y="32"/>
                    <a:pt x="0" y="40"/>
                    <a:pt x="0" y="50"/>
                  </a:cubicBezTo>
                  <a:cubicBezTo>
                    <a:pt x="0" y="58"/>
                    <a:pt x="6" y="65"/>
                    <a:pt x="13" y="67"/>
                  </a:cubicBezTo>
                  <a:cubicBezTo>
                    <a:pt x="12" y="66"/>
                    <a:pt x="11" y="64"/>
                    <a:pt x="11" y="62"/>
                  </a:cubicBezTo>
                  <a:cubicBezTo>
                    <a:pt x="7" y="59"/>
                    <a:pt x="4" y="55"/>
                    <a:pt x="4" y="50"/>
                  </a:cubicBezTo>
                  <a:cubicBezTo>
                    <a:pt x="4" y="42"/>
                    <a:pt x="10" y="36"/>
                    <a:pt x="18" y="36"/>
                  </a:cubicBezTo>
                  <a:cubicBezTo>
                    <a:pt x="24" y="36"/>
                    <a:pt x="28" y="39"/>
                    <a:pt x="31" y="44"/>
                  </a:cubicBezTo>
                  <a:cubicBezTo>
                    <a:pt x="31" y="44"/>
                    <a:pt x="32" y="45"/>
                    <a:pt x="32" y="45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9"/>
                    <a:pt x="32" y="39"/>
                    <a:pt x="32" y="39"/>
                  </a:cubicBezTo>
                  <a:close/>
                  <a:moveTo>
                    <a:pt x="60" y="29"/>
                  </a:moveTo>
                  <a:cubicBezTo>
                    <a:pt x="63" y="26"/>
                    <a:pt x="64" y="22"/>
                    <a:pt x="64" y="18"/>
                  </a:cubicBezTo>
                  <a:cubicBezTo>
                    <a:pt x="64" y="8"/>
                    <a:pt x="56" y="0"/>
                    <a:pt x="46" y="0"/>
                  </a:cubicBezTo>
                  <a:cubicBezTo>
                    <a:pt x="36" y="0"/>
                    <a:pt x="28" y="8"/>
                    <a:pt x="28" y="18"/>
                  </a:cubicBezTo>
                  <a:cubicBezTo>
                    <a:pt x="28" y="22"/>
                    <a:pt x="30" y="26"/>
                    <a:pt x="32" y="2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10"/>
                    <a:pt x="38" y="4"/>
                    <a:pt x="46" y="4"/>
                  </a:cubicBezTo>
                  <a:cubicBezTo>
                    <a:pt x="54" y="4"/>
                    <a:pt x="60" y="10"/>
                    <a:pt x="60" y="18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6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  <a:moveTo>
                    <a:pt x="104" y="82"/>
                  </a:move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4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2"/>
                    <a:pt x="40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5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Freeform 42"/>
            <p:cNvSpPr>
              <a:spLocks noEditPoints="1"/>
            </p:cNvSpPr>
            <p:nvPr/>
          </p:nvSpPr>
          <p:spPr bwMode="auto">
            <a:xfrm>
              <a:off x="575703" y="3405013"/>
              <a:ext cx="254000" cy="333375"/>
            </a:xfrm>
            <a:custGeom>
              <a:avLst/>
              <a:gdLst>
                <a:gd name="T0" fmla="*/ 38 w 98"/>
                <a:gd name="T1" fmla="*/ 16 h 128"/>
                <a:gd name="T2" fmla="*/ 42 w 98"/>
                <a:gd name="T3" fmla="*/ 0 h 128"/>
                <a:gd name="T4" fmla="*/ 64 w 98"/>
                <a:gd name="T5" fmla="*/ 10 h 128"/>
                <a:gd name="T6" fmla="*/ 54 w 98"/>
                <a:gd name="T7" fmla="*/ 23 h 128"/>
                <a:gd name="T8" fmla="*/ 64 w 98"/>
                <a:gd name="T9" fmla="*/ 10 h 128"/>
                <a:gd name="T10" fmla="*/ 56 w 98"/>
                <a:gd name="T11" fmla="*/ 34 h 128"/>
                <a:gd name="T12" fmla="*/ 71 w 98"/>
                <a:gd name="T13" fmla="*/ 41 h 128"/>
                <a:gd name="T14" fmla="*/ 10 w 98"/>
                <a:gd name="T15" fmla="*/ 41 h 128"/>
                <a:gd name="T16" fmla="*/ 24 w 98"/>
                <a:gd name="T17" fmla="*/ 34 h 128"/>
                <a:gd name="T18" fmla="*/ 10 w 98"/>
                <a:gd name="T19" fmla="*/ 41 h 128"/>
                <a:gd name="T20" fmla="*/ 27 w 98"/>
                <a:gd name="T21" fmla="*/ 23 h 128"/>
                <a:gd name="T22" fmla="*/ 17 w 98"/>
                <a:gd name="T23" fmla="*/ 10 h 128"/>
                <a:gd name="T24" fmla="*/ 64 w 98"/>
                <a:gd name="T25" fmla="*/ 124 h 128"/>
                <a:gd name="T26" fmla="*/ 94 w 98"/>
                <a:gd name="T27" fmla="*/ 94 h 128"/>
                <a:gd name="T28" fmla="*/ 94 w 98"/>
                <a:gd name="T29" fmla="*/ 70 h 128"/>
                <a:gd name="T30" fmla="*/ 82 w 98"/>
                <a:gd name="T31" fmla="*/ 70 h 128"/>
                <a:gd name="T32" fmla="*/ 78 w 98"/>
                <a:gd name="T33" fmla="*/ 72 h 128"/>
                <a:gd name="T34" fmla="*/ 72 w 98"/>
                <a:gd name="T35" fmla="*/ 56 h 128"/>
                <a:gd name="T36" fmla="*/ 66 w 98"/>
                <a:gd name="T37" fmla="*/ 68 h 128"/>
                <a:gd name="T38" fmla="*/ 62 w 98"/>
                <a:gd name="T39" fmla="*/ 58 h 128"/>
                <a:gd name="T40" fmla="*/ 50 w 98"/>
                <a:gd name="T41" fmla="*/ 58 h 128"/>
                <a:gd name="T42" fmla="*/ 46 w 98"/>
                <a:gd name="T43" fmla="*/ 72 h 128"/>
                <a:gd name="T44" fmla="*/ 40 w 98"/>
                <a:gd name="T45" fmla="*/ 24 h 128"/>
                <a:gd name="T46" fmla="*/ 34 w 98"/>
                <a:gd name="T47" fmla="*/ 75 h 128"/>
                <a:gd name="T48" fmla="*/ 33 w 98"/>
                <a:gd name="T49" fmla="*/ 104 h 128"/>
                <a:gd name="T50" fmla="*/ 98 w 98"/>
                <a:gd name="T51" fmla="*/ 94 h 128"/>
                <a:gd name="T52" fmla="*/ 30 w 98"/>
                <a:gd name="T53" fmla="*/ 106 h 128"/>
                <a:gd name="T54" fmla="*/ 30 w 98"/>
                <a:gd name="T55" fmla="*/ 65 h 128"/>
                <a:gd name="T56" fmla="*/ 30 w 98"/>
                <a:gd name="T57" fmla="*/ 30 h 128"/>
                <a:gd name="T58" fmla="*/ 50 w 98"/>
                <a:gd name="T59" fmla="*/ 30 h 128"/>
                <a:gd name="T60" fmla="*/ 56 w 98"/>
                <a:gd name="T61" fmla="*/ 48 h 128"/>
                <a:gd name="T62" fmla="*/ 72 w 98"/>
                <a:gd name="T63" fmla="*/ 52 h 128"/>
                <a:gd name="T64" fmla="*/ 82 w 98"/>
                <a:gd name="T65" fmla="*/ 62 h 128"/>
                <a:gd name="T66" fmla="*/ 98 w 98"/>
                <a:gd name="T67" fmla="*/ 7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8" h="128">
                  <a:moveTo>
                    <a:pt x="38" y="0"/>
                  </a:moveTo>
                  <a:cubicBezTo>
                    <a:pt x="38" y="16"/>
                    <a:pt x="38" y="16"/>
                    <a:pt x="38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8" y="0"/>
                    <a:pt x="38" y="0"/>
                    <a:pt x="38" y="0"/>
                  </a:cubicBezTo>
                  <a:close/>
                  <a:moveTo>
                    <a:pt x="64" y="10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64" y="10"/>
                    <a:pt x="64" y="10"/>
                    <a:pt x="64" y="10"/>
                  </a:cubicBezTo>
                  <a:close/>
                  <a:moveTo>
                    <a:pt x="72" y="37"/>
                  </a:moveTo>
                  <a:cubicBezTo>
                    <a:pt x="56" y="34"/>
                    <a:pt x="56" y="34"/>
                    <a:pt x="56" y="34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37"/>
                    <a:pt x="72" y="37"/>
                    <a:pt x="72" y="37"/>
                  </a:cubicBezTo>
                  <a:close/>
                  <a:moveTo>
                    <a:pt x="10" y="41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41"/>
                    <a:pt x="10" y="41"/>
                    <a:pt x="10" y="41"/>
                  </a:cubicBezTo>
                  <a:close/>
                  <a:moveTo>
                    <a:pt x="14" y="13"/>
                  </a:moveTo>
                  <a:cubicBezTo>
                    <a:pt x="27" y="23"/>
                    <a:pt x="27" y="23"/>
                    <a:pt x="27" y="23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4" y="13"/>
                    <a:pt x="14" y="13"/>
                    <a:pt x="14" y="13"/>
                  </a:cubicBezTo>
                  <a:close/>
                  <a:moveTo>
                    <a:pt x="64" y="124"/>
                  </a:moveTo>
                  <a:cubicBezTo>
                    <a:pt x="81" y="124"/>
                    <a:pt x="94" y="110"/>
                    <a:pt x="94" y="94"/>
                  </a:cubicBezTo>
                  <a:cubicBezTo>
                    <a:pt x="94" y="94"/>
                    <a:pt x="94" y="103"/>
                    <a:pt x="94" y="94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67"/>
                    <a:pt x="92" y="64"/>
                    <a:pt x="88" y="64"/>
                  </a:cubicBezTo>
                  <a:cubicBezTo>
                    <a:pt x="85" y="64"/>
                    <a:pt x="82" y="67"/>
                    <a:pt x="82" y="70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62"/>
                    <a:pt x="78" y="62"/>
                    <a:pt x="78" y="62"/>
                  </a:cubicBezTo>
                  <a:cubicBezTo>
                    <a:pt x="78" y="59"/>
                    <a:pt x="76" y="56"/>
                    <a:pt x="72" y="56"/>
                  </a:cubicBezTo>
                  <a:cubicBezTo>
                    <a:pt x="69" y="56"/>
                    <a:pt x="66" y="59"/>
                    <a:pt x="66" y="62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58"/>
                    <a:pt x="62" y="58"/>
                    <a:pt x="62" y="58"/>
                  </a:cubicBezTo>
                  <a:cubicBezTo>
                    <a:pt x="62" y="55"/>
                    <a:pt x="60" y="52"/>
                    <a:pt x="56" y="52"/>
                  </a:cubicBezTo>
                  <a:cubicBezTo>
                    <a:pt x="53" y="52"/>
                    <a:pt x="50" y="55"/>
                    <a:pt x="50" y="58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7"/>
                    <a:pt x="44" y="24"/>
                    <a:pt x="40" y="24"/>
                  </a:cubicBezTo>
                  <a:cubicBezTo>
                    <a:pt x="37" y="24"/>
                    <a:pt x="34" y="27"/>
                    <a:pt x="34" y="3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6"/>
                    <a:pt x="15" y="57"/>
                    <a:pt x="11" y="61"/>
                  </a:cubicBezTo>
                  <a:cubicBezTo>
                    <a:pt x="6" y="66"/>
                    <a:pt x="18" y="78"/>
                    <a:pt x="33" y="104"/>
                  </a:cubicBezTo>
                  <a:cubicBezTo>
                    <a:pt x="40" y="116"/>
                    <a:pt x="49" y="124"/>
                    <a:pt x="64" y="124"/>
                  </a:cubicBezTo>
                  <a:close/>
                  <a:moveTo>
                    <a:pt x="98" y="94"/>
                  </a:moveTo>
                  <a:cubicBezTo>
                    <a:pt x="98" y="113"/>
                    <a:pt x="83" y="128"/>
                    <a:pt x="64" y="128"/>
                  </a:cubicBezTo>
                  <a:cubicBezTo>
                    <a:pt x="52" y="128"/>
                    <a:pt x="39" y="122"/>
                    <a:pt x="30" y="106"/>
                  </a:cubicBezTo>
                  <a:cubicBezTo>
                    <a:pt x="17" y="82"/>
                    <a:pt x="0" y="66"/>
                    <a:pt x="8" y="58"/>
                  </a:cubicBezTo>
                  <a:cubicBezTo>
                    <a:pt x="14" y="53"/>
                    <a:pt x="22" y="58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4"/>
                    <a:pt x="35" y="20"/>
                    <a:pt x="40" y="20"/>
                  </a:cubicBezTo>
                  <a:cubicBezTo>
                    <a:pt x="46" y="20"/>
                    <a:pt x="50" y="24"/>
                    <a:pt x="50" y="3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2" y="49"/>
                    <a:pt x="54" y="48"/>
                    <a:pt x="56" y="48"/>
                  </a:cubicBezTo>
                  <a:cubicBezTo>
                    <a:pt x="61" y="48"/>
                    <a:pt x="64" y="51"/>
                    <a:pt x="66" y="55"/>
                  </a:cubicBezTo>
                  <a:cubicBezTo>
                    <a:pt x="67" y="53"/>
                    <a:pt x="70" y="52"/>
                    <a:pt x="72" y="52"/>
                  </a:cubicBezTo>
                  <a:cubicBezTo>
                    <a:pt x="78" y="52"/>
                    <a:pt x="82" y="56"/>
                    <a:pt x="82" y="62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84" y="61"/>
                    <a:pt x="86" y="60"/>
                    <a:pt x="88" y="60"/>
                  </a:cubicBezTo>
                  <a:cubicBezTo>
                    <a:pt x="94" y="60"/>
                    <a:pt x="98" y="65"/>
                    <a:pt x="98" y="70"/>
                  </a:cubicBezTo>
                  <a:cubicBezTo>
                    <a:pt x="98" y="94"/>
                    <a:pt x="98" y="94"/>
                    <a:pt x="98" y="9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0" name="Freeform 43"/>
            <p:cNvSpPr>
              <a:spLocks noEditPoints="1"/>
            </p:cNvSpPr>
            <p:nvPr/>
          </p:nvSpPr>
          <p:spPr bwMode="auto">
            <a:xfrm>
              <a:off x="4244976" y="4821932"/>
              <a:ext cx="276225" cy="292100"/>
            </a:xfrm>
            <a:custGeom>
              <a:avLst/>
              <a:gdLst>
                <a:gd name="T0" fmla="*/ 38 w 106"/>
                <a:gd name="T1" fmla="*/ 20 h 112"/>
                <a:gd name="T2" fmla="*/ 38 w 106"/>
                <a:gd name="T3" fmla="*/ 49 h 112"/>
                <a:gd name="T4" fmla="*/ 38 w 106"/>
                <a:gd name="T5" fmla="*/ 49 h 112"/>
                <a:gd name="T6" fmla="*/ 16 w 106"/>
                <a:gd name="T7" fmla="*/ 42 h 112"/>
                <a:gd name="T8" fmla="*/ 37 w 106"/>
                <a:gd name="T9" fmla="*/ 90 h 112"/>
                <a:gd name="T10" fmla="*/ 72 w 106"/>
                <a:gd name="T11" fmla="*/ 112 h 112"/>
                <a:gd name="T12" fmla="*/ 106 w 106"/>
                <a:gd name="T13" fmla="*/ 78 h 112"/>
                <a:gd name="T14" fmla="*/ 106 w 106"/>
                <a:gd name="T15" fmla="*/ 54 h 112"/>
                <a:gd name="T16" fmla="*/ 96 w 106"/>
                <a:gd name="T17" fmla="*/ 44 h 112"/>
                <a:gd name="T18" fmla="*/ 90 w 106"/>
                <a:gd name="T19" fmla="*/ 46 h 112"/>
                <a:gd name="T20" fmla="*/ 90 w 106"/>
                <a:gd name="T21" fmla="*/ 14 h 112"/>
                <a:gd name="T22" fmla="*/ 80 w 106"/>
                <a:gd name="T23" fmla="*/ 4 h 112"/>
                <a:gd name="T24" fmla="*/ 73 w 106"/>
                <a:gd name="T25" fmla="*/ 7 h 112"/>
                <a:gd name="T26" fmla="*/ 64 w 106"/>
                <a:gd name="T27" fmla="*/ 0 h 112"/>
                <a:gd name="T28" fmla="*/ 55 w 106"/>
                <a:gd name="T29" fmla="*/ 7 h 112"/>
                <a:gd name="T30" fmla="*/ 48 w 106"/>
                <a:gd name="T31" fmla="*/ 4 h 112"/>
                <a:gd name="T32" fmla="*/ 38 w 106"/>
                <a:gd name="T33" fmla="*/ 14 h 112"/>
                <a:gd name="T34" fmla="*/ 38 w 106"/>
                <a:gd name="T35" fmla="*/ 16 h 112"/>
                <a:gd name="T36" fmla="*/ 8 w 106"/>
                <a:gd name="T37" fmla="*/ 16 h 112"/>
                <a:gd name="T38" fmla="*/ 21 w 106"/>
                <a:gd name="T39" fmla="*/ 3 h 112"/>
                <a:gd name="T40" fmla="*/ 18 w 106"/>
                <a:gd name="T41" fmla="*/ 0 h 112"/>
                <a:gd name="T42" fmla="*/ 0 w 106"/>
                <a:gd name="T43" fmla="*/ 18 h 112"/>
                <a:gd name="T44" fmla="*/ 18 w 106"/>
                <a:gd name="T45" fmla="*/ 36 h 112"/>
                <a:gd name="T46" fmla="*/ 21 w 106"/>
                <a:gd name="T47" fmla="*/ 33 h 112"/>
                <a:gd name="T48" fmla="*/ 8 w 106"/>
                <a:gd name="T49" fmla="*/ 20 h 112"/>
                <a:gd name="T50" fmla="*/ 38 w 106"/>
                <a:gd name="T51" fmla="*/ 20 h 112"/>
                <a:gd name="T52" fmla="*/ 72 w 106"/>
                <a:gd name="T53" fmla="*/ 108 h 112"/>
                <a:gd name="T54" fmla="*/ 41 w 106"/>
                <a:gd name="T55" fmla="*/ 88 h 112"/>
                <a:gd name="T56" fmla="*/ 19 w 106"/>
                <a:gd name="T57" fmla="*/ 45 h 112"/>
                <a:gd name="T58" fmla="*/ 42 w 106"/>
                <a:gd name="T59" fmla="*/ 59 h 112"/>
                <a:gd name="T60" fmla="*/ 42 w 106"/>
                <a:gd name="T61" fmla="*/ 14 h 112"/>
                <a:gd name="T62" fmla="*/ 48 w 106"/>
                <a:gd name="T63" fmla="*/ 8 h 112"/>
                <a:gd name="T64" fmla="*/ 54 w 106"/>
                <a:gd name="T65" fmla="*/ 14 h 112"/>
                <a:gd name="T66" fmla="*/ 54 w 106"/>
                <a:gd name="T67" fmla="*/ 56 h 112"/>
                <a:gd name="T68" fmla="*/ 58 w 106"/>
                <a:gd name="T69" fmla="*/ 56 h 112"/>
                <a:gd name="T70" fmla="*/ 58 w 106"/>
                <a:gd name="T71" fmla="*/ 10 h 112"/>
                <a:gd name="T72" fmla="*/ 64 w 106"/>
                <a:gd name="T73" fmla="*/ 4 h 112"/>
                <a:gd name="T74" fmla="*/ 70 w 106"/>
                <a:gd name="T75" fmla="*/ 10 h 112"/>
                <a:gd name="T76" fmla="*/ 70 w 106"/>
                <a:gd name="T77" fmla="*/ 52 h 112"/>
                <a:gd name="T78" fmla="*/ 74 w 106"/>
                <a:gd name="T79" fmla="*/ 52 h 112"/>
                <a:gd name="T80" fmla="*/ 74 w 106"/>
                <a:gd name="T81" fmla="*/ 14 h 112"/>
                <a:gd name="T82" fmla="*/ 80 w 106"/>
                <a:gd name="T83" fmla="*/ 8 h 112"/>
                <a:gd name="T84" fmla="*/ 86 w 106"/>
                <a:gd name="T85" fmla="*/ 14 h 112"/>
                <a:gd name="T86" fmla="*/ 86 w 106"/>
                <a:gd name="T87" fmla="*/ 56 h 112"/>
                <a:gd name="T88" fmla="*/ 90 w 106"/>
                <a:gd name="T89" fmla="*/ 56 h 112"/>
                <a:gd name="T90" fmla="*/ 90 w 106"/>
                <a:gd name="T91" fmla="*/ 54 h 112"/>
                <a:gd name="T92" fmla="*/ 96 w 106"/>
                <a:gd name="T93" fmla="*/ 48 h 112"/>
                <a:gd name="T94" fmla="*/ 102 w 106"/>
                <a:gd name="T95" fmla="*/ 54 h 112"/>
                <a:gd name="T96" fmla="*/ 102 w 106"/>
                <a:gd name="T97" fmla="*/ 63 h 112"/>
                <a:gd name="T98" fmla="*/ 102 w 106"/>
                <a:gd name="T99" fmla="*/ 78 h 112"/>
                <a:gd name="T100" fmla="*/ 72 w 106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6" h="112">
                  <a:moveTo>
                    <a:pt x="38" y="20"/>
                  </a:moveTo>
                  <a:cubicBezTo>
                    <a:pt x="38" y="49"/>
                    <a:pt x="38" y="49"/>
                    <a:pt x="38" y="49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30" y="42"/>
                    <a:pt x="21" y="37"/>
                    <a:pt x="16" y="42"/>
                  </a:cubicBezTo>
                  <a:cubicBezTo>
                    <a:pt x="8" y="50"/>
                    <a:pt x="24" y="66"/>
                    <a:pt x="37" y="90"/>
                  </a:cubicBezTo>
                  <a:cubicBezTo>
                    <a:pt x="47" y="106"/>
                    <a:pt x="60" y="112"/>
                    <a:pt x="72" y="112"/>
                  </a:cubicBezTo>
                  <a:cubicBezTo>
                    <a:pt x="91" y="112"/>
                    <a:pt x="106" y="97"/>
                    <a:pt x="106" y="78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49"/>
                    <a:pt x="102" y="44"/>
                    <a:pt x="96" y="44"/>
                  </a:cubicBezTo>
                  <a:cubicBezTo>
                    <a:pt x="94" y="44"/>
                    <a:pt x="92" y="45"/>
                    <a:pt x="90" y="46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0" y="8"/>
                    <a:pt x="86" y="4"/>
                    <a:pt x="80" y="4"/>
                  </a:cubicBezTo>
                  <a:cubicBezTo>
                    <a:pt x="78" y="4"/>
                    <a:pt x="75" y="5"/>
                    <a:pt x="73" y="7"/>
                  </a:cubicBezTo>
                  <a:cubicBezTo>
                    <a:pt x="72" y="3"/>
                    <a:pt x="68" y="0"/>
                    <a:pt x="64" y="0"/>
                  </a:cubicBezTo>
                  <a:cubicBezTo>
                    <a:pt x="60" y="0"/>
                    <a:pt x="56" y="3"/>
                    <a:pt x="55" y="7"/>
                  </a:cubicBezTo>
                  <a:cubicBezTo>
                    <a:pt x="53" y="5"/>
                    <a:pt x="51" y="4"/>
                    <a:pt x="48" y="4"/>
                  </a:cubicBezTo>
                  <a:cubicBezTo>
                    <a:pt x="43" y="4"/>
                    <a:pt x="38" y="9"/>
                    <a:pt x="38" y="14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8" y="20"/>
                    <a:pt x="38" y="20"/>
                    <a:pt x="38" y="20"/>
                  </a:cubicBezTo>
                  <a:close/>
                  <a:moveTo>
                    <a:pt x="72" y="108"/>
                  </a:moveTo>
                  <a:cubicBezTo>
                    <a:pt x="57" y="108"/>
                    <a:pt x="48" y="100"/>
                    <a:pt x="41" y="88"/>
                  </a:cubicBezTo>
                  <a:cubicBezTo>
                    <a:pt x="25" y="62"/>
                    <a:pt x="14" y="50"/>
                    <a:pt x="19" y="45"/>
                  </a:cubicBezTo>
                  <a:cubicBezTo>
                    <a:pt x="23" y="41"/>
                    <a:pt x="34" y="50"/>
                    <a:pt x="42" y="59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1"/>
                    <a:pt x="45" y="8"/>
                    <a:pt x="48" y="8"/>
                  </a:cubicBezTo>
                  <a:cubicBezTo>
                    <a:pt x="51" y="8"/>
                    <a:pt x="54" y="11"/>
                    <a:pt x="54" y="1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8" y="7"/>
                    <a:pt x="61" y="4"/>
                    <a:pt x="64" y="4"/>
                  </a:cubicBezTo>
                  <a:cubicBezTo>
                    <a:pt x="67" y="4"/>
                    <a:pt x="70" y="7"/>
                    <a:pt x="70" y="10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11"/>
                    <a:pt x="77" y="8"/>
                    <a:pt x="80" y="8"/>
                  </a:cubicBezTo>
                  <a:cubicBezTo>
                    <a:pt x="83" y="8"/>
                    <a:pt x="86" y="11"/>
                    <a:pt x="86" y="14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90" y="51"/>
                    <a:pt x="93" y="48"/>
                    <a:pt x="96" y="48"/>
                  </a:cubicBezTo>
                  <a:cubicBezTo>
                    <a:pt x="99" y="48"/>
                    <a:pt x="102" y="51"/>
                    <a:pt x="102" y="54"/>
                  </a:cubicBezTo>
                  <a:cubicBezTo>
                    <a:pt x="102" y="63"/>
                    <a:pt x="102" y="63"/>
                    <a:pt x="102" y="63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102" y="95"/>
                    <a:pt x="89" y="108"/>
                    <a:pt x="72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1" name="Freeform 44"/>
            <p:cNvSpPr>
              <a:spLocks noEditPoints="1"/>
            </p:cNvSpPr>
            <p:nvPr/>
          </p:nvSpPr>
          <p:spPr bwMode="auto">
            <a:xfrm>
              <a:off x="11682414" y="3032156"/>
              <a:ext cx="306388" cy="292100"/>
            </a:xfrm>
            <a:custGeom>
              <a:avLst/>
              <a:gdLst>
                <a:gd name="T0" fmla="*/ 82 w 118"/>
                <a:gd name="T1" fmla="*/ 16 h 112"/>
                <a:gd name="T2" fmla="*/ 82 w 118"/>
                <a:gd name="T3" fmla="*/ 14 h 112"/>
                <a:gd name="T4" fmla="*/ 72 w 118"/>
                <a:gd name="T5" fmla="*/ 4 h 112"/>
                <a:gd name="T6" fmla="*/ 66 w 118"/>
                <a:gd name="T7" fmla="*/ 7 h 112"/>
                <a:gd name="T8" fmla="*/ 56 w 118"/>
                <a:gd name="T9" fmla="*/ 0 h 112"/>
                <a:gd name="T10" fmla="*/ 47 w 118"/>
                <a:gd name="T11" fmla="*/ 7 h 112"/>
                <a:gd name="T12" fmla="*/ 40 w 118"/>
                <a:gd name="T13" fmla="*/ 4 h 112"/>
                <a:gd name="T14" fmla="*/ 30 w 118"/>
                <a:gd name="T15" fmla="*/ 14 h 112"/>
                <a:gd name="T16" fmla="*/ 30 w 118"/>
                <a:gd name="T17" fmla="*/ 49 h 112"/>
                <a:gd name="T18" fmla="*/ 30 w 118"/>
                <a:gd name="T19" fmla="*/ 49 h 112"/>
                <a:gd name="T20" fmla="*/ 8 w 118"/>
                <a:gd name="T21" fmla="*/ 42 h 112"/>
                <a:gd name="T22" fmla="*/ 30 w 118"/>
                <a:gd name="T23" fmla="*/ 90 h 112"/>
                <a:gd name="T24" fmla="*/ 64 w 118"/>
                <a:gd name="T25" fmla="*/ 112 h 112"/>
                <a:gd name="T26" fmla="*/ 98 w 118"/>
                <a:gd name="T27" fmla="*/ 78 h 112"/>
                <a:gd name="T28" fmla="*/ 98 w 118"/>
                <a:gd name="T29" fmla="*/ 54 h 112"/>
                <a:gd name="T30" fmla="*/ 88 w 118"/>
                <a:gd name="T31" fmla="*/ 44 h 112"/>
                <a:gd name="T32" fmla="*/ 82 w 118"/>
                <a:gd name="T33" fmla="*/ 46 h 112"/>
                <a:gd name="T34" fmla="*/ 82 w 118"/>
                <a:gd name="T35" fmla="*/ 20 h 112"/>
                <a:gd name="T36" fmla="*/ 110 w 118"/>
                <a:gd name="T37" fmla="*/ 20 h 112"/>
                <a:gd name="T38" fmla="*/ 97 w 118"/>
                <a:gd name="T39" fmla="*/ 33 h 112"/>
                <a:gd name="T40" fmla="*/ 100 w 118"/>
                <a:gd name="T41" fmla="*/ 36 h 112"/>
                <a:gd name="T42" fmla="*/ 118 w 118"/>
                <a:gd name="T43" fmla="*/ 18 h 112"/>
                <a:gd name="T44" fmla="*/ 100 w 118"/>
                <a:gd name="T45" fmla="*/ 0 h 112"/>
                <a:gd name="T46" fmla="*/ 97 w 118"/>
                <a:gd name="T47" fmla="*/ 3 h 112"/>
                <a:gd name="T48" fmla="*/ 110 w 118"/>
                <a:gd name="T49" fmla="*/ 16 h 112"/>
                <a:gd name="T50" fmla="*/ 82 w 118"/>
                <a:gd name="T51" fmla="*/ 16 h 112"/>
                <a:gd name="T52" fmla="*/ 64 w 118"/>
                <a:gd name="T53" fmla="*/ 108 h 112"/>
                <a:gd name="T54" fmla="*/ 33 w 118"/>
                <a:gd name="T55" fmla="*/ 88 h 112"/>
                <a:gd name="T56" fmla="*/ 11 w 118"/>
                <a:gd name="T57" fmla="*/ 45 h 112"/>
                <a:gd name="T58" fmla="*/ 34 w 118"/>
                <a:gd name="T59" fmla="*/ 59 h 112"/>
                <a:gd name="T60" fmla="*/ 34 w 118"/>
                <a:gd name="T61" fmla="*/ 14 h 112"/>
                <a:gd name="T62" fmla="*/ 40 w 118"/>
                <a:gd name="T63" fmla="*/ 8 h 112"/>
                <a:gd name="T64" fmla="*/ 46 w 118"/>
                <a:gd name="T65" fmla="*/ 14 h 112"/>
                <a:gd name="T66" fmla="*/ 46 w 118"/>
                <a:gd name="T67" fmla="*/ 56 h 112"/>
                <a:gd name="T68" fmla="*/ 50 w 118"/>
                <a:gd name="T69" fmla="*/ 56 h 112"/>
                <a:gd name="T70" fmla="*/ 50 w 118"/>
                <a:gd name="T71" fmla="*/ 10 h 112"/>
                <a:gd name="T72" fmla="*/ 56 w 118"/>
                <a:gd name="T73" fmla="*/ 4 h 112"/>
                <a:gd name="T74" fmla="*/ 62 w 118"/>
                <a:gd name="T75" fmla="*/ 10 h 112"/>
                <a:gd name="T76" fmla="*/ 62 w 118"/>
                <a:gd name="T77" fmla="*/ 52 h 112"/>
                <a:gd name="T78" fmla="*/ 66 w 118"/>
                <a:gd name="T79" fmla="*/ 52 h 112"/>
                <a:gd name="T80" fmla="*/ 66 w 118"/>
                <a:gd name="T81" fmla="*/ 14 h 112"/>
                <a:gd name="T82" fmla="*/ 72 w 118"/>
                <a:gd name="T83" fmla="*/ 8 h 112"/>
                <a:gd name="T84" fmla="*/ 78 w 118"/>
                <a:gd name="T85" fmla="*/ 14 h 112"/>
                <a:gd name="T86" fmla="*/ 78 w 118"/>
                <a:gd name="T87" fmla="*/ 56 h 112"/>
                <a:gd name="T88" fmla="*/ 82 w 118"/>
                <a:gd name="T89" fmla="*/ 56 h 112"/>
                <a:gd name="T90" fmla="*/ 82 w 118"/>
                <a:gd name="T91" fmla="*/ 54 h 112"/>
                <a:gd name="T92" fmla="*/ 88 w 118"/>
                <a:gd name="T93" fmla="*/ 48 h 112"/>
                <a:gd name="T94" fmla="*/ 94 w 118"/>
                <a:gd name="T95" fmla="*/ 54 h 112"/>
                <a:gd name="T96" fmla="*/ 94 w 118"/>
                <a:gd name="T97" fmla="*/ 63 h 112"/>
                <a:gd name="T98" fmla="*/ 94 w 118"/>
                <a:gd name="T99" fmla="*/ 78 h 112"/>
                <a:gd name="T100" fmla="*/ 64 w 118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8" h="112">
                  <a:moveTo>
                    <a:pt x="82" y="16"/>
                  </a:move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7" y="5"/>
                    <a:pt x="66" y="7"/>
                  </a:cubicBezTo>
                  <a:cubicBezTo>
                    <a:pt x="64" y="3"/>
                    <a:pt x="60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6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ubicBezTo>
                    <a:pt x="86" y="44"/>
                    <a:pt x="84" y="45"/>
                    <a:pt x="82" y="46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100" y="36"/>
                    <a:pt x="100" y="36"/>
                    <a:pt x="100" y="36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110" y="16"/>
                    <a:pt x="110" y="16"/>
                    <a:pt x="110" y="16"/>
                  </a:cubicBezTo>
                  <a:cubicBezTo>
                    <a:pt x="82" y="16"/>
                    <a:pt x="82" y="16"/>
                    <a:pt x="82" y="16"/>
                  </a:cubicBezTo>
                  <a:close/>
                  <a:moveTo>
                    <a:pt x="64" y="108"/>
                  </a:moveTo>
                  <a:cubicBezTo>
                    <a:pt x="49" y="108"/>
                    <a:pt x="40" y="100"/>
                    <a:pt x="33" y="88"/>
                  </a:cubicBezTo>
                  <a:cubicBezTo>
                    <a:pt x="17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Freeform 45"/>
            <p:cNvSpPr>
              <a:spLocks noEditPoints="1"/>
            </p:cNvSpPr>
            <p:nvPr/>
          </p:nvSpPr>
          <p:spPr bwMode="auto">
            <a:xfrm>
              <a:off x="5516564" y="4821932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2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7 w 98"/>
                <a:gd name="T13" fmla="*/ 7 h 112"/>
                <a:gd name="T14" fmla="*/ 40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6 w 98"/>
                <a:gd name="T37" fmla="*/ 108 h 112"/>
                <a:gd name="T38" fmla="*/ 66 w 98"/>
                <a:gd name="T39" fmla="*/ 72 h 112"/>
                <a:gd name="T40" fmla="*/ 79 w 98"/>
                <a:gd name="T41" fmla="*/ 85 h 112"/>
                <a:gd name="T42" fmla="*/ 82 w 98"/>
                <a:gd name="T43" fmla="*/ 82 h 112"/>
                <a:gd name="T44" fmla="*/ 65 w 98"/>
                <a:gd name="T45" fmla="*/ 64 h 112"/>
                <a:gd name="T46" fmla="*/ 47 w 98"/>
                <a:gd name="T47" fmla="*/ 82 h 112"/>
                <a:gd name="T48" fmla="*/ 49 w 98"/>
                <a:gd name="T49" fmla="*/ 85 h 112"/>
                <a:gd name="T50" fmla="*/ 62 w 98"/>
                <a:gd name="T51" fmla="*/ 72 h 112"/>
                <a:gd name="T52" fmla="*/ 62 w 98"/>
                <a:gd name="T53" fmla="*/ 108 h 112"/>
                <a:gd name="T54" fmla="*/ 33 w 98"/>
                <a:gd name="T55" fmla="*/ 88 h 112"/>
                <a:gd name="T56" fmla="*/ 11 w 98"/>
                <a:gd name="T57" fmla="*/ 45 h 112"/>
                <a:gd name="T58" fmla="*/ 34 w 98"/>
                <a:gd name="T59" fmla="*/ 59 h 112"/>
                <a:gd name="T60" fmla="*/ 34 w 98"/>
                <a:gd name="T61" fmla="*/ 14 h 112"/>
                <a:gd name="T62" fmla="*/ 40 w 98"/>
                <a:gd name="T63" fmla="*/ 8 h 112"/>
                <a:gd name="T64" fmla="*/ 46 w 98"/>
                <a:gd name="T65" fmla="*/ 14 h 112"/>
                <a:gd name="T66" fmla="*/ 46 w 98"/>
                <a:gd name="T67" fmla="*/ 58 h 112"/>
                <a:gd name="T68" fmla="*/ 50 w 98"/>
                <a:gd name="T69" fmla="*/ 58 h 112"/>
                <a:gd name="T70" fmla="*/ 50 w 98"/>
                <a:gd name="T71" fmla="*/ 10 h 112"/>
                <a:gd name="T72" fmla="*/ 56 w 98"/>
                <a:gd name="T73" fmla="*/ 4 h 112"/>
                <a:gd name="T74" fmla="*/ 62 w 98"/>
                <a:gd name="T75" fmla="*/ 10 h 112"/>
                <a:gd name="T76" fmla="*/ 62 w 98"/>
                <a:gd name="T77" fmla="*/ 54 h 112"/>
                <a:gd name="T78" fmla="*/ 66 w 98"/>
                <a:gd name="T79" fmla="*/ 54 h 112"/>
                <a:gd name="T80" fmla="*/ 66 w 98"/>
                <a:gd name="T81" fmla="*/ 14 h 112"/>
                <a:gd name="T82" fmla="*/ 72 w 98"/>
                <a:gd name="T83" fmla="*/ 8 h 112"/>
                <a:gd name="T84" fmla="*/ 78 w 98"/>
                <a:gd name="T85" fmla="*/ 14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4" y="3"/>
                    <a:pt x="61" y="0"/>
                    <a:pt x="57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4"/>
                    <a:pt x="82" y="107"/>
                    <a:pt x="66" y="108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79" y="85"/>
                    <a:pt x="79" y="85"/>
                    <a:pt x="79" y="85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47" y="82"/>
                    <a:pt x="47" y="82"/>
                    <a:pt x="47" y="82"/>
                  </a:cubicBezTo>
                  <a:cubicBezTo>
                    <a:pt x="49" y="85"/>
                    <a:pt x="49" y="85"/>
                    <a:pt x="49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50" y="107"/>
                    <a:pt x="40" y="99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Freeform 46"/>
            <p:cNvSpPr>
              <a:spLocks noEditPoints="1"/>
            </p:cNvSpPr>
            <p:nvPr/>
          </p:nvSpPr>
          <p:spPr bwMode="auto">
            <a:xfrm>
              <a:off x="8439698" y="1680427"/>
              <a:ext cx="254000" cy="292100"/>
            </a:xfrm>
            <a:custGeom>
              <a:avLst/>
              <a:gdLst>
                <a:gd name="T0" fmla="*/ 62 w 98"/>
                <a:gd name="T1" fmla="*/ 52 h 112"/>
                <a:gd name="T2" fmla="*/ 62 w 98"/>
                <a:gd name="T3" fmla="*/ 10 h 112"/>
                <a:gd name="T4" fmla="*/ 56 w 98"/>
                <a:gd name="T5" fmla="*/ 4 h 112"/>
                <a:gd name="T6" fmla="*/ 50 w 98"/>
                <a:gd name="T7" fmla="*/ 10 h 112"/>
                <a:gd name="T8" fmla="*/ 50 w 98"/>
                <a:gd name="T9" fmla="*/ 56 h 112"/>
                <a:gd name="T10" fmla="*/ 46 w 98"/>
                <a:gd name="T11" fmla="*/ 56 h 112"/>
                <a:gd name="T12" fmla="*/ 46 w 98"/>
                <a:gd name="T13" fmla="*/ 14 h 112"/>
                <a:gd name="T14" fmla="*/ 40 w 98"/>
                <a:gd name="T15" fmla="*/ 8 h 112"/>
                <a:gd name="T16" fmla="*/ 34 w 98"/>
                <a:gd name="T17" fmla="*/ 14 h 112"/>
                <a:gd name="T18" fmla="*/ 34 w 98"/>
                <a:gd name="T19" fmla="*/ 59 h 112"/>
                <a:gd name="T20" fmla="*/ 11 w 98"/>
                <a:gd name="T21" fmla="*/ 45 h 112"/>
                <a:gd name="T22" fmla="*/ 33 w 98"/>
                <a:gd name="T23" fmla="*/ 88 h 112"/>
                <a:gd name="T24" fmla="*/ 64 w 98"/>
                <a:gd name="T25" fmla="*/ 108 h 112"/>
                <a:gd name="T26" fmla="*/ 94 w 98"/>
                <a:gd name="T27" fmla="*/ 78 h 112"/>
                <a:gd name="T28" fmla="*/ 94 w 98"/>
                <a:gd name="T29" fmla="*/ 63 h 112"/>
                <a:gd name="T30" fmla="*/ 94 w 98"/>
                <a:gd name="T31" fmla="*/ 54 h 112"/>
                <a:gd name="T32" fmla="*/ 88 w 98"/>
                <a:gd name="T33" fmla="*/ 48 h 112"/>
                <a:gd name="T34" fmla="*/ 82 w 98"/>
                <a:gd name="T35" fmla="*/ 54 h 112"/>
                <a:gd name="T36" fmla="*/ 82 w 98"/>
                <a:gd name="T37" fmla="*/ 56 h 112"/>
                <a:gd name="T38" fmla="*/ 78 w 98"/>
                <a:gd name="T39" fmla="*/ 56 h 112"/>
                <a:gd name="T40" fmla="*/ 78 w 98"/>
                <a:gd name="T41" fmla="*/ 14 h 112"/>
                <a:gd name="T42" fmla="*/ 72 w 98"/>
                <a:gd name="T43" fmla="*/ 8 h 112"/>
                <a:gd name="T44" fmla="*/ 66 w 98"/>
                <a:gd name="T45" fmla="*/ 14 h 112"/>
                <a:gd name="T46" fmla="*/ 66 w 98"/>
                <a:gd name="T47" fmla="*/ 52 h 112"/>
                <a:gd name="T48" fmla="*/ 66 w 98"/>
                <a:gd name="T49" fmla="*/ 88 h 112"/>
                <a:gd name="T50" fmla="*/ 79 w 98"/>
                <a:gd name="T51" fmla="*/ 75 h 112"/>
                <a:gd name="T52" fmla="*/ 82 w 98"/>
                <a:gd name="T53" fmla="*/ 78 h 112"/>
                <a:gd name="T54" fmla="*/ 64 w 98"/>
                <a:gd name="T55" fmla="*/ 96 h 112"/>
                <a:gd name="T56" fmla="*/ 46 w 98"/>
                <a:gd name="T57" fmla="*/ 78 h 112"/>
                <a:gd name="T58" fmla="*/ 49 w 98"/>
                <a:gd name="T59" fmla="*/ 75 h 112"/>
                <a:gd name="T60" fmla="*/ 62 w 98"/>
                <a:gd name="T61" fmla="*/ 88 h 112"/>
                <a:gd name="T62" fmla="*/ 62 w 98"/>
                <a:gd name="T63" fmla="*/ 52 h 112"/>
                <a:gd name="T64" fmla="*/ 98 w 98"/>
                <a:gd name="T65" fmla="*/ 78 h 112"/>
                <a:gd name="T66" fmla="*/ 64 w 98"/>
                <a:gd name="T67" fmla="*/ 112 h 112"/>
                <a:gd name="T68" fmla="*/ 30 w 98"/>
                <a:gd name="T69" fmla="*/ 90 h 112"/>
                <a:gd name="T70" fmla="*/ 8 w 98"/>
                <a:gd name="T71" fmla="*/ 42 h 112"/>
                <a:gd name="T72" fmla="*/ 30 w 98"/>
                <a:gd name="T73" fmla="*/ 49 h 112"/>
                <a:gd name="T74" fmla="*/ 30 w 98"/>
                <a:gd name="T75" fmla="*/ 49 h 112"/>
                <a:gd name="T76" fmla="*/ 30 w 98"/>
                <a:gd name="T77" fmla="*/ 14 h 112"/>
                <a:gd name="T78" fmla="*/ 40 w 98"/>
                <a:gd name="T79" fmla="*/ 4 h 112"/>
                <a:gd name="T80" fmla="*/ 47 w 98"/>
                <a:gd name="T81" fmla="*/ 7 h 112"/>
                <a:gd name="T82" fmla="*/ 56 w 98"/>
                <a:gd name="T83" fmla="*/ 0 h 112"/>
                <a:gd name="T84" fmla="*/ 66 w 98"/>
                <a:gd name="T85" fmla="*/ 7 h 112"/>
                <a:gd name="T86" fmla="*/ 72 w 98"/>
                <a:gd name="T87" fmla="*/ 4 h 112"/>
                <a:gd name="T88" fmla="*/ 82 w 98"/>
                <a:gd name="T89" fmla="*/ 14 h 112"/>
                <a:gd name="T90" fmla="*/ 82 w 98"/>
                <a:gd name="T91" fmla="*/ 46 h 112"/>
                <a:gd name="T92" fmla="*/ 88 w 98"/>
                <a:gd name="T93" fmla="*/ 44 h 112"/>
                <a:gd name="T94" fmla="*/ 98 w 98"/>
                <a:gd name="T95" fmla="*/ 54 h 112"/>
                <a:gd name="T96" fmla="*/ 98 w 98"/>
                <a:gd name="T97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62" y="52"/>
                  </a:move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40" y="100"/>
                    <a:pt x="49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1"/>
                    <a:pt x="76" y="8"/>
                    <a:pt x="72" y="8"/>
                  </a:cubicBezTo>
                  <a:cubicBezTo>
                    <a:pt x="69" y="8"/>
                    <a:pt x="66" y="11"/>
                    <a:pt x="66" y="1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2" y="52"/>
                    <a:pt x="62" y="52"/>
                    <a:pt x="62" y="52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9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1" y="0"/>
                    <a:pt x="64" y="3"/>
                    <a:pt x="66" y="7"/>
                  </a:cubicBezTo>
                  <a:cubicBezTo>
                    <a:pt x="67" y="5"/>
                    <a:pt x="70" y="4"/>
                    <a:pt x="72" y="4"/>
                  </a:cubicBezTo>
                  <a:cubicBezTo>
                    <a:pt x="78" y="4"/>
                    <a:pt x="82" y="8"/>
                    <a:pt x="82" y="14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4" name="Freeform 47"/>
            <p:cNvSpPr>
              <a:spLocks noEditPoints="1"/>
            </p:cNvSpPr>
            <p:nvPr/>
          </p:nvSpPr>
          <p:spPr bwMode="auto">
            <a:xfrm>
              <a:off x="3491034" y="636437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3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8 w 98"/>
                <a:gd name="T13" fmla="*/ 7 h 112"/>
                <a:gd name="T14" fmla="*/ 41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5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4 h 112"/>
                <a:gd name="T46" fmla="*/ 40 w 98"/>
                <a:gd name="T47" fmla="*/ 8 h 112"/>
                <a:gd name="T48" fmla="*/ 46 w 98"/>
                <a:gd name="T49" fmla="*/ 14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4 h 112"/>
                <a:gd name="T66" fmla="*/ 72 w 98"/>
                <a:gd name="T67" fmla="*/ 8 h 112"/>
                <a:gd name="T68" fmla="*/ 78 w 98"/>
                <a:gd name="T69" fmla="*/ 14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54 h 112"/>
                <a:gd name="T76" fmla="*/ 88 w 98"/>
                <a:gd name="T77" fmla="*/ 48 h 112"/>
                <a:gd name="T78" fmla="*/ 94 w 98"/>
                <a:gd name="T79" fmla="*/ 54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3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5" y="3"/>
                    <a:pt x="61" y="0"/>
                    <a:pt x="57" y="0"/>
                  </a:cubicBezTo>
                  <a:cubicBezTo>
                    <a:pt x="53" y="0"/>
                    <a:pt x="49" y="3"/>
                    <a:pt x="48" y="7"/>
                  </a:cubicBezTo>
                  <a:cubicBezTo>
                    <a:pt x="46" y="5"/>
                    <a:pt x="43" y="4"/>
                    <a:pt x="41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5" y="108"/>
                  </a:cubicBezTo>
                  <a:cubicBezTo>
                    <a:pt x="50" y="108"/>
                    <a:pt x="41" y="100"/>
                    <a:pt x="34" y="88"/>
                  </a:cubicBezTo>
                  <a:cubicBezTo>
                    <a:pt x="18" y="62"/>
                    <a:pt x="7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7419976" y="5082683"/>
              <a:ext cx="254001" cy="333375"/>
              <a:chOff x="4422775" y="3157538"/>
              <a:chExt cx="254001" cy="333375"/>
            </a:xfrm>
            <a:grpFill/>
          </p:grpSpPr>
          <p:sp>
            <p:nvSpPr>
              <p:cNvPr id="214" name="Freeform 48"/>
              <p:cNvSpPr>
                <a:spLocks/>
              </p:cNvSpPr>
              <p:nvPr/>
            </p:nvSpPr>
            <p:spPr bwMode="auto">
              <a:xfrm>
                <a:off x="4479925" y="3178175"/>
                <a:ext cx="176213" cy="85725"/>
              </a:xfrm>
              <a:custGeom>
                <a:avLst/>
                <a:gdLst>
                  <a:gd name="T0" fmla="*/ 64 w 68"/>
                  <a:gd name="T1" fmla="*/ 26 h 33"/>
                  <a:gd name="T2" fmla="*/ 64 w 68"/>
                  <a:gd name="T3" fmla="*/ 33 h 33"/>
                  <a:gd name="T4" fmla="*/ 68 w 68"/>
                  <a:gd name="T5" fmla="*/ 22 h 33"/>
                  <a:gd name="T6" fmla="*/ 50 w 68"/>
                  <a:gd name="T7" fmla="*/ 4 h 33"/>
                  <a:gd name="T8" fmla="*/ 46 w 68"/>
                  <a:gd name="T9" fmla="*/ 4 h 33"/>
                  <a:gd name="T10" fmla="*/ 34 w 68"/>
                  <a:gd name="T11" fmla="*/ 0 h 33"/>
                  <a:gd name="T12" fmla="*/ 22 w 68"/>
                  <a:gd name="T13" fmla="*/ 4 h 33"/>
                  <a:gd name="T14" fmla="*/ 18 w 68"/>
                  <a:gd name="T15" fmla="*/ 4 h 33"/>
                  <a:gd name="T16" fmla="*/ 0 w 68"/>
                  <a:gd name="T17" fmla="*/ 22 h 33"/>
                  <a:gd name="T18" fmla="*/ 4 w 68"/>
                  <a:gd name="T19" fmla="*/ 33 h 33"/>
                  <a:gd name="T20" fmla="*/ 4 w 68"/>
                  <a:gd name="T21" fmla="*/ 22 h 33"/>
                  <a:gd name="T22" fmla="*/ 8 w 68"/>
                  <a:gd name="T23" fmla="*/ 14 h 33"/>
                  <a:gd name="T24" fmla="*/ 8 w 68"/>
                  <a:gd name="T25" fmla="*/ 14 h 33"/>
                  <a:gd name="T26" fmla="*/ 18 w 68"/>
                  <a:gd name="T27" fmla="*/ 9 h 33"/>
                  <a:gd name="T28" fmla="*/ 23 w 68"/>
                  <a:gd name="T29" fmla="*/ 9 h 33"/>
                  <a:gd name="T30" fmla="*/ 34 w 68"/>
                  <a:gd name="T31" fmla="*/ 4 h 33"/>
                  <a:gd name="T32" fmla="*/ 45 w 68"/>
                  <a:gd name="T33" fmla="*/ 9 h 33"/>
                  <a:gd name="T34" fmla="*/ 50 w 68"/>
                  <a:gd name="T35" fmla="*/ 8 h 33"/>
                  <a:gd name="T36" fmla="*/ 64 w 68"/>
                  <a:gd name="T37" fmla="*/ 22 h 33"/>
                  <a:gd name="T38" fmla="*/ 64 w 68"/>
                  <a:gd name="T39" fmla="*/ 24 h 33"/>
                  <a:gd name="T40" fmla="*/ 64 w 68"/>
                  <a:gd name="T4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64" y="26"/>
                    </a:moveTo>
                    <a:cubicBezTo>
                      <a:pt x="64" y="33"/>
                      <a:pt x="64" y="33"/>
                      <a:pt x="64" y="33"/>
                    </a:cubicBezTo>
                    <a:cubicBezTo>
                      <a:pt x="68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6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0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8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11" y="10"/>
                      <a:pt x="14" y="9"/>
                      <a:pt x="18" y="9"/>
                    </a:cubicBezTo>
                    <a:cubicBezTo>
                      <a:pt x="20" y="9"/>
                      <a:pt x="22" y="9"/>
                      <a:pt x="23" y="9"/>
                    </a:cubicBezTo>
                    <a:cubicBezTo>
                      <a:pt x="26" y="6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4" y="25"/>
                      <a:pt x="64" y="25"/>
                      <a:pt x="6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5" name="Freeform 49"/>
              <p:cNvSpPr>
                <a:spLocks/>
              </p:cNvSpPr>
              <p:nvPr/>
            </p:nvSpPr>
            <p:spPr bwMode="auto">
              <a:xfrm>
                <a:off x="4459288" y="3157538"/>
                <a:ext cx="217488" cy="134938"/>
              </a:xfrm>
              <a:custGeom>
                <a:avLst/>
                <a:gdLst>
                  <a:gd name="T0" fmla="*/ 12 w 84"/>
                  <a:gd name="T1" fmla="*/ 52 h 52"/>
                  <a:gd name="T2" fmla="*/ 12 w 84"/>
                  <a:gd name="T3" fmla="*/ 47 h 52"/>
                  <a:gd name="T4" fmla="*/ 4 w 84"/>
                  <a:gd name="T5" fmla="*/ 30 h 52"/>
                  <a:gd name="T6" fmla="*/ 26 w 84"/>
                  <a:gd name="T7" fmla="*/ 8 h 52"/>
                  <a:gd name="T8" fmla="*/ 29 w 84"/>
                  <a:gd name="T9" fmla="*/ 8 h 52"/>
                  <a:gd name="T10" fmla="*/ 42 w 84"/>
                  <a:gd name="T11" fmla="*/ 4 h 52"/>
                  <a:gd name="T12" fmla="*/ 55 w 84"/>
                  <a:gd name="T13" fmla="*/ 8 h 52"/>
                  <a:gd name="T14" fmla="*/ 58 w 84"/>
                  <a:gd name="T15" fmla="*/ 8 h 52"/>
                  <a:gd name="T16" fmla="*/ 80 w 84"/>
                  <a:gd name="T17" fmla="*/ 30 h 52"/>
                  <a:gd name="T18" fmla="*/ 72 w 84"/>
                  <a:gd name="T19" fmla="*/ 47 h 52"/>
                  <a:gd name="T20" fmla="*/ 72 w 84"/>
                  <a:gd name="T21" fmla="*/ 52 h 52"/>
                  <a:gd name="T22" fmla="*/ 84 w 84"/>
                  <a:gd name="T23" fmla="*/ 30 h 52"/>
                  <a:gd name="T24" fmla="*/ 58 w 84"/>
                  <a:gd name="T25" fmla="*/ 4 h 52"/>
                  <a:gd name="T26" fmla="*/ 56 w 84"/>
                  <a:gd name="T27" fmla="*/ 4 h 52"/>
                  <a:gd name="T28" fmla="*/ 42 w 84"/>
                  <a:gd name="T29" fmla="*/ 0 h 52"/>
                  <a:gd name="T30" fmla="*/ 28 w 84"/>
                  <a:gd name="T31" fmla="*/ 4 h 52"/>
                  <a:gd name="T32" fmla="*/ 26 w 84"/>
                  <a:gd name="T33" fmla="*/ 4 h 52"/>
                  <a:gd name="T34" fmla="*/ 0 w 84"/>
                  <a:gd name="T35" fmla="*/ 30 h 52"/>
                  <a:gd name="T36" fmla="*/ 12 w 84"/>
                  <a:gd name="T3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4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4" y="37"/>
                      <a:pt x="4" y="30"/>
                    </a:cubicBezTo>
                    <a:cubicBezTo>
                      <a:pt x="4" y="18"/>
                      <a:pt x="14" y="8"/>
                      <a:pt x="26" y="8"/>
                    </a:cubicBezTo>
                    <a:cubicBezTo>
                      <a:pt x="27" y="8"/>
                      <a:pt x="28" y="8"/>
                      <a:pt x="29" y="8"/>
                    </a:cubicBezTo>
                    <a:cubicBezTo>
                      <a:pt x="33" y="6"/>
                      <a:pt x="37" y="4"/>
                      <a:pt x="42" y="4"/>
                    </a:cubicBezTo>
                    <a:cubicBezTo>
                      <a:pt x="47" y="4"/>
                      <a:pt x="52" y="6"/>
                      <a:pt x="55" y="8"/>
                    </a:cubicBezTo>
                    <a:cubicBezTo>
                      <a:pt x="56" y="8"/>
                      <a:pt x="57" y="8"/>
                      <a:pt x="58" y="8"/>
                    </a:cubicBezTo>
                    <a:cubicBezTo>
                      <a:pt x="70" y="8"/>
                      <a:pt x="80" y="18"/>
                      <a:pt x="80" y="30"/>
                    </a:cubicBezTo>
                    <a:cubicBezTo>
                      <a:pt x="80" y="37"/>
                      <a:pt x="76" y="43"/>
                      <a:pt x="72" y="47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80" y="47"/>
                      <a:pt x="84" y="39"/>
                      <a:pt x="84" y="30"/>
                    </a:cubicBezTo>
                    <a:cubicBezTo>
                      <a:pt x="84" y="16"/>
                      <a:pt x="73" y="4"/>
                      <a:pt x="58" y="4"/>
                    </a:cubicBezTo>
                    <a:cubicBezTo>
                      <a:pt x="58" y="4"/>
                      <a:pt x="57" y="4"/>
                      <a:pt x="56" y="4"/>
                    </a:cubicBezTo>
                    <a:cubicBezTo>
                      <a:pt x="52" y="1"/>
                      <a:pt x="47" y="0"/>
                      <a:pt x="42" y="0"/>
                    </a:cubicBezTo>
                    <a:cubicBezTo>
                      <a:pt x="37" y="0"/>
                      <a:pt x="32" y="1"/>
                      <a:pt x="28" y="4"/>
                    </a:cubicBezTo>
                    <a:cubicBezTo>
                      <a:pt x="28" y="4"/>
                      <a:pt x="27" y="4"/>
                      <a:pt x="26" y="4"/>
                    </a:cubicBezTo>
                    <a:cubicBezTo>
                      <a:pt x="12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6" name="Freeform 50"/>
              <p:cNvSpPr>
                <a:spLocks noEditPoints="1"/>
              </p:cNvSpPr>
              <p:nvPr/>
            </p:nvSpPr>
            <p:spPr bwMode="auto">
              <a:xfrm>
                <a:off x="4422775" y="319881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2 w 98"/>
                  <a:gd name="T7" fmla="*/ 4 h 112"/>
                  <a:gd name="T8" fmla="*/ 66 w 98"/>
                  <a:gd name="T9" fmla="*/ 7 h 112"/>
                  <a:gd name="T10" fmla="*/ 56 w 98"/>
                  <a:gd name="T11" fmla="*/ 0 h 112"/>
                  <a:gd name="T12" fmla="*/ 47 w 98"/>
                  <a:gd name="T13" fmla="*/ 7 h 112"/>
                  <a:gd name="T14" fmla="*/ 40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4 w 98"/>
                  <a:gd name="T37" fmla="*/ 108 h 112"/>
                  <a:gd name="T38" fmla="*/ 33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8 h 112"/>
                  <a:gd name="T52" fmla="*/ 50 w 98"/>
                  <a:gd name="T53" fmla="*/ 58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4 h 112"/>
                  <a:gd name="T62" fmla="*/ 66 w 98"/>
                  <a:gd name="T63" fmla="*/ 54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8 h 112"/>
                  <a:gd name="T72" fmla="*/ 82 w 98"/>
                  <a:gd name="T73" fmla="*/ 58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2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2" y="4"/>
                    </a:cubicBezTo>
                    <a:cubicBezTo>
                      <a:pt x="70" y="4"/>
                      <a:pt x="67" y="5"/>
                      <a:pt x="66" y="7"/>
                    </a:cubicBezTo>
                    <a:cubicBezTo>
                      <a:pt x="64" y="3"/>
                      <a:pt x="61" y="0"/>
                      <a:pt x="56" y="0"/>
                    </a:cubicBezTo>
                    <a:cubicBezTo>
                      <a:pt x="52" y="0"/>
                      <a:pt x="48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3" y="37"/>
                      <a:pt x="8" y="42"/>
                    </a:cubicBezTo>
                    <a:cubicBezTo>
                      <a:pt x="0" y="50"/>
                      <a:pt x="16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0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9463928" y="1988603"/>
              <a:ext cx="254000" cy="312738"/>
              <a:chOff x="5057775" y="3168650"/>
              <a:chExt cx="254000" cy="312738"/>
            </a:xfrm>
            <a:grpFill/>
          </p:grpSpPr>
          <p:sp>
            <p:nvSpPr>
              <p:cNvPr id="212" name="Freeform 51"/>
              <p:cNvSpPr>
                <a:spLocks/>
              </p:cNvSpPr>
              <p:nvPr/>
            </p:nvSpPr>
            <p:spPr bwMode="auto">
              <a:xfrm>
                <a:off x="5116513" y="3168650"/>
                <a:ext cx="177800" cy="85725"/>
              </a:xfrm>
              <a:custGeom>
                <a:avLst/>
                <a:gdLst>
                  <a:gd name="T0" fmla="*/ 3 w 68"/>
                  <a:gd name="T1" fmla="*/ 22 h 33"/>
                  <a:gd name="T2" fmla="*/ 8 w 68"/>
                  <a:gd name="T3" fmla="*/ 10 h 33"/>
                  <a:gd name="T4" fmla="*/ 8 w 68"/>
                  <a:gd name="T5" fmla="*/ 10 h 33"/>
                  <a:gd name="T6" fmla="*/ 18 w 68"/>
                  <a:gd name="T7" fmla="*/ 7 h 33"/>
                  <a:gd name="T8" fmla="*/ 23 w 68"/>
                  <a:gd name="T9" fmla="*/ 8 h 33"/>
                  <a:gd name="T10" fmla="*/ 34 w 68"/>
                  <a:gd name="T11" fmla="*/ 4 h 33"/>
                  <a:gd name="T12" fmla="*/ 45 w 68"/>
                  <a:gd name="T13" fmla="*/ 9 h 33"/>
                  <a:gd name="T14" fmla="*/ 50 w 68"/>
                  <a:gd name="T15" fmla="*/ 8 h 33"/>
                  <a:gd name="T16" fmla="*/ 64 w 68"/>
                  <a:gd name="T17" fmla="*/ 22 h 33"/>
                  <a:gd name="T18" fmla="*/ 63 w 68"/>
                  <a:gd name="T19" fmla="*/ 24 h 33"/>
                  <a:gd name="T20" fmla="*/ 63 w 68"/>
                  <a:gd name="T21" fmla="*/ 26 h 33"/>
                  <a:gd name="T22" fmla="*/ 63 w 68"/>
                  <a:gd name="T23" fmla="*/ 33 h 33"/>
                  <a:gd name="T24" fmla="*/ 68 w 68"/>
                  <a:gd name="T25" fmla="*/ 22 h 33"/>
                  <a:gd name="T26" fmla="*/ 50 w 68"/>
                  <a:gd name="T27" fmla="*/ 4 h 33"/>
                  <a:gd name="T28" fmla="*/ 46 w 68"/>
                  <a:gd name="T29" fmla="*/ 4 h 33"/>
                  <a:gd name="T30" fmla="*/ 34 w 68"/>
                  <a:gd name="T31" fmla="*/ 0 h 33"/>
                  <a:gd name="T32" fmla="*/ 22 w 68"/>
                  <a:gd name="T33" fmla="*/ 4 h 33"/>
                  <a:gd name="T34" fmla="*/ 18 w 68"/>
                  <a:gd name="T35" fmla="*/ 4 h 33"/>
                  <a:gd name="T36" fmla="*/ 0 w 68"/>
                  <a:gd name="T37" fmla="*/ 22 h 33"/>
                  <a:gd name="T38" fmla="*/ 3 w 68"/>
                  <a:gd name="T39" fmla="*/ 33 h 33"/>
                  <a:gd name="T40" fmla="*/ 3 w 68"/>
                  <a:gd name="T4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3" y="22"/>
                    </a:moveTo>
                    <a:cubicBezTo>
                      <a:pt x="3" y="18"/>
                      <a:pt x="6" y="14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1" y="10"/>
                      <a:pt x="14" y="7"/>
                      <a:pt x="18" y="7"/>
                    </a:cubicBezTo>
                    <a:cubicBezTo>
                      <a:pt x="20" y="7"/>
                      <a:pt x="22" y="8"/>
                      <a:pt x="23" y="8"/>
                    </a:cubicBezTo>
                    <a:cubicBezTo>
                      <a:pt x="26" y="5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3" y="24"/>
                    </a:cubicBezTo>
                    <a:cubicBezTo>
                      <a:pt x="64" y="25"/>
                      <a:pt x="63" y="25"/>
                      <a:pt x="63" y="26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7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5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3" y="30"/>
                      <a:pt x="3" y="33"/>
                    </a:cubicBezTo>
                    <a:lnTo>
                      <a:pt x="3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3" name="Freeform 52"/>
              <p:cNvSpPr>
                <a:spLocks noEditPoints="1"/>
              </p:cNvSpPr>
              <p:nvPr/>
            </p:nvSpPr>
            <p:spPr bwMode="auto">
              <a:xfrm>
                <a:off x="5057775" y="3189288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3 w 98"/>
                  <a:gd name="T7" fmla="*/ 4 h 112"/>
                  <a:gd name="T8" fmla="*/ 66 w 98"/>
                  <a:gd name="T9" fmla="*/ 7 h 112"/>
                  <a:gd name="T10" fmla="*/ 57 w 98"/>
                  <a:gd name="T11" fmla="*/ 0 h 112"/>
                  <a:gd name="T12" fmla="*/ 48 w 98"/>
                  <a:gd name="T13" fmla="*/ 7 h 112"/>
                  <a:gd name="T14" fmla="*/ 41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5 w 98"/>
                  <a:gd name="T37" fmla="*/ 108 h 112"/>
                  <a:gd name="T38" fmla="*/ 34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4 h 112"/>
                  <a:gd name="T52" fmla="*/ 50 w 98"/>
                  <a:gd name="T53" fmla="*/ 54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0 h 112"/>
                  <a:gd name="T62" fmla="*/ 66 w 98"/>
                  <a:gd name="T63" fmla="*/ 50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4 h 112"/>
                  <a:gd name="T72" fmla="*/ 82 w 98"/>
                  <a:gd name="T73" fmla="*/ 54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3" y="4"/>
                    </a:cubicBezTo>
                    <a:cubicBezTo>
                      <a:pt x="70" y="4"/>
                      <a:pt x="68" y="5"/>
                      <a:pt x="66" y="7"/>
                    </a:cubicBezTo>
                    <a:cubicBezTo>
                      <a:pt x="65" y="3"/>
                      <a:pt x="61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4"/>
                      <a:pt x="46" y="54"/>
                      <a:pt x="46" y="54"/>
                    </a:cubicBezTo>
                    <a:cubicBezTo>
                      <a:pt x="50" y="54"/>
                      <a:pt x="50" y="54"/>
                      <a:pt x="50" y="54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87" name="Freeform 86"/>
            <p:cNvSpPr>
              <a:spLocks noEditPoints="1"/>
            </p:cNvSpPr>
            <p:nvPr/>
          </p:nvSpPr>
          <p:spPr bwMode="auto">
            <a:xfrm>
              <a:off x="8295544" y="895609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Freeform 87"/>
            <p:cNvSpPr>
              <a:spLocks noEditPoints="1"/>
            </p:cNvSpPr>
            <p:nvPr/>
          </p:nvSpPr>
          <p:spPr bwMode="auto">
            <a:xfrm>
              <a:off x="10071956" y="984509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9" name="Freeform 88"/>
            <p:cNvSpPr>
              <a:spLocks noEditPoints="1"/>
            </p:cNvSpPr>
            <p:nvPr/>
          </p:nvSpPr>
          <p:spPr bwMode="auto">
            <a:xfrm>
              <a:off x="608526" y="5346643"/>
              <a:ext cx="591596" cy="437422"/>
            </a:xfrm>
            <a:custGeom>
              <a:avLst/>
              <a:gdLst>
                <a:gd name="T0" fmla="*/ 64 w 108"/>
                <a:gd name="T1" fmla="*/ 70 h 80"/>
                <a:gd name="T2" fmla="*/ 44 w 108"/>
                <a:gd name="T3" fmla="*/ 70 h 80"/>
                <a:gd name="T4" fmla="*/ 54 w 108"/>
                <a:gd name="T5" fmla="*/ 32 h 80"/>
                <a:gd name="T6" fmla="*/ 60 w 108"/>
                <a:gd name="T7" fmla="*/ 62 h 80"/>
                <a:gd name="T8" fmla="*/ 108 w 108"/>
                <a:gd name="T9" fmla="*/ 54 h 80"/>
                <a:gd name="T10" fmla="*/ 0 w 108"/>
                <a:gd name="T11" fmla="*/ 54 h 80"/>
                <a:gd name="T12" fmla="*/ 7 w 108"/>
                <a:gd name="T13" fmla="*/ 70 h 80"/>
                <a:gd name="T14" fmla="*/ 54 w 108"/>
                <a:gd name="T15" fmla="*/ 4 h 80"/>
                <a:gd name="T16" fmla="*/ 101 w 108"/>
                <a:gd name="T17" fmla="*/ 70 h 80"/>
                <a:gd name="T18" fmla="*/ 105 w 108"/>
                <a:gd name="T19" fmla="*/ 71 h 80"/>
                <a:gd name="T20" fmla="*/ 60 w 108"/>
                <a:gd name="T21" fmla="*/ 70 h 80"/>
                <a:gd name="T22" fmla="*/ 48 w 108"/>
                <a:gd name="T23" fmla="*/ 70 h 80"/>
                <a:gd name="T24" fmla="*/ 54 w 108"/>
                <a:gd name="T25" fmla="*/ 76 h 80"/>
                <a:gd name="T26" fmla="*/ 52 w 108"/>
                <a:gd name="T27" fmla="*/ 10 h 80"/>
                <a:gd name="T28" fmla="*/ 54 w 108"/>
                <a:gd name="T29" fmla="*/ 24 h 80"/>
                <a:gd name="T30" fmla="*/ 56 w 108"/>
                <a:gd name="T31" fmla="*/ 10 h 80"/>
                <a:gd name="T32" fmla="*/ 54 w 108"/>
                <a:gd name="T33" fmla="*/ 8 h 80"/>
                <a:gd name="T34" fmla="*/ 78 w 108"/>
                <a:gd name="T35" fmla="*/ 17 h 80"/>
                <a:gd name="T36" fmla="*/ 72 w 108"/>
                <a:gd name="T37" fmla="*/ 30 h 80"/>
                <a:gd name="T38" fmla="*/ 82 w 108"/>
                <a:gd name="T39" fmla="*/ 20 h 80"/>
                <a:gd name="T40" fmla="*/ 81 w 108"/>
                <a:gd name="T41" fmla="*/ 17 h 80"/>
                <a:gd name="T42" fmla="*/ 95 w 108"/>
                <a:gd name="T43" fmla="*/ 39 h 80"/>
                <a:gd name="T44" fmla="*/ 83 w 108"/>
                <a:gd name="T45" fmla="*/ 45 h 80"/>
                <a:gd name="T46" fmla="*/ 97 w 108"/>
                <a:gd name="T47" fmla="*/ 42 h 80"/>
                <a:gd name="T48" fmla="*/ 98 w 108"/>
                <a:gd name="T49" fmla="*/ 40 h 80"/>
                <a:gd name="T50" fmla="*/ 97 w 108"/>
                <a:gd name="T51" fmla="*/ 66 h 80"/>
                <a:gd name="T52" fmla="*/ 83 w 108"/>
                <a:gd name="T53" fmla="*/ 63 h 80"/>
                <a:gd name="T54" fmla="*/ 95 w 108"/>
                <a:gd name="T55" fmla="*/ 70 h 80"/>
                <a:gd name="T56" fmla="*/ 98 w 108"/>
                <a:gd name="T57" fmla="*/ 68 h 80"/>
                <a:gd name="T58" fmla="*/ 13 w 108"/>
                <a:gd name="T59" fmla="*/ 70 h 80"/>
                <a:gd name="T60" fmla="*/ 25 w 108"/>
                <a:gd name="T61" fmla="*/ 63 h 80"/>
                <a:gd name="T62" fmla="*/ 11 w 108"/>
                <a:gd name="T63" fmla="*/ 66 h 80"/>
                <a:gd name="T64" fmla="*/ 10 w 108"/>
                <a:gd name="T65" fmla="*/ 68 h 80"/>
                <a:gd name="T66" fmla="*/ 11 w 108"/>
                <a:gd name="T67" fmla="*/ 42 h 80"/>
                <a:gd name="T68" fmla="*/ 25 w 108"/>
                <a:gd name="T69" fmla="*/ 45 h 80"/>
                <a:gd name="T70" fmla="*/ 13 w 108"/>
                <a:gd name="T71" fmla="*/ 39 h 80"/>
                <a:gd name="T72" fmla="*/ 10 w 108"/>
                <a:gd name="T73" fmla="*/ 40 h 80"/>
                <a:gd name="T74" fmla="*/ 26 w 108"/>
                <a:gd name="T75" fmla="*/ 20 h 80"/>
                <a:gd name="T76" fmla="*/ 36 w 108"/>
                <a:gd name="T77" fmla="*/ 30 h 80"/>
                <a:gd name="T78" fmla="*/ 30 w 108"/>
                <a:gd name="T79" fmla="*/ 17 h 80"/>
                <a:gd name="T80" fmla="*/ 27 w 108"/>
                <a:gd name="T81" fmla="*/ 1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" h="80">
                  <a:moveTo>
                    <a:pt x="60" y="62"/>
                  </a:moveTo>
                  <a:cubicBezTo>
                    <a:pt x="62" y="63"/>
                    <a:pt x="64" y="67"/>
                    <a:pt x="64" y="70"/>
                  </a:cubicBezTo>
                  <a:cubicBezTo>
                    <a:pt x="64" y="76"/>
                    <a:pt x="60" y="80"/>
                    <a:pt x="54" y="80"/>
                  </a:cubicBezTo>
                  <a:cubicBezTo>
                    <a:pt x="48" y="80"/>
                    <a:pt x="44" y="76"/>
                    <a:pt x="44" y="70"/>
                  </a:cubicBezTo>
                  <a:cubicBezTo>
                    <a:pt x="44" y="67"/>
                    <a:pt x="46" y="63"/>
                    <a:pt x="48" y="6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60" y="62"/>
                    <a:pt x="60" y="62"/>
                    <a:pt x="60" y="62"/>
                  </a:cubicBezTo>
                  <a:cubicBezTo>
                    <a:pt x="60" y="62"/>
                    <a:pt x="60" y="62"/>
                    <a:pt x="60" y="62"/>
                  </a:cubicBezTo>
                  <a:close/>
                  <a:moveTo>
                    <a:pt x="105" y="71"/>
                  </a:moveTo>
                  <a:cubicBezTo>
                    <a:pt x="107" y="66"/>
                    <a:pt x="108" y="60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0"/>
                    <a:pt x="1" y="66"/>
                    <a:pt x="3" y="71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5" y="65"/>
                    <a:pt x="4" y="60"/>
                    <a:pt x="4" y="54"/>
                  </a:cubicBezTo>
                  <a:cubicBezTo>
                    <a:pt x="4" y="26"/>
                    <a:pt x="26" y="4"/>
                    <a:pt x="54" y="4"/>
                  </a:cubicBezTo>
                  <a:cubicBezTo>
                    <a:pt x="82" y="4"/>
                    <a:pt x="104" y="26"/>
                    <a:pt x="104" y="54"/>
                  </a:cubicBezTo>
                  <a:cubicBezTo>
                    <a:pt x="104" y="60"/>
                    <a:pt x="103" y="65"/>
                    <a:pt x="101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54" y="76"/>
                  </a:moveTo>
                  <a:cubicBezTo>
                    <a:pt x="57" y="76"/>
                    <a:pt x="60" y="73"/>
                    <a:pt x="60" y="70"/>
                  </a:cubicBezTo>
                  <a:cubicBezTo>
                    <a:pt x="60" y="67"/>
                    <a:pt x="57" y="64"/>
                    <a:pt x="54" y="64"/>
                  </a:cubicBezTo>
                  <a:cubicBezTo>
                    <a:pt x="51" y="64"/>
                    <a:pt x="48" y="67"/>
                    <a:pt x="48" y="70"/>
                  </a:cubicBezTo>
                  <a:cubicBezTo>
                    <a:pt x="48" y="73"/>
                    <a:pt x="51" y="76"/>
                    <a:pt x="54" y="76"/>
                  </a:cubicBezTo>
                  <a:cubicBezTo>
                    <a:pt x="54" y="76"/>
                    <a:pt x="54" y="76"/>
                    <a:pt x="54" y="76"/>
                  </a:cubicBezTo>
                  <a:close/>
                  <a:moveTo>
                    <a:pt x="54" y="8"/>
                  </a:moveTo>
                  <a:cubicBezTo>
                    <a:pt x="53" y="8"/>
                    <a:pt x="52" y="9"/>
                    <a:pt x="52" y="10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3"/>
                    <a:pt x="53" y="24"/>
                    <a:pt x="54" y="24"/>
                  </a:cubicBezTo>
                  <a:cubicBezTo>
                    <a:pt x="55" y="24"/>
                    <a:pt x="56" y="23"/>
                    <a:pt x="56" y="22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9"/>
                    <a:pt x="55" y="8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lose/>
                  <a:moveTo>
                    <a:pt x="81" y="17"/>
                  </a:moveTo>
                  <a:cubicBezTo>
                    <a:pt x="80" y="16"/>
                    <a:pt x="79" y="16"/>
                    <a:pt x="78" y="1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8"/>
                    <a:pt x="71" y="29"/>
                    <a:pt x="72" y="30"/>
                  </a:cubicBezTo>
                  <a:cubicBezTo>
                    <a:pt x="73" y="30"/>
                    <a:pt x="74" y="30"/>
                    <a:pt x="74" y="29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19"/>
                    <a:pt x="82" y="17"/>
                    <a:pt x="81" y="17"/>
                  </a:cubicBezTo>
                  <a:cubicBezTo>
                    <a:pt x="81" y="17"/>
                    <a:pt x="81" y="17"/>
                    <a:pt x="81" y="17"/>
                  </a:cubicBezTo>
                  <a:close/>
                  <a:moveTo>
                    <a:pt x="98" y="40"/>
                  </a:moveTo>
                  <a:cubicBezTo>
                    <a:pt x="97" y="39"/>
                    <a:pt x="96" y="38"/>
                    <a:pt x="95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3" y="43"/>
                    <a:pt x="82" y="44"/>
                    <a:pt x="83" y="45"/>
                  </a:cubicBezTo>
                  <a:cubicBezTo>
                    <a:pt x="83" y="46"/>
                    <a:pt x="84" y="46"/>
                    <a:pt x="85" y="46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8" y="42"/>
                    <a:pt x="98" y="41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68"/>
                  </a:moveTo>
                  <a:cubicBezTo>
                    <a:pt x="98" y="67"/>
                    <a:pt x="98" y="66"/>
                    <a:pt x="97" y="66"/>
                  </a:cubicBezTo>
                  <a:cubicBezTo>
                    <a:pt x="85" y="62"/>
                    <a:pt x="85" y="62"/>
                    <a:pt x="85" y="62"/>
                  </a:cubicBezTo>
                  <a:cubicBezTo>
                    <a:pt x="84" y="62"/>
                    <a:pt x="83" y="62"/>
                    <a:pt x="83" y="63"/>
                  </a:cubicBezTo>
                  <a:cubicBezTo>
                    <a:pt x="82" y="64"/>
                    <a:pt x="83" y="65"/>
                    <a:pt x="84" y="66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6" y="70"/>
                    <a:pt x="97" y="69"/>
                    <a:pt x="98" y="68"/>
                  </a:cubicBezTo>
                  <a:cubicBezTo>
                    <a:pt x="98" y="68"/>
                    <a:pt x="98" y="68"/>
                    <a:pt x="98" y="68"/>
                  </a:cubicBezTo>
                  <a:close/>
                  <a:moveTo>
                    <a:pt x="10" y="68"/>
                  </a:moveTo>
                  <a:cubicBezTo>
                    <a:pt x="11" y="69"/>
                    <a:pt x="12" y="70"/>
                    <a:pt x="13" y="70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5" y="65"/>
                    <a:pt x="26" y="64"/>
                    <a:pt x="25" y="63"/>
                  </a:cubicBezTo>
                  <a:cubicBezTo>
                    <a:pt x="25" y="62"/>
                    <a:pt x="24" y="62"/>
                    <a:pt x="23" y="62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0" y="66"/>
                    <a:pt x="10" y="67"/>
                    <a:pt x="10" y="68"/>
                  </a:cubicBezTo>
                  <a:cubicBezTo>
                    <a:pt x="10" y="68"/>
                    <a:pt x="10" y="68"/>
                    <a:pt x="10" y="68"/>
                  </a:cubicBezTo>
                  <a:close/>
                  <a:moveTo>
                    <a:pt x="10" y="40"/>
                  </a:moveTo>
                  <a:cubicBezTo>
                    <a:pt x="10" y="41"/>
                    <a:pt x="10" y="42"/>
                    <a:pt x="11" y="42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6"/>
                    <a:pt x="25" y="46"/>
                    <a:pt x="25" y="45"/>
                  </a:cubicBezTo>
                  <a:cubicBezTo>
                    <a:pt x="26" y="44"/>
                    <a:pt x="25" y="43"/>
                    <a:pt x="24" y="42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10" y="40"/>
                    <a:pt x="10" y="40"/>
                    <a:pt x="10" y="40"/>
                  </a:cubicBezTo>
                  <a:close/>
                  <a:moveTo>
                    <a:pt x="27" y="17"/>
                  </a:moveTo>
                  <a:cubicBezTo>
                    <a:pt x="26" y="17"/>
                    <a:pt x="26" y="19"/>
                    <a:pt x="26" y="2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5" y="30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9" y="16"/>
                    <a:pt x="28" y="16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9070046" y="1524259"/>
              <a:ext cx="437424" cy="437422"/>
              <a:chOff x="6226175" y="3414032"/>
              <a:chExt cx="252413" cy="252412"/>
            </a:xfrm>
            <a:grpFill/>
          </p:grpSpPr>
          <p:sp>
            <p:nvSpPr>
              <p:cNvPr id="210" name="Freeform 209"/>
              <p:cNvSpPr>
                <a:spLocks noEditPoints="1"/>
              </p:cNvSpPr>
              <p:nvPr/>
            </p:nvSpPr>
            <p:spPr bwMode="auto">
              <a:xfrm>
                <a:off x="6226175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1" name="Freeform 210"/>
              <p:cNvSpPr>
                <a:spLocks noEditPoints="1"/>
              </p:cNvSpPr>
              <p:nvPr/>
            </p:nvSpPr>
            <p:spPr bwMode="auto">
              <a:xfrm>
                <a:off x="6284913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22 w 56"/>
                  <a:gd name="T11" fmla="*/ 22 h 56"/>
                  <a:gd name="T12" fmla="*/ 34 w 56"/>
                  <a:gd name="T13" fmla="*/ 22 h 56"/>
                  <a:gd name="T14" fmla="*/ 34 w 56"/>
                  <a:gd name="T15" fmla="*/ 34 h 56"/>
                  <a:gd name="T16" fmla="*/ 22 w 56"/>
                  <a:gd name="T17" fmla="*/ 34 h 56"/>
                  <a:gd name="T18" fmla="*/ 22 w 56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22" y="22"/>
                    </a:moveTo>
                    <a:cubicBezTo>
                      <a:pt x="25" y="19"/>
                      <a:pt x="31" y="19"/>
                      <a:pt x="34" y="22"/>
                    </a:cubicBezTo>
                    <a:cubicBezTo>
                      <a:pt x="37" y="25"/>
                      <a:pt x="37" y="31"/>
                      <a:pt x="34" y="34"/>
                    </a:cubicBezTo>
                    <a:cubicBezTo>
                      <a:pt x="31" y="37"/>
                      <a:pt x="25" y="37"/>
                      <a:pt x="22" y="34"/>
                    </a:cubicBezTo>
                    <a:cubicBezTo>
                      <a:pt x="19" y="31"/>
                      <a:pt x="19" y="25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6013583" y="985854"/>
              <a:ext cx="416528" cy="416526"/>
              <a:chOff x="6821488" y="3418795"/>
              <a:chExt cx="242888" cy="242887"/>
            </a:xfrm>
            <a:grpFill/>
          </p:grpSpPr>
          <p:sp>
            <p:nvSpPr>
              <p:cNvPr id="204" name="Freeform 203"/>
              <p:cNvSpPr>
                <a:spLocks/>
              </p:cNvSpPr>
              <p:nvPr/>
            </p:nvSpPr>
            <p:spPr bwMode="auto">
              <a:xfrm>
                <a:off x="6938963" y="36029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5" name="Freeform 204"/>
              <p:cNvSpPr>
                <a:spLocks/>
              </p:cNvSpPr>
              <p:nvPr/>
            </p:nvSpPr>
            <p:spPr bwMode="auto">
              <a:xfrm>
                <a:off x="6842125" y="3536270"/>
                <a:ext cx="38100" cy="9525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/>
              <p:cNvSpPr>
                <a:spLocks/>
              </p:cNvSpPr>
              <p:nvPr/>
            </p:nvSpPr>
            <p:spPr bwMode="auto">
              <a:xfrm>
                <a:off x="6938963" y="3439432"/>
                <a:ext cx="9525" cy="38100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/>
              <p:cNvSpPr>
                <a:spLocks noEditPoints="1"/>
              </p:cNvSpPr>
              <p:nvPr/>
            </p:nvSpPr>
            <p:spPr bwMode="auto">
              <a:xfrm>
                <a:off x="6821488" y="34187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/>
              <p:cNvSpPr>
                <a:spLocks noEditPoints="1"/>
              </p:cNvSpPr>
              <p:nvPr/>
            </p:nvSpPr>
            <p:spPr bwMode="auto">
              <a:xfrm>
                <a:off x="6877050" y="34743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31 w 54"/>
                  <a:gd name="T11" fmla="*/ 31 h 54"/>
                  <a:gd name="T12" fmla="*/ 23 w 54"/>
                  <a:gd name="T13" fmla="*/ 31 h 54"/>
                  <a:gd name="T14" fmla="*/ 23 w 54"/>
                  <a:gd name="T15" fmla="*/ 23 h 54"/>
                  <a:gd name="T16" fmla="*/ 31 w 54"/>
                  <a:gd name="T17" fmla="*/ 23 h 54"/>
                  <a:gd name="T18" fmla="*/ 31 w 54"/>
                  <a:gd name="T19" fmla="*/ 3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31" y="31"/>
                    </a:moveTo>
                    <a:cubicBezTo>
                      <a:pt x="29" y="34"/>
                      <a:pt x="25" y="34"/>
                      <a:pt x="23" y="31"/>
                    </a:cubicBezTo>
                    <a:cubicBezTo>
                      <a:pt x="20" y="29"/>
                      <a:pt x="20" y="25"/>
                      <a:pt x="23" y="23"/>
                    </a:cubicBezTo>
                    <a:cubicBezTo>
                      <a:pt x="25" y="20"/>
                      <a:pt x="29" y="20"/>
                      <a:pt x="31" y="23"/>
                    </a:cubicBezTo>
                    <a:cubicBezTo>
                      <a:pt x="34" y="25"/>
                      <a:pt x="34" y="29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9" name="Freeform 208"/>
              <p:cNvSpPr>
                <a:spLocks/>
              </p:cNvSpPr>
              <p:nvPr/>
            </p:nvSpPr>
            <p:spPr bwMode="auto">
              <a:xfrm>
                <a:off x="7005638" y="3536270"/>
                <a:ext cx="39688" cy="9525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267594" y="2520469"/>
              <a:ext cx="461863" cy="461861"/>
              <a:chOff x="7412038" y="3215595"/>
              <a:chExt cx="242888" cy="242887"/>
            </a:xfrm>
            <a:grpFill/>
          </p:grpSpPr>
          <p:sp>
            <p:nvSpPr>
              <p:cNvPr id="198" name="Freeform 197"/>
              <p:cNvSpPr>
                <a:spLocks/>
              </p:cNvSpPr>
              <p:nvPr/>
            </p:nvSpPr>
            <p:spPr bwMode="auto">
              <a:xfrm>
                <a:off x="7527925" y="33997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/>
              <p:cNvSpPr>
                <a:spLocks/>
              </p:cNvSpPr>
              <p:nvPr/>
            </p:nvSpPr>
            <p:spPr bwMode="auto">
              <a:xfrm>
                <a:off x="7527925" y="3234645"/>
                <a:ext cx="9525" cy="39687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/>
              <p:cNvSpPr>
                <a:spLocks/>
              </p:cNvSpPr>
              <p:nvPr/>
            </p:nvSpPr>
            <p:spPr bwMode="auto">
              <a:xfrm>
                <a:off x="7431088" y="3331482"/>
                <a:ext cx="39688" cy="11112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/>
              <p:cNvSpPr>
                <a:spLocks noEditPoints="1"/>
              </p:cNvSpPr>
              <p:nvPr/>
            </p:nvSpPr>
            <p:spPr bwMode="auto">
              <a:xfrm>
                <a:off x="7467600" y="32711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9 w 54"/>
                  <a:gd name="T11" fmla="*/ 45 h 54"/>
                  <a:gd name="T12" fmla="*/ 23 w 54"/>
                  <a:gd name="T13" fmla="*/ 23 h 54"/>
                  <a:gd name="T14" fmla="*/ 31 w 54"/>
                  <a:gd name="T15" fmla="*/ 31 h 54"/>
                  <a:gd name="T16" fmla="*/ 9 w 54"/>
                  <a:gd name="T17" fmla="*/ 45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9" y="45"/>
                    </a:moveTo>
                    <a:cubicBezTo>
                      <a:pt x="9" y="45"/>
                      <a:pt x="18" y="27"/>
                      <a:pt x="23" y="23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7" y="36"/>
                      <a:pt x="9" y="45"/>
                      <a:pt x="9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/>
              <p:cNvSpPr>
                <a:spLocks/>
              </p:cNvSpPr>
              <p:nvPr/>
            </p:nvSpPr>
            <p:spPr bwMode="auto">
              <a:xfrm>
                <a:off x="7596188" y="3331482"/>
                <a:ext cx="38100" cy="11112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3" name="Freeform 202"/>
              <p:cNvSpPr>
                <a:spLocks noEditPoints="1"/>
              </p:cNvSpPr>
              <p:nvPr/>
            </p:nvSpPr>
            <p:spPr bwMode="auto">
              <a:xfrm>
                <a:off x="7412038" y="32155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3670301" y="5425487"/>
              <a:ext cx="252413" cy="252412"/>
              <a:chOff x="8002588" y="3414032"/>
              <a:chExt cx="252413" cy="252412"/>
            </a:xfrm>
            <a:grpFill/>
          </p:grpSpPr>
          <p:sp>
            <p:nvSpPr>
              <p:cNvPr id="196" name="Freeform 195"/>
              <p:cNvSpPr>
                <a:spLocks noEditPoints="1"/>
              </p:cNvSpPr>
              <p:nvPr/>
            </p:nvSpPr>
            <p:spPr bwMode="auto">
              <a:xfrm>
                <a:off x="8061325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34 w 56"/>
                  <a:gd name="T11" fmla="*/ 34 h 56"/>
                  <a:gd name="T12" fmla="*/ 8 w 56"/>
                  <a:gd name="T13" fmla="*/ 48 h 56"/>
                  <a:gd name="T14" fmla="*/ 22 w 56"/>
                  <a:gd name="T15" fmla="*/ 22 h 56"/>
                  <a:gd name="T16" fmla="*/ 34 w 56"/>
                  <a:gd name="T17" fmla="*/ 3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34" y="34"/>
                    </a:moveTo>
                    <a:cubicBezTo>
                      <a:pt x="28" y="39"/>
                      <a:pt x="8" y="48"/>
                      <a:pt x="8" y="48"/>
                    </a:cubicBezTo>
                    <a:cubicBezTo>
                      <a:pt x="8" y="48"/>
                      <a:pt x="17" y="28"/>
                      <a:pt x="22" y="22"/>
                    </a:cubicBezTo>
                    <a:lnTo>
                      <a:pt x="3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7" name="Freeform 196"/>
              <p:cNvSpPr>
                <a:spLocks noEditPoints="1"/>
              </p:cNvSpPr>
              <p:nvPr/>
            </p:nvSpPr>
            <p:spPr bwMode="auto">
              <a:xfrm>
                <a:off x="8002588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4" name="Freeform 93"/>
            <p:cNvSpPr>
              <a:spLocks noEditPoints="1"/>
            </p:cNvSpPr>
            <p:nvPr/>
          </p:nvSpPr>
          <p:spPr bwMode="auto">
            <a:xfrm>
              <a:off x="2311353" y="91494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1429935" y="5550318"/>
              <a:ext cx="454448" cy="457764"/>
              <a:chOff x="644525" y="2574925"/>
              <a:chExt cx="217488" cy="219075"/>
            </a:xfrm>
            <a:grpFill/>
          </p:grpSpPr>
          <p:sp>
            <p:nvSpPr>
              <p:cNvPr id="194" name="Freeform 193"/>
              <p:cNvSpPr>
                <a:spLocks/>
              </p:cNvSpPr>
              <p:nvPr/>
            </p:nvSpPr>
            <p:spPr bwMode="auto">
              <a:xfrm>
                <a:off x="722313" y="2606675"/>
                <a:ext cx="31750" cy="93662"/>
              </a:xfrm>
              <a:custGeom>
                <a:avLst/>
                <a:gdLst>
                  <a:gd name="T0" fmla="*/ 8 w 12"/>
                  <a:gd name="T1" fmla="*/ 36 h 36"/>
                  <a:gd name="T2" fmla="*/ 12 w 12"/>
                  <a:gd name="T3" fmla="*/ 36 h 36"/>
                  <a:gd name="T4" fmla="*/ 12 w 12"/>
                  <a:gd name="T5" fmla="*/ 0 h 36"/>
                  <a:gd name="T6" fmla="*/ 10 w 12"/>
                  <a:gd name="T7" fmla="*/ 0 h 36"/>
                  <a:gd name="T8" fmla="*/ 0 w 12"/>
                  <a:gd name="T9" fmla="*/ 6 h 36"/>
                  <a:gd name="T10" fmla="*/ 0 w 12"/>
                  <a:gd name="T11" fmla="*/ 12 h 36"/>
                  <a:gd name="T12" fmla="*/ 8 w 12"/>
                  <a:gd name="T13" fmla="*/ 12 h 36"/>
                  <a:gd name="T14" fmla="*/ 8 w 12"/>
                  <a:gd name="T1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36">
                    <a:moveTo>
                      <a:pt x="8" y="36"/>
                    </a:move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4"/>
                      <a:pt x="8" y="6"/>
                      <a:pt x="0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8" y="12"/>
                      <a:pt x="8" y="12"/>
                      <a:pt x="8" y="12"/>
                    </a:cubicBezTo>
                    <a:lnTo>
                      <a:pt x="8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5" name="Freeform 194"/>
              <p:cNvSpPr>
                <a:spLocks noEditPoints="1"/>
              </p:cNvSpPr>
              <p:nvPr/>
            </p:nvSpPr>
            <p:spPr bwMode="auto">
              <a:xfrm>
                <a:off x="644525" y="2574925"/>
                <a:ext cx="217488" cy="219075"/>
              </a:xfrm>
              <a:custGeom>
                <a:avLst/>
                <a:gdLst>
                  <a:gd name="T0" fmla="*/ 68 w 84"/>
                  <a:gd name="T1" fmla="*/ 0 h 84"/>
                  <a:gd name="T2" fmla="*/ 66 w 84"/>
                  <a:gd name="T3" fmla="*/ 0 h 84"/>
                  <a:gd name="T4" fmla="*/ 16 w 84"/>
                  <a:gd name="T5" fmla="*/ 0 h 84"/>
                  <a:gd name="T6" fmla="*/ 0 w 84"/>
                  <a:gd name="T7" fmla="*/ 0 h 84"/>
                  <a:gd name="T8" fmla="*/ 14 w 84"/>
                  <a:gd name="T9" fmla="*/ 34 h 84"/>
                  <a:gd name="T10" fmla="*/ 14 w 84"/>
                  <a:gd name="T11" fmla="*/ 34 h 84"/>
                  <a:gd name="T12" fmla="*/ 38 w 84"/>
                  <a:gd name="T13" fmla="*/ 58 h 84"/>
                  <a:gd name="T14" fmla="*/ 38 w 84"/>
                  <a:gd name="T15" fmla="*/ 80 h 84"/>
                  <a:gd name="T16" fmla="*/ 22 w 84"/>
                  <a:gd name="T17" fmla="*/ 80 h 84"/>
                  <a:gd name="T18" fmla="*/ 22 w 84"/>
                  <a:gd name="T19" fmla="*/ 84 h 84"/>
                  <a:gd name="T20" fmla="*/ 58 w 84"/>
                  <a:gd name="T21" fmla="*/ 84 h 84"/>
                  <a:gd name="T22" fmla="*/ 58 w 84"/>
                  <a:gd name="T23" fmla="*/ 80 h 84"/>
                  <a:gd name="T24" fmla="*/ 42 w 84"/>
                  <a:gd name="T25" fmla="*/ 80 h 84"/>
                  <a:gd name="T26" fmla="*/ 42 w 84"/>
                  <a:gd name="T27" fmla="*/ 58 h 84"/>
                  <a:gd name="T28" fmla="*/ 66 w 84"/>
                  <a:gd name="T29" fmla="*/ 34 h 84"/>
                  <a:gd name="T30" fmla="*/ 66 w 84"/>
                  <a:gd name="T31" fmla="*/ 34 h 84"/>
                  <a:gd name="T32" fmla="*/ 84 w 84"/>
                  <a:gd name="T33" fmla="*/ 0 h 84"/>
                  <a:gd name="T34" fmla="*/ 68 w 84"/>
                  <a:gd name="T35" fmla="*/ 0 h 84"/>
                  <a:gd name="T36" fmla="*/ 14 w 84"/>
                  <a:gd name="T37" fmla="*/ 30 h 84"/>
                  <a:gd name="T38" fmla="*/ 4 w 84"/>
                  <a:gd name="T39" fmla="*/ 4 h 84"/>
                  <a:gd name="T40" fmla="*/ 14 w 84"/>
                  <a:gd name="T41" fmla="*/ 4 h 84"/>
                  <a:gd name="T42" fmla="*/ 14 w 84"/>
                  <a:gd name="T43" fmla="*/ 30 h 84"/>
                  <a:gd name="T44" fmla="*/ 62 w 84"/>
                  <a:gd name="T45" fmla="*/ 34 h 84"/>
                  <a:gd name="T46" fmla="*/ 44 w 84"/>
                  <a:gd name="T47" fmla="*/ 56 h 84"/>
                  <a:gd name="T48" fmla="*/ 40 w 84"/>
                  <a:gd name="T49" fmla="*/ 56 h 84"/>
                  <a:gd name="T50" fmla="*/ 18 w 84"/>
                  <a:gd name="T51" fmla="*/ 34 h 84"/>
                  <a:gd name="T52" fmla="*/ 18 w 84"/>
                  <a:gd name="T53" fmla="*/ 4 h 84"/>
                  <a:gd name="T54" fmla="*/ 62 w 84"/>
                  <a:gd name="T55" fmla="*/ 4 h 84"/>
                  <a:gd name="T56" fmla="*/ 62 w 84"/>
                  <a:gd name="T57" fmla="*/ 34 h 84"/>
                  <a:gd name="T58" fmla="*/ 66 w 84"/>
                  <a:gd name="T59" fmla="*/ 30 h 84"/>
                  <a:gd name="T60" fmla="*/ 66 w 84"/>
                  <a:gd name="T61" fmla="*/ 4 h 84"/>
                  <a:gd name="T62" fmla="*/ 80 w 84"/>
                  <a:gd name="T63" fmla="*/ 4 h 84"/>
                  <a:gd name="T64" fmla="*/ 66 w 84"/>
                  <a:gd name="T65" fmla="*/ 3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" h="84">
                    <a:moveTo>
                      <a:pt x="68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28"/>
                      <a:pt x="14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4" y="47"/>
                      <a:pt x="26" y="58"/>
                      <a:pt x="38" y="58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4"/>
                      <a:pt x="22" y="84"/>
                      <a:pt x="22" y="84"/>
                    </a:cubicBezTo>
                    <a:cubicBezTo>
                      <a:pt x="58" y="84"/>
                      <a:pt x="58" y="84"/>
                      <a:pt x="58" y="84"/>
                    </a:cubicBezTo>
                    <a:cubicBezTo>
                      <a:pt x="58" y="80"/>
                      <a:pt x="58" y="80"/>
                      <a:pt x="58" y="80"/>
                    </a:cubicBezTo>
                    <a:cubicBezTo>
                      <a:pt x="42" y="80"/>
                      <a:pt x="42" y="80"/>
                      <a:pt x="42" y="80"/>
                    </a:cubicBezTo>
                    <a:cubicBezTo>
                      <a:pt x="42" y="58"/>
                      <a:pt x="42" y="58"/>
                      <a:pt x="42" y="58"/>
                    </a:cubicBezTo>
                    <a:cubicBezTo>
                      <a:pt x="58" y="58"/>
                      <a:pt x="66" y="47"/>
                      <a:pt x="66" y="34"/>
                    </a:cubicBezTo>
                    <a:cubicBezTo>
                      <a:pt x="66" y="34"/>
                      <a:pt x="66" y="34"/>
                      <a:pt x="66" y="34"/>
                    </a:cubicBezTo>
                    <a:cubicBezTo>
                      <a:pt x="82" y="28"/>
                      <a:pt x="84" y="0"/>
                      <a:pt x="84" y="0"/>
                    </a:cubicBezTo>
                    <a:lnTo>
                      <a:pt x="68" y="0"/>
                    </a:lnTo>
                    <a:close/>
                    <a:moveTo>
                      <a:pt x="14" y="30"/>
                    </a:moveTo>
                    <a:cubicBezTo>
                      <a:pt x="6" y="23"/>
                      <a:pt x="4" y="4"/>
                      <a:pt x="4" y="4"/>
                    </a:cubicBezTo>
                    <a:cubicBezTo>
                      <a:pt x="14" y="4"/>
                      <a:pt x="14" y="4"/>
                      <a:pt x="14" y="4"/>
                    </a:cubicBezTo>
                    <a:lnTo>
                      <a:pt x="14" y="30"/>
                    </a:lnTo>
                    <a:close/>
                    <a:moveTo>
                      <a:pt x="62" y="34"/>
                    </a:moveTo>
                    <a:cubicBezTo>
                      <a:pt x="62" y="45"/>
                      <a:pt x="55" y="56"/>
                      <a:pt x="44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29" y="56"/>
                      <a:pt x="18" y="45"/>
                      <a:pt x="18" y="3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62" y="4"/>
                      <a:pt x="62" y="4"/>
                      <a:pt x="62" y="4"/>
                    </a:cubicBezTo>
                    <a:lnTo>
                      <a:pt x="62" y="34"/>
                    </a:lnTo>
                    <a:close/>
                    <a:moveTo>
                      <a:pt x="66" y="30"/>
                    </a:moveTo>
                    <a:cubicBezTo>
                      <a:pt x="66" y="4"/>
                      <a:pt x="66" y="4"/>
                      <a:pt x="66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4"/>
                      <a:pt x="78" y="23"/>
                      <a:pt x="6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6" name="Freeform 95"/>
            <p:cNvSpPr>
              <a:spLocks noEditPoints="1"/>
            </p:cNvSpPr>
            <p:nvPr/>
          </p:nvSpPr>
          <p:spPr bwMode="auto">
            <a:xfrm>
              <a:off x="9490404" y="5593748"/>
              <a:ext cx="503012" cy="627844"/>
            </a:xfrm>
            <a:custGeom>
              <a:avLst/>
              <a:gdLst>
                <a:gd name="T0" fmla="*/ 68 w 84"/>
                <a:gd name="T1" fmla="*/ 34 h 104"/>
                <a:gd name="T2" fmla="*/ 68 w 84"/>
                <a:gd name="T3" fmla="*/ 34 h 104"/>
                <a:gd name="T4" fmla="*/ 84 w 84"/>
                <a:gd name="T5" fmla="*/ 0 h 104"/>
                <a:gd name="T6" fmla="*/ 68 w 84"/>
                <a:gd name="T7" fmla="*/ 0 h 104"/>
                <a:gd name="T8" fmla="*/ 66 w 84"/>
                <a:gd name="T9" fmla="*/ 0 h 104"/>
                <a:gd name="T10" fmla="*/ 16 w 84"/>
                <a:gd name="T11" fmla="*/ 0 h 104"/>
                <a:gd name="T12" fmla="*/ 0 w 84"/>
                <a:gd name="T13" fmla="*/ 0 h 104"/>
                <a:gd name="T14" fmla="*/ 16 w 84"/>
                <a:gd name="T15" fmla="*/ 34 h 104"/>
                <a:gd name="T16" fmla="*/ 16 w 84"/>
                <a:gd name="T17" fmla="*/ 34 h 104"/>
                <a:gd name="T18" fmla="*/ 40 w 84"/>
                <a:gd name="T19" fmla="*/ 58 h 104"/>
                <a:gd name="T20" fmla="*/ 40 w 84"/>
                <a:gd name="T21" fmla="*/ 76 h 104"/>
                <a:gd name="T22" fmla="*/ 24 w 84"/>
                <a:gd name="T23" fmla="*/ 76 h 104"/>
                <a:gd name="T24" fmla="*/ 24 w 84"/>
                <a:gd name="T25" fmla="*/ 88 h 104"/>
                <a:gd name="T26" fmla="*/ 12 w 84"/>
                <a:gd name="T27" fmla="*/ 88 h 104"/>
                <a:gd name="T28" fmla="*/ 12 w 84"/>
                <a:gd name="T29" fmla="*/ 104 h 104"/>
                <a:gd name="T30" fmla="*/ 72 w 84"/>
                <a:gd name="T31" fmla="*/ 104 h 104"/>
                <a:gd name="T32" fmla="*/ 72 w 84"/>
                <a:gd name="T33" fmla="*/ 88 h 104"/>
                <a:gd name="T34" fmla="*/ 60 w 84"/>
                <a:gd name="T35" fmla="*/ 88 h 104"/>
                <a:gd name="T36" fmla="*/ 60 w 84"/>
                <a:gd name="T37" fmla="*/ 76 h 104"/>
                <a:gd name="T38" fmla="*/ 44 w 84"/>
                <a:gd name="T39" fmla="*/ 76 h 104"/>
                <a:gd name="T40" fmla="*/ 44 w 84"/>
                <a:gd name="T41" fmla="*/ 58 h 104"/>
                <a:gd name="T42" fmla="*/ 68 w 84"/>
                <a:gd name="T43" fmla="*/ 34 h 104"/>
                <a:gd name="T44" fmla="*/ 68 w 84"/>
                <a:gd name="T45" fmla="*/ 4 h 104"/>
                <a:gd name="T46" fmla="*/ 80 w 84"/>
                <a:gd name="T47" fmla="*/ 4 h 104"/>
                <a:gd name="T48" fmla="*/ 68 w 84"/>
                <a:gd name="T49" fmla="*/ 30 h 104"/>
                <a:gd name="T50" fmla="*/ 68 w 84"/>
                <a:gd name="T51" fmla="*/ 4 h 104"/>
                <a:gd name="T52" fmla="*/ 16 w 84"/>
                <a:gd name="T53" fmla="*/ 30 h 104"/>
                <a:gd name="T54" fmla="*/ 4 w 84"/>
                <a:gd name="T55" fmla="*/ 4 h 104"/>
                <a:gd name="T56" fmla="*/ 16 w 84"/>
                <a:gd name="T57" fmla="*/ 4 h 104"/>
                <a:gd name="T58" fmla="*/ 16 w 84"/>
                <a:gd name="T59" fmla="*/ 30 h 104"/>
                <a:gd name="T60" fmla="*/ 68 w 84"/>
                <a:gd name="T61" fmla="*/ 92 h 104"/>
                <a:gd name="T62" fmla="*/ 68 w 84"/>
                <a:gd name="T63" fmla="*/ 100 h 104"/>
                <a:gd name="T64" fmla="*/ 16 w 84"/>
                <a:gd name="T65" fmla="*/ 100 h 104"/>
                <a:gd name="T66" fmla="*/ 16 w 84"/>
                <a:gd name="T67" fmla="*/ 92 h 104"/>
                <a:gd name="T68" fmla="*/ 68 w 84"/>
                <a:gd name="T69" fmla="*/ 92 h 104"/>
                <a:gd name="T70" fmla="*/ 56 w 84"/>
                <a:gd name="T71" fmla="*/ 80 h 104"/>
                <a:gd name="T72" fmla="*/ 56 w 84"/>
                <a:gd name="T73" fmla="*/ 88 h 104"/>
                <a:gd name="T74" fmla="*/ 28 w 84"/>
                <a:gd name="T75" fmla="*/ 88 h 104"/>
                <a:gd name="T76" fmla="*/ 28 w 84"/>
                <a:gd name="T77" fmla="*/ 80 h 104"/>
                <a:gd name="T78" fmla="*/ 56 w 84"/>
                <a:gd name="T79" fmla="*/ 80 h 104"/>
                <a:gd name="T80" fmla="*/ 44 w 84"/>
                <a:gd name="T81" fmla="*/ 56 h 104"/>
                <a:gd name="T82" fmla="*/ 40 w 84"/>
                <a:gd name="T83" fmla="*/ 56 h 104"/>
                <a:gd name="T84" fmla="*/ 20 w 84"/>
                <a:gd name="T85" fmla="*/ 34 h 104"/>
                <a:gd name="T86" fmla="*/ 20 w 84"/>
                <a:gd name="T87" fmla="*/ 4 h 104"/>
                <a:gd name="T88" fmla="*/ 64 w 84"/>
                <a:gd name="T89" fmla="*/ 4 h 104"/>
                <a:gd name="T90" fmla="*/ 64 w 84"/>
                <a:gd name="T91" fmla="*/ 34 h 104"/>
                <a:gd name="T92" fmla="*/ 44 w 84"/>
                <a:gd name="T93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4" h="104">
                  <a:moveTo>
                    <a:pt x="68" y="34"/>
                  </a:moveTo>
                  <a:cubicBezTo>
                    <a:pt x="68" y="34"/>
                    <a:pt x="68" y="34"/>
                    <a:pt x="68" y="34"/>
                  </a:cubicBezTo>
                  <a:cubicBezTo>
                    <a:pt x="82" y="28"/>
                    <a:pt x="84" y="0"/>
                    <a:pt x="84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28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47"/>
                    <a:pt x="27" y="58"/>
                    <a:pt x="40" y="58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72" y="104"/>
                    <a:pt x="72" y="104"/>
                    <a:pt x="72" y="10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60" y="76"/>
                    <a:pt x="60" y="76"/>
                    <a:pt x="60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57" y="58"/>
                    <a:pt x="68" y="47"/>
                    <a:pt x="68" y="34"/>
                  </a:cubicBezTo>
                  <a:close/>
                  <a:moveTo>
                    <a:pt x="68" y="4"/>
                  </a:move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3"/>
                    <a:pt x="68" y="30"/>
                  </a:cubicBezTo>
                  <a:lnTo>
                    <a:pt x="68" y="4"/>
                  </a:lnTo>
                  <a:close/>
                  <a:moveTo>
                    <a:pt x="16" y="30"/>
                  </a:moveTo>
                  <a:cubicBezTo>
                    <a:pt x="7" y="23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0"/>
                  </a:lnTo>
                  <a:close/>
                  <a:moveTo>
                    <a:pt x="68" y="92"/>
                  </a:moveTo>
                  <a:cubicBezTo>
                    <a:pt x="68" y="100"/>
                    <a:pt x="68" y="100"/>
                    <a:pt x="68" y="100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6" y="92"/>
                    <a:pt x="16" y="92"/>
                    <a:pt x="16" y="92"/>
                  </a:cubicBezTo>
                  <a:lnTo>
                    <a:pt x="68" y="92"/>
                  </a:lnTo>
                  <a:close/>
                  <a:moveTo>
                    <a:pt x="56" y="80"/>
                  </a:moveTo>
                  <a:cubicBezTo>
                    <a:pt x="56" y="88"/>
                    <a:pt x="56" y="88"/>
                    <a:pt x="56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80"/>
                    <a:pt x="28" y="80"/>
                    <a:pt x="28" y="80"/>
                  </a:cubicBezTo>
                  <a:lnTo>
                    <a:pt x="56" y="80"/>
                  </a:lnTo>
                  <a:close/>
                  <a:moveTo>
                    <a:pt x="44" y="56"/>
                  </a:move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5"/>
                    <a:pt x="20" y="3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45"/>
                    <a:pt x="55" y="56"/>
                    <a:pt x="44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6609819" y="4374460"/>
              <a:ext cx="505129" cy="639830"/>
              <a:chOff x="6350000" y="2533650"/>
              <a:chExt cx="238125" cy="301625"/>
            </a:xfrm>
            <a:grpFill/>
          </p:grpSpPr>
          <p:sp>
            <p:nvSpPr>
              <p:cNvPr id="191" name="Freeform 190"/>
              <p:cNvSpPr>
                <a:spLocks noEditPoints="1"/>
              </p:cNvSpPr>
              <p:nvPr/>
            </p:nvSpPr>
            <p:spPr bwMode="auto">
              <a:xfrm>
                <a:off x="6440488" y="2665413"/>
                <a:ext cx="77788" cy="79375"/>
              </a:xfrm>
              <a:custGeom>
                <a:avLst/>
                <a:gdLst>
                  <a:gd name="T0" fmla="*/ 29 w 30"/>
                  <a:gd name="T1" fmla="*/ 1 h 30"/>
                  <a:gd name="T2" fmla="*/ 26 w 30"/>
                  <a:gd name="T3" fmla="*/ 1 h 30"/>
                  <a:gd name="T4" fmla="*/ 14 w 30"/>
                  <a:gd name="T5" fmla="*/ 14 h 30"/>
                  <a:gd name="T6" fmla="*/ 11 w 30"/>
                  <a:gd name="T7" fmla="*/ 13 h 30"/>
                  <a:gd name="T8" fmla="*/ 5 w 30"/>
                  <a:gd name="T9" fmla="*/ 19 h 30"/>
                  <a:gd name="T10" fmla="*/ 6 w 30"/>
                  <a:gd name="T11" fmla="*/ 22 h 30"/>
                  <a:gd name="T12" fmla="*/ 1 w 30"/>
                  <a:gd name="T13" fmla="*/ 26 h 30"/>
                  <a:gd name="T14" fmla="*/ 1 w 30"/>
                  <a:gd name="T15" fmla="*/ 29 h 30"/>
                  <a:gd name="T16" fmla="*/ 4 w 30"/>
                  <a:gd name="T17" fmla="*/ 29 h 30"/>
                  <a:gd name="T18" fmla="*/ 8 w 30"/>
                  <a:gd name="T19" fmla="*/ 24 h 30"/>
                  <a:gd name="T20" fmla="*/ 11 w 30"/>
                  <a:gd name="T21" fmla="*/ 25 h 30"/>
                  <a:gd name="T22" fmla="*/ 17 w 30"/>
                  <a:gd name="T23" fmla="*/ 19 h 30"/>
                  <a:gd name="T24" fmla="*/ 16 w 30"/>
                  <a:gd name="T25" fmla="*/ 16 h 30"/>
                  <a:gd name="T26" fmla="*/ 29 w 30"/>
                  <a:gd name="T27" fmla="*/ 4 h 30"/>
                  <a:gd name="T28" fmla="*/ 29 w 30"/>
                  <a:gd name="T29" fmla="*/ 1 h 30"/>
                  <a:gd name="T30" fmla="*/ 11 w 30"/>
                  <a:gd name="T31" fmla="*/ 21 h 30"/>
                  <a:gd name="T32" fmla="*/ 9 w 30"/>
                  <a:gd name="T33" fmla="*/ 19 h 30"/>
                  <a:gd name="T34" fmla="*/ 11 w 30"/>
                  <a:gd name="T35" fmla="*/ 17 h 30"/>
                  <a:gd name="T36" fmla="*/ 13 w 30"/>
                  <a:gd name="T37" fmla="*/ 19 h 30"/>
                  <a:gd name="T38" fmla="*/ 11 w 30"/>
                  <a:gd name="T39" fmla="*/ 2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0" h="30">
                    <a:moveTo>
                      <a:pt x="29" y="1"/>
                    </a:moveTo>
                    <a:cubicBezTo>
                      <a:pt x="28" y="0"/>
                      <a:pt x="27" y="0"/>
                      <a:pt x="26" y="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3" y="13"/>
                      <a:pt x="12" y="13"/>
                      <a:pt x="11" y="13"/>
                    </a:cubicBezTo>
                    <a:cubicBezTo>
                      <a:pt x="8" y="13"/>
                      <a:pt x="5" y="16"/>
                      <a:pt x="5" y="19"/>
                    </a:cubicBezTo>
                    <a:cubicBezTo>
                      <a:pt x="5" y="20"/>
                      <a:pt x="5" y="21"/>
                      <a:pt x="6" y="22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7"/>
                      <a:pt x="0" y="28"/>
                      <a:pt x="1" y="29"/>
                    </a:cubicBezTo>
                    <a:cubicBezTo>
                      <a:pt x="2" y="30"/>
                      <a:pt x="3" y="30"/>
                      <a:pt x="4" y="29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25"/>
                      <a:pt x="10" y="25"/>
                      <a:pt x="11" y="25"/>
                    </a:cubicBezTo>
                    <a:cubicBezTo>
                      <a:pt x="14" y="25"/>
                      <a:pt x="17" y="22"/>
                      <a:pt x="17" y="19"/>
                    </a:cubicBezTo>
                    <a:cubicBezTo>
                      <a:pt x="17" y="18"/>
                      <a:pt x="17" y="17"/>
                      <a:pt x="16" y="16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30" y="3"/>
                      <a:pt x="30" y="2"/>
                      <a:pt x="29" y="1"/>
                    </a:cubicBezTo>
                    <a:close/>
                    <a:moveTo>
                      <a:pt x="11" y="21"/>
                    </a:moveTo>
                    <a:cubicBezTo>
                      <a:pt x="10" y="21"/>
                      <a:pt x="9" y="20"/>
                      <a:pt x="9" y="19"/>
                    </a:cubicBezTo>
                    <a:cubicBezTo>
                      <a:pt x="9" y="18"/>
                      <a:pt x="10" y="17"/>
                      <a:pt x="11" y="17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3" y="20"/>
                      <a:pt x="12" y="21"/>
                      <a:pt x="11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/>
              <p:cNvSpPr>
                <a:spLocks noEditPoints="1"/>
              </p:cNvSpPr>
              <p:nvPr/>
            </p:nvSpPr>
            <p:spPr bwMode="auto">
              <a:xfrm>
                <a:off x="6380163" y="2627313"/>
                <a:ext cx="177800" cy="176212"/>
              </a:xfrm>
              <a:custGeom>
                <a:avLst/>
                <a:gdLst>
                  <a:gd name="T0" fmla="*/ 34 w 68"/>
                  <a:gd name="T1" fmla="*/ 0 h 68"/>
                  <a:gd name="T2" fmla="*/ 0 w 68"/>
                  <a:gd name="T3" fmla="*/ 34 h 68"/>
                  <a:gd name="T4" fmla="*/ 34 w 68"/>
                  <a:gd name="T5" fmla="*/ 68 h 68"/>
                  <a:gd name="T6" fmla="*/ 68 w 68"/>
                  <a:gd name="T7" fmla="*/ 34 h 68"/>
                  <a:gd name="T8" fmla="*/ 34 w 68"/>
                  <a:gd name="T9" fmla="*/ 0 h 68"/>
                  <a:gd name="T10" fmla="*/ 36 w 68"/>
                  <a:gd name="T11" fmla="*/ 64 h 68"/>
                  <a:gd name="T12" fmla="*/ 36 w 68"/>
                  <a:gd name="T13" fmla="*/ 54 h 68"/>
                  <a:gd name="T14" fmla="*/ 34 w 68"/>
                  <a:gd name="T15" fmla="*/ 52 h 68"/>
                  <a:gd name="T16" fmla="*/ 32 w 68"/>
                  <a:gd name="T17" fmla="*/ 54 h 68"/>
                  <a:gd name="T18" fmla="*/ 32 w 68"/>
                  <a:gd name="T19" fmla="*/ 64 h 68"/>
                  <a:gd name="T20" fmla="*/ 4 w 68"/>
                  <a:gd name="T21" fmla="*/ 36 h 68"/>
                  <a:gd name="T22" fmla="*/ 14 w 68"/>
                  <a:gd name="T23" fmla="*/ 36 h 68"/>
                  <a:gd name="T24" fmla="*/ 16 w 68"/>
                  <a:gd name="T25" fmla="*/ 34 h 68"/>
                  <a:gd name="T26" fmla="*/ 14 w 68"/>
                  <a:gd name="T27" fmla="*/ 32 h 68"/>
                  <a:gd name="T28" fmla="*/ 4 w 68"/>
                  <a:gd name="T29" fmla="*/ 32 h 68"/>
                  <a:gd name="T30" fmla="*/ 32 w 68"/>
                  <a:gd name="T31" fmla="*/ 4 h 68"/>
                  <a:gd name="T32" fmla="*/ 32 w 68"/>
                  <a:gd name="T33" fmla="*/ 14 h 68"/>
                  <a:gd name="T34" fmla="*/ 34 w 68"/>
                  <a:gd name="T35" fmla="*/ 16 h 68"/>
                  <a:gd name="T36" fmla="*/ 36 w 68"/>
                  <a:gd name="T37" fmla="*/ 14 h 68"/>
                  <a:gd name="T38" fmla="*/ 36 w 68"/>
                  <a:gd name="T39" fmla="*/ 4 h 68"/>
                  <a:gd name="T40" fmla="*/ 64 w 68"/>
                  <a:gd name="T41" fmla="*/ 32 h 68"/>
                  <a:gd name="T42" fmla="*/ 54 w 68"/>
                  <a:gd name="T43" fmla="*/ 32 h 68"/>
                  <a:gd name="T44" fmla="*/ 52 w 68"/>
                  <a:gd name="T45" fmla="*/ 34 h 68"/>
                  <a:gd name="T46" fmla="*/ 54 w 68"/>
                  <a:gd name="T47" fmla="*/ 36 h 68"/>
                  <a:gd name="T48" fmla="*/ 64 w 68"/>
                  <a:gd name="T49" fmla="*/ 36 h 68"/>
                  <a:gd name="T50" fmla="*/ 36 w 68"/>
                  <a:gd name="T51" fmla="*/ 6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8" h="68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53"/>
                      <a:pt x="15" y="68"/>
                      <a:pt x="34" y="68"/>
                    </a:cubicBezTo>
                    <a:cubicBezTo>
                      <a:pt x="53" y="68"/>
                      <a:pt x="68" y="53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  <a:moveTo>
                      <a:pt x="36" y="64"/>
                    </a:move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5" y="52"/>
                      <a:pt x="34" y="52"/>
                    </a:cubicBezTo>
                    <a:cubicBezTo>
                      <a:pt x="33" y="52"/>
                      <a:pt x="32" y="53"/>
                      <a:pt x="32" y="54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17" y="63"/>
                      <a:pt x="5" y="52"/>
                      <a:pt x="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5" y="36"/>
                      <a:pt x="16" y="35"/>
                      <a:pt x="16" y="34"/>
                    </a:cubicBezTo>
                    <a:cubicBezTo>
                      <a:pt x="16" y="33"/>
                      <a:pt x="15" y="32"/>
                      <a:pt x="14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5" y="16"/>
                      <a:pt x="17" y="5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5"/>
                      <a:pt x="33" y="16"/>
                      <a:pt x="34" y="16"/>
                    </a:cubicBezTo>
                    <a:cubicBezTo>
                      <a:pt x="35" y="16"/>
                      <a:pt x="36" y="15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1" y="5"/>
                      <a:pt x="63" y="16"/>
                      <a:pt x="64" y="32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3" y="32"/>
                      <a:pt x="52" y="33"/>
                      <a:pt x="52" y="34"/>
                    </a:cubicBezTo>
                    <a:cubicBezTo>
                      <a:pt x="52" y="35"/>
                      <a:pt x="53" y="36"/>
                      <a:pt x="54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3" y="52"/>
                      <a:pt x="51" y="63"/>
                      <a:pt x="36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/>
              <p:cNvSpPr>
                <a:spLocks noEditPoints="1"/>
              </p:cNvSpPr>
              <p:nvPr/>
            </p:nvSpPr>
            <p:spPr bwMode="auto">
              <a:xfrm>
                <a:off x="6350000" y="2533650"/>
                <a:ext cx="238125" cy="301625"/>
              </a:xfrm>
              <a:custGeom>
                <a:avLst/>
                <a:gdLst>
                  <a:gd name="T0" fmla="*/ 80 w 92"/>
                  <a:gd name="T1" fmla="*/ 39 h 116"/>
                  <a:gd name="T2" fmla="*/ 85 w 92"/>
                  <a:gd name="T3" fmla="*/ 34 h 116"/>
                  <a:gd name="T4" fmla="*/ 88 w 92"/>
                  <a:gd name="T5" fmla="*/ 37 h 116"/>
                  <a:gd name="T6" fmla="*/ 90 w 92"/>
                  <a:gd name="T7" fmla="*/ 34 h 116"/>
                  <a:gd name="T8" fmla="*/ 82 w 92"/>
                  <a:gd name="T9" fmla="*/ 26 h 116"/>
                  <a:gd name="T10" fmla="*/ 79 w 92"/>
                  <a:gd name="T11" fmla="*/ 28 h 116"/>
                  <a:gd name="T12" fmla="*/ 82 w 92"/>
                  <a:gd name="T13" fmla="*/ 31 h 116"/>
                  <a:gd name="T14" fmla="*/ 77 w 92"/>
                  <a:gd name="T15" fmla="*/ 36 h 116"/>
                  <a:gd name="T16" fmla="*/ 55 w 92"/>
                  <a:gd name="T17" fmla="*/ 25 h 116"/>
                  <a:gd name="T18" fmla="*/ 60 w 92"/>
                  <a:gd name="T19" fmla="*/ 14 h 116"/>
                  <a:gd name="T20" fmla="*/ 46 w 92"/>
                  <a:gd name="T21" fmla="*/ 0 h 116"/>
                  <a:gd name="T22" fmla="*/ 32 w 92"/>
                  <a:gd name="T23" fmla="*/ 14 h 116"/>
                  <a:gd name="T24" fmla="*/ 37 w 92"/>
                  <a:gd name="T25" fmla="*/ 25 h 116"/>
                  <a:gd name="T26" fmla="*/ 15 w 92"/>
                  <a:gd name="T27" fmla="*/ 36 h 116"/>
                  <a:gd name="T28" fmla="*/ 10 w 92"/>
                  <a:gd name="T29" fmla="*/ 31 h 116"/>
                  <a:gd name="T30" fmla="*/ 13 w 92"/>
                  <a:gd name="T31" fmla="*/ 28 h 116"/>
                  <a:gd name="T32" fmla="*/ 10 w 92"/>
                  <a:gd name="T33" fmla="*/ 26 h 116"/>
                  <a:gd name="T34" fmla="*/ 2 w 92"/>
                  <a:gd name="T35" fmla="*/ 34 h 116"/>
                  <a:gd name="T36" fmla="*/ 4 w 92"/>
                  <a:gd name="T37" fmla="*/ 37 h 116"/>
                  <a:gd name="T38" fmla="*/ 7 w 92"/>
                  <a:gd name="T39" fmla="*/ 34 h 116"/>
                  <a:gd name="T40" fmla="*/ 12 w 92"/>
                  <a:gd name="T41" fmla="*/ 39 h 116"/>
                  <a:gd name="T42" fmla="*/ 0 w 92"/>
                  <a:gd name="T43" fmla="*/ 70 h 116"/>
                  <a:gd name="T44" fmla="*/ 46 w 92"/>
                  <a:gd name="T45" fmla="*/ 116 h 116"/>
                  <a:gd name="T46" fmla="*/ 92 w 92"/>
                  <a:gd name="T47" fmla="*/ 70 h 116"/>
                  <a:gd name="T48" fmla="*/ 80 w 92"/>
                  <a:gd name="T49" fmla="*/ 39 h 116"/>
                  <a:gd name="T50" fmla="*/ 36 w 92"/>
                  <a:gd name="T51" fmla="*/ 14 h 116"/>
                  <a:gd name="T52" fmla="*/ 46 w 92"/>
                  <a:gd name="T53" fmla="*/ 4 h 116"/>
                  <a:gd name="T54" fmla="*/ 56 w 92"/>
                  <a:gd name="T55" fmla="*/ 14 h 116"/>
                  <a:gd name="T56" fmla="*/ 48 w 92"/>
                  <a:gd name="T57" fmla="*/ 24 h 116"/>
                  <a:gd name="T58" fmla="*/ 48 w 92"/>
                  <a:gd name="T59" fmla="*/ 16 h 116"/>
                  <a:gd name="T60" fmla="*/ 52 w 92"/>
                  <a:gd name="T61" fmla="*/ 16 h 116"/>
                  <a:gd name="T62" fmla="*/ 52 w 92"/>
                  <a:gd name="T63" fmla="*/ 12 h 116"/>
                  <a:gd name="T64" fmla="*/ 40 w 92"/>
                  <a:gd name="T65" fmla="*/ 12 h 116"/>
                  <a:gd name="T66" fmla="*/ 40 w 92"/>
                  <a:gd name="T67" fmla="*/ 16 h 116"/>
                  <a:gd name="T68" fmla="*/ 44 w 92"/>
                  <a:gd name="T69" fmla="*/ 16 h 116"/>
                  <a:gd name="T70" fmla="*/ 44 w 92"/>
                  <a:gd name="T71" fmla="*/ 24 h 116"/>
                  <a:gd name="T72" fmla="*/ 36 w 92"/>
                  <a:gd name="T73" fmla="*/ 14 h 116"/>
                  <a:gd name="T74" fmla="*/ 46 w 92"/>
                  <a:gd name="T75" fmla="*/ 112 h 116"/>
                  <a:gd name="T76" fmla="*/ 4 w 92"/>
                  <a:gd name="T77" fmla="*/ 70 h 116"/>
                  <a:gd name="T78" fmla="*/ 46 w 92"/>
                  <a:gd name="T79" fmla="*/ 28 h 116"/>
                  <a:gd name="T80" fmla="*/ 88 w 92"/>
                  <a:gd name="T81" fmla="*/ 70 h 116"/>
                  <a:gd name="T82" fmla="*/ 46 w 92"/>
                  <a:gd name="T83" fmla="*/ 11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2" h="116">
                    <a:moveTo>
                      <a:pt x="80" y="39"/>
                    </a:moveTo>
                    <a:cubicBezTo>
                      <a:pt x="85" y="34"/>
                      <a:pt x="85" y="34"/>
                      <a:pt x="85" y="34"/>
                    </a:cubicBezTo>
                    <a:cubicBezTo>
                      <a:pt x="88" y="37"/>
                      <a:pt x="88" y="37"/>
                      <a:pt x="88" y="37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2" y="26"/>
                      <a:pt x="82" y="26"/>
                      <a:pt x="82" y="26"/>
                    </a:cubicBezTo>
                    <a:cubicBezTo>
                      <a:pt x="79" y="28"/>
                      <a:pt x="79" y="28"/>
                      <a:pt x="79" y="28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77" y="36"/>
                      <a:pt x="77" y="36"/>
                      <a:pt x="77" y="36"/>
                    </a:cubicBezTo>
                    <a:cubicBezTo>
                      <a:pt x="71" y="30"/>
                      <a:pt x="63" y="27"/>
                      <a:pt x="55" y="25"/>
                    </a:cubicBezTo>
                    <a:cubicBezTo>
                      <a:pt x="58" y="22"/>
                      <a:pt x="60" y="18"/>
                      <a:pt x="60" y="14"/>
                    </a:cubicBezTo>
                    <a:cubicBezTo>
                      <a:pt x="60" y="6"/>
                      <a:pt x="54" y="0"/>
                      <a:pt x="46" y="0"/>
                    </a:cubicBezTo>
                    <a:cubicBezTo>
                      <a:pt x="38" y="0"/>
                      <a:pt x="32" y="6"/>
                      <a:pt x="32" y="14"/>
                    </a:cubicBezTo>
                    <a:cubicBezTo>
                      <a:pt x="32" y="18"/>
                      <a:pt x="34" y="22"/>
                      <a:pt x="37" y="25"/>
                    </a:cubicBezTo>
                    <a:cubicBezTo>
                      <a:pt x="29" y="27"/>
                      <a:pt x="21" y="30"/>
                      <a:pt x="15" y="36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5" y="47"/>
                      <a:pt x="0" y="58"/>
                      <a:pt x="0" y="70"/>
                    </a:cubicBezTo>
                    <a:cubicBezTo>
                      <a:pt x="0" y="95"/>
                      <a:pt x="21" y="116"/>
                      <a:pt x="46" y="116"/>
                    </a:cubicBezTo>
                    <a:cubicBezTo>
                      <a:pt x="71" y="116"/>
                      <a:pt x="92" y="95"/>
                      <a:pt x="92" y="70"/>
                    </a:cubicBezTo>
                    <a:cubicBezTo>
                      <a:pt x="92" y="58"/>
                      <a:pt x="87" y="47"/>
                      <a:pt x="80" y="39"/>
                    </a:cubicBezTo>
                    <a:close/>
                    <a:moveTo>
                      <a:pt x="36" y="14"/>
                    </a:moveTo>
                    <a:cubicBezTo>
                      <a:pt x="36" y="8"/>
                      <a:pt x="40" y="4"/>
                      <a:pt x="46" y="4"/>
                    </a:cubicBezTo>
                    <a:cubicBezTo>
                      <a:pt x="52" y="4"/>
                      <a:pt x="56" y="8"/>
                      <a:pt x="56" y="14"/>
                    </a:cubicBezTo>
                    <a:cubicBezTo>
                      <a:pt x="56" y="19"/>
                      <a:pt x="53" y="23"/>
                      <a:pt x="48" y="2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39" y="23"/>
                      <a:pt x="36" y="19"/>
                      <a:pt x="36" y="14"/>
                    </a:cubicBezTo>
                    <a:close/>
                    <a:moveTo>
                      <a:pt x="46" y="112"/>
                    </a:moveTo>
                    <a:cubicBezTo>
                      <a:pt x="23" y="112"/>
                      <a:pt x="4" y="93"/>
                      <a:pt x="4" y="70"/>
                    </a:cubicBezTo>
                    <a:cubicBezTo>
                      <a:pt x="4" y="47"/>
                      <a:pt x="23" y="28"/>
                      <a:pt x="46" y="28"/>
                    </a:cubicBezTo>
                    <a:cubicBezTo>
                      <a:pt x="69" y="28"/>
                      <a:pt x="88" y="47"/>
                      <a:pt x="88" y="70"/>
                    </a:cubicBezTo>
                    <a:cubicBezTo>
                      <a:pt x="88" y="93"/>
                      <a:pt x="69" y="112"/>
                      <a:pt x="46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11075581" y="528361"/>
              <a:ext cx="462862" cy="508841"/>
              <a:chOff x="6983413" y="2554288"/>
              <a:chExt cx="239713" cy="263525"/>
            </a:xfrm>
            <a:grpFill/>
          </p:grpSpPr>
          <p:sp>
            <p:nvSpPr>
              <p:cNvPr id="189" name="Freeform 188"/>
              <p:cNvSpPr>
                <a:spLocks noEditPoints="1"/>
              </p:cNvSpPr>
              <p:nvPr/>
            </p:nvSpPr>
            <p:spPr bwMode="auto">
              <a:xfrm>
                <a:off x="7088188" y="2619375"/>
                <a:ext cx="30163" cy="114300"/>
              </a:xfrm>
              <a:custGeom>
                <a:avLst/>
                <a:gdLst>
                  <a:gd name="T0" fmla="*/ 8 w 12"/>
                  <a:gd name="T1" fmla="*/ 24 h 44"/>
                  <a:gd name="T2" fmla="*/ 8 w 12"/>
                  <a:gd name="T3" fmla="*/ 2 h 44"/>
                  <a:gd name="T4" fmla="*/ 6 w 12"/>
                  <a:gd name="T5" fmla="*/ 0 h 44"/>
                  <a:gd name="T6" fmla="*/ 4 w 12"/>
                  <a:gd name="T7" fmla="*/ 2 h 44"/>
                  <a:gd name="T8" fmla="*/ 4 w 12"/>
                  <a:gd name="T9" fmla="*/ 24 h 44"/>
                  <a:gd name="T10" fmla="*/ 0 w 12"/>
                  <a:gd name="T11" fmla="*/ 30 h 44"/>
                  <a:gd name="T12" fmla="*/ 4 w 12"/>
                  <a:gd name="T13" fmla="*/ 36 h 44"/>
                  <a:gd name="T14" fmla="*/ 4 w 12"/>
                  <a:gd name="T15" fmla="*/ 42 h 44"/>
                  <a:gd name="T16" fmla="*/ 6 w 12"/>
                  <a:gd name="T17" fmla="*/ 44 h 44"/>
                  <a:gd name="T18" fmla="*/ 8 w 12"/>
                  <a:gd name="T19" fmla="*/ 42 h 44"/>
                  <a:gd name="T20" fmla="*/ 8 w 12"/>
                  <a:gd name="T21" fmla="*/ 36 h 44"/>
                  <a:gd name="T22" fmla="*/ 12 w 12"/>
                  <a:gd name="T23" fmla="*/ 30 h 44"/>
                  <a:gd name="T24" fmla="*/ 8 w 12"/>
                  <a:gd name="T25" fmla="*/ 24 h 44"/>
                  <a:gd name="T26" fmla="*/ 6 w 12"/>
                  <a:gd name="T27" fmla="*/ 32 h 44"/>
                  <a:gd name="T28" fmla="*/ 4 w 12"/>
                  <a:gd name="T29" fmla="*/ 30 h 44"/>
                  <a:gd name="T30" fmla="*/ 6 w 12"/>
                  <a:gd name="T31" fmla="*/ 28 h 44"/>
                  <a:gd name="T32" fmla="*/ 8 w 12"/>
                  <a:gd name="T33" fmla="*/ 30 h 44"/>
                  <a:gd name="T34" fmla="*/ 6 w 12"/>
                  <a:gd name="T35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" h="44">
                    <a:moveTo>
                      <a:pt x="8" y="24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4" y="1"/>
                      <a:pt x="4" y="2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2" y="25"/>
                      <a:pt x="0" y="27"/>
                      <a:pt x="0" y="30"/>
                    </a:cubicBezTo>
                    <a:cubicBezTo>
                      <a:pt x="0" y="33"/>
                      <a:pt x="2" y="35"/>
                      <a:pt x="4" y="36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43"/>
                      <a:pt x="5" y="44"/>
                      <a:pt x="6" y="44"/>
                    </a:cubicBezTo>
                    <a:cubicBezTo>
                      <a:pt x="7" y="44"/>
                      <a:pt x="8" y="43"/>
                      <a:pt x="8" y="4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0" y="35"/>
                      <a:pt x="12" y="33"/>
                      <a:pt x="12" y="30"/>
                    </a:cubicBezTo>
                    <a:cubicBezTo>
                      <a:pt x="12" y="27"/>
                      <a:pt x="10" y="25"/>
                      <a:pt x="8" y="24"/>
                    </a:cubicBezTo>
                    <a:close/>
                    <a:moveTo>
                      <a:pt x="6" y="32"/>
                    </a:moveTo>
                    <a:cubicBezTo>
                      <a:pt x="5" y="32"/>
                      <a:pt x="4" y="31"/>
                      <a:pt x="4" y="30"/>
                    </a:cubicBezTo>
                    <a:cubicBezTo>
                      <a:pt x="4" y="29"/>
                      <a:pt x="5" y="28"/>
                      <a:pt x="6" y="28"/>
                    </a:cubicBezTo>
                    <a:cubicBezTo>
                      <a:pt x="7" y="28"/>
                      <a:pt x="8" y="29"/>
                      <a:pt x="8" y="30"/>
                    </a:cubicBezTo>
                    <a:cubicBezTo>
                      <a:pt x="8" y="31"/>
                      <a:pt x="7" y="32"/>
                      <a:pt x="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/>
              <p:cNvSpPr>
                <a:spLocks noEditPoints="1"/>
              </p:cNvSpPr>
              <p:nvPr/>
            </p:nvSpPr>
            <p:spPr bwMode="auto">
              <a:xfrm>
                <a:off x="6983413" y="2554288"/>
                <a:ext cx="239713" cy="263525"/>
              </a:xfrm>
              <a:custGeom>
                <a:avLst/>
                <a:gdLst>
                  <a:gd name="T0" fmla="*/ 80 w 92"/>
                  <a:gd name="T1" fmla="*/ 24 h 101"/>
                  <a:gd name="T2" fmla="*/ 85 w 92"/>
                  <a:gd name="T3" fmla="*/ 19 h 101"/>
                  <a:gd name="T4" fmla="*/ 88 w 92"/>
                  <a:gd name="T5" fmla="*/ 22 h 101"/>
                  <a:gd name="T6" fmla="*/ 90 w 92"/>
                  <a:gd name="T7" fmla="*/ 19 h 101"/>
                  <a:gd name="T8" fmla="*/ 82 w 92"/>
                  <a:gd name="T9" fmla="*/ 11 h 101"/>
                  <a:gd name="T10" fmla="*/ 79 w 92"/>
                  <a:gd name="T11" fmla="*/ 13 h 101"/>
                  <a:gd name="T12" fmla="*/ 82 w 92"/>
                  <a:gd name="T13" fmla="*/ 16 h 101"/>
                  <a:gd name="T14" fmla="*/ 77 w 92"/>
                  <a:gd name="T15" fmla="*/ 21 h 101"/>
                  <a:gd name="T16" fmla="*/ 48 w 92"/>
                  <a:gd name="T17" fmla="*/ 9 h 101"/>
                  <a:gd name="T18" fmla="*/ 48 w 92"/>
                  <a:gd name="T19" fmla="*/ 4 h 101"/>
                  <a:gd name="T20" fmla="*/ 52 w 92"/>
                  <a:gd name="T21" fmla="*/ 4 h 101"/>
                  <a:gd name="T22" fmla="*/ 52 w 92"/>
                  <a:gd name="T23" fmla="*/ 0 h 101"/>
                  <a:gd name="T24" fmla="*/ 40 w 92"/>
                  <a:gd name="T25" fmla="*/ 0 h 101"/>
                  <a:gd name="T26" fmla="*/ 40 w 92"/>
                  <a:gd name="T27" fmla="*/ 4 h 101"/>
                  <a:gd name="T28" fmla="*/ 44 w 92"/>
                  <a:gd name="T29" fmla="*/ 4 h 101"/>
                  <a:gd name="T30" fmla="*/ 44 w 92"/>
                  <a:gd name="T31" fmla="*/ 9 h 101"/>
                  <a:gd name="T32" fmla="*/ 0 w 92"/>
                  <a:gd name="T33" fmla="*/ 55 h 101"/>
                  <a:gd name="T34" fmla="*/ 46 w 92"/>
                  <a:gd name="T35" fmla="*/ 101 h 101"/>
                  <a:gd name="T36" fmla="*/ 92 w 92"/>
                  <a:gd name="T37" fmla="*/ 55 h 101"/>
                  <a:gd name="T38" fmla="*/ 80 w 92"/>
                  <a:gd name="T39" fmla="*/ 24 h 101"/>
                  <a:gd name="T40" fmla="*/ 46 w 92"/>
                  <a:gd name="T41" fmla="*/ 97 h 101"/>
                  <a:gd name="T42" fmla="*/ 4 w 92"/>
                  <a:gd name="T43" fmla="*/ 55 h 101"/>
                  <a:gd name="T44" fmla="*/ 46 w 92"/>
                  <a:gd name="T45" fmla="*/ 13 h 101"/>
                  <a:gd name="T46" fmla="*/ 88 w 92"/>
                  <a:gd name="T47" fmla="*/ 55 h 101"/>
                  <a:gd name="T48" fmla="*/ 46 w 92"/>
                  <a:gd name="T49" fmla="*/ 9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2" h="101">
                    <a:moveTo>
                      <a:pt x="80" y="24"/>
                    </a:moveTo>
                    <a:cubicBezTo>
                      <a:pt x="85" y="19"/>
                      <a:pt x="85" y="19"/>
                      <a:pt x="85" y="19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77" y="21"/>
                      <a:pt x="77" y="21"/>
                      <a:pt x="77" y="21"/>
                    </a:cubicBezTo>
                    <a:cubicBezTo>
                      <a:pt x="69" y="14"/>
                      <a:pt x="59" y="10"/>
                      <a:pt x="48" y="9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20" y="10"/>
                      <a:pt x="0" y="30"/>
                      <a:pt x="0" y="55"/>
                    </a:cubicBezTo>
                    <a:cubicBezTo>
                      <a:pt x="0" y="80"/>
                      <a:pt x="21" y="101"/>
                      <a:pt x="46" y="101"/>
                    </a:cubicBezTo>
                    <a:cubicBezTo>
                      <a:pt x="71" y="101"/>
                      <a:pt x="92" y="80"/>
                      <a:pt x="92" y="55"/>
                    </a:cubicBezTo>
                    <a:cubicBezTo>
                      <a:pt x="92" y="43"/>
                      <a:pt x="87" y="32"/>
                      <a:pt x="80" y="24"/>
                    </a:cubicBezTo>
                    <a:close/>
                    <a:moveTo>
                      <a:pt x="46" y="97"/>
                    </a:moveTo>
                    <a:cubicBezTo>
                      <a:pt x="23" y="97"/>
                      <a:pt x="4" y="78"/>
                      <a:pt x="4" y="55"/>
                    </a:cubicBezTo>
                    <a:cubicBezTo>
                      <a:pt x="4" y="32"/>
                      <a:pt x="23" y="13"/>
                      <a:pt x="46" y="13"/>
                    </a:cubicBezTo>
                    <a:cubicBezTo>
                      <a:pt x="69" y="13"/>
                      <a:pt x="88" y="32"/>
                      <a:pt x="88" y="55"/>
                    </a:cubicBezTo>
                    <a:cubicBezTo>
                      <a:pt x="88" y="78"/>
                      <a:pt x="69" y="97"/>
                      <a:pt x="46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2480489" y="2779292"/>
              <a:ext cx="239713" cy="292100"/>
              <a:chOff x="1273175" y="3175000"/>
              <a:chExt cx="239713" cy="292100"/>
            </a:xfrm>
            <a:grpFill/>
          </p:grpSpPr>
          <p:sp>
            <p:nvSpPr>
              <p:cNvPr id="187" name="Oval 186"/>
              <p:cNvSpPr>
                <a:spLocks noChangeArrowheads="1"/>
              </p:cNvSpPr>
              <p:nvPr/>
            </p:nvSpPr>
            <p:spPr bwMode="auto">
              <a:xfrm>
                <a:off x="1419225" y="3403600"/>
                <a:ext cx="31750" cy="2063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/>
              <p:cNvSpPr>
                <a:spLocks noEditPoints="1"/>
              </p:cNvSpPr>
              <p:nvPr/>
            </p:nvSpPr>
            <p:spPr bwMode="auto">
              <a:xfrm>
                <a:off x="1273175" y="3175000"/>
                <a:ext cx="239713" cy="292100"/>
              </a:xfrm>
              <a:custGeom>
                <a:avLst/>
                <a:gdLst>
                  <a:gd name="T0" fmla="*/ 46 w 92"/>
                  <a:gd name="T1" fmla="*/ 76 h 112"/>
                  <a:gd name="T2" fmla="*/ 32 w 92"/>
                  <a:gd name="T3" fmla="*/ 77 h 112"/>
                  <a:gd name="T4" fmla="*/ 32 w 92"/>
                  <a:gd name="T5" fmla="*/ 46 h 112"/>
                  <a:gd name="T6" fmla="*/ 84 w 92"/>
                  <a:gd name="T7" fmla="*/ 24 h 112"/>
                  <a:gd name="T8" fmla="*/ 28 w 92"/>
                  <a:gd name="T9" fmla="*/ 0 h 112"/>
                  <a:gd name="T10" fmla="*/ 28 w 92"/>
                  <a:gd name="T11" fmla="*/ 26 h 112"/>
                  <a:gd name="T12" fmla="*/ 28 w 92"/>
                  <a:gd name="T13" fmla="*/ 77 h 112"/>
                  <a:gd name="T14" fmla="*/ 0 w 92"/>
                  <a:gd name="T15" fmla="*/ 94 h 112"/>
                  <a:gd name="T16" fmla="*/ 46 w 92"/>
                  <a:gd name="T17" fmla="*/ 112 h 112"/>
                  <a:gd name="T18" fmla="*/ 92 w 92"/>
                  <a:gd name="T19" fmla="*/ 94 h 112"/>
                  <a:gd name="T20" fmla="*/ 46 w 92"/>
                  <a:gd name="T21" fmla="*/ 76 h 112"/>
                  <a:gd name="T22" fmla="*/ 32 w 92"/>
                  <a:gd name="T23" fmla="*/ 6 h 112"/>
                  <a:gd name="T24" fmla="*/ 74 w 92"/>
                  <a:gd name="T25" fmla="*/ 24 h 112"/>
                  <a:gd name="T26" fmla="*/ 32 w 92"/>
                  <a:gd name="T27" fmla="*/ 42 h 112"/>
                  <a:gd name="T28" fmla="*/ 32 w 92"/>
                  <a:gd name="T29" fmla="*/ 6 h 112"/>
                  <a:gd name="T30" fmla="*/ 46 w 92"/>
                  <a:gd name="T31" fmla="*/ 108 h 112"/>
                  <a:gd name="T32" fmla="*/ 4 w 92"/>
                  <a:gd name="T33" fmla="*/ 94 h 112"/>
                  <a:gd name="T34" fmla="*/ 28 w 92"/>
                  <a:gd name="T35" fmla="*/ 81 h 112"/>
                  <a:gd name="T36" fmla="*/ 28 w 92"/>
                  <a:gd name="T37" fmla="*/ 88 h 112"/>
                  <a:gd name="T38" fmla="*/ 20 w 92"/>
                  <a:gd name="T39" fmla="*/ 94 h 112"/>
                  <a:gd name="T40" fmla="*/ 30 w 92"/>
                  <a:gd name="T41" fmla="*/ 100 h 112"/>
                  <a:gd name="T42" fmla="*/ 40 w 92"/>
                  <a:gd name="T43" fmla="*/ 94 h 112"/>
                  <a:gd name="T44" fmla="*/ 32 w 92"/>
                  <a:gd name="T45" fmla="*/ 88 h 112"/>
                  <a:gd name="T46" fmla="*/ 32 w 92"/>
                  <a:gd name="T47" fmla="*/ 81 h 112"/>
                  <a:gd name="T48" fmla="*/ 46 w 92"/>
                  <a:gd name="T49" fmla="*/ 80 h 112"/>
                  <a:gd name="T50" fmla="*/ 88 w 92"/>
                  <a:gd name="T51" fmla="*/ 94 h 112"/>
                  <a:gd name="T52" fmla="*/ 46 w 92"/>
                  <a:gd name="T53" fmla="*/ 10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2" h="112">
                    <a:moveTo>
                      <a:pt x="46" y="76"/>
                    </a:moveTo>
                    <a:cubicBezTo>
                      <a:pt x="41" y="76"/>
                      <a:pt x="36" y="76"/>
                      <a:pt x="32" y="7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84" y="24"/>
                      <a:pt x="84" y="24"/>
                      <a:pt x="84" y="2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12" y="80"/>
                      <a:pt x="0" y="87"/>
                      <a:pt x="0" y="94"/>
                    </a:cubicBezTo>
                    <a:cubicBezTo>
                      <a:pt x="0" y="104"/>
                      <a:pt x="21" y="112"/>
                      <a:pt x="46" y="112"/>
                    </a:cubicBezTo>
                    <a:cubicBezTo>
                      <a:pt x="71" y="112"/>
                      <a:pt x="92" y="104"/>
                      <a:pt x="92" y="94"/>
                    </a:cubicBezTo>
                    <a:cubicBezTo>
                      <a:pt x="92" y="84"/>
                      <a:pt x="71" y="76"/>
                      <a:pt x="46" y="76"/>
                    </a:cubicBezTo>
                    <a:close/>
                    <a:moveTo>
                      <a:pt x="32" y="6"/>
                    </a:moveTo>
                    <a:cubicBezTo>
                      <a:pt x="74" y="24"/>
                      <a:pt x="74" y="24"/>
                      <a:pt x="74" y="24"/>
                    </a:cubicBezTo>
                    <a:cubicBezTo>
                      <a:pt x="32" y="42"/>
                      <a:pt x="32" y="42"/>
                      <a:pt x="32" y="42"/>
                    </a:cubicBezTo>
                    <a:lnTo>
                      <a:pt x="32" y="6"/>
                    </a:lnTo>
                    <a:close/>
                    <a:moveTo>
                      <a:pt x="46" y="108"/>
                    </a:moveTo>
                    <a:cubicBezTo>
                      <a:pt x="23" y="108"/>
                      <a:pt x="4" y="102"/>
                      <a:pt x="4" y="94"/>
                    </a:cubicBezTo>
                    <a:cubicBezTo>
                      <a:pt x="4" y="88"/>
                      <a:pt x="14" y="84"/>
                      <a:pt x="28" y="81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3" y="89"/>
                      <a:pt x="20" y="91"/>
                      <a:pt x="20" y="94"/>
                    </a:cubicBezTo>
                    <a:cubicBezTo>
                      <a:pt x="20" y="97"/>
                      <a:pt x="24" y="100"/>
                      <a:pt x="30" y="100"/>
                    </a:cubicBezTo>
                    <a:cubicBezTo>
                      <a:pt x="36" y="100"/>
                      <a:pt x="40" y="97"/>
                      <a:pt x="40" y="94"/>
                    </a:cubicBezTo>
                    <a:cubicBezTo>
                      <a:pt x="40" y="91"/>
                      <a:pt x="37" y="89"/>
                      <a:pt x="32" y="8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6" y="80"/>
                      <a:pt x="41" y="80"/>
                      <a:pt x="46" y="80"/>
                    </a:cubicBezTo>
                    <a:cubicBezTo>
                      <a:pt x="69" y="80"/>
                      <a:pt x="88" y="86"/>
                      <a:pt x="88" y="94"/>
                    </a:cubicBezTo>
                    <a:cubicBezTo>
                      <a:pt x="88" y="102"/>
                      <a:pt x="69" y="108"/>
                      <a:pt x="46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0" name="Freeform 99"/>
            <p:cNvSpPr>
              <a:spLocks noEditPoints="1"/>
            </p:cNvSpPr>
            <p:nvPr/>
          </p:nvSpPr>
          <p:spPr bwMode="auto">
            <a:xfrm>
              <a:off x="9288758" y="231629"/>
              <a:ext cx="590966" cy="590964"/>
            </a:xfrm>
            <a:custGeom>
              <a:avLst/>
              <a:gdLst>
                <a:gd name="T0" fmla="*/ 16 w 96"/>
                <a:gd name="T1" fmla="*/ 83 h 96"/>
                <a:gd name="T2" fmla="*/ 16 w 96"/>
                <a:gd name="T3" fmla="*/ 84 h 96"/>
                <a:gd name="T4" fmla="*/ 16 w 96"/>
                <a:gd name="T5" fmla="*/ 96 h 96"/>
                <a:gd name="T6" fmla="*/ 12 w 96"/>
                <a:gd name="T7" fmla="*/ 87 h 96"/>
                <a:gd name="T8" fmla="*/ 4 w 96"/>
                <a:gd name="T9" fmla="*/ 89 h 96"/>
                <a:gd name="T10" fmla="*/ 0 w 96"/>
                <a:gd name="T11" fmla="*/ 84 h 96"/>
                <a:gd name="T12" fmla="*/ 13 w 96"/>
                <a:gd name="T13" fmla="*/ 80 h 96"/>
                <a:gd name="T14" fmla="*/ 17 w 96"/>
                <a:gd name="T15" fmla="*/ 76 h 96"/>
                <a:gd name="T16" fmla="*/ 8 w 96"/>
                <a:gd name="T17" fmla="*/ 72 h 96"/>
                <a:gd name="T18" fmla="*/ 43 w 96"/>
                <a:gd name="T19" fmla="*/ 51 h 96"/>
                <a:gd name="T20" fmla="*/ 40 w 96"/>
                <a:gd name="T21" fmla="*/ 48 h 96"/>
                <a:gd name="T22" fmla="*/ 48 w 96"/>
                <a:gd name="T23" fmla="*/ 56 h 96"/>
                <a:gd name="T24" fmla="*/ 24 w 96"/>
                <a:gd name="T25" fmla="*/ 75 h 96"/>
                <a:gd name="T26" fmla="*/ 24 w 96"/>
                <a:gd name="T27" fmla="*/ 88 h 96"/>
                <a:gd name="T28" fmla="*/ 20 w 96"/>
                <a:gd name="T29" fmla="*/ 79 h 96"/>
                <a:gd name="T30" fmla="*/ 8 w 96"/>
                <a:gd name="T31" fmla="*/ 44 h 96"/>
                <a:gd name="T32" fmla="*/ 96 w 96"/>
                <a:gd name="T33" fmla="*/ 44 h 96"/>
                <a:gd name="T34" fmla="*/ 28 w 96"/>
                <a:gd name="T35" fmla="*/ 81 h 96"/>
                <a:gd name="T36" fmla="*/ 28 w 96"/>
                <a:gd name="T37" fmla="*/ 76 h 96"/>
                <a:gd name="T38" fmla="*/ 92 w 96"/>
                <a:gd name="T39" fmla="*/ 44 h 96"/>
                <a:gd name="T40" fmla="*/ 12 w 96"/>
                <a:gd name="T41" fmla="*/ 44 h 96"/>
                <a:gd name="T42" fmla="*/ 20 w 96"/>
                <a:gd name="T43" fmla="*/ 68 h 96"/>
                <a:gd name="T44" fmla="*/ 15 w 96"/>
                <a:gd name="T45" fmla="*/ 68 h 96"/>
                <a:gd name="T46" fmla="*/ 40 w 96"/>
                <a:gd name="T47" fmla="*/ 44 h 96"/>
                <a:gd name="T48" fmla="*/ 64 w 96"/>
                <a:gd name="T49" fmla="*/ 44 h 96"/>
                <a:gd name="T50" fmla="*/ 51 w 96"/>
                <a:gd name="T51" fmla="*/ 56 h 96"/>
                <a:gd name="T52" fmla="*/ 53 w 96"/>
                <a:gd name="T53" fmla="*/ 52 h 96"/>
                <a:gd name="T54" fmla="*/ 52 w 96"/>
                <a:gd name="T55" fmla="*/ 36 h 96"/>
                <a:gd name="T56" fmla="*/ 40 w 96"/>
                <a:gd name="T57" fmla="*/ 45 h 96"/>
                <a:gd name="T58" fmla="*/ 28 w 96"/>
                <a:gd name="T59" fmla="*/ 59 h 96"/>
                <a:gd name="T60" fmla="*/ 52 w 96"/>
                <a:gd name="T61" fmla="*/ 16 h 96"/>
                <a:gd name="T62" fmla="*/ 52 w 96"/>
                <a:gd name="T63" fmla="*/ 72 h 96"/>
                <a:gd name="T64" fmla="*/ 40 w 96"/>
                <a:gd name="T65" fmla="*/ 65 h 96"/>
                <a:gd name="T66" fmla="*/ 76 w 96"/>
                <a:gd name="T67" fmla="*/ 44 h 96"/>
                <a:gd name="T68" fmla="*/ 28 w 96"/>
                <a:gd name="T69" fmla="*/ 44 h 96"/>
                <a:gd name="T70" fmla="*/ 28 w 96"/>
                <a:gd name="T71" fmla="*/ 5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96">
                  <a:moveTo>
                    <a:pt x="20" y="79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87"/>
                    <a:pt x="12" y="87"/>
                    <a:pt x="12" y="87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0" y="79"/>
                    <a:pt x="20" y="79"/>
                    <a:pt x="20" y="79"/>
                  </a:cubicBezTo>
                  <a:close/>
                  <a:moveTo>
                    <a:pt x="15" y="68"/>
                  </a:moveTo>
                  <a:cubicBezTo>
                    <a:pt x="11" y="61"/>
                    <a:pt x="8" y="53"/>
                    <a:pt x="8" y="44"/>
                  </a:cubicBezTo>
                  <a:cubicBezTo>
                    <a:pt x="8" y="20"/>
                    <a:pt x="28" y="0"/>
                    <a:pt x="52" y="0"/>
                  </a:cubicBezTo>
                  <a:cubicBezTo>
                    <a:pt x="76" y="0"/>
                    <a:pt x="96" y="20"/>
                    <a:pt x="96" y="44"/>
                  </a:cubicBezTo>
                  <a:cubicBezTo>
                    <a:pt x="96" y="68"/>
                    <a:pt x="76" y="88"/>
                    <a:pt x="52" y="88"/>
                  </a:cubicBezTo>
                  <a:cubicBezTo>
                    <a:pt x="43" y="88"/>
                    <a:pt x="35" y="85"/>
                    <a:pt x="28" y="81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35" y="81"/>
                    <a:pt x="43" y="84"/>
                    <a:pt x="52" y="84"/>
                  </a:cubicBezTo>
                  <a:cubicBezTo>
                    <a:pt x="74" y="84"/>
                    <a:pt x="92" y="66"/>
                    <a:pt x="92" y="44"/>
                  </a:cubicBezTo>
                  <a:cubicBezTo>
                    <a:pt x="92" y="22"/>
                    <a:pt x="74" y="4"/>
                    <a:pt x="52" y="4"/>
                  </a:cubicBezTo>
                  <a:cubicBezTo>
                    <a:pt x="30" y="4"/>
                    <a:pt x="12" y="22"/>
                    <a:pt x="12" y="44"/>
                  </a:cubicBezTo>
                  <a:cubicBezTo>
                    <a:pt x="12" y="53"/>
                    <a:pt x="15" y="61"/>
                    <a:pt x="20" y="6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68"/>
                    <a:pt x="15" y="68"/>
                    <a:pt x="15" y="68"/>
                  </a:cubicBezTo>
                  <a:close/>
                  <a:moveTo>
                    <a:pt x="40" y="45"/>
                  </a:move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45" y="32"/>
                    <a:pt x="52" y="32"/>
                  </a:cubicBezTo>
                  <a:cubicBezTo>
                    <a:pt x="59" y="32"/>
                    <a:pt x="64" y="37"/>
                    <a:pt x="64" y="44"/>
                  </a:cubicBezTo>
                  <a:cubicBezTo>
                    <a:pt x="64" y="51"/>
                    <a:pt x="59" y="56"/>
                    <a:pt x="52" y="56"/>
                  </a:cubicBezTo>
                  <a:cubicBezTo>
                    <a:pt x="52" y="56"/>
                    <a:pt x="52" y="56"/>
                    <a:pt x="51" y="56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7" y="52"/>
                    <a:pt x="60" y="48"/>
                    <a:pt x="60" y="44"/>
                  </a:cubicBezTo>
                  <a:cubicBezTo>
                    <a:pt x="60" y="40"/>
                    <a:pt x="56" y="36"/>
                    <a:pt x="52" y="36"/>
                  </a:cubicBezTo>
                  <a:cubicBezTo>
                    <a:pt x="48" y="36"/>
                    <a:pt x="44" y="39"/>
                    <a:pt x="44" y="43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  <a:moveTo>
                    <a:pt x="28" y="59"/>
                  </a:moveTo>
                  <a:cubicBezTo>
                    <a:pt x="26" y="55"/>
                    <a:pt x="24" y="50"/>
                    <a:pt x="24" y="44"/>
                  </a:cubicBezTo>
                  <a:cubicBezTo>
                    <a:pt x="24" y="29"/>
                    <a:pt x="37" y="16"/>
                    <a:pt x="52" y="16"/>
                  </a:cubicBezTo>
                  <a:cubicBezTo>
                    <a:pt x="67" y="16"/>
                    <a:pt x="80" y="29"/>
                    <a:pt x="80" y="44"/>
                  </a:cubicBezTo>
                  <a:cubicBezTo>
                    <a:pt x="80" y="59"/>
                    <a:pt x="67" y="72"/>
                    <a:pt x="52" y="72"/>
                  </a:cubicBezTo>
                  <a:cubicBezTo>
                    <a:pt x="46" y="72"/>
                    <a:pt x="41" y="70"/>
                    <a:pt x="37" y="68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3" y="67"/>
                    <a:pt x="48" y="68"/>
                    <a:pt x="52" y="68"/>
                  </a:cubicBezTo>
                  <a:cubicBezTo>
                    <a:pt x="65" y="68"/>
                    <a:pt x="76" y="57"/>
                    <a:pt x="76" y="44"/>
                  </a:cubicBezTo>
                  <a:cubicBezTo>
                    <a:pt x="76" y="31"/>
                    <a:pt x="65" y="20"/>
                    <a:pt x="52" y="20"/>
                  </a:cubicBezTo>
                  <a:cubicBezTo>
                    <a:pt x="39" y="20"/>
                    <a:pt x="28" y="31"/>
                    <a:pt x="28" y="44"/>
                  </a:cubicBezTo>
                  <a:cubicBezTo>
                    <a:pt x="28" y="48"/>
                    <a:pt x="29" y="53"/>
                    <a:pt x="31" y="56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59"/>
                    <a:pt x="28" y="59"/>
                    <a:pt x="28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1" name="Group 100"/>
            <p:cNvGrpSpPr/>
            <p:nvPr/>
          </p:nvGrpSpPr>
          <p:grpSpPr>
            <a:xfrm>
              <a:off x="2623073" y="5695915"/>
              <a:ext cx="636112" cy="640528"/>
              <a:chOff x="1908175" y="3841750"/>
              <a:chExt cx="228600" cy="230187"/>
            </a:xfrm>
            <a:grpFill/>
          </p:grpSpPr>
          <p:sp>
            <p:nvSpPr>
              <p:cNvPr id="184" name="Freeform 183"/>
              <p:cNvSpPr>
                <a:spLocks noEditPoints="1"/>
              </p:cNvSpPr>
              <p:nvPr/>
            </p:nvSpPr>
            <p:spPr bwMode="auto">
              <a:xfrm>
                <a:off x="1990725" y="3925888"/>
                <a:ext cx="63500" cy="61912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/>
              <p:cNvSpPr>
                <a:spLocks noEditPoints="1"/>
              </p:cNvSpPr>
              <p:nvPr/>
            </p:nvSpPr>
            <p:spPr bwMode="auto">
              <a:xfrm>
                <a:off x="1908175" y="3841750"/>
                <a:ext cx="228600" cy="230187"/>
              </a:xfrm>
              <a:custGeom>
                <a:avLst/>
                <a:gdLst>
                  <a:gd name="T0" fmla="*/ 44 w 88"/>
                  <a:gd name="T1" fmla="*/ 0 h 88"/>
                  <a:gd name="T2" fmla="*/ 0 w 88"/>
                  <a:gd name="T3" fmla="*/ 44 h 88"/>
                  <a:gd name="T4" fmla="*/ 44 w 88"/>
                  <a:gd name="T5" fmla="*/ 88 h 88"/>
                  <a:gd name="T6" fmla="*/ 88 w 88"/>
                  <a:gd name="T7" fmla="*/ 44 h 88"/>
                  <a:gd name="T8" fmla="*/ 44 w 88"/>
                  <a:gd name="T9" fmla="*/ 0 h 88"/>
                  <a:gd name="T10" fmla="*/ 44 w 88"/>
                  <a:gd name="T11" fmla="*/ 84 h 88"/>
                  <a:gd name="T12" fmla="*/ 4 w 88"/>
                  <a:gd name="T13" fmla="*/ 44 h 88"/>
                  <a:gd name="T14" fmla="*/ 44 w 88"/>
                  <a:gd name="T15" fmla="*/ 4 h 88"/>
                  <a:gd name="T16" fmla="*/ 84 w 88"/>
                  <a:gd name="T17" fmla="*/ 44 h 88"/>
                  <a:gd name="T18" fmla="*/ 44 w 88"/>
                  <a:gd name="T19" fmla="*/ 8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8"/>
                      <a:pt x="44" y="88"/>
                    </a:cubicBezTo>
                    <a:cubicBezTo>
                      <a:pt x="68" y="88"/>
                      <a:pt x="88" y="68"/>
                      <a:pt x="88" y="44"/>
                    </a:cubicBezTo>
                    <a:cubicBezTo>
                      <a:pt x="88" y="20"/>
                      <a:pt x="68" y="0"/>
                      <a:pt x="44" y="0"/>
                    </a:cubicBezTo>
                    <a:close/>
                    <a:moveTo>
                      <a:pt x="44" y="84"/>
                    </a:moveTo>
                    <a:cubicBezTo>
                      <a:pt x="22" y="84"/>
                      <a:pt x="4" y="66"/>
                      <a:pt x="4" y="44"/>
                    </a:cubicBezTo>
                    <a:cubicBezTo>
                      <a:pt x="4" y="22"/>
                      <a:pt x="22" y="4"/>
                      <a:pt x="44" y="4"/>
                    </a:cubicBezTo>
                    <a:cubicBezTo>
                      <a:pt x="66" y="4"/>
                      <a:pt x="84" y="22"/>
                      <a:pt x="84" y="44"/>
                    </a:cubicBezTo>
                    <a:cubicBezTo>
                      <a:pt x="84" y="66"/>
                      <a:pt x="66" y="84"/>
                      <a:pt x="44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/>
              <p:cNvSpPr>
                <a:spLocks noEditPoints="1"/>
              </p:cNvSpPr>
              <p:nvPr/>
            </p:nvSpPr>
            <p:spPr bwMode="auto">
              <a:xfrm>
                <a:off x="1949450" y="3884613"/>
                <a:ext cx="146050" cy="146050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2 h 56"/>
                  <a:gd name="T12" fmla="*/ 4 w 56"/>
                  <a:gd name="T13" fmla="*/ 28 h 56"/>
                  <a:gd name="T14" fmla="*/ 28 w 56"/>
                  <a:gd name="T15" fmla="*/ 4 h 56"/>
                  <a:gd name="T16" fmla="*/ 52 w 56"/>
                  <a:gd name="T17" fmla="*/ 28 h 56"/>
                  <a:gd name="T18" fmla="*/ 28 w 56"/>
                  <a:gd name="T19" fmla="*/ 5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2"/>
                    </a:moveTo>
                    <a:cubicBezTo>
                      <a:pt x="15" y="52"/>
                      <a:pt x="4" y="41"/>
                      <a:pt x="4" y="28"/>
                    </a:cubicBezTo>
                    <a:cubicBezTo>
                      <a:pt x="4" y="15"/>
                      <a:pt x="15" y="4"/>
                      <a:pt x="28" y="4"/>
                    </a:cubicBezTo>
                    <a:cubicBezTo>
                      <a:pt x="41" y="4"/>
                      <a:pt x="52" y="15"/>
                      <a:pt x="52" y="28"/>
                    </a:cubicBezTo>
                    <a:cubicBezTo>
                      <a:pt x="52" y="41"/>
                      <a:pt x="41" y="52"/>
                      <a:pt x="28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 151"/>
            <p:cNvSpPr>
              <a:spLocks noEditPoints="1"/>
            </p:cNvSpPr>
            <p:nvPr/>
          </p:nvSpPr>
          <p:spPr bwMode="auto">
            <a:xfrm>
              <a:off x="8087826" y="2246792"/>
              <a:ext cx="100260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6 w 176"/>
                <a:gd name="T13" fmla="*/ 149 h 176"/>
                <a:gd name="T14" fmla="*/ 64 w 176"/>
                <a:gd name="T15" fmla="*/ 131 h 176"/>
                <a:gd name="T16" fmla="*/ 77 w 176"/>
                <a:gd name="T17" fmla="*/ 102 h 176"/>
                <a:gd name="T18" fmla="*/ 73 w 176"/>
                <a:gd name="T19" fmla="*/ 95 h 176"/>
                <a:gd name="T20" fmla="*/ 64 w 176"/>
                <a:gd name="T21" fmla="*/ 59 h 176"/>
                <a:gd name="T22" fmla="*/ 84 w 176"/>
                <a:gd name="T23" fmla="*/ 35 h 176"/>
                <a:gd name="T24" fmla="*/ 96 w 176"/>
                <a:gd name="T25" fmla="*/ 33 h 176"/>
                <a:gd name="T26" fmla="*/ 100 w 176"/>
                <a:gd name="T27" fmla="*/ 32 h 176"/>
                <a:gd name="T28" fmla="*/ 116 w 176"/>
                <a:gd name="T29" fmla="*/ 60 h 176"/>
                <a:gd name="T30" fmla="*/ 108 w 176"/>
                <a:gd name="T31" fmla="*/ 94 h 176"/>
                <a:gd name="T32" fmla="*/ 104 w 176"/>
                <a:gd name="T33" fmla="*/ 102 h 176"/>
                <a:gd name="T34" fmla="*/ 102 w 176"/>
                <a:gd name="T35" fmla="*/ 117 h 176"/>
                <a:gd name="T36" fmla="*/ 120 w 176"/>
                <a:gd name="T37" fmla="*/ 133 h 176"/>
                <a:gd name="T38" fmla="*/ 141 w 176"/>
                <a:gd name="T39" fmla="*/ 148 h 176"/>
                <a:gd name="T40" fmla="*/ 88 w 176"/>
                <a:gd name="T41" fmla="*/ 168 h 176"/>
                <a:gd name="T42" fmla="*/ 146 w 176"/>
                <a:gd name="T43" fmla="*/ 143 h 176"/>
                <a:gd name="T44" fmla="*/ 123 w 176"/>
                <a:gd name="T45" fmla="*/ 126 h 176"/>
                <a:gd name="T46" fmla="*/ 110 w 176"/>
                <a:gd name="T47" fmla="*/ 115 h 176"/>
                <a:gd name="T48" fmla="*/ 111 w 176"/>
                <a:gd name="T49" fmla="*/ 105 h 176"/>
                <a:gd name="T50" fmla="*/ 115 w 176"/>
                <a:gd name="T51" fmla="*/ 98 h 176"/>
                <a:gd name="T52" fmla="*/ 124 w 176"/>
                <a:gd name="T53" fmla="*/ 60 h 176"/>
                <a:gd name="T54" fmla="*/ 100 w 176"/>
                <a:gd name="T55" fmla="*/ 24 h 176"/>
                <a:gd name="T56" fmla="*/ 93 w 176"/>
                <a:gd name="T57" fmla="*/ 25 h 176"/>
                <a:gd name="T58" fmla="*/ 84 w 176"/>
                <a:gd name="T59" fmla="*/ 27 h 176"/>
                <a:gd name="T60" fmla="*/ 56 w 176"/>
                <a:gd name="T61" fmla="*/ 59 h 176"/>
                <a:gd name="T62" fmla="*/ 66 w 176"/>
                <a:gd name="T63" fmla="*/ 99 h 176"/>
                <a:gd name="T64" fmla="*/ 69 w 176"/>
                <a:gd name="T65" fmla="*/ 105 h 176"/>
                <a:gd name="T66" fmla="*/ 61 w 176"/>
                <a:gd name="T67" fmla="*/ 124 h 176"/>
                <a:gd name="T68" fmla="*/ 30 w 176"/>
                <a:gd name="T69" fmla="*/ 143 h 176"/>
                <a:gd name="T70" fmla="*/ 8 w 176"/>
                <a:gd name="T71" fmla="*/ 88 h 176"/>
                <a:gd name="T72" fmla="*/ 88 w 176"/>
                <a:gd name="T73" fmla="*/ 8 h 176"/>
                <a:gd name="T74" fmla="*/ 168 w 176"/>
                <a:gd name="T75" fmla="*/ 88 h 176"/>
                <a:gd name="T76" fmla="*/ 146 w 176"/>
                <a:gd name="T77" fmla="*/ 14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8" y="168"/>
                    <a:pt x="50" y="161"/>
                    <a:pt x="36" y="149"/>
                  </a:cubicBezTo>
                  <a:cubicBezTo>
                    <a:pt x="47" y="139"/>
                    <a:pt x="52" y="137"/>
                    <a:pt x="64" y="131"/>
                  </a:cubicBezTo>
                  <a:cubicBezTo>
                    <a:pt x="78" y="125"/>
                    <a:pt x="82" y="114"/>
                    <a:pt x="77" y="102"/>
                  </a:cubicBezTo>
                  <a:cubicBezTo>
                    <a:pt x="76" y="99"/>
                    <a:pt x="74" y="97"/>
                    <a:pt x="73" y="95"/>
                  </a:cubicBezTo>
                  <a:cubicBezTo>
                    <a:pt x="69" y="87"/>
                    <a:pt x="64" y="79"/>
                    <a:pt x="64" y="59"/>
                  </a:cubicBezTo>
                  <a:cubicBezTo>
                    <a:pt x="64" y="35"/>
                    <a:pt x="75" y="35"/>
                    <a:pt x="84" y="35"/>
                  </a:cubicBezTo>
                  <a:cubicBezTo>
                    <a:pt x="90" y="35"/>
                    <a:pt x="93" y="34"/>
                    <a:pt x="96" y="33"/>
                  </a:cubicBezTo>
                  <a:cubicBezTo>
                    <a:pt x="97" y="32"/>
                    <a:pt x="98" y="32"/>
                    <a:pt x="100" y="32"/>
                  </a:cubicBezTo>
                  <a:cubicBezTo>
                    <a:pt x="108" y="32"/>
                    <a:pt x="116" y="39"/>
                    <a:pt x="116" y="60"/>
                  </a:cubicBezTo>
                  <a:cubicBezTo>
                    <a:pt x="116" y="81"/>
                    <a:pt x="113" y="86"/>
                    <a:pt x="108" y="94"/>
                  </a:cubicBezTo>
                  <a:cubicBezTo>
                    <a:pt x="107" y="96"/>
                    <a:pt x="105" y="99"/>
                    <a:pt x="104" y="102"/>
                  </a:cubicBezTo>
                  <a:cubicBezTo>
                    <a:pt x="101" y="107"/>
                    <a:pt x="101" y="112"/>
                    <a:pt x="102" y="117"/>
                  </a:cubicBezTo>
                  <a:cubicBezTo>
                    <a:pt x="105" y="123"/>
                    <a:pt x="110" y="128"/>
                    <a:pt x="120" y="133"/>
                  </a:cubicBezTo>
                  <a:cubicBezTo>
                    <a:pt x="128" y="137"/>
                    <a:pt x="136" y="144"/>
                    <a:pt x="141" y="148"/>
                  </a:cubicBezTo>
                  <a:cubicBezTo>
                    <a:pt x="127" y="160"/>
                    <a:pt x="108" y="168"/>
                    <a:pt x="88" y="168"/>
                  </a:cubicBezTo>
                  <a:moveTo>
                    <a:pt x="146" y="143"/>
                  </a:moveTo>
                  <a:cubicBezTo>
                    <a:pt x="142" y="138"/>
                    <a:pt x="132" y="130"/>
                    <a:pt x="123" y="126"/>
                  </a:cubicBezTo>
                  <a:cubicBezTo>
                    <a:pt x="116" y="122"/>
                    <a:pt x="111" y="118"/>
                    <a:pt x="110" y="115"/>
                  </a:cubicBezTo>
                  <a:cubicBezTo>
                    <a:pt x="109" y="112"/>
                    <a:pt x="109" y="109"/>
                    <a:pt x="111" y="105"/>
                  </a:cubicBezTo>
                  <a:cubicBezTo>
                    <a:pt x="113" y="102"/>
                    <a:pt x="114" y="100"/>
                    <a:pt x="115" y="98"/>
                  </a:cubicBezTo>
                  <a:cubicBezTo>
                    <a:pt x="120" y="89"/>
                    <a:pt x="124" y="83"/>
                    <a:pt x="124" y="60"/>
                  </a:cubicBezTo>
                  <a:cubicBezTo>
                    <a:pt x="124" y="26"/>
                    <a:pt x="104" y="24"/>
                    <a:pt x="100" y="24"/>
                  </a:cubicBezTo>
                  <a:cubicBezTo>
                    <a:pt x="97" y="24"/>
                    <a:pt x="95" y="25"/>
                    <a:pt x="93" y="25"/>
                  </a:cubicBezTo>
                  <a:cubicBezTo>
                    <a:pt x="91" y="26"/>
                    <a:pt x="89" y="27"/>
                    <a:pt x="84" y="27"/>
                  </a:cubicBezTo>
                  <a:cubicBezTo>
                    <a:pt x="75" y="27"/>
                    <a:pt x="56" y="28"/>
                    <a:pt x="56" y="59"/>
                  </a:cubicBezTo>
                  <a:cubicBezTo>
                    <a:pt x="56" y="81"/>
                    <a:pt x="62" y="91"/>
                    <a:pt x="66" y="99"/>
                  </a:cubicBezTo>
                  <a:cubicBezTo>
                    <a:pt x="67" y="101"/>
                    <a:pt x="68" y="103"/>
                    <a:pt x="69" y="105"/>
                  </a:cubicBezTo>
                  <a:cubicBezTo>
                    <a:pt x="73" y="114"/>
                    <a:pt x="70" y="120"/>
                    <a:pt x="61" y="124"/>
                  </a:cubicBezTo>
                  <a:cubicBezTo>
                    <a:pt x="48" y="130"/>
                    <a:pt x="42" y="132"/>
                    <a:pt x="30" y="143"/>
                  </a:cubicBezTo>
                  <a:cubicBezTo>
                    <a:pt x="16" y="129"/>
                    <a:pt x="8" y="109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09"/>
                    <a:pt x="160" y="128"/>
                    <a:pt x="146" y="14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3" name="Freeform 152"/>
            <p:cNvSpPr>
              <a:spLocks noEditPoints="1"/>
            </p:cNvSpPr>
            <p:nvPr/>
          </p:nvSpPr>
          <p:spPr bwMode="auto">
            <a:xfrm>
              <a:off x="608526" y="399766"/>
              <a:ext cx="100747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8 w 176"/>
                <a:gd name="T13" fmla="*/ 151 h 176"/>
                <a:gd name="T14" fmla="*/ 64 w 176"/>
                <a:gd name="T15" fmla="*/ 133 h 176"/>
                <a:gd name="T16" fmla="*/ 74 w 176"/>
                <a:gd name="T17" fmla="*/ 124 h 176"/>
                <a:gd name="T18" fmla="*/ 71 w 176"/>
                <a:gd name="T19" fmla="*/ 116 h 176"/>
                <a:gd name="T20" fmla="*/ 67 w 176"/>
                <a:gd name="T21" fmla="*/ 115 h 176"/>
                <a:gd name="T22" fmla="*/ 50 w 176"/>
                <a:gd name="T23" fmla="*/ 112 h 176"/>
                <a:gd name="T24" fmla="*/ 56 w 176"/>
                <a:gd name="T25" fmla="*/ 72 h 176"/>
                <a:gd name="T26" fmla="*/ 90 w 176"/>
                <a:gd name="T27" fmla="*/ 32 h 176"/>
                <a:gd name="T28" fmla="*/ 120 w 176"/>
                <a:gd name="T29" fmla="*/ 74 h 176"/>
                <a:gd name="T30" fmla="*/ 126 w 176"/>
                <a:gd name="T31" fmla="*/ 111 h 176"/>
                <a:gd name="T32" fmla="*/ 107 w 176"/>
                <a:gd name="T33" fmla="*/ 114 h 176"/>
                <a:gd name="T34" fmla="*/ 103 w 176"/>
                <a:gd name="T35" fmla="*/ 116 h 176"/>
                <a:gd name="T36" fmla="*/ 111 w 176"/>
                <a:gd name="T37" fmla="*/ 132 h 176"/>
                <a:gd name="T38" fmla="*/ 137 w 176"/>
                <a:gd name="T39" fmla="*/ 151 h 176"/>
                <a:gd name="T40" fmla="*/ 88 w 176"/>
                <a:gd name="T41" fmla="*/ 168 h 176"/>
                <a:gd name="T42" fmla="*/ 143 w 176"/>
                <a:gd name="T43" fmla="*/ 146 h 176"/>
                <a:gd name="T44" fmla="*/ 115 w 176"/>
                <a:gd name="T45" fmla="*/ 125 h 176"/>
                <a:gd name="T46" fmla="*/ 111 w 176"/>
                <a:gd name="T47" fmla="*/ 122 h 176"/>
                <a:gd name="T48" fmla="*/ 135 w 176"/>
                <a:gd name="T49" fmla="*/ 116 h 176"/>
                <a:gd name="T50" fmla="*/ 137 w 176"/>
                <a:gd name="T51" fmla="*/ 112 h 176"/>
                <a:gd name="T52" fmla="*/ 135 w 176"/>
                <a:gd name="T53" fmla="*/ 109 h 176"/>
                <a:gd name="T54" fmla="*/ 128 w 176"/>
                <a:gd name="T55" fmla="*/ 74 h 176"/>
                <a:gd name="T56" fmla="*/ 90 w 176"/>
                <a:gd name="T57" fmla="*/ 24 h 176"/>
                <a:gd name="T58" fmla="*/ 48 w 176"/>
                <a:gd name="T59" fmla="*/ 72 h 176"/>
                <a:gd name="T60" fmla="*/ 42 w 176"/>
                <a:gd name="T61" fmla="*/ 109 h 176"/>
                <a:gd name="T62" fmla="*/ 39 w 176"/>
                <a:gd name="T63" fmla="*/ 112 h 176"/>
                <a:gd name="T64" fmla="*/ 41 w 176"/>
                <a:gd name="T65" fmla="*/ 116 h 176"/>
                <a:gd name="T66" fmla="*/ 66 w 176"/>
                <a:gd name="T67" fmla="*/ 123 h 176"/>
                <a:gd name="T68" fmla="*/ 62 w 176"/>
                <a:gd name="T69" fmla="*/ 125 h 176"/>
                <a:gd name="T70" fmla="*/ 32 w 176"/>
                <a:gd name="T71" fmla="*/ 145 h 176"/>
                <a:gd name="T72" fmla="*/ 8 w 176"/>
                <a:gd name="T73" fmla="*/ 88 h 176"/>
                <a:gd name="T74" fmla="*/ 88 w 176"/>
                <a:gd name="T75" fmla="*/ 8 h 176"/>
                <a:gd name="T76" fmla="*/ 168 w 176"/>
                <a:gd name="T77" fmla="*/ 88 h 176"/>
                <a:gd name="T78" fmla="*/ 143 w 176"/>
                <a:gd name="T79" fmla="*/ 14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9" y="168"/>
                    <a:pt x="52" y="161"/>
                    <a:pt x="38" y="151"/>
                  </a:cubicBezTo>
                  <a:cubicBezTo>
                    <a:pt x="44" y="143"/>
                    <a:pt x="55" y="136"/>
                    <a:pt x="64" y="133"/>
                  </a:cubicBezTo>
                  <a:cubicBezTo>
                    <a:pt x="70" y="131"/>
                    <a:pt x="73" y="128"/>
                    <a:pt x="74" y="124"/>
                  </a:cubicBezTo>
                  <a:cubicBezTo>
                    <a:pt x="75" y="119"/>
                    <a:pt x="72" y="116"/>
                    <a:pt x="71" y="116"/>
                  </a:cubicBezTo>
                  <a:cubicBezTo>
                    <a:pt x="70" y="115"/>
                    <a:pt x="69" y="114"/>
                    <a:pt x="67" y="115"/>
                  </a:cubicBezTo>
                  <a:cubicBezTo>
                    <a:pt x="67" y="115"/>
                    <a:pt x="60" y="117"/>
                    <a:pt x="50" y="112"/>
                  </a:cubicBezTo>
                  <a:cubicBezTo>
                    <a:pt x="53" y="106"/>
                    <a:pt x="56" y="95"/>
                    <a:pt x="56" y="72"/>
                  </a:cubicBezTo>
                  <a:cubicBezTo>
                    <a:pt x="56" y="35"/>
                    <a:pt x="72" y="32"/>
                    <a:pt x="90" y="32"/>
                  </a:cubicBezTo>
                  <a:cubicBezTo>
                    <a:pt x="103" y="32"/>
                    <a:pt x="120" y="36"/>
                    <a:pt x="120" y="74"/>
                  </a:cubicBezTo>
                  <a:cubicBezTo>
                    <a:pt x="120" y="95"/>
                    <a:pt x="123" y="106"/>
                    <a:pt x="126" y="111"/>
                  </a:cubicBezTo>
                  <a:cubicBezTo>
                    <a:pt x="122" y="113"/>
                    <a:pt x="115" y="115"/>
                    <a:pt x="107" y="114"/>
                  </a:cubicBezTo>
                  <a:cubicBezTo>
                    <a:pt x="105" y="114"/>
                    <a:pt x="103" y="115"/>
                    <a:pt x="103" y="116"/>
                  </a:cubicBezTo>
                  <a:cubicBezTo>
                    <a:pt x="101" y="120"/>
                    <a:pt x="101" y="128"/>
                    <a:pt x="111" y="132"/>
                  </a:cubicBezTo>
                  <a:cubicBezTo>
                    <a:pt x="120" y="136"/>
                    <a:pt x="129" y="141"/>
                    <a:pt x="137" y="151"/>
                  </a:cubicBezTo>
                  <a:cubicBezTo>
                    <a:pt x="124" y="162"/>
                    <a:pt x="107" y="168"/>
                    <a:pt x="88" y="168"/>
                  </a:cubicBezTo>
                  <a:moveTo>
                    <a:pt x="143" y="146"/>
                  </a:moveTo>
                  <a:cubicBezTo>
                    <a:pt x="135" y="135"/>
                    <a:pt x="124" y="129"/>
                    <a:pt x="115" y="125"/>
                  </a:cubicBezTo>
                  <a:cubicBezTo>
                    <a:pt x="113" y="124"/>
                    <a:pt x="112" y="123"/>
                    <a:pt x="111" y="122"/>
                  </a:cubicBezTo>
                  <a:cubicBezTo>
                    <a:pt x="124" y="122"/>
                    <a:pt x="135" y="116"/>
                    <a:pt x="135" y="116"/>
                  </a:cubicBezTo>
                  <a:cubicBezTo>
                    <a:pt x="136" y="115"/>
                    <a:pt x="137" y="113"/>
                    <a:pt x="137" y="112"/>
                  </a:cubicBezTo>
                  <a:cubicBezTo>
                    <a:pt x="137" y="110"/>
                    <a:pt x="136" y="109"/>
                    <a:pt x="135" y="109"/>
                  </a:cubicBezTo>
                  <a:cubicBezTo>
                    <a:pt x="134" y="108"/>
                    <a:pt x="128" y="103"/>
                    <a:pt x="128" y="74"/>
                  </a:cubicBezTo>
                  <a:cubicBezTo>
                    <a:pt x="128" y="41"/>
                    <a:pt x="115" y="24"/>
                    <a:pt x="90" y="24"/>
                  </a:cubicBezTo>
                  <a:cubicBezTo>
                    <a:pt x="69" y="24"/>
                    <a:pt x="48" y="30"/>
                    <a:pt x="48" y="72"/>
                  </a:cubicBezTo>
                  <a:cubicBezTo>
                    <a:pt x="48" y="102"/>
                    <a:pt x="43" y="108"/>
                    <a:pt x="42" y="109"/>
                  </a:cubicBezTo>
                  <a:cubicBezTo>
                    <a:pt x="40" y="109"/>
                    <a:pt x="39" y="110"/>
                    <a:pt x="39" y="112"/>
                  </a:cubicBezTo>
                  <a:cubicBezTo>
                    <a:pt x="39" y="114"/>
                    <a:pt x="39" y="115"/>
                    <a:pt x="41" y="116"/>
                  </a:cubicBezTo>
                  <a:cubicBezTo>
                    <a:pt x="52" y="123"/>
                    <a:pt x="61" y="123"/>
                    <a:pt x="66" y="123"/>
                  </a:cubicBezTo>
                  <a:cubicBezTo>
                    <a:pt x="65" y="123"/>
                    <a:pt x="64" y="124"/>
                    <a:pt x="62" y="125"/>
                  </a:cubicBezTo>
                  <a:cubicBezTo>
                    <a:pt x="51" y="129"/>
                    <a:pt x="39" y="137"/>
                    <a:pt x="32" y="145"/>
                  </a:cubicBezTo>
                  <a:cubicBezTo>
                    <a:pt x="17" y="131"/>
                    <a:pt x="8" y="110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11"/>
                    <a:pt x="159" y="131"/>
                    <a:pt x="143" y="14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Freeform 153"/>
            <p:cNvSpPr>
              <a:spLocks noEditPoints="1"/>
            </p:cNvSpPr>
            <p:nvPr/>
          </p:nvSpPr>
          <p:spPr bwMode="auto">
            <a:xfrm>
              <a:off x="1519359" y="3906624"/>
              <a:ext cx="1002610" cy="910140"/>
            </a:xfrm>
            <a:custGeom>
              <a:avLst/>
              <a:gdLst>
                <a:gd name="T0" fmla="*/ 132 w 176"/>
                <a:gd name="T1" fmla="*/ 98 h 160"/>
                <a:gd name="T2" fmla="*/ 143 w 176"/>
                <a:gd name="T3" fmla="*/ 60 h 160"/>
                <a:gd name="T4" fmla="*/ 131 w 176"/>
                <a:gd name="T5" fmla="*/ 11 h 160"/>
                <a:gd name="T6" fmla="*/ 104 w 176"/>
                <a:gd name="T7" fmla="*/ 11 h 160"/>
                <a:gd name="T8" fmla="*/ 107 w 176"/>
                <a:gd name="T9" fmla="*/ 18 h 160"/>
                <a:gd name="T10" fmla="*/ 127 w 176"/>
                <a:gd name="T11" fmla="*/ 18 h 160"/>
                <a:gd name="T12" fmla="*/ 137 w 176"/>
                <a:gd name="T13" fmla="*/ 55 h 160"/>
                <a:gd name="T14" fmla="*/ 136 w 176"/>
                <a:gd name="T15" fmla="*/ 72 h 160"/>
                <a:gd name="T16" fmla="*/ 134 w 176"/>
                <a:gd name="T17" fmla="*/ 74 h 160"/>
                <a:gd name="T18" fmla="*/ 145 w 176"/>
                <a:gd name="T19" fmla="*/ 125 h 160"/>
                <a:gd name="T20" fmla="*/ 142 w 176"/>
                <a:gd name="T21" fmla="*/ 144 h 160"/>
                <a:gd name="T22" fmla="*/ 172 w 176"/>
                <a:gd name="T23" fmla="*/ 152 h 160"/>
                <a:gd name="T24" fmla="*/ 147 w 176"/>
                <a:gd name="T25" fmla="*/ 117 h 160"/>
                <a:gd name="T26" fmla="*/ 88 w 176"/>
                <a:gd name="T27" fmla="*/ 101 h 160"/>
                <a:gd name="T28" fmla="*/ 99 w 176"/>
                <a:gd name="T29" fmla="*/ 58 h 160"/>
                <a:gd name="T30" fmla="*/ 86 w 176"/>
                <a:gd name="T31" fmla="*/ 3 h 160"/>
                <a:gd name="T32" fmla="*/ 55 w 176"/>
                <a:gd name="T33" fmla="*/ 5 h 160"/>
                <a:gd name="T34" fmla="*/ 37 w 176"/>
                <a:gd name="T35" fmla="*/ 57 h 160"/>
                <a:gd name="T36" fmla="*/ 48 w 176"/>
                <a:gd name="T37" fmla="*/ 101 h 160"/>
                <a:gd name="T38" fmla="*/ 0 w 176"/>
                <a:gd name="T39" fmla="*/ 156 h 160"/>
                <a:gd name="T40" fmla="*/ 132 w 176"/>
                <a:gd name="T41" fmla="*/ 160 h 160"/>
                <a:gd name="T42" fmla="*/ 104 w 176"/>
                <a:gd name="T43" fmla="*/ 121 h 160"/>
                <a:gd name="T44" fmla="*/ 34 w 176"/>
                <a:gd name="T45" fmla="*/ 129 h 160"/>
                <a:gd name="T46" fmla="*/ 46 w 176"/>
                <a:gd name="T47" fmla="*/ 74 h 160"/>
                <a:gd name="T48" fmla="*/ 45 w 176"/>
                <a:gd name="T49" fmla="*/ 72 h 160"/>
                <a:gd name="T50" fmla="*/ 45 w 176"/>
                <a:gd name="T51" fmla="*/ 54 h 160"/>
                <a:gd name="T52" fmla="*/ 58 w 176"/>
                <a:gd name="T53" fmla="*/ 12 h 160"/>
                <a:gd name="T54" fmla="*/ 74 w 176"/>
                <a:gd name="T55" fmla="*/ 8 h 160"/>
                <a:gd name="T56" fmla="*/ 92 w 176"/>
                <a:gd name="T57" fmla="*/ 24 h 160"/>
                <a:gd name="T58" fmla="*/ 91 w 176"/>
                <a:gd name="T59" fmla="*/ 60 h 160"/>
                <a:gd name="T60" fmla="*/ 91 w 176"/>
                <a:gd name="T61" fmla="*/ 72 h 160"/>
                <a:gd name="T62" fmla="*/ 80 w 176"/>
                <a:gd name="T63" fmla="*/ 101 h 160"/>
                <a:gd name="T64" fmla="*/ 128 w 176"/>
                <a:gd name="T65" fmla="*/ 15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6" h="160">
                  <a:moveTo>
                    <a:pt x="147" y="117"/>
                  </a:moveTo>
                  <a:cubicBezTo>
                    <a:pt x="147" y="117"/>
                    <a:pt x="132" y="113"/>
                    <a:pt x="132" y="98"/>
                  </a:cubicBezTo>
                  <a:cubicBezTo>
                    <a:pt x="132" y="85"/>
                    <a:pt x="139" y="81"/>
                    <a:pt x="142" y="77"/>
                  </a:cubicBezTo>
                  <a:cubicBezTo>
                    <a:pt x="142" y="77"/>
                    <a:pt x="146" y="73"/>
                    <a:pt x="143" y="60"/>
                  </a:cubicBezTo>
                  <a:cubicBezTo>
                    <a:pt x="149" y="53"/>
                    <a:pt x="150" y="40"/>
                    <a:pt x="144" y="27"/>
                  </a:cubicBezTo>
                  <a:cubicBezTo>
                    <a:pt x="140" y="18"/>
                    <a:pt x="136" y="13"/>
                    <a:pt x="131" y="11"/>
                  </a:cubicBezTo>
                  <a:cubicBezTo>
                    <a:pt x="127" y="9"/>
                    <a:pt x="123" y="8"/>
                    <a:pt x="119" y="8"/>
                  </a:cubicBezTo>
                  <a:cubicBezTo>
                    <a:pt x="113" y="8"/>
                    <a:pt x="107" y="10"/>
                    <a:pt x="104" y="11"/>
                  </a:cubicBezTo>
                  <a:cubicBezTo>
                    <a:pt x="105" y="13"/>
                    <a:pt x="106" y="15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9" y="17"/>
                    <a:pt x="114" y="16"/>
                    <a:pt x="119" y="16"/>
                  </a:cubicBezTo>
                  <a:cubicBezTo>
                    <a:pt x="122" y="16"/>
                    <a:pt x="125" y="17"/>
                    <a:pt x="127" y="18"/>
                  </a:cubicBezTo>
                  <a:cubicBezTo>
                    <a:pt x="129" y="19"/>
                    <a:pt x="133" y="22"/>
                    <a:pt x="137" y="30"/>
                  </a:cubicBezTo>
                  <a:cubicBezTo>
                    <a:pt x="142" y="41"/>
                    <a:pt x="140" y="51"/>
                    <a:pt x="137" y="55"/>
                  </a:cubicBezTo>
                  <a:cubicBezTo>
                    <a:pt x="135" y="57"/>
                    <a:pt x="135" y="60"/>
                    <a:pt x="135" y="62"/>
                  </a:cubicBezTo>
                  <a:cubicBezTo>
                    <a:pt x="137" y="69"/>
                    <a:pt x="136" y="71"/>
                    <a:pt x="136" y="72"/>
                  </a:cubicBezTo>
                  <a:cubicBezTo>
                    <a:pt x="136" y="72"/>
                    <a:pt x="135" y="72"/>
                    <a:pt x="135" y="73"/>
                  </a:cubicBezTo>
                  <a:cubicBezTo>
                    <a:pt x="135" y="73"/>
                    <a:pt x="134" y="74"/>
                    <a:pt x="134" y="74"/>
                  </a:cubicBezTo>
                  <a:cubicBezTo>
                    <a:pt x="131" y="78"/>
                    <a:pt x="124" y="85"/>
                    <a:pt x="124" y="98"/>
                  </a:cubicBezTo>
                  <a:cubicBezTo>
                    <a:pt x="124" y="115"/>
                    <a:pt x="137" y="123"/>
                    <a:pt x="145" y="125"/>
                  </a:cubicBezTo>
                  <a:cubicBezTo>
                    <a:pt x="155" y="128"/>
                    <a:pt x="166" y="133"/>
                    <a:pt x="168" y="144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3" y="146"/>
                    <a:pt x="144" y="149"/>
                    <a:pt x="144" y="152"/>
                  </a:cubicBezTo>
                  <a:cubicBezTo>
                    <a:pt x="172" y="152"/>
                    <a:pt x="172" y="152"/>
                    <a:pt x="172" y="152"/>
                  </a:cubicBezTo>
                  <a:cubicBezTo>
                    <a:pt x="176" y="152"/>
                    <a:pt x="176" y="148"/>
                    <a:pt x="176" y="148"/>
                  </a:cubicBezTo>
                  <a:cubicBezTo>
                    <a:pt x="176" y="127"/>
                    <a:pt x="156" y="120"/>
                    <a:pt x="147" y="117"/>
                  </a:cubicBezTo>
                  <a:moveTo>
                    <a:pt x="104" y="121"/>
                  </a:moveTo>
                  <a:cubicBezTo>
                    <a:pt x="104" y="121"/>
                    <a:pt x="88" y="117"/>
                    <a:pt x="88" y="101"/>
                  </a:cubicBezTo>
                  <a:cubicBezTo>
                    <a:pt x="88" y="86"/>
                    <a:pt x="95" y="81"/>
                    <a:pt x="97" y="77"/>
                  </a:cubicBezTo>
                  <a:cubicBezTo>
                    <a:pt x="97" y="77"/>
                    <a:pt x="102" y="73"/>
                    <a:pt x="99" y="58"/>
                  </a:cubicBezTo>
                  <a:cubicBezTo>
                    <a:pt x="105" y="50"/>
                    <a:pt x="106" y="36"/>
                    <a:pt x="100" y="21"/>
                  </a:cubicBezTo>
                  <a:cubicBezTo>
                    <a:pt x="95" y="11"/>
                    <a:pt x="92" y="6"/>
                    <a:pt x="86" y="3"/>
                  </a:cubicBezTo>
                  <a:cubicBezTo>
                    <a:pt x="82" y="1"/>
                    <a:pt x="78" y="0"/>
                    <a:pt x="74" y="0"/>
                  </a:cubicBezTo>
                  <a:cubicBezTo>
                    <a:pt x="65" y="0"/>
                    <a:pt x="58" y="3"/>
                    <a:pt x="55" y="5"/>
                  </a:cubicBezTo>
                  <a:cubicBezTo>
                    <a:pt x="45" y="9"/>
                    <a:pt x="39" y="12"/>
                    <a:pt x="34" y="26"/>
                  </a:cubicBezTo>
                  <a:cubicBezTo>
                    <a:pt x="29" y="38"/>
                    <a:pt x="35" y="51"/>
                    <a:pt x="37" y="57"/>
                  </a:cubicBezTo>
                  <a:cubicBezTo>
                    <a:pt x="34" y="72"/>
                    <a:pt x="39" y="77"/>
                    <a:pt x="39" y="77"/>
                  </a:cubicBezTo>
                  <a:cubicBezTo>
                    <a:pt x="41" y="81"/>
                    <a:pt x="48" y="86"/>
                    <a:pt x="48" y="101"/>
                  </a:cubicBezTo>
                  <a:cubicBezTo>
                    <a:pt x="48" y="117"/>
                    <a:pt x="32" y="121"/>
                    <a:pt x="32" y="121"/>
                  </a:cubicBezTo>
                  <a:cubicBezTo>
                    <a:pt x="22" y="125"/>
                    <a:pt x="0" y="132"/>
                    <a:pt x="0" y="156"/>
                  </a:cubicBezTo>
                  <a:cubicBezTo>
                    <a:pt x="0" y="156"/>
                    <a:pt x="0" y="160"/>
                    <a:pt x="4" y="160"/>
                  </a:cubicBezTo>
                  <a:cubicBezTo>
                    <a:pt x="132" y="160"/>
                    <a:pt x="132" y="160"/>
                    <a:pt x="132" y="160"/>
                  </a:cubicBezTo>
                  <a:cubicBezTo>
                    <a:pt x="136" y="160"/>
                    <a:pt x="136" y="156"/>
                    <a:pt x="136" y="156"/>
                  </a:cubicBezTo>
                  <a:cubicBezTo>
                    <a:pt x="136" y="132"/>
                    <a:pt x="114" y="125"/>
                    <a:pt x="104" y="121"/>
                  </a:cubicBezTo>
                  <a:moveTo>
                    <a:pt x="8" y="152"/>
                  </a:moveTo>
                  <a:cubicBezTo>
                    <a:pt x="10" y="138"/>
                    <a:pt x="22" y="133"/>
                    <a:pt x="34" y="129"/>
                  </a:cubicBezTo>
                  <a:cubicBezTo>
                    <a:pt x="42" y="127"/>
                    <a:pt x="56" y="118"/>
                    <a:pt x="56" y="101"/>
                  </a:cubicBezTo>
                  <a:cubicBezTo>
                    <a:pt x="56" y="85"/>
                    <a:pt x="50" y="78"/>
                    <a:pt x="46" y="74"/>
                  </a:cubicBezTo>
                  <a:cubicBezTo>
                    <a:pt x="46" y="73"/>
                    <a:pt x="46" y="73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3" y="68"/>
                    <a:pt x="45" y="59"/>
                  </a:cubicBezTo>
                  <a:cubicBezTo>
                    <a:pt x="46" y="58"/>
                    <a:pt x="45" y="56"/>
                    <a:pt x="45" y="54"/>
                  </a:cubicBezTo>
                  <a:cubicBezTo>
                    <a:pt x="43" y="50"/>
                    <a:pt x="38" y="38"/>
                    <a:pt x="41" y="30"/>
                  </a:cubicBezTo>
                  <a:cubicBezTo>
                    <a:pt x="46" y="18"/>
                    <a:pt x="50" y="16"/>
                    <a:pt x="58" y="12"/>
                  </a:cubicBezTo>
                  <a:cubicBezTo>
                    <a:pt x="58" y="12"/>
                    <a:pt x="58" y="12"/>
                    <a:pt x="59" y="12"/>
                  </a:cubicBezTo>
                  <a:cubicBezTo>
                    <a:pt x="61" y="10"/>
                    <a:pt x="67" y="8"/>
                    <a:pt x="74" y="8"/>
                  </a:cubicBezTo>
                  <a:cubicBezTo>
                    <a:pt x="77" y="8"/>
                    <a:pt x="80" y="9"/>
                    <a:pt x="83" y="10"/>
                  </a:cubicBezTo>
                  <a:cubicBezTo>
                    <a:pt x="85" y="12"/>
                    <a:pt x="88" y="15"/>
                    <a:pt x="92" y="24"/>
                  </a:cubicBezTo>
                  <a:cubicBezTo>
                    <a:pt x="98" y="37"/>
                    <a:pt x="96" y="48"/>
                    <a:pt x="92" y="53"/>
                  </a:cubicBezTo>
                  <a:cubicBezTo>
                    <a:pt x="91" y="55"/>
                    <a:pt x="91" y="58"/>
                    <a:pt x="91" y="60"/>
                  </a:cubicBezTo>
                  <a:cubicBezTo>
                    <a:pt x="93" y="68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0" y="73"/>
                    <a:pt x="90" y="73"/>
                    <a:pt x="90" y="74"/>
                  </a:cubicBezTo>
                  <a:cubicBezTo>
                    <a:pt x="86" y="78"/>
                    <a:pt x="80" y="85"/>
                    <a:pt x="80" y="101"/>
                  </a:cubicBezTo>
                  <a:cubicBezTo>
                    <a:pt x="80" y="118"/>
                    <a:pt x="94" y="127"/>
                    <a:pt x="102" y="129"/>
                  </a:cubicBezTo>
                  <a:cubicBezTo>
                    <a:pt x="113" y="133"/>
                    <a:pt x="126" y="138"/>
                    <a:pt x="128" y="152"/>
                  </a:cubicBezTo>
                  <a:lnTo>
                    <a:pt x="8" y="1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Freeform 154"/>
            <p:cNvSpPr>
              <a:spLocks noEditPoints="1"/>
            </p:cNvSpPr>
            <p:nvPr/>
          </p:nvSpPr>
          <p:spPr bwMode="auto">
            <a:xfrm>
              <a:off x="6918672" y="207220"/>
              <a:ext cx="1002608" cy="822532"/>
            </a:xfrm>
            <a:custGeom>
              <a:avLst/>
              <a:gdLst>
                <a:gd name="T0" fmla="*/ 34 w 176"/>
                <a:gd name="T1" fmla="*/ 86 h 144"/>
                <a:gd name="T2" fmla="*/ 28 w 176"/>
                <a:gd name="T3" fmla="*/ 65 h 144"/>
                <a:gd name="T4" fmla="*/ 28 w 176"/>
                <a:gd name="T5" fmla="*/ 58 h 144"/>
                <a:gd name="T6" fmla="*/ 25 w 176"/>
                <a:gd name="T7" fmla="*/ 38 h 144"/>
                <a:gd name="T8" fmla="*/ 35 w 176"/>
                <a:gd name="T9" fmla="*/ 26 h 144"/>
                <a:gd name="T10" fmla="*/ 49 w 176"/>
                <a:gd name="T11" fmla="*/ 25 h 144"/>
                <a:gd name="T12" fmla="*/ 52 w 176"/>
                <a:gd name="T13" fmla="*/ 18 h 144"/>
                <a:gd name="T14" fmla="*/ 30 w 176"/>
                <a:gd name="T15" fmla="*/ 19 h 144"/>
                <a:gd name="T16" fmla="*/ 20 w 176"/>
                <a:gd name="T17" fmla="*/ 56 h 144"/>
                <a:gd name="T18" fmla="*/ 26 w 176"/>
                <a:gd name="T19" fmla="*/ 86 h 144"/>
                <a:gd name="T20" fmla="*/ 0 w 176"/>
                <a:gd name="T21" fmla="*/ 124 h 144"/>
                <a:gd name="T22" fmla="*/ 22 w 176"/>
                <a:gd name="T23" fmla="*/ 128 h 144"/>
                <a:gd name="T24" fmla="*/ 8 w 176"/>
                <a:gd name="T25" fmla="*/ 120 h 144"/>
                <a:gd name="T26" fmla="*/ 159 w 176"/>
                <a:gd name="T27" fmla="*/ 100 h 144"/>
                <a:gd name="T28" fmla="*/ 155 w 176"/>
                <a:gd name="T29" fmla="*/ 70 h 144"/>
                <a:gd name="T30" fmla="*/ 159 w 176"/>
                <a:gd name="T31" fmla="*/ 35 h 144"/>
                <a:gd name="T32" fmla="*/ 132 w 176"/>
                <a:gd name="T33" fmla="*/ 16 h 144"/>
                <a:gd name="T34" fmla="*/ 126 w 176"/>
                <a:gd name="T35" fmla="*/ 25 h 144"/>
                <a:gd name="T36" fmla="*/ 132 w 176"/>
                <a:gd name="T37" fmla="*/ 24 h 144"/>
                <a:gd name="T38" fmla="*/ 142 w 176"/>
                <a:gd name="T39" fmla="*/ 27 h 144"/>
                <a:gd name="T40" fmla="*/ 149 w 176"/>
                <a:gd name="T41" fmla="*/ 53 h 144"/>
                <a:gd name="T42" fmla="*/ 149 w 176"/>
                <a:gd name="T43" fmla="*/ 65 h 144"/>
                <a:gd name="T44" fmla="*/ 148 w 176"/>
                <a:gd name="T45" fmla="*/ 66 h 144"/>
                <a:gd name="T46" fmla="*/ 157 w 176"/>
                <a:gd name="T47" fmla="*/ 108 h 144"/>
                <a:gd name="T48" fmla="*/ 150 w 176"/>
                <a:gd name="T49" fmla="*/ 120 h 144"/>
                <a:gd name="T50" fmla="*/ 172 w 176"/>
                <a:gd name="T51" fmla="*/ 128 h 144"/>
                <a:gd name="T52" fmla="*/ 159 w 176"/>
                <a:gd name="T53" fmla="*/ 100 h 144"/>
                <a:gd name="T54" fmla="*/ 106 w 176"/>
                <a:gd name="T55" fmla="*/ 90 h 144"/>
                <a:gd name="T56" fmla="*/ 115 w 176"/>
                <a:gd name="T57" fmla="*/ 52 h 144"/>
                <a:gd name="T58" fmla="*/ 104 w 176"/>
                <a:gd name="T59" fmla="*/ 3 h 144"/>
                <a:gd name="T60" fmla="*/ 76 w 176"/>
                <a:gd name="T61" fmla="*/ 4 h 144"/>
                <a:gd name="T62" fmla="*/ 61 w 176"/>
                <a:gd name="T63" fmla="*/ 52 h 144"/>
                <a:gd name="T64" fmla="*/ 70 w 176"/>
                <a:gd name="T65" fmla="*/ 90 h 144"/>
                <a:gd name="T66" fmla="*/ 28 w 176"/>
                <a:gd name="T67" fmla="*/ 140 h 144"/>
                <a:gd name="T68" fmla="*/ 144 w 176"/>
                <a:gd name="T69" fmla="*/ 144 h 144"/>
                <a:gd name="T70" fmla="*/ 120 w 176"/>
                <a:gd name="T71" fmla="*/ 109 h 144"/>
                <a:gd name="T72" fmla="*/ 58 w 176"/>
                <a:gd name="T73" fmla="*/ 117 h 144"/>
                <a:gd name="T74" fmla="*/ 78 w 176"/>
                <a:gd name="T75" fmla="*/ 90 h 144"/>
                <a:gd name="T76" fmla="*/ 69 w 176"/>
                <a:gd name="T77" fmla="*/ 65 h 144"/>
                <a:gd name="T78" fmla="*/ 68 w 176"/>
                <a:gd name="T79" fmla="*/ 48 h 144"/>
                <a:gd name="T80" fmla="*/ 79 w 176"/>
                <a:gd name="T81" fmla="*/ 12 h 144"/>
                <a:gd name="T82" fmla="*/ 93 w 176"/>
                <a:gd name="T83" fmla="*/ 8 h 144"/>
                <a:gd name="T84" fmla="*/ 108 w 176"/>
                <a:gd name="T85" fmla="*/ 22 h 144"/>
                <a:gd name="T86" fmla="*/ 107 w 176"/>
                <a:gd name="T87" fmla="*/ 54 h 144"/>
                <a:gd name="T88" fmla="*/ 106 w 176"/>
                <a:gd name="T89" fmla="*/ 66 h 144"/>
                <a:gd name="T90" fmla="*/ 118 w 176"/>
                <a:gd name="T91" fmla="*/ 117 h 144"/>
                <a:gd name="T92" fmla="*/ 140 w 176"/>
                <a:gd name="T93" fmla="*/ 13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6" h="144">
                  <a:moveTo>
                    <a:pt x="19" y="108"/>
                  </a:moveTo>
                  <a:cubicBezTo>
                    <a:pt x="25" y="106"/>
                    <a:pt x="34" y="100"/>
                    <a:pt x="34" y="86"/>
                  </a:cubicBezTo>
                  <a:cubicBezTo>
                    <a:pt x="34" y="74"/>
                    <a:pt x="30" y="69"/>
                    <a:pt x="28" y="66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7" y="65"/>
                    <a:pt x="27" y="63"/>
                    <a:pt x="28" y="58"/>
                  </a:cubicBezTo>
                  <a:cubicBezTo>
                    <a:pt x="28" y="56"/>
                    <a:pt x="28" y="54"/>
                    <a:pt x="27" y="53"/>
                  </a:cubicBezTo>
                  <a:cubicBezTo>
                    <a:pt x="26" y="49"/>
                    <a:pt x="23" y="43"/>
                    <a:pt x="25" y="38"/>
                  </a:cubicBezTo>
                  <a:cubicBezTo>
                    <a:pt x="28" y="29"/>
                    <a:pt x="30" y="28"/>
                    <a:pt x="34" y="27"/>
                  </a:cubicBezTo>
                  <a:cubicBezTo>
                    <a:pt x="34" y="27"/>
                    <a:pt x="34" y="26"/>
                    <a:pt x="35" y="26"/>
                  </a:cubicBezTo>
                  <a:cubicBezTo>
                    <a:pt x="36" y="25"/>
                    <a:pt x="40" y="24"/>
                    <a:pt x="44" y="24"/>
                  </a:cubicBezTo>
                  <a:cubicBezTo>
                    <a:pt x="46" y="24"/>
                    <a:pt x="48" y="24"/>
                    <a:pt x="49" y="25"/>
                  </a:cubicBezTo>
                  <a:cubicBezTo>
                    <a:pt x="49" y="24"/>
                    <a:pt x="50" y="22"/>
                    <a:pt x="50" y="21"/>
                  </a:cubicBezTo>
                  <a:cubicBezTo>
                    <a:pt x="51" y="20"/>
                    <a:pt x="51" y="19"/>
                    <a:pt x="52" y="18"/>
                  </a:cubicBezTo>
                  <a:cubicBezTo>
                    <a:pt x="49" y="16"/>
                    <a:pt x="47" y="16"/>
                    <a:pt x="44" y="16"/>
                  </a:cubicBezTo>
                  <a:cubicBezTo>
                    <a:pt x="38" y="16"/>
                    <a:pt x="33" y="18"/>
                    <a:pt x="30" y="19"/>
                  </a:cubicBezTo>
                  <a:cubicBezTo>
                    <a:pt x="24" y="22"/>
                    <a:pt x="21" y="25"/>
                    <a:pt x="17" y="35"/>
                  </a:cubicBezTo>
                  <a:cubicBezTo>
                    <a:pt x="14" y="43"/>
                    <a:pt x="18" y="52"/>
                    <a:pt x="20" y="56"/>
                  </a:cubicBezTo>
                  <a:cubicBezTo>
                    <a:pt x="18" y="66"/>
                    <a:pt x="21" y="70"/>
                    <a:pt x="21" y="70"/>
                  </a:cubicBezTo>
                  <a:cubicBezTo>
                    <a:pt x="23" y="73"/>
                    <a:pt x="26" y="76"/>
                    <a:pt x="26" y="86"/>
                  </a:cubicBezTo>
                  <a:cubicBezTo>
                    <a:pt x="26" y="98"/>
                    <a:pt x="17" y="100"/>
                    <a:pt x="17" y="100"/>
                  </a:cubicBezTo>
                  <a:cubicBezTo>
                    <a:pt x="10" y="103"/>
                    <a:pt x="0" y="108"/>
                    <a:pt x="0" y="124"/>
                  </a:cubicBezTo>
                  <a:cubicBezTo>
                    <a:pt x="0" y="124"/>
                    <a:pt x="0" y="128"/>
                    <a:pt x="4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3" y="125"/>
                    <a:pt x="24" y="122"/>
                    <a:pt x="26" y="120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9" y="112"/>
                    <a:pt x="14" y="110"/>
                    <a:pt x="19" y="108"/>
                  </a:cubicBezTo>
                  <a:moveTo>
                    <a:pt x="159" y="100"/>
                  </a:moveTo>
                  <a:cubicBezTo>
                    <a:pt x="159" y="100"/>
                    <a:pt x="150" y="98"/>
                    <a:pt x="150" y="86"/>
                  </a:cubicBezTo>
                  <a:cubicBezTo>
                    <a:pt x="150" y="76"/>
                    <a:pt x="153" y="73"/>
                    <a:pt x="155" y="70"/>
                  </a:cubicBezTo>
                  <a:cubicBezTo>
                    <a:pt x="155" y="70"/>
                    <a:pt x="158" y="66"/>
                    <a:pt x="156" y="56"/>
                  </a:cubicBezTo>
                  <a:cubicBezTo>
                    <a:pt x="158" y="52"/>
                    <a:pt x="162" y="43"/>
                    <a:pt x="159" y="35"/>
                  </a:cubicBezTo>
                  <a:cubicBezTo>
                    <a:pt x="155" y="25"/>
                    <a:pt x="152" y="22"/>
                    <a:pt x="146" y="19"/>
                  </a:cubicBezTo>
                  <a:cubicBezTo>
                    <a:pt x="143" y="18"/>
                    <a:pt x="138" y="16"/>
                    <a:pt x="132" y="16"/>
                  </a:cubicBezTo>
                  <a:cubicBezTo>
                    <a:pt x="129" y="16"/>
                    <a:pt x="127" y="16"/>
                    <a:pt x="124" y="18"/>
                  </a:cubicBezTo>
                  <a:cubicBezTo>
                    <a:pt x="125" y="20"/>
                    <a:pt x="126" y="23"/>
                    <a:pt x="126" y="25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8" y="24"/>
                    <a:pt x="130" y="24"/>
                    <a:pt x="132" y="24"/>
                  </a:cubicBezTo>
                  <a:cubicBezTo>
                    <a:pt x="136" y="24"/>
                    <a:pt x="140" y="25"/>
                    <a:pt x="141" y="26"/>
                  </a:cubicBezTo>
                  <a:cubicBezTo>
                    <a:pt x="142" y="26"/>
                    <a:pt x="142" y="27"/>
                    <a:pt x="142" y="27"/>
                  </a:cubicBezTo>
                  <a:cubicBezTo>
                    <a:pt x="146" y="28"/>
                    <a:pt x="148" y="29"/>
                    <a:pt x="151" y="38"/>
                  </a:cubicBezTo>
                  <a:cubicBezTo>
                    <a:pt x="153" y="43"/>
                    <a:pt x="150" y="49"/>
                    <a:pt x="149" y="53"/>
                  </a:cubicBezTo>
                  <a:cubicBezTo>
                    <a:pt x="148" y="54"/>
                    <a:pt x="148" y="56"/>
                    <a:pt x="148" y="58"/>
                  </a:cubicBezTo>
                  <a:cubicBezTo>
                    <a:pt x="149" y="63"/>
                    <a:pt x="149" y="65"/>
                    <a:pt x="149" y="65"/>
                  </a:cubicBezTo>
                  <a:cubicBezTo>
                    <a:pt x="149" y="65"/>
                    <a:pt x="149" y="65"/>
                    <a:pt x="148" y="65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46" y="69"/>
                    <a:pt x="142" y="74"/>
                    <a:pt x="142" y="86"/>
                  </a:cubicBezTo>
                  <a:cubicBezTo>
                    <a:pt x="142" y="100"/>
                    <a:pt x="151" y="106"/>
                    <a:pt x="157" y="108"/>
                  </a:cubicBezTo>
                  <a:cubicBezTo>
                    <a:pt x="162" y="110"/>
                    <a:pt x="167" y="112"/>
                    <a:pt x="168" y="120"/>
                  </a:cubicBezTo>
                  <a:cubicBezTo>
                    <a:pt x="150" y="120"/>
                    <a:pt x="150" y="120"/>
                    <a:pt x="150" y="120"/>
                  </a:cubicBezTo>
                  <a:cubicBezTo>
                    <a:pt x="152" y="122"/>
                    <a:pt x="153" y="125"/>
                    <a:pt x="154" y="128"/>
                  </a:cubicBezTo>
                  <a:cubicBezTo>
                    <a:pt x="172" y="128"/>
                    <a:pt x="172" y="128"/>
                    <a:pt x="172" y="128"/>
                  </a:cubicBezTo>
                  <a:cubicBezTo>
                    <a:pt x="176" y="128"/>
                    <a:pt x="176" y="124"/>
                    <a:pt x="176" y="124"/>
                  </a:cubicBezTo>
                  <a:cubicBezTo>
                    <a:pt x="176" y="108"/>
                    <a:pt x="166" y="103"/>
                    <a:pt x="159" y="100"/>
                  </a:cubicBezTo>
                  <a:moveTo>
                    <a:pt x="120" y="109"/>
                  </a:moveTo>
                  <a:cubicBezTo>
                    <a:pt x="120" y="109"/>
                    <a:pt x="106" y="105"/>
                    <a:pt x="106" y="90"/>
                  </a:cubicBezTo>
                  <a:cubicBezTo>
                    <a:pt x="106" y="77"/>
                    <a:pt x="111" y="73"/>
                    <a:pt x="114" y="69"/>
                  </a:cubicBezTo>
                  <a:cubicBezTo>
                    <a:pt x="114" y="69"/>
                    <a:pt x="118" y="65"/>
                    <a:pt x="115" y="52"/>
                  </a:cubicBezTo>
                  <a:cubicBezTo>
                    <a:pt x="120" y="45"/>
                    <a:pt x="122" y="33"/>
                    <a:pt x="116" y="19"/>
                  </a:cubicBezTo>
                  <a:cubicBezTo>
                    <a:pt x="112" y="10"/>
                    <a:pt x="109" y="5"/>
                    <a:pt x="104" y="3"/>
                  </a:cubicBezTo>
                  <a:cubicBezTo>
                    <a:pt x="101" y="1"/>
                    <a:pt x="97" y="0"/>
                    <a:pt x="93" y="0"/>
                  </a:cubicBezTo>
                  <a:cubicBezTo>
                    <a:pt x="86" y="0"/>
                    <a:pt x="79" y="3"/>
                    <a:pt x="76" y="4"/>
                  </a:cubicBezTo>
                  <a:cubicBezTo>
                    <a:pt x="68" y="8"/>
                    <a:pt x="63" y="11"/>
                    <a:pt x="58" y="24"/>
                  </a:cubicBezTo>
                  <a:cubicBezTo>
                    <a:pt x="53" y="34"/>
                    <a:pt x="58" y="46"/>
                    <a:pt x="61" y="52"/>
                  </a:cubicBezTo>
                  <a:cubicBezTo>
                    <a:pt x="58" y="65"/>
                    <a:pt x="62" y="69"/>
                    <a:pt x="62" y="69"/>
                  </a:cubicBezTo>
                  <a:cubicBezTo>
                    <a:pt x="65" y="73"/>
                    <a:pt x="70" y="77"/>
                    <a:pt x="70" y="90"/>
                  </a:cubicBezTo>
                  <a:cubicBezTo>
                    <a:pt x="70" y="105"/>
                    <a:pt x="56" y="109"/>
                    <a:pt x="56" y="109"/>
                  </a:cubicBezTo>
                  <a:cubicBezTo>
                    <a:pt x="47" y="112"/>
                    <a:pt x="28" y="118"/>
                    <a:pt x="28" y="140"/>
                  </a:cubicBezTo>
                  <a:cubicBezTo>
                    <a:pt x="28" y="140"/>
                    <a:pt x="28" y="144"/>
                    <a:pt x="32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8" y="144"/>
                    <a:pt x="148" y="140"/>
                    <a:pt x="148" y="140"/>
                  </a:cubicBezTo>
                  <a:cubicBezTo>
                    <a:pt x="148" y="118"/>
                    <a:pt x="129" y="112"/>
                    <a:pt x="120" y="109"/>
                  </a:cubicBezTo>
                  <a:moveTo>
                    <a:pt x="36" y="136"/>
                  </a:moveTo>
                  <a:cubicBezTo>
                    <a:pt x="38" y="125"/>
                    <a:pt x="48" y="120"/>
                    <a:pt x="58" y="117"/>
                  </a:cubicBezTo>
                  <a:cubicBezTo>
                    <a:pt x="58" y="117"/>
                    <a:pt x="58" y="117"/>
                    <a:pt x="58" y="117"/>
                  </a:cubicBezTo>
                  <a:cubicBezTo>
                    <a:pt x="66" y="115"/>
                    <a:pt x="78" y="107"/>
                    <a:pt x="78" y="90"/>
                  </a:cubicBezTo>
                  <a:cubicBezTo>
                    <a:pt x="78" y="76"/>
                    <a:pt x="73" y="70"/>
                    <a:pt x="70" y="66"/>
                  </a:cubicBezTo>
                  <a:cubicBezTo>
                    <a:pt x="69" y="65"/>
                    <a:pt x="68" y="64"/>
                    <a:pt x="69" y="65"/>
                  </a:cubicBezTo>
                  <a:cubicBezTo>
                    <a:pt x="68" y="64"/>
                    <a:pt x="67" y="61"/>
                    <a:pt x="69" y="54"/>
                  </a:cubicBezTo>
                  <a:cubicBezTo>
                    <a:pt x="70" y="50"/>
                    <a:pt x="68" y="48"/>
                    <a:pt x="68" y="48"/>
                  </a:cubicBezTo>
                  <a:cubicBezTo>
                    <a:pt x="66" y="43"/>
                    <a:pt x="62" y="34"/>
                    <a:pt x="65" y="27"/>
                  </a:cubicBezTo>
                  <a:cubicBezTo>
                    <a:pt x="69" y="17"/>
                    <a:pt x="73" y="15"/>
                    <a:pt x="79" y="12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0"/>
                    <a:pt x="87" y="8"/>
                    <a:pt x="93" y="8"/>
                  </a:cubicBezTo>
                  <a:cubicBezTo>
                    <a:pt x="96" y="8"/>
                    <a:pt x="98" y="9"/>
                    <a:pt x="100" y="10"/>
                  </a:cubicBezTo>
                  <a:cubicBezTo>
                    <a:pt x="103" y="11"/>
                    <a:pt x="105" y="14"/>
                    <a:pt x="108" y="22"/>
                  </a:cubicBezTo>
                  <a:cubicBezTo>
                    <a:pt x="115" y="36"/>
                    <a:pt x="111" y="45"/>
                    <a:pt x="109" y="47"/>
                  </a:cubicBezTo>
                  <a:cubicBezTo>
                    <a:pt x="107" y="49"/>
                    <a:pt x="107" y="52"/>
                    <a:pt x="107" y="54"/>
                  </a:cubicBezTo>
                  <a:cubicBezTo>
                    <a:pt x="109" y="61"/>
                    <a:pt x="108" y="64"/>
                    <a:pt x="108" y="64"/>
                  </a:cubicBezTo>
                  <a:cubicBezTo>
                    <a:pt x="108" y="64"/>
                    <a:pt x="107" y="65"/>
                    <a:pt x="106" y="66"/>
                  </a:cubicBezTo>
                  <a:cubicBezTo>
                    <a:pt x="103" y="70"/>
                    <a:pt x="98" y="76"/>
                    <a:pt x="98" y="90"/>
                  </a:cubicBezTo>
                  <a:cubicBezTo>
                    <a:pt x="98" y="107"/>
                    <a:pt x="110" y="115"/>
                    <a:pt x="118" y="117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128" y="120"/>
                    <a:pt x="138" y="125"/>
                    <a:pt x="140" y="136"/>
                  </a:cubicBezTo>
                  <a:lnTo>
                    <a:pt x="36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11585614" y="1493587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79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0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1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2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3" name="Freeform 227"/>
              <p:cNvSpPr>
                <a:spLocks/>
              </p:cNvSpPr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7" name="Group 106"/>
            <p:cNvGrpSpPr/>
            <p:nvPr/>
          </p:nvGrpSpPr>
          <p:grpSpPr>
            <a:xfrm>
              <a:off x="10480502" y="207492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177" name="Freeform 238"/>
              <p:cNvSpPr>
                <a:spLocks/>
              </p:cNvSpPr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8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10666781" y="1478614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173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4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5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6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11720135" y="195770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69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0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2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11534193" y="6376915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163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6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7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4838688" y="6491061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9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0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2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>
              <a:off x="5166934" y="266108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5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6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8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295825" y="4072051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149" name="Freeform 114"/>
              <p:cNvSpPr>
                <a:spLocks/>
              </p:cNvSpPr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0" name="Freeform 115"/>
              <p:cNvSpPr>
                <a:spLocks/>
              </p:cNvSpPr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1" name="Freeform 116"/>
              <p:cNvSpPr>
                <a:spLocks/>
              </p:cNvSpPr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2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3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4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Group 113"/>
            <p:cNvGrpSpPr/>
            <p:nvPr/>
          </p:nvGrpSpPr>
          <p:grpSpPr>
            <a:xfrm>
              <a:off x="5729642" y="3419615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45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6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8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15" name="Freeform 114"/>
            <p:cNvSpPr>
              <a:spLocks noEditPoints="1"/>
            </p:cNvSpPr>
            <p:nvPr/>
          </p:nvSpPr>
          <p:spPr bwMode="auto">
            <a:xfrm>
              <a:off x="7744559" y="5866193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6" name="Freeform 115"/>
            <p:cNvSpPr>
              <a:spLocks noEditPoints="1"/>
            </p:cNvSpPr>
            <p:nvPr/>
          </p:nvSpPr>
          <p:spPr bwMode="auto">
            <a:xfrm>
              <a:off x="470756" y="4536601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7" name="Freeform 116"/>
            <p:cNvSpPr>
              <a:spLocks noEditPoints="1"/>
            </p:cNvSpPr>
            <p:nvPr/>
          </p:nvSpPr>
          <p:spPr bwMode="auto">
            <a:xfrm>
              <a:off x="11478799" y="3631863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18" name="Group 117"/>
            <p:cNvGrpSpPr/>
            <p:nvPr/>
          </p:nvGrpSpPr>
          <p:grpSpPr>
            <a:xfrm>
              <a:off x="11221394" y="1876194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3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4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4797147" y="511176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1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2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10742529" y="4103554"/>
              <a:ext cx="371620" cy="373885"/>
              <a:chOff x="6061716" y="3185154"/>
              <a:chExt cx="218527" cy="219859"/>
            </a:xfrm>
            <a:grpFill/>
          </p:grpSpPr>
          <p:sp>
            <p:nvSpPr>
              <p:cNvPr id="137" name="Freeform 232"/>
              <p:cNvSpPr>
                <a:spLocks/>
              </p:cNvSpPr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8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9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0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Group 120"/>
            <p:cNvGrpSpPr/>
            <p:nvPr/>
          </p:nvGrpSpPr>
          <p:grpSpPr>
            <a:xfrm>
              <a:off x="8425950" y="195769"/>
              <a:ext cx="353212" cy="355365"/>
              <a:chOff x="3396750" y="3185154"/>
              <a:chExt cx="218527" cy="219859"/>
            </a:xfrm>
            <a:grpFill/>
          </p:grpSpPr>
          <p:sp>
            <p:nvSpPr>
              <p:cNvPr id="133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4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5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6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2429891" y="6569679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2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2" name="Freeform 227"/>
              <p:cNvSpPr>
                <a:spLocks/>
              </p:cNvSpPr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9442085" y="4437671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124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5" name="Freeform 111"/>
              <p:cNvSpPr>
                <a:spLocks/>
              </p:cNvSpPr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6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7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1320" y="3669180"/>
            <a:ext cx="3688759" cy="1895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84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" grpId="0"/>
    </p:bld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345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80611" y="1735547"/>
            <a:ext cx="3387632" cy="3954139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62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297320" y="286100"/>
            <a:ext cx="4712646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79961" y="1419064"/>
            <a:ext cx="3604839" cy="2917080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843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017" y="2728209"/>
            <a:ext cx="10717967" cy="3372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27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017" y="779582"/>
            <a:ext cx="10717967" cy="2488274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56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017" y="977030"/>
            <a:ext cx="3797405" cy="2290826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37017" y="3594970"/>
            <a:ext cx="3797405" cy="2290826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037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836000" y="2169000"/>
            <a:ext cx="2520000" cy="2520000"/>
          </a:xfrm>
          <a:prstGeom prst="ellipse">
            <a:avLst/>
          </a:prstGeom>
          <a:effectLst>
            <a:outerShdw blurRad="571500" dist="635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11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146810" y="2055733"/>
            <a:ext cx="2282190" cy="2488069"/>
          </a:xfrm>
          <a:prstGeom prst="roundRect">
            <a:avLst>
              <a:gd name="adj" fmla="val 10235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0153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651356" y="2454758"/>
            <a:ext cx="1396480" cy="139648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243399" y="1903287"/>
            <a:ext cx="1396480" cy="139648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138390" y="1258992"/>
            <a:ext cx="1396480" cy="1419662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835443" y="2496819"/>
            <a:ext cx="1396480" cy="139648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0941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 nodePh="1">
                                  <p:stCondLst>
                                    <p:cond delay="30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0" grpId="0"/>
      <p:bldP spid="11" grpId="0"/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4B0F1B-7C35-4932-9D94-A4497ECF4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525530" y="2598281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6977459" y="3944167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4018511" y="2058281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977459" y="1735547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097796" y="4152994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5854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7" grpId="0" animBg="1"/>
      <p:bldP spid="13" grpId="0" animBg="1"/>
      <p:bldP spid="14" grpId="0" animBg="1"/>
    </p:bld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4B0F1B-7C35-4932-9D94-A4497ECF4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01464" y="1928167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66661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601955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434308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937248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769602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2413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0" grpId="0" animBg="1"/>
      <p:bldP spid="12" grpId="0" animBg="1"/>
      <p:bldP spid="16" grpId="0" animBg="1"/>
    </p:bld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181386" y="2057466"/>
            <a:ext cx="3878694" cy="1895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33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265774" y="1279978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265774" y="215403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265774" y="3028096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265774" y="3902155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09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6" grpId="0"/>
          <p:bldP spid="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6" grpId="0"/>
          <p:bldP spid="7" grpId="0"/>
        </p:bldLst>
      </p:timing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39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815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607240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39887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190506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98213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5773772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56540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14867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894030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973193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05235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1023974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1815607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8"/>
          </p:nvPr>
        </p:nvSpPr>
        <p:spPr>
          <a:xfrm>
            <a:off x="2607240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3398873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30"/>
          </p:nvPr>
        </p:nvSpPr>
        <p:spPr>
          <a:xfrm>
            <a:off x="4190506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88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39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815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607240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39887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190506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98213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5773772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56540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55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</p:bld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362036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2298434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234831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171227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5107624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044022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6980419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7916815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8853212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9789611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1362036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2298434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3234831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4171227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107624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38200" y="1735548"/>
            <a:ext cx="3144291" cy="1838596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85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74823" y="3439261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74823" y="4091452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174823" y="4743643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174823" y="5395833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0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</p:bldLst>
      </p:timing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762500" y="1870381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762500" y="2906396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762500" y="3942411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762500" y="4978426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50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16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16" grpId="0"/>
          <p:bldP spid="17" grpId="0"/>
          <p:bldP spid="18" grpId="0"/>
        </p:bldLst>
      </p:timing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021153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071829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122505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56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90863" y="2458521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90863" y="3761228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090863" y="5063935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55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839787" y="628503"/>
            <a:ext cx="3789232" cy="552995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84346" y="803242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84346" y="1563876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84346" y="232451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84346" y="3085144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84346" y="4606413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84346" y="5367049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84346" y="3845778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15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50906" y="80324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750906" y="1716003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750906" y="2628764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750906" y="3541525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750906" y="4454286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750906" y="5367049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5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</p:bldLst>
      </p:timing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74357" y="21326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74357" y="345169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74357" y="411121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74357" y="279217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74357" y="477073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74357" y="5430249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67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370766" y="2463425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70766" y="3340247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370766" y="4217069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370766" y="509389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40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968502" y="1998522"/>
            <a:ext cx="707647" cy="70764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878831" y="1912069"/>
            <a:ext cx="936104" cy="936104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017618" y="2003059"/>
            <a:ext cx="707647" cy="70764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927947" y="2063217"/>
            <a:ext cx="633808" cy="63380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1132009" y="2063217"/>
            <a:ext cx="633808" cy="63380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16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</p:bldLst>
  </p:timing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007945" y="1980317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454316" y="1870381"/>
            <a:ext cx="1283368" cy="128336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120559" y="1980317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566931" y="2035801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672543" y="2035801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902334" y="2165996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597526" y="2165996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1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80919" y="1656784"/>
            <a:ext cx="8630162" cy="2210366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8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989669" y="1969477"/>
            <a:ext cx="3445762" cy="344576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496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216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66339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66339" y="3196139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466339" y="4884107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61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66339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66339" y="3828150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483056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483056" y="3828150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65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</p:bldLst>
  </p:timing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629851" y="1656784"/>
            <a:ext cx="3519501" cy="4139582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13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660602" y="1123673"/>
            <a:ext cx="3600000" cy="36000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38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76102" y="2476219"/>
            <a:ext cx="2813236" cy="281323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07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297320" y="286100"/>
            <a:ext cx="4167104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130969" y="735983"/>
            <a:ext cx="3866966" cy="5386034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1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297320" y="286100"/>
            <a:ext cx="4167104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28950" y="916736"/>
            <a:ext cx="2909403" cy="2889719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3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6786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2065467" y="0"/>
            <a:ext cx="1012653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327557" y="3552566"/>
            <a:ext cx="2755558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66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6786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2065467" y="0"/>
            <a:ext cx="1012653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860408" y="826298"/>
            <a:ext cx="2755558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30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1629" y="4513609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5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851975" y="437554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95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851975" y="437554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923675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247149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570623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894098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73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</p:bldLst>
  </p:timing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923675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247149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570623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894098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980382" y="4752474"/>
            <a:ext cx="2442407" cy="121519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3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</p:bldLst>
  </p:timing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957333" y="623008"/>
            <a:ext cx="931472" cy="9314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36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957333" y="623008"/>
            <a:ext cx="931472" cy="9314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327556" y="3552566"/>
            <a:ext cx="2990336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2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98874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145538" y="4955230"/>
            <a:ext cx="600338" cy="600338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202813" y="4955230"/>
            <a:ext cx="600338" cy="600338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260088" y="4955230"/>
            <a:ext cx="600338" cy="600338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26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</p:bldLst>
  </p:timing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58352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411166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066966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44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007945" y="502246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454316" y="392310"/>
            <a:ext cx="1283368" cy="128336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120559" y="502246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566931" y="557730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672543" y="557730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902334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597526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522507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0977352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81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340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07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17181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03601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90021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76442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562862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49283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58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</p:bldLst>
  </p:timing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83820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193621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03423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13224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523026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32827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742629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852430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962232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10720339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838200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1936215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3034230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4132245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230259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53144" y="522514"/>
            <a:ext cx="3329348" cy="2627088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20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50906" y="34604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750906" y="1258803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750906" y="2171564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750906" y="3084325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750906" y="3997086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750906" y="4909849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750906" y="582261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34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90861" y="33878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90861" y="113590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90861" y="193301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90861" y="273013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90861" y="432436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90861" y="512147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90861" y="352724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490861" y="5918591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56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60998" y="21326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0998" y="35769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60998" y="429910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60998" y="285480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560998" y="50212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560998" y="5743400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19115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885797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260163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665266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0063051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72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9" grpId="0"/>
      <p:bldP spid="50" grpId="0"/>
      <p:bldP spid="51" grpId="0"/>
      <p:bldP spid="52" grpId="0"/>
      <p:bldP spid="14" grpId="0"/>
    </p:bldLst>
  </p:timing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893732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48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78600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892261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905924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923445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9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075637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656791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37945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7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880744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555609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33546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16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39934" y="2752989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39934" y="4055696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39934" y="5358403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95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009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-1" y="-1"/>
            <a:ext cx="12192002" cy="6858001"/>
            <a:chOff x="-1" y="-1"/>
            <a:chExt cx="12192002" cy="6858001"/>
          </a:xfrm>
        </p:grpSpPr>
        <p:sp>
          <p:nvSpPr>
            <p:cNvPr id="3" name="Rectangle 2"/>
            <p:cNvSpPr/>
            <p:nvPr/>
          </p:nvSpPr>
          <p:spPr>
            <a:xfrm>
              <a:off x="-1" y="0"/>
              <a:ext cx="1110357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555178" y="-1"/>
              <a:ext cx="11636823" cy="4349932"/>
            </a:xfrm>
            <a:custGeom>
              <a:avLst/>
              <a:gdLst>
                <a:gd name="connsiteX0" fmla="*/ 0 w 11636823"/>
                <a:gd name="connsiteY0" fmla="*/ 0 h 4349932"/>
                <a:gd name="connsiteX1" fmla="*/ 11636823 w 11636823"/>
                <a:gd name="connsiteY1" fmla="*/ 0 h 4349932"/>
                <a:gd name="connsiteX2" fmla="*/ 11636823 w 11636823"/>
                <a:gd name="connsiteY2" fmla="*/ 3976484 h 4349932"/>
                <a:gd name="connsiteX3" fmla="*/ 11263375 w 11636823"/>
                <a:gd name="connsiteY3" fmla="*/ 4349932 h 4349932"/>
                <a:gd name="connsiteX4" fmla="*/ 373448 w 11636823"/>
                <a:gd name="connsiteY4" fmla="*/ 4349932 h 4349932"/>
                <a:gd name="connsiteX5" fmla="*/ 0 w 11636823"/>
                <a:gd name="connsiteY5" fmla="*/ 3976484 h 4349932"/>
                <a:gd name="connsiteX6" fmla="*/ 0 w 11636823"/>
                <a:gd name="connsiteY6" fmla="*/ 0 h 434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6823" h="4349932">
                  <a:moveTo>
                    <a:pt x="0" y="0"/>
                  </a:moveTo>
                  <a:lnTo>
                    <a:pt x="11636823" y="0"/>
                  </a:lnTo>
                  <a:lnTo>
                    <a:pt x="11636823" y="3976484"/>
                  </a:lnTo>
                  <a:cubicBezTo>
                    <a:pt x="11636823" y="4182734"/>
                    <a:pt x="11469625" y="4349932"/>
                    <a:pt x="11263375" y="4349932"/>
                  </a:cubicBezTo>
                  <a:lnTo>
                    <a:pt x="373448" y="4349932"/>
                  </a:lnTo>
                  <a:cubicBezTo>
                    <a:pt x="167198" y="4349932"/>
                    <a:pt x="0" y="4182734"/>
                    <a:pt x="0" y="39764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4349930"/>
              <a:ext cx="11717383" cy="2508069"/>
            </a:xfrm>
            <a:custGeom>
              <a:avLst/>
              <a:gdLst>
                <a:gd name="connsiteX0" fmla="*/ 490182 w 11717383"/>
                <a:gd name="connsiteY0" fmla="*/ 0 h 2508069"/>
                <a:gd name="connsiteX1" fmla="*/ 11227201 w 11717383"/>
                <a:gd name="connsiteY1" fmla="*/ 0 h 2508069"/>
                <a:gd name="connsiteX2" fmla="*/ 11717383 w 11717383"/>
                <a:gd name="connsiteY2" fmla="*/ 490182 h 2508069"/>
                <a:gd name="connsiteX3" fmla="*/ 11717383 w 11717383"/>
                <a:gd name="connsiteY3" fmla="*/ 2508069 h 2508069"/>
                <a:gd name="connsiteX4" fmla="*/ 0 w 11717383"/>
                <a:gd name="connsiteY4" fmla="*/ 2508069 h 2508069"/>
                <a:gd name="connsiteX5" fmla="*/ 0 w 11717383"/>
                <a:gd name="connsiteY5" fmla="*/ 490182 h 2508069"/>
                <a:gd name="connsiteX6" fmla="*/ 490182 w 11717383"/>
                <a:gd name="connsiteY6" fmla="*/ 0 h 250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7383" h="2508069">
                  <a:moveTo>
                    <a:pt x="490182" y="0"/>
                  </a:moveTo>
                  <a:lnTo>
                    <a:pt x="11227201" y="0"/>
                  </a:lnTo>
                  <a:cubicBezTo>
                    <a:pt x="11497921" y="0"/>
                    <a:pt x="11717383" y="219462"/>
                    <a:pt x="11717383" y="490182"/>
                  </a:cubicBezTo>
                  <a:lnTo>
                    <a:pt x="11717383" y="2508069"/>
                  </a:lnTo>
                  <a:lnTo>
                    <a:pt x="0" y="2508069"/>
                  </a:lnTo>
                  <a:lnTo>
                    <a:pt x="0" y="490182"/>
                  </a:lnTo>
                  <a:cubicBezTo>
                    <a:pt x="0" y="219462"/>
                    <a:pt x="219462" y="0"/>
                    <a:pt x="49018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6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272810" y="4981503"/>
            <a:ext cx="1244922" cy="124492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29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V="1">
            <a:off x="-1" y="-1"/>
            <a:ext cx="12192002" cy="6858001"/>
            <a:chOff x="-1" y="-1"/>
            <a:chExt cx="12192002" cy="6858001"/>
          </a:xfrm>
        </p:grpSpPr>
        <p:sp>
          <p:nvSpPr>
            <p:cNvPr id="3" name="Rectangle 2"/>
            <p:cNvSpPr/>
            <p:nvPr/>
          </p:nvSpPr>
          <p:spPr>
            <a:xfrm>
              <a:off x="-1" y="0"/>
              <a:ext cx="1110357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555178" y="-1"/>
              <a:ext cx="11636823" cy="4349932"/>
            </a:xfrm>
            <a:custGeom>
              <a:avLst/>
              <a:gdLst>
                <a:gd name="connsiteX0" fmla="*/ 0 w 11636823"/>
                <a:gd name="connsiteY0" fmla="*/ 0 h 4349932"/>
                <a:gd name="connsiteX1" fmla="*/ 11636823 w 11636823"/>
                <a:gd name="connsiteY1" fmla="*/ 0 h 4349932"/>
                <a:gd name="connsiteX2" fmla="*/ 11636823 w 11636823"/>
                <a:gd name="connsiteY2" fmla="*/ 3976484 h 4349932"/>
                <a:gd name="connsiteX3" fmla="*/ 11263375 w 11636823"/>
                <a:gd name="connsiteY3" fmla="*/ 4349932 h 4349932"/>
                <a:gd name="connsiteX4" fmla="*/ 373448 w 11636823"/>
                <a:gd name="connsiteY4" fmla="*/ 4349932 h 4349932"/>
                <a:gd name="connsiteX5" fmla="*/ 0 w 11636823"/>
                <a:gd name="connsiteY5" fmla="*/ 3976484 h 4349932"/>
                <a:gd name="connsiteX6" fmla="*/ 0 w 11636823"/>
                <a:gd name="connsiteY6" fmla="*/ 0 h 434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6823" h="4349932">
                  <a:moveTo>
                    <a:pt x="0" y="0"/>
                  </a:moveTo>
                  <a:lnTo>
                    <a:pt x="11636823" y="0"/>
                  </a:lnTo>
                  <a:lnTo>
                    <a:pt x="11636823" y="3976484"/>
                  </a:lnTo>
                  <a:cubicBezTo>
                    <a:pt x="11636823" y="4182734"/>
                    <a:pt x="11469625" y="4349932"/>
                    <a:pt x="11263375" y="4349932"/>
                  </a:cubicBezTo>
                  <a:lnTo>
                    <a:pt x="373448" y="4349932"/>
                  </a:lnTo>
                  <a:cubicBezTo>
                    <a:pt x="167198" y="4349932"/>
                    <a:pt x="0" y="4182734"/>
                    <a:pt x="0" y="39764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4349930"/>
              <a:ext cx="11717383" cy="2508069"/>
            </a:xfrm>
            <a:custGeom>
              <a:avLst/>
              <a:gdLst>
                <a:gd name="connsiteX0" fmla="*/ 490182 w 11717383"/>
                <a:gd name="connsiteY0" fmla="*/ 0 h 2508069"/>
                <a:gd name="connsiteX1" fmla="*/ 11227201 w 11717383"/>
                <a:gd name="connsiteY1" fmla="*/ 0 h 2508069"/>
                <a:gd name="connsiteX2" fmla="*/ 11717383 w 11717383"/>
                <a:gd name="connsiteY2" fmla="*/ 490182 h 2508069"/>
                <a:gd name="connsiteX3" fmla="*/ 11717383 w 11717383"/>
                <a:gd name="connsiteY3" fmla="*/ 2508069 h 2508069"/>
                <a:gd name="connsiteX4" fmla="*/ 0 w 11717383"/>
                <a:gd name="connsiteY4" fmla="*/ 2508069 h 2508069"/>
                <a:gd name="connsiteX5" fmla="*/ 0 w 11717383"/>
                <a:gd name="connsiteY5" fmla="*/ 490182 h 2508069"/>
                <a:gd name="connsiteX6" fmla="*/ 490182 w 11717383"/>
                <a:gd name="connsiteY6" fmla="*/ 0 h 250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7383" h="2508069">
                  <a:moveTo>
                    <a:pt x="490182" y="0"/>
                  </a:moveTo>
                  <a:lnTo>
                    <a:pt x="11227201" y="0"/>
                  </a:lnTo>
                  <a:cubicBezTo>
                    <a:pt x="11497921" y="0"/>
                    <a:pt x="11717383" y="219462"/>
                    <a:pt x="11717383" y="490182"/>
                  </a:cubicBezTo>
                  <a:lnTo>
                    <a:pt x="11717383" y="2508069"/>
                  </a:lnTo>
                  <a:lnTo>
                    <a:pt x="0" y="2508069"/>
                  </a:lnTo>
                  <a:lnTo>
                    <a:pt x="0" y="490182"/>
                  </a:lnTo>
                  <a:cubicBezTo>
                    <a:pt x="0" y="219462"/>
                    <a:pt x="219462" y="0"/>
                    <a:pt x="49018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557835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7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641645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189822" y="2080456"/>
            <a:ext cx="7039778" cy="2159305"/>
          </a:xfrm>
          <a:prstGeom prst="round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21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809689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92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341121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049568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58015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466461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46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053805" y="498146"/>
            <a:ext cx="868279" cy="868279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3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 flipV="1">
            <a:off x="-1" y="-1"/>
            <a:ext cx="12192002" cy="6858001"/>
            <a:chOff x="-1" y="-1"/>
            <a:chExt cx="12192002" cy="6858001"/>
          </a:xfrm>
        </p:grpSpPr>
        <p:sp>
          <p:nvSpPr>
            <p:cNvPr id="3" name="Rectangle 2"/>
            <p:cNvSpPr/>
            <p:nvPr/>
          </p:nvSpPr>
          <p:spPr>
            <a:xfrm>
              <a:off x="-1" y="0"/>
              <a:ext cx="1110357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555178" y="-1"/>
              <a:ext cx="11636823" cy="4349932"/>
            </a:xfrm>
            <a:custGeom>
              <a:avLst/>
              <a:gdLst>
                <a:gd name="connsiteX0" fmla="*/ 0 w 11636823"/>
                <a:gd name="connsiteY0" fmla="*/ 0 h 4349932"/>
                <a:gd name="connsiteX1" fmla="*/ 11636823 w 11636823"/>
                <a:gd name="connsiteY1" fmla="*/ 0 h 4349932"/>
                <a:gd name="connsiteX2" fmla="*/ 11636823 w 11636823"/>
                <a:gd name="connsiteY2" fmla="*/ 3976484 h 4349932"/>
                <a:gd name="connsiteX3" fmla="*/ 11263375 w 11636823"/>
                <a:gd name="connsiteY3" fmla="*/ 4349932 h 4349932"/>
                <a:gd name="connsiteX4" fmla="*/ 373448 w 11636823"/>
                <a:gd name="connsiteY4" fmla="*/ 4349932 h 4349932"/>
                <a:gd name="connsiteX5" fmla="*/ 0 w 11636823"/>
                <a:gd name="connsiteY5" fmla="*/ 3976484 h 4349932"/>
                <a:gd name="connsiteX6" fmla="*/ 0 w 11636823"/>
                <a:gd name="connsiteY6" fmla="*/ 0 h 434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6823" h="4349932">
                  <a:moveTo>
                    <a:pt x="0" y="0"/>
                  </a:moveTo>
                  <a:lnTo>
                    <a:pt x="11636823" y="0"/>
                  </a:lnTo>
                  <a:lnTo>
                    <a:pt x="11636823" y="3976484"/>
                  </a:lnTo>
                  <a:cubicBezTo>
                    <a:pt x="11636823" y="4182734"/>
                    <a:pt x="11469625" y="4349932"/>
                    <a:pt x="11263375" y="4349932"/>
                  </a:cubicBezTo>
                  <a:lnTo>
                    <a:pt x="373448" y="4349932"/>
                  </a:lnTo>
                  <a:cubicBezTo>
                    <a:pt x="167198" y="4349932"/>
                    <a:pt x="0" y="4182734"/>
                    <a:pt x="0" y="39764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4349930"/>
              <a:ext cx="11717383" cy="2508069"/>
            </a:xfrm>
            <a:custGeom>
              <a:avLst/>
              <a:gdLst>
                <a:gd name="connsiteX0" fmla="*/ 490182 w 11717383"/>
                <a:gd name="connsiteY0" fmla="*/ 0 h 2508069"/>
                <a:gd name="connsiteX1" fmla="*/ 11227201 w 11717383"/>
                <a:gd name="connsiteY1" fmla="*/ 0 h 2508069"/>
                <a:gd name="connsiteX2" fmla="*/ 11717383 w 11717383"/>
                <a:gd name="connsiteY2" fmla="*/ 490182 h 2508069"/>
                <a:gd name="connsiteX3" fmla="*/ 11717383 w 11717383"/>
                <a:gd name="connsiteY3" fmla="*/ 2508069 h 2508069"/>
                <a:gd name="connsiteX4" fmla="*/ 0 w 11717383"/>
                <a:gd name="connsiteY4" fmla="*/ 2508069 h 2508069"/>
                <a:gd name="connsiteX5" fmla="*/ 0 w 11717383"/>
                <a:gd name="connsiteY5" fmla="*/ 490182 h 2508069"/>
                <a:gd name="connsiteX6" fmla="*/ 490182 w 11717383"/>
                <a:gd name="connsiteY6" fmla="*/ 0 h 250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7383" h="2508069">
                  <a:moveTo>
                    <a:pt x="490182" y="0"/>
                  </a:moveTo>
                  <a:lnTo>
                    <a:pt x="11227201" y="0"/>
                  </a:lnTo>
                  <a:cubicBezTo>
                    <a:pt x="11497921" y="0"/>
                    <a:pt x="11717383" y="219462"/>
                    <a:pt x="11717383" y="490182"/>
                  </a:cubicBezTo>
                  <a:lnTo>
                    <a:pt x="11717383" y="2508069"/>
                  </a:lnTo>
                  <a:lnTo>
                    <a:pt x="0" y="2508069"/>
                  </a:lnTo>
                  <a:lnTo>
                    <a:pt x="0" y="490182"/>
                  </a:lnTo>
                  <a:cubicBezTo>
                    <a:pt x="0" y="219462"/>
                    <a:pt x="219462" y="0"/>
                    <a:pt x="49018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6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410899" y="645621"/>
            <a:ext cx="968744" cy="96874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86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4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134927" y="2204627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0529985" y="3665127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134927" y="5194570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08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20" grpId="0"/>
      <p:bldP spid="24" grpId="0"/>
    </p:bldLst>
  </p:timing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839787" y="1631890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9787" y="2488019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39787" y="3344148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39787" y="4200276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30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</p:bldLst>
  </p:timing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0" y="0"/>
            <a:ext cx="12191999" cy="6858000"/>
            <a:chOff x="0" y="0"/>
            <a:chExt cx="12191999" cy="6858000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0"/>
              <a:ext cx="2278505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20"/>
            <p:cNvSpPr>
              <a:spLocks/>
            </p:cNvSpPr>
            <p:nvPr userDrawn="1"/>
          </p:nvSpPr>
          <p:spPr bwMode="auto">
            <a:xfrm>
              <a:off x="1064302" y="0"/>
              <a:ext cx="11127697" cy="6858000"/>
            </a:xfrm>
            <a:prstGeom prst="roundRect">
              <a:avLst>
                <a:gd name="adj" fmla="val 6325"/>
              </a:avLst>
            </a:prstGeom>
            <a:solidFill>
              <a:schemeClr val="bg1"/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913493" y="407025"/>
            <a:ext cx="764361" cy="76436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37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1064302" y="0"/>
            <a:ext cx="11127697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26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</p:bldLst>
  </p:timing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0" y="0"/>
            <a:ext cx="12191999" cy="6858000"/>
            <a:chOff x="0" y="0"/>
            <a:chExt cx="12191999" cy="6858000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0"/>
              <a:ext cx="2278505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20"/>
            <p:cNvSpPr>
              <a:spLocks/>
            </p:cNvSpPr>
            <p:nvPr userDrawn="1"/>
          </p:nvSpPr>
          <p:spPr bwMode="auto">
            <a:xfrm>
              <a:off x="1064302" y="0"/>
              <a:ext cx="11127697" cy="6858000"/>
            </a:xfrm>
            <a:prstGeom prst="roundRect">
              <a:avLst>
                <a:gd name="adj" fmla="val 6325"/>
              </a:avLst>
            </a:prstGeom>
            <a:solidFill>
              <a:schemeClr val="bg1"/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940290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9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003869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9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104517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42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0" grpId="0"/>
      <p:bldP spid="91" grpId="0"/>
    </p:bldLst>
  </p:timing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1064302" y="0"/>
            <a:ext cx="11127697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706154" y="395600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2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8" grpId="0"/>
    </p:bldLst>
  </p:timing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1545796" y="108502"/>
            <a:ext cx="513590" cy="51359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04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22106" y="108502"/>
            <a:ext cx="513590" cy="51359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3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95DEA2C-D7E3-44FF-9BE7-1F32F245BF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93674" y="4538992"/>
            <a:ext cx="668806" cy="668806"/>
          </a:xfrm>
          <a:custGeom>
            <a:avLst/>
            <a:gdLst>
              <a:gd name="connsiteX0" fmla="*/ 334403 w 668806"/>
              <a:gd name="connsiteY0" fmla="*/ 0 h 668806"/>
              <a:gd name="connsiteX1" fmla="*/ 668806 w 668806"/>
              <a:gd name="connsiteY1" fmla="*/ 334403 h 668806"/>
              <a:gd name="connsiteX2" fmla="*/ 334403 w 668806"/>
              <a:gd name="connsiteY2" fmla="*/ 668806 h 668806"/>
              <a:gd name="connsiteX3" fmla="*/ 0 w 668806"/>
              <a:gd name="connsiteY3" fmla="*/ 334403 h 668806"/>
              <a:gd name="connsiteX4" fmla="*/ 334403 w 668806"/>
              <a:gd name="connsiteY4" fmla="*/ 0 h 66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8806" h="668806">
                <a:moveTo>
                  <a:pt x="334403" y="0"/>
                </a:moveTo>
                <a:cubicBezTo>
                  <a:pt x="519089" y="0"/>
                  <a:pt x="668806" y="149717"/>
                  <a:pt x="668806" y="334403"/>
                </a:cubicBezTo>
                <a:cubicBezTo>
                  <a:pt x="668806" y="519089"/>
                  <a:pt x="519089" y="668806"/>
                  <a:pt x="334403" y="668806"/>
                </a:cubicBezTo>
                <a:cubicBezTo>
                  <a:pt x="149717" y="668806"/>
                  <a:pt x="0" y="519089"/>
                  <a:pt x="0" y="334403"/>
                </a:cubicBezTo>
                <a:cubicBezTo>
                  <a:pt x="0" y="149717"/>
                  <a:pt x="149717" y="0"/>
                  <a:pt x="334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0A9F614-E8A6-410E-B97E-E1BBA111C5F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393674" y="5546509"/>
            <a:ext cx="668806" cy="668806"/>
          </a:xfrm>
          <a:custGeom>
            <a:avLst/>
            <a:gdLst>
              <a:gd name="connsiteX0" fmla="*/ 334403 w 668806"/>
              <a:gd name="connsiteY0" fmla="*/ 0 h 668806"/>
              <a:gd name="connsiteX1" fmla="*/ 668806 w 668806"/>
              <a:gd name="connsiteY1" fmla="*/ 334403 h 668806"/>
              <a:gd name="connsiteX2" fmla="*/ 334403 w 668806"/>
              <a:gd name="connsiteY2" fmla="*/ 668806 h 668806"/>
              <a:gd name="connsiteX3" fmla="*/ 0 w 668806"/>
              <a:gd name="connsiteY3" fmla="*/ 334403 h 668806"/>
              <a:gd name="connsiteX4" fmla="*/ 334403 w 668806"/>
              <a:gd name="connsiteY4" fmla="*/ 0 h 66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8806" h="668806">
                <a:moveTo>
                  <a:pt x="334403" y="0"/>
                </a:moveTo>
                <a:cubicBezTo>
                  <a:pt x="519089" y="0"/>
                  <a:pt x="668806" y="149717"/>
                  <a:pt x="668806" y="334403"/>
                </a:cubicBezTo>
                <a:cubicBezTo>
                  <a:pt x="668806" y="519089"/>
                  <a:pt x="519089" y="668806"/>
                  <a:pt x="334403" y="668806"/>
                </a:cubicBezTo>
                <a:cubicBezTo>
                  <a:pt x="149717" y="668806"/>
                  <a:pt x="0" y="519089"/>
                  <a:pt x="0" y="334403"/>
                </a:cubicBezTo>
                <a:cubicBezTo>
                  <a:pt x="0" y="149717"/>
                  <a:pt x="149717" y="0"/>
                  <a:pt x="334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D7BB0D-C1EE-401C-9123-BD725F5FF5FA}"/>
              </a:ext>
            </a:extLst>
          </p:cNvPr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29D33-DAA1-4D46-8F20-0E58FB218D4D}"/>
              </a:ext>
            </a:extLst>
          </p:cNvPr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26" name="Freeform 29">
            <a:extLst>
              <a:ext uri="{FF2B5EF4-FFF2-40B4-BE49-F238E27FC236}">
                <a16:creationId xmlns:a16="http://schemas.microsoft.com/office/drawing/2014/main" id="{F149D150-4F9E-4F6E-8525-C594628D7D4B}"/>
              </a:ext>
            </a:extLst>
          </p:cNvPr>
          <p:cNvSpPr/>
          <p:nvPr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B094CF-DFAC-F5F4-8CEB-76C3964E1E7E}"/>
              </a:ext>
            </a:extLst>
          </p:cNvPr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77981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D7BB0D-C1EE-401C-9123-BD725F5FF5FA}"/>
              </a:ext>
            </a:extLst>
          </p:cNvPr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29D33-DAA1-4D46-8F20-0E58FB218D4D}"/>
              </a:ext>
            </a:extLst>
          </p:cNvPr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6" name="Freeform 29">
            <a:extLst>
              <a:ext uri="{FF2B5EF4-FFF2-40B4-BE49-F238E27FC236}">
                <a16:creationId xmlns:a16="http://schemas.microsoft.com/office/drawing/2014/main" id="{AA93F536-93BD-8F88-0C11-1FA55F2DD3A7}"/>
              </a:ext>
            </a:extLst>
          </p:cNvPr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D86BED-0BA7-3916-A438-042C32143124}"/>
              </a:ext>
            </a:extLst>
          </p:cNvPr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607918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D7BB0D-C1EE-401C-9123-BD725F5FF5FA}"/>
              </a:ext>
            </a:extLst>
          </p:cNvPr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29D33-DAA1-4D46-8F20-0E58FB218D4D}"/>
              </a:ext>
            </a:extLst>
          </p:cNvPr>
          <p:cNvSpPr txBox="1"/>
          <p:nvPr userDrawn="1"/>
        </p:nvSpPr>
        <p:spPr>
          <a:xfrm>
            <a:off x="9695935" y="155417"/>
            <a:ext cx="21868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Oct ~ Des 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8F6F28D7-3FB2-8BD3-4247-D5D304D33DDC}"/>
              </a:ext>
            </a:extLst>
          </p:cNvPr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FBFE8A-662C-16DC-B352-D6D5DB163A8F}"/>
              </a:ext>
            </a:extLst>
          </p:cNvPr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508806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4255F05-34E8-4B0D-BFD5-2010D2F9223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3280" y="3778841"/>
            <a:ext cx="564112" cy="564112"/>
          </a:xfrm>
          <a:custGeom>
            <a:avLst/>
            <a:gdLst>
              <a:gd name="connsiteX0" fmla="*/ 282056 w 564112"/>
              <a:gd name="connsiteY0" fmla="*/ 0 h 564112"/>
              <a:gd name="connsiteX1" fmla="*/ 564112 w 564112"/>
              <a:gd name="connsiteY1" fmla="*/ 282056 h 564112"/>
              <a:gd name="connsiteX2" fmla="*/ 282056 w 564112"/>
              <a:gd name="connsiteY2" fmla="*/ 564112 h 564112"/>
              <a:gd name="connsiteX3" fmla="*/ 0 w 564112"/>
              <a:gd name="connsiteY3" fmla="*/ 282056 h 564112"/>
              <a:gd name="connsiteX4" fmla="*/ 282056 w 564112"/>
              <a:gd name="connsiteY4" fmla="*/ 0 h 56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A15D7AF-342D-448C-81C3-237B38B6F64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9925" y="4654827"/>
            <a:ext cx="564112" cy="564112"/>
          </a:xfrm>
          <a:custGeom>
            <a:avLst/>
            <a:gdLst>
              <a:gd name="connsiteX0" fmla="*/ 282056 w 564112"/>
              <a:gd name="connsiteY0" fmla="*/ 0 h 564112"/>
              <a:gd name="connsiteX1" fmla="*/ 564112 w 564112"/>
              <a:gd name="connsiteY1" fmla="*/ 282056 h 564112"/>
              <a:gd name="connsiteX2" fmla="*/ 282056 w 564112"/>
              <a:gd name="connsiteY2" fmla="*/ 564112 h 564112"/>
              <a:gd name="connsiteX3" fmla="*/ 0 w 564112"/>
              <a:gd name="connsiteY3" fmla="*/ 282056 h 564112"/>
              <a:gd name="connsiteX4" fmla="*/ 282056 w 564112"/>
              <a:gd name="connsiteY4" fmla="*/ 0 h 56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6247DC3-F697-4E32-B506-41524FE5403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43279" y="5624186"/>
            <a:ext cx="564112" cy="564112"/>
          </a:xfrm>
          <a:custGeom>
            <a:avLst/>
            <a:gdLst>
              <a:gd name="connsiteX0" fmla="*/ 282056 w 564112"/>
              <a:gd name="connsiteY0" fmla="*/ 0 h 564112"/>
              <a:gd name="connsiteX1" fmla="*/ 564112 w 564112"/>
              <a:gd name="connsiteY1" fmla="*/ 282056 h 564112"/>
              <a:gd name="connsiteX2" fmla="*/ 282056 w 564112"/>
              <a:gd name="connsiteY2" fmla="*/ 564112 h 564112"/>
              <a:gd name="connsiteX3" fmla="*/ 0 w 564112"/>
              <a:gd name="connsiteY3" fmla="*/ 282056 h 564112"/>
              <a:gd name="connsiteX4" fmla="*/ 282056 w 564112"/>
              <a:gd name="connsiteY4" fmla="*/ 0 h 56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67373D-B351-4064-97F3-1B240D9DFBB4}"/>
              </a:ext>
            </a:extLst>
          </p:cNvPr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FD32FB-8882-4432-A7EB-73254C0C1AA4}"/>
              </a:ext>
            </a:extLst>
          </p:cNvPr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" name="Freeform 29">
            <a:extLst>
              <a:ext uri="{FF2B5EF4-FFF2-40B4-BE49-F238E27FC236}">
                <a16:creationId xmlns:a16="http://schemas.microsoft.com/office/drawing/2014/main" id="{99B871F4-9CAF-DC4D-B945-8C666CA2798A}"/>
              </a:ext>
            </a:extLst>
          </p:cNvPr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0AEFF8-5C62-A746-E0A1-8106F8ACA42F}"/>
              </a:ext>
            </a:extLst>
          </p:cNvPr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260274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643E5A5-725A-47B0-AF01-B41DEEAAD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23115" y="4333853"/>
            <a:ext cx="580103" cy="580103"/>
          </a:xfrm>
          <a:custGeom>
            <a:avLst/>
            <a:gdLst>
              <a:gd name="connsiteX0" fmla="*/ 62396 w 580103"/>
              <a:gd name="connsiteY0" fmla="*/ 0 h 580103"/>
              <a:gd name="connsiteX1" fmla="*/ 517707 w 580103"/>
              <a:gd name="connsiteY1" fmla="*/ 0 h 580103"/>
              <a:gd name="connsiteX2" fmla="*/ 580103 w 580103"/>
              <a:gd name="connsiteY2" fmla="*/ 62396 h 580103"/>
              <a:gd name="connsiteX3" fmla="*/ 580103 w 580103"/>
              <a:gd name="connsiteY3" fmla="*/ 517707 h 580103"/>
              <a:gd name="connsiteX4" fmla="*/ 517707 w 580103"/>
              <a:gd name="connsiteY4" fmla="*/ 580103 h 580103"/>
              <a:gd name="connsiteX5" fmla="*/ 62396 w 580103"/>
              <a:gd name="connsiteY5" fmla="*/ 580103 h 580103"/>
              <a:gd name="connsiteX6" fmla="*/ 0 w 580103"/>
              <a:gd name="connsiteY6" fmla="*/ 517707 h 580103"/>
              <a:gd name="connsiteX7" fmla="*/ 0 w 580103"/>
              <a:gd name="connsiteY7" fmla="*/ 62396 h 580103"/>
              <a:gd name="connsiteX8" fmla="*/ 62396 w 580103"/>
              <a:gd name="connsiteY8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50D97CA-E31B-4959-A8B0-D83D1C3F21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99768" y="4333853"/>
            <a:ext cx="580103" cy="580103"/>
          </a:xfrm>
          <a:custGeom>
            <a:avLst/>
            <a:gdLst>
              <a:gd name="connsiteX0" fmla="*/ 62396 w 580103"/>
              <a:gd name="connsiteY0" fmla="*/ 0 h 580103"/>
              <a:gd name="connsiteX1" fmla="*/ 517707 w 580103"/>
              <a:gd name="connsiteY1" fmla="*/ 0 h 580103"/>
              <a:gd name="connsiteX2" fmla="*/ 580103 w 580103"/>
              <a:gd name="connsiteY2" fmla="*/ 62396 h 580103"/>
              <a:gd name="connsiteX3" fmla="*/ 580103 w 580103"/>
              <a:gd name="connsiteY3" fmla="*/ 517707 h 580103"/>
              <a:gd name="connsiteX4" fmla="*/ 517707 w 580103"/>
              <a:gd name="connsiteY4" fmla="*/ 580103 h 580103"/>
              <a:gd name="connsiteX5" fmla="*/ 62396 w 580103"/>
              <a:gd name="connsiteY5" fmla="*/ 580103 h 580103"/>
              <a:gd name="connsiteX6" fmla="*/ 0 w 580103"/>
              <a:gd name="connsiteY6" fmla="*/ 517707 h 580103"/>
              <a:gd name="connsiteX7" fmla="*/ 0 w 580103"/>
              <a:gd name="connsiteY7" fmla="*/ 62396 h 580103"/>
              <a:gd name="connsiteX8" fmla="*/ 62396 w 580103"/>
              <a:gd name="connsiteY8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B69C1A0-0ECB-4157-9FD3-350F124FF5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46462" y="4333853"/>
            <a:ext cx="580103" cy="580103"/>
          </a:xfrm>
          <a:custGeom>
            <a:avLst/>
            <a:gdLst>
              <a:gd name="connsiteX0" fmla="*/ 62396 w 580103"/>
              <a:gd name="connsiteY0" fmla="*/ 0 h 580103"/>
              <a:gd name="connsiteX1" fmla="*/ 517707 w 580103"/>
              <a:gd name="connsiteY1" fmla="*/ 0 h 580103"/>
              <a:gd name="connsiteX2" fmla="*/ 580103 w 580103"/>
              <a:gd name="connsiteY2" fmla="*/ 62396 h 580103"/>
              <a:gd name="connsiteX3" fmla="*/ 580103 w 580103"/>
              <a:gd name="connsiteY3" fmla="*/ 517707 h 580103"/>
              <a:gd name="connsiteX4" fmla="*/ 517707 w 580103"/>
              <a:gd name="connsiteY4" fmla="*/ 580103 h 580103"/>
              <a:gd name="connsiteX5" fmla="*/ 62396 w 580103"/>
              <a:gd name="connsiteY5" fmla="*/ 580103 h 580103"/>
              <a:gd name="connsiteX6" fmla="*/ 0 w 580103"/>
              <a:gd name="connsiteY6" fmla="*/ 517707 h 580103"/>
              <a:gd name="connsiteX7" fmla="*/ 0 w 580103"/>
              <a:gd name="connsiteY7" fmla="*/ 62396 h 580103"/>
              <a:gd name="connsiteX8" fmla="*/ 62396 w 580103"/>
              <a:gd name="connsiteY8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2C12C7-7E70-4A7D-9989-C12D3309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1FCA15-75E8-4403-8195-95F9F041A1EF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BAB9E-DF95-47F7-AED3-9824A25A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86404-6299-4B44-9088-14144FDB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681018-CA26-4C24-99E8-55D8921F9AB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C2B508-2EAF-43B6-8C99-5C9046EE47E9}"/>
              </a:ext>
            </a:extLst>
          </p:cNvPr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943EA-2785-41B6-AC11-AC890CA3A9ED}"/>
              </a:ext>
            </a:extLst>
          </p:cNvPr>
          <p:cNvSpPr txBox="1"/>
          <p:nvPr userDrawn="1"/>
        </p:nvSpPr>
        <p:spPr>
          <a:xfrm>
            <a:off x="9695935" y="155417"/>
            <a:ext cx="2210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July ~ Sep </a:t>
            </a: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" name="Freeform 29">
            <a:extLst>
              <a:ext uri="{FF2B5EF4-FFF2-40B4-BE49-F238E27FC236}">
                <a16:creationId xmlns:a16="http://schemas.microsoft.com/office/drawing/2014/main" id="{02F0AABD-0C35-9062-5ABA-5D5C80A9A800}"/>
              </a:ext>
            </a:extLst>
          </p:cNvPr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C5F250-DCA4-4E38-451E-DA367B05510D}"/>
              </a:ext>
            </a:extLst>
          </p:cNvPr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771539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68A51F6-8454-43D6-A56A-A082808A5DC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5622" y="1471123"/>
            <a:ext cx="1122612" cy="1122612"/>
          </a:xfrm>
          <a:custGeom>
            <a:avLst/>
            <a:gdLst>
              <a:gd name="connsiteX0" fmla="*/ 561306 w 1122612"/>
              <a:gd name="connsiteY0" fmla="*/ 0 h 1122612"/>
              <a:gd name="connsiteX1" fmla="*/ 1122612 w 1122612"/>
              <a:gd name="connsiteY1" fmla="*/ 561306 h 1122612"/>
              <a:gd name="connsiteX2" fmla="*/ 561306 w 1122612"/>
              <a:gd name="connsiteY2" fmla="*/ 1122612 h 1122612"/>
              <a:gd name="connsiteX3" fmla="*/ 0 w 1122612"/>
              <a:gd name="connsiteY3" fmla="*/ 561306 h 1122612"/>
              <a:gd name="connsiteX4" fmla="*/ 561306 w 1122612"/>
              <a:gd name="connsiteY4" fmla="*/ 0 h 1122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612" h="1122612">
                <a:moveTo>
                  <a:pt x="561306" y="0"/>
                </a:moveTo>
                <a:cubicBezTo>
                  <a:pt x="871307" y="0"/>
                  <a:pt x="1122612" y="251305"/>
                  <a:pt x="1122612" y="561306"/>
                </a:cubicBezTo>
                <a:cubicBezTo>
                  <a:pt x="1122612" y="871307"/>
                  <a:pt x="871307" y="1122612"/>
                  <a:pt x="561306" y="1122612"/>
                </a:cubicBezTo>
                <a:cubicBezTo>
                  <a:pt x="251305" y="1122612"/>
                  <a:pt x="0" y="871307"/>
                  <a:pt x="0" y="561306"/>
                </a:cubicBezTo>
                <a:cubicBezTo>
                  <a:pt x="0" y="251305"/>
                  <a:pt x="251305" y="0"/>
                  <a:pt x="561306" y="0"/>
                </a:cubicBezTo>
                <a:close/>
              </a:path>
            </a:pathLst>
          </a:custGeom>
          <a:ln w="31750">
            <a:solidFill>
              <a:schemeClr val="bg1">
                <a:alpha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D7BB0D-C1EE-401C-9123-BD725F5FF5FA}"/>
              </a:ext>
            </a:extLst>
          </p:cNvPr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29D33-DAA1-4D46-8F20-0E58FB218D4D}"/>
              </a:ext>
            </a:extLst>
          </p:cNvPr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4426AAB6-2396-7763-C680-829E6C2FFAC2}"/>
              </a:ext>
            </a:extLst>
          </p:cNvPr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AB5CD0-1888-F4AF-63C6-550E91997F7E}"/>
              </a:ext>
            </a:extLst>
          </p:cNvPr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7345458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913936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 hasCustomPrompt="1"/>
          </p:nvPr>
        </p:nvSpPr>
        <p:spPr>
          <a:xfrm>
            <a:off x="508002" y="177801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3733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9607029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B131B0F-35C0-47A1-A3CF-03FFBEA681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5006" y="973395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BA37EE2-4DD3-4A69-8B69-85007B0F0E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5006" y="3507823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27BD14F-5BB3-4ECD-9F44-1F862C0008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71569" y="973395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2F3425F-5ADF-433E-AA43-BE461E3217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71569" y="3507823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35165414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B9EFF8C-7242-4E19-8E1D-96DF0CD75A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2667000"/>
          </a:xfrm>
          <a:custGeom>
            <a:avLst/>
            <a:gdLst>
              <a:gd name="connsiteX0" fmla="*/ 0 w 12192000"/>
              <a:gd name="connsiteY0" fmla="*/ 0 h 2667000"/>
              <a:gd name="connsiteX1" fmla="*/ 12192000 w 12192000"/>
              <a:gd name="connsiteY1" fmla="*/ 0 h 2667000"/>
              <a:gd name="connsiteX2" fmla="*/ 12192000 w 12192000"/>
              <a:gd name="connsiteY2" fmla="*/ 2667000 h 2667000"/>
              <a:gd name="connsiteX3" fmla="*/ 0 w 12192000"/>
              <a:gd name="connsiteY3" fmla="*/ 266700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7000">
                <a:moveTo>
                  <a:pt x="0" y="0"/>
                </a:moveTo>
                <a:lnTo>
                  <a:pt x="12192000" y="0"/>
                </a:lnTo>
                <a:lnTo>
                  <a:pt x="12192000" y="2667000"/>
                </a:lnTo>
                <a:lnTo>
                  <a:pt x="0" y="2667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>
              <a:def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placeholder</a:t>
            </a:r>
            <a:endParaRPr lang="en-GB" dirty="0"/>
          </a:p>
          <a:p>
            <a:pPr marL="0" lvl="0" indent="0" algn="ctr">
              <a:buNone/>
            </a:pP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BBFFD9-A909-4171-87C6-2EC89EC8069B}"/>
              </a:ext>
            </a:extLst>
          </p:cNvPr>
          <p:cNvSpPr/>
          <p:nvPr userDrawn="1"/>
        </p:nvSpPr>
        <p:spPr>
          <a:xfrm>
            <a:off x="0" y="2667000"/>
            <a:ext cx="12192000" cy="4191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  <a:gs pos="5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505739"/>
      </p:ext>
    </p:extLst>
  </p:cSld>
  <p:clrMapOvr>
    <a:masterClrMapping/>
  </p:clrMapOvr>
  <p:transition spd="slow">
    <p:fade/>
  </p:transition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20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468139" y="2916085"/>
            <a:ext cx="2691375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1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40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117533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484215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858581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263684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61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9" grpId="0"/>
      <p:bldP spid="50" grpId="0"/>
      <p:bldP spid="51" grpId="0"/>
      <p:bldP spid="52" grpId="0"/>
    </p:bldLst>
  </p:timing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913495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 flipV="1">
            <a:off x="0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908827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01529" y="2916085"/>
            <a:ext cx="2573241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03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913495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 flipV="1">
            <a:off x="0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37410" y="284328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13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54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C627-9D3A-84DC-DA04-BED149CB7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6008777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7180339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723344443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27432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594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2pPr>
            <a:lvl3pPr marL="476239" indent="-24764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3pPr>
            <a:lvl4pPr marL="685783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4pPr>
            <a:lvl5pPr marL="914377" indent="-22859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473924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 numCol="2" spcCol="27432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594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2pPr>
            <a:lvl3pPr marL="457189" indent="-22859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3pPr>
            <a:lvl4pPr marL="685783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4pPr>
            <a:lvl5pPr marL="914377" indent="-22859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21031603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45242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5242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064065199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657801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5560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976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8392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8401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31792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949184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814077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373919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76211869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3072548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284869243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5569990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628744088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6736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01733638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83694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7875584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32039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861462334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4288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677540723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9963912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952864544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73167848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90970794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16058207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39259118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87415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2703613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62574852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4564361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3290093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3290093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037126095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483710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546239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92033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454562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300356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0362885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483710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546239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392033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7454562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300356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0362885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483710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546239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392033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7454562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9300356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0362885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729331070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121176810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42380485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88657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886576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23227533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776316624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81214255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75387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360325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145262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483708043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719254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523116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326978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9130841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37475942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1" y="1268759"/>
            <a:ext cx="2352260" cy="3535680"/>
          </a:xfrm>
          <a:solidFill>
            <a:schemeClr val="bg1">
              <a:lumMod val="90000"/>
              <a:lumOff val="1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57971" y="1268759"/>
            <a:ext cx="2352260" cy="3535680"/>
          </a:xfrm>
          <a:solidFill>
            <a:schemeClr val="bg1">
              <a:lumMod val="90000"/>
              <a:lumOff val="1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3467708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0813" indent="-150813">
              <a:defRPr sz="1400"/>
            </a:lvl3pPr>
            <a:lvl4pPr marL="401638" indent="-207963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797789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0813" indent="-150813">
              <a:defRPr sz="1400"/>
            </a:lvl3pPr>
            <a:lvl4pPr marL="401638" indent="-207963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14400" y="4980565"/>
            <a:ext cx="503311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257971" y="4980565"/>
            <a:ext cx="501962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149559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797786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901286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6EBAB3-660E-949B-E61F-9CFA9BA6CC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2984515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15678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523047-2D2B-1F0E-354D-C34337C485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6993448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  <p:extLst>
      <p:ext uri="{BB962C8B-B14F-4D97-AF65-F5344CB8AC3E}">
        <p14:creationId xmlns:p14="http://schemas.microsoft.com/office/powerpoint/2010/main" val="821948535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410127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381B0-DB39-757B-1A3A-91F82DEEC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2D8B7B-CCF3-EDAD-D2CB-DDE6F447A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02A19-0B7A-7494-3DF5-87FFD816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0552B-B23D-6F94-6AC8-62E098DD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FDEF9-645B-624F-B9C9-D884D1EB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108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6EDD6-F8E2-B164-A9B5-DC22D7C20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B68C5-1C29-B002-5E3C-58C7F11F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77D1D-9BFC-327A-4AE3-922CBA2A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5F529-DFB2-55B5-DC6E-8F6FBC4C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AA28F-67A0-3DAE-7C3B-1E2A3D05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37551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D234F-336D-9B01-FD8F-6570FDEDD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7145BF-0ECB-ABF9-68EF-BB4C6B2DE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BFDEF5-E7AB-4935-95C5-3C581CF6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2C556-54BA-40D9-BD30-468D419B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FE63F1-2624-2100-F50E-EFC55CAB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067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13DDA-6E07-9B1D-E59C-16259249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9546C-B0C7-D8A6-1AEA-647BEE374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85B6EC-7EAD-8F7C-3020-97DD56701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16EF6B-2D28-6DCD-CA2D-76875541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31C7CE-70C9-CD7F-854E-FC14E1FA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B86A00-E9E6-E417-DBFF-2CFB408C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305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60ED9-CEF6-EDC6-BDFF-5EB174F48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17456F-165A-7A33-6931-663C4DCDE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B5192-3CB9-1EE8-FBC4-18487683E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E39816-5AC5-05F8-0C2F-2382B5BB3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50CB35-2353-E877-03A7-056762DBA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4DC91F-421C-A590-530A-3B857B56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7B2739-D81C-9C55-DA49-BE1CDE33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C1737B-AE0B-24C6-75D6-3F219CCC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047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A7874-44E7-BDA6-FECC-AD926F11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BAA7-3FCE-3ABF-05C2-1044A6D9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1DD9E1-4EDE-B43C-0306-3B258599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037AEF-2E10-368A-D939-FFCBD6E5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731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5E2E19-349C-FB00-6CAB-5795238F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4DAE97-B03A-4E8B-4C7E-E409B29C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2C5279-157D-0F78-EED2-1DFBBE6E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394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92F5-6E5C-FB83-93E9-D546B6503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131BF7-47BD-BAD5-9BA2-83994A7E7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750EAD-4BAC-5C85-8028-60182F6A2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B1549A-5FC4-709B-A0A9-3BD96A24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C88EC9-880C-1299-6B69-A5C41EBC4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237FB-0522-6717-5C62-798F1879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1972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83311-0C61-F474-17DA-DCD99602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F7287C-E405-A276-2AE8-CDB8E1E6E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0B3676-C8EF-89D5-1F43-32A768A78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69902D-C530-F0A9-8C76-A25AF3BD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41CEAC-4660-C7F1-E492-CA4D9B4B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B93C4F-9A62-1BEC-2692-47FAC73F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193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E63F5-AB14-307E-A117-BB7B9BE0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28416D-578D-31E4-8A6B-522C636CC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9D001-C98D-F27C-ECAB-4B36BABF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04E997-E50C-2F99-8BF2-06E6E626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393BD8-2F3E-60ED-213D-490DD864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52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2DFE68-BF3A-5D96-4440-1D4B4FCD0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EE67DE-D707-3499-0047-BE4D5E135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5237D-F9A9-54A4-F9EA-FC45BED9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4EAF7-397A-083B-2E46-C00ED752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74D8F-8711-B28F-4511-D17E8000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79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6EBAB3-660E-949B-E61F-9CFA9BA6CC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7596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886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523047-2D2B-1F0E-354D-C34337C485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8859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  <p:extLst>
      <p:ext uri="{BB962C8B-B14F-4D97-AF65-F5344CB8AC3E}">
        <p14:creationId xmlns:p14="http://schemas.microsoft.com/office/powerpoint/2010/main" val="2798124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FFFA23C-39ED-FA90-23AF-F8398FC87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402786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152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515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381B0-DB39-757B-1A3A-91F82DEEC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2D8B7B-CCF3-EDAD-D2CB-DDE6F447A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02A19-0B7A-7494-3DF5-87FFD816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0552B-B23D-6F94-6AC8-62E098DD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FDEF9-645B-624F-B9C9-D884D1EB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291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6EDD6-F8E2-B164-A9B5-DC22D7C20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B68C5-1C29-B002-5E3C-58C7F11F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77D1D-9BFC-327A-4AE3-922CBA2A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5F529-DFB2-55B5-DC6E-8F6FBC4C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AA28F-67A0-3DAE-7C3B-1E2A3D05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1621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D234F-336D-9B01-FD8F-6570FDEDD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7145BF-0ECB-ABF9-68EF-BB4C6B2DE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BFDEF5-E7AB-4935-95C5-3C581CF6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2C556-54BA-40D9-BD30-468D419B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FE63F1-2624-2100-F50E-EFC55CAB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096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13DDA-6E07-9B1D-E59C-16259249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9546C-B0C7-D8A6-1AEA-647BEE374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85B6EC-7EAD-8F7C-3020-97DD56701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16EF6B-2D28-6DCD-CA2D-76875541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31C7CE-70C9-CD7F-854E-FC14E1FA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B86A00-E9E6-E417-DBFF-2CFB408C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292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60ED9-CEF6-EDC6-BDFF-5EB174F48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17456F-165A-7A33-6931-663C4DCDE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B5192-3CB9-1EE8-FBC4-18487683E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E39816-5AC5-05F8-0C2F-2382B5BB3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50CB35-2353-E877-03A7-056762DBA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4DC91F-421C-A590-530A-3B857B56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7B2739-D81C-9C55-DA49-BE1CDE33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C1737B-AE0B-24C6-75D6-3F219CCC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1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A7874-44E7-BDA6-FECC-AD926F11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BAA7-3FCE-3ABF-05C2-1044A6D9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1DD9E1-4EDE-B43C-0306-3B258599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037AEF-2E10-368A-D939-FFCBD6E5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76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5E2E19-349C-FB00-6CAB-5795238F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4DAE97-B03A-4E8B-4C7E-E409B29C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2C5279-157D-0F78-EED2-1DFBBE6E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779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92F5-6E5C-FB83-93E9-D546B6503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131BF7-47BD-BAD5-9BA2-83994A7E7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750EAD-4BAC-5C85-8028-60182F6A2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B1549A-5FC4-709B-A0A9-3BD96A24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C88EC9-880C-1299-6B69-A5C41EBC4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237FB-0522-6717-5C62-798F1879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917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83311-0C61-F474-17DA-DCD99602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F7287C-E405-A276-2AE8-CDB8E1E6E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0B3676-C8EF-89D5-1F43-32A768A78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69902D-C530-F0A9-8C76-A25AF3BD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41CEAC-4660-C7F1-E492-CA4D9B4B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B93C4F-9A62-1BEC-2692-47FAC73F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417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E63F5-AB14-307E-A117-BB7B9BE0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28416D-578D-31E4-8A6B-522C636CC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9D001-C98D-F27C-ECAB-4B36BABF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04E997-E50C-2F99-8BF2-06E6E626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393BD8-2F3E-60ED-213D-490DD864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517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2DFE68-BF3A-5D96-4440-1D4B4FCD0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EE67DE-D707-3499-0047-BE4D5E135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5237D-F9A9-54A4-F9EA-FC45BED9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4EAF7-397A-083B-2E46-C00ED752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74D8F-8711-B28F-4511-D17E8000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472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6EBAB3-660E-949B-E61F-9CFA9BA6CC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4148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871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523047-2D2B-1F0E-354D-C34337C485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9666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  <p:extLst>
      <p:ext uri="{BB962C8B-B14F-4D97-AF65-F5344CB8AC3E}">
        <p14:creationId xmlns:p14="http://schemas.microsoft.com/office/powerpoint/2010/main" val="140188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FFFA23C-39ED-FA90-23AF-F8398FC87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214136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8566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258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59" Type="http://schemas.openxmlformats.org/officeDocument/2006/relationships/slideLayout" Target="../slideLayouts/slideLayout159.xml"/><Relationship Id="rId170" Type="http://schemas.openxmlformats.org/officeDocument/2006/relationships/slideLayout" Target="../slideLayouts/slideLayout170.xml"/><Relationship Id="rId191" Type="http://schemas.openxmlformats.org/officeDocument/2006/relationships/slideLayout" Target="../slideLayouts/slideLayout191.xml"/><Relationship Id="rId205" Type="http://schemas.openxmlformats.org/officeDocument/2006/relationships/slideLayout" Target="../slideLayouts/slideLayout205.xml"/><Relationship Id="rId226" Type="http://schemas.openxmlformats.org/officeDocument/2006/relationships/slideLayout" Target="../slideLayouts/slideLayout22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181" Type="http://schemas.openxmlformats.org/officeDocument/2006/relationships/slideLayout" Target="../slideLayouts/slideLayout181.xml"/><Relationship Id="rId216" Type="http://schemas.openxmlformats.org/officeDocument/2006/relationships/slideLayout" Target="../slideLayouts/slideLayout216.xml"/><Relationship Id="rId237" Type="http://schemas.openxmlformats.org/officeDocument/2006/relationships/slideLayout" Target="../slideLayouts/slideLayout237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39" Type="http://schemas.openxmlformats.org/officeDocument/2006/relationships/slideLayout" Target="../slideLayouts/slideLayout139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71" Type="http://schemas.openxmlformats.org/officeDocument/2006/relationships/slideLayout" Target="../slideLayouts/slideLayout171.xml"/><Relationship Id="rId192" Type="http://schemas.openxmlformats.org/officeDocument/2006/relationships/slideLayout" Target="../slideLayouts/slideLayout192.xml"/><Relationship Id="rId206" Type="http://schemas.openxmlformats.org/officeDocument/2006/relationships/slideLayout" Target="../slideLayouts/slideLayout206.xml"/><Relationship Id="rId227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slideLayout" Target="../slideLayouts/slideLayout108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5" Type="http://schemas.openxmlformats.org/officeDocument/2006/relationships/slideLayout" Target="../slideLayouts/slideLayout75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61" Type="http://schemas.openxmlformats.org/officeDocument/2006/relationships/slideLayout" Target="../slideLayouts/slideLayout161.xml"/><Relationship Id="rId182" Type="http://schemas.openxmlformats.org/officeDocument/2006/relationships/slideLayout" Target="../slideLayouts/slideLayout182.xml"/><Relationship Id="rId217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6.xml"/><Relationship Id="rId238" Type="http://schemas.openxmlformats.org/officeDocument/2006/relationships/slideLayout" Target="../slideLayouts/slideLayout238.xml"/><Relationship Id="rId23" Type="http://schemas.openxmlformats.org/officeDocument/2006/relationships/slideLayout" Target="../slideLayouts/slideLayout23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5" Type="http://schemas.openxmlformats.org/officeDocument/2006/relationships/slideLayout" Target="../slideLayouts/slideLayout65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51" Type="http://schemas.openxmlformats.org/officeDocument/2006/relationships/slideLayout" Target="../slideLayouts/slideLayout151.xml"/><Relationship Id="rId172" Type="http://schemas.openxmlformats.org/officeDocument/2006/relationships/slideLayout" Target="../slideLayouts/slideLayout172.xml"/><Relationship Id="rId193" Type="http://schemas.openxmlformats.org/officeDocument/2006/relationships/slideLayout" Target="../slideLayouts/slideLayout193.xml"/><Relationship Id="rId207" Type="http://schemas.openxmlformats.org/officeDocument/2006/relationships/slideLayout" Target="../slideLayouts/slideLayout207.xml"/><Relationship Id="rId228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13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20" Type="http://schemas.openxmlformats.org/officeDocument/2006/relationships/slideLayout" Target="../slideLayouts/slideLayout120.xml"/><Relationship Id="rId141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7.xml"/><Relationship Id="rId162" Type="http://schemas.openxmlformats.org/officeDocument/2006/relationships/slideLayout" Target="../slideLayouts/slideLayout162.xml"/><Relationship Id="rId183" Type="http://schemas.openxmlformats.org/officeDocument/2006/relationships/slideLayout" Target="../slideLayouts/slideLayout183.xml"/><Relationship Id="rId218" Type="http://schemas.openxmlformats.org/officeDocument/2006/relationships/slideLayout" Target="../slideLayouts/slideLayout218.xml"/><Relationship Id="rId239" Type="http://schemas.openxmlformats.org/officeDocument/2006/relationships/slideLayout" Target="../slideLayouts/slideLayout239.xml"/><Relationship Id="rId24" Type="http://schemas.openxmlformats.org/officeDocument/2006/relationships/slideLayout" Target="../slideLayouts/slideLayout24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31" Type="http://schemas.openxmlformats.org/officeDocument/2006/relationships/slideLayout" Target="../slideLayouts/slideLayout131.xml"/><Relationship Id="rId152" Type="http://schemas.openxmlformats.org/officeDocument/2006/relationships/slideLayout" Target="../slideLayouts/slideLayout152.xml"/><Relationship Id="rId173" Type="http://schemas.openxmlformats.org/officeDocument/2006/relationships/slideLayout" Target="../slideLayouts/slideLayout173.xml"/><Relationship Id="rId194" Type="http://schemas.openxmlformats.org/officeDocument/2006/relationships/slideLayout" Target="../slideLayouts/slideLayout194.xml"/><Relationship Id="rId208" Type="http://schemas.openxmlformats.org/officeDocument/2006/relationships/slideLayout" Target="../slideLayouts/slideLayout208.xml"/><Relationship Id="rId229" Type="http://schemas.openxmlformats.org/officeDocument/2006/relationships/slideLayout" Target="../slideLayouts/slideLayout229.xml"/><Relationship Id="rId240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14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8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184" Type="http://schemas.openxmlformats.org/officeDocument/2006/relationships/slideLayout" Target="../slideLayouts/slideLayout184.xml"/><Relationship Id="rId219" Type="http://schemas.openxmlformats.org/officeDocument/2006/relationships/slideLayout" Target="../slideLayouts/slideLayout219.xml"/><Relationship Id="rId230" Type="http://schemas.openxmlformats.org/officeDocument/2006/relationships/slideLayout" Target="../slideLayouts/slideLayout230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74" Type="http://schemas.openxmlformats.org/officeDocument/2006/relationships/slideLayout" Target="../slideLayouts/slideLayout174.xml"/><Relationship Id="rId195" Type="http://schemas.openxmlformats.org/officeDocument/2006/relationships/slideLayout" Target="../slideLayouts/slideLayout195.xml"/><Relationship Id="rId209" Type="http://schemas.openxmlformats.org/officeDocument/2006/relationships/slideLayout" Target="../slideLayouts/slideLayout209.xml"/><Relationship Id="rId220" Type="http://schemas.openxmlformats.org/officeDocument/2006/relationships/slideLayout" Target="../slideLayouts/slideLayout220.xml"/><Relationship Id="rId241" Type="http://schemas.openxmlformats.org/officeDocument/2006/relationships/slideLayout" Target="../slideLayouts/slideLayout24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164" Type="http://schemas.openxmlformats.org/officeDocument/2006/relationships/slideLayout" Target="../slideLayouts/slideLayout164.xml"/><Relationship Id="rId169" Type="http://schemas.openxmlformats.org/officeDocument/2006/relationships/slideLayout" Target="../slideLayouts/slideLayout169.xml"/><Relationship Id="rId18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80" Type="http://schemas.openxmlformats.org/officeDocument/2006/relationships/slideLayout" Target="../slideLayouts/slideLayout180.xml"/><Relationship Id="rId210" Type="http://schemas.openxmlformats.org/officeDocument/2006/relationships/slideLayout" Target="../slideLayouts/slideLayout210.xml"/><Relationship Id="rId215" Type="http://schemas.openxmlformats.org/officeDocument/2006/relationships/slideLayout" Target="../slideLayouts/slideLayout215.xml"/><Relationship Id="rId236" Type="http://schemas.openxmlformats.org/officeDocument/2006/relationships/slideLayout" Target="../slideLayouts/slideLayout236.xml"/><Relationship Id="rId26" Type="http://schemas.openxmlformats.org/officeDocument/2006/relationships/slideLayout" Target="../slideLayouts/slideLayout26.xml"/><Relationship Id="rId231" Type="http://schemas.openxmlformats.org/officeDocument/2006/relationships/slideLayout" Target="../slideLayouts/slideLayout231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75" Type="http://schemas.openxmlformats.org/officeDocument/2006/relationships/slideLayout" Target="../slideLayouts/slideLayout175.xml"/><Relationship Id="rId196" Type="http://schemas.openxmlformats.org/officeDocument/2006/relationships/slideLayout" Target="../slideLayouts/slideLayout196.xml"/><Relationship Id="rId200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16.xml"/><Relationship Id="rId221" Type="http://schemas.openxmlformats.org/officeDocument/2006/relationships/slideLayout" Target="../slideLayouts/slideLayout221.xml"/><Relationship Id="rId242" Type="http://schemas.openxmlformats.org/officeDocument/2006/relationships/slideLayout" Target="../slideLayouts/slideLayout242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65" Type="http://schemas.openxmlformats.org/officeDocument/2006/relationships/slideLayout" Target="../slideLayouts/slideLayout165.xml"/><Relationship Id="rId186" Type="http://schemas.openxmlformats.org/officeDocument/2006/relationships/slideLayout" Target="../slideLayouts/slideLayout186.xml"/><Relationship Id="rId211" Type="http://schemas.openxmlformats.org/officeDocument/2006/relationships/slideLayout" Target="../slideLayouts/slideLayout211.xml"/><Relationship Id="rId232" Type="http://schemas.openxmlformats.org/officeDocument/2006/relationships/slideLayout" Target="../slideLayouts/slideLayout232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55" Type="http://schemas.openxmlformats.org/officeDocument/2006/relationships/slideLayout" Target="../slideLayouts/slideLayout155.xml"/><Relationship Id="rId176" Type="http://schemas.openxmlformats.org/officeDocument/2006/relationships/slideLayout" Target="../slideLayouts/slideLayout176.xml"/><Relationship Id="rId197" Type="http://schemas.openxmlformats.org/officeDocument/2006/relationships/slideLayout" Target="../slideLayouts/slideLayout197.xml"/><Relationship Id="rId201" Type="http://schemas.openxmlformats.org/officeDocument/2006/relationships/slideLayout" Target="../slideLayouts/slideLayout201.xml"/><Relationship Id="rId222" Type="http://schemas.openxmlformats.org/officeDocument/2006/relationships/slideLayout" Target="../slideLayouts/slideLayout222.xml"/><Relationship Id="rId243" Type="http://schemas.openxmlformats.org/officeDocument/2006/relationships/slideLayout" Target="../slideLayouts/slideLayout243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24" Type="http://schemas.openxmlformats.org/officeDocument/2006/relationships/slideLayout" Target="../slideLayouts/slideLayout124.xml"/><Relationship Id="rId70" Type="http://schemas.openxmlformats.org/officeDocument/2006/relationships/slideLayout" Target="../slideLayouts/slideLayout70.xml"/><Relationship Id="rId91" Type="http://schemas.openxmlformats.org/officeDocument/2006/relationships/slideLayout" Target="../slideLayouts/slideLayout91.xml"/><Relationship Id="rId145" Type="http://schemas.openxmlformats.org/officeDocument/2006/relationships/slideLayout" Target="../slideLayouts/slideLayout145.xml"/><Relationship Id="rId166" Type="http://schemas.openxmlformats.org/officeDocument/2006/relationships/slideLayout" Target="../slideLayouts/slideLayout166.xml"/><Relationship Id="rId187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.xml"/><Relationship Id="rId212" Type="http://schemas.openxmlformats.org/officeDocument/2006/relationships/slideLayout" Target="../slideLayouts/slideLayout212.xml"/><Relationship Id="rId233" Type="http://schemas.openxmlformats.org/officeDocument/2006/relationships/slideLayout" Target="../slideLayouts/slideLayout23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60" Type="http://schemas.openxmlformats.org/officeDocument/2006/relationships/slideLayout" Target="../slideLayouts/slideLayout60.xml"/><Relationship Id="rId81" Type="http://schemas.openxmlformats.org/officeDocument/2006/relationships/slideLayout" Target="../slideLayouts/slideLayout81.xml"/><Relationship Id="rId135" Type="http://schemas.openxmlformats.org/officeDocument/2006/relationships/slideLayout" Target="../slideLayouts/slideLayout135.xml"/><Relationship Id="rId156" Type="http://schemas.openxmlformats.org/officeDocument/2006/relationships/slideLayout" Target="../slideLayouts/slideLayout156.xml"/><Relationship Id="rId177" Type="http://schemas.openxmlformats.org/officeDocument/2006/relationships/slideLayout" Target="../slideLayouts/slideLayout177.xml"/><Relationship Id="rId198" Type="http://schemas.openxmlformats.org/officeDocument/2006/relationships/slideLayout" Target="../slideLayouts/slideLayout198.xml"/><Relationship Id="rId202" Type="http://schemas.openxmlformats.org/officeDocument/2006/relationships/slideLayout" Target="../slideLayouts/slideLayout202.xml"/><Relationship Id="rId223" Type="http://schemas.openxmlformats.org/officeDocument/2006/relationships/slideLayout" Target="../slideLayouts/slideLayout223.xml"/><Relationship Id="rId244" Type="http://schemas.openxmlformats.org/officeDocument/2006/relationships/slideLayout" Target="../slideLayouts/slideLayout244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50" Type="http://schemas.openxmlformats.org/officeDocument/2006/relationships/slideLayout" Target="../slideLayouts/slideLayout50.xml"/><Relationship Id="rId104" Type="http://schemas.openxmlformats.org/officeDocument/2006/relationships/slideLayout" Target="../slideLayouts/slideLayout104.xml"/><Relationship Id="rId125" Type="http://schemas.openxmlformats.org/officeDocument/2006/relationships/slideLayout" Target="../slideLayouts/slideLayout125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188" Type="http://schemas.openxmlformats.org/officeDocument/2006/relationships/slideLayout" Target="../slideLayouts/slideLayout188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13" Type="http://schemas.openxmlformats.org/officeDocument/2006/relationships/slideLayout" Target="../slideLayouts/slideLayout213.xml"/><Relationship Id="rId234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40" Type="http://schemas.openxmlformats.org/officeDocument/2006/relationships/slideLayout" Target="../slideLayouts/slideLayout40.xml"/><Relationship Id="rId115" Type="http://schemas.openxmlformats.org/officeDocument/2006/relationships/slideLayout" Target="../slideLayouts/slideLayout115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178" Type="http://schemas.openxmlformats.org/officeDocument/2006/relationships/slideLayout" Target="../slideLayouts/slideLayout178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9" Type="http://schemas.openxmlformats.org/officeDocument/2006/relationships/slideLayout" Target="../slideLayouts/slideLayout199.xml"/><Relationship Id="rId203" Type="http://schemas.openxmlformats.org/officeDocument/2006/relationships/slideLayout" Target="../slideLayouts/slideLayout203.xml"/><Relationship Id="rId19" Type="http://schemas.openxmlformats.org/officeDocument/2006/relationships/slideLayout" Target="../slideLayouts/slideLayout19.xml"/><Relationship Id="rId224" Type="http://schemas.openxmlformats.org/officeDocument/2006/relationships/slideLayout" Target="../slideLayouts/slideLayout224.xml"/><Relationship Id="rId245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slideLayout" Target="../slideLayouts/slideLayout16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189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3.xml"/><Relationship Id="rId214" Type="http://schemas.openxmlformats.org/officeDocument/2006/relationships/slideLayout" Target="../slideLayouts/slideLayout214.xml"/><Relationship Id="rId235" Type="http://schemas.openxmlformats.org/officeDocument/2006/relationships/slideLayout" Target="../slideLayouts/slideLayout235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179" Type="http://schemas.openxmlformats.org/officeDocument/2006/relationships/slideLayout" Target="../slideLayouts/slideLayout179.xml"/><Relationship Id="rId190" Type="http://schemas.openxmlformats.org/officeDocument/2006/relationships/slideLayout" Target="../slideLayouts/slideLayout190.xml"/><Relationship Id="rId204" Type="http://schemas.openxmlformats.org/officeDocument/2006/relationships/slideLayout" Target="../slideLayouts/slideLayout204.xml"/><Relationship Id="rId225" Type="http://schemas.openxmlformats.org/officeDocument/2006/relationships/slideLayout" Target="../slideLayouts/slideLayout225.xml"/><Relationship Id="rId246" Type="http://schemas.openxmlformats.org/officeDocument/2006/relationships/image" Target="../media/image1.png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2.xml"/><Relationship Id="rId13" Type="http://schemas.openxmlformats.org/officeDocument/2006/relationships/slideLayout" Target="../slideLayouts/slideLayout257.xml"/><Relationship Id="rId18" Type="http://schemas.openxmlformats.org/officeDocument/2006/relationships/slideLayout" Target="../slideLayouts/slideLayout262.xml"/><Relationship Id="rId3" Type="http://schemas.openxmlformats.org/officeDocument/2006/relationships/slideLayout" Target="../slideLayouts/slideLayout247.xml"/><Relationship Id="rId7" Type="http://schemas.openxmlformats.org/officeDocument/2006/relationships/slideLayout" Target="../slideLayouts/slideLayout251.xml"/><Relationship Id="rId12" Type="http://schemas.openxmlformats.org/officeDocument/2006/relationships/slideLayout" Target="../slideLayouts/slideLayout256.xml"/><Relationship Id="rId17" Type="http://schemas.openxmlformats.org/officeDocument/2006/relationships/slideLayout" Target="../slideLayouts/slideLayout261.xml"/><Relationship Id="rId2" Type="http://schemas.openxmlformats.org/officeDocument/2006/relationships/slideLayout" Target="../slideLayouts/slideLayout246.xml"/><Relationship Id="rId16" Type="http://schemas.openxmlformats.org/officeDocument/2006/relationships/slideLayout" Target="../slideLayouts/slideLayout260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245.xml"/><Relationship Id="rId6" Type="http://schemas.openxmlformats.org/officeDocument/2006/relationships/slideLayout" Target="../slideLayouts/slideLayout250.xml"/><Relationship Id="rId11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49.xml"/><Relationship Id="rId15" Type="http://schemas.openxmlformats.org/officeDocument/2006/relationships/slideLayout" Target="../slideLayouts/slideLayout259.xml"/><Relationship Id="rId10" Type="http://schemas.openxmlformats.org/officeDocument/2006/relationships/slideLayout" Target="../slideLayouts/slideLayout254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48.xml"/><Relationship Id="rId9" Type="http://schemas.openxmlformats.org/officeDocument/2006/relationships/slideLayout" Target="../slideLayouts/slideLayout253.xml"/><Relationship Id="rId14" Type="http://schemas.openxmlformats.org/officeDocument/2006/relationships/slideLayout" Target="../slideLayouts/slideLayout25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0.xml"/><Relationship Id="rId13" Type="http://schemas.openxmlformats.org/officeDocument/2006/relationships/slideLayout" Target="../slideLayouts/slideLayout275.xml"/><Relationship Id="rId18" Type="http://schemas.openxmlformats.org/officeDocument/2006/relationships/slideLayout" Target="../slideLayouts/slideLayout280.xml"/><Relationship Id="rId3" Type="http://schemas.openxmlformats.org/officeDocument/2006/relationships/slideLayout" Target="../slideLayouts/slideLayout265.xml"/><Relationship Id="rId7" Type="http://schemas.openxmlformats.org/officeDocument/2006/relationships/slideLayout" Target="../slideLayouts/slideLayout269.xml"/><Relationship Id="rId12" Type="http://schemas.openxmlformats.org/officeDocument/2006/relationships/slideLayout" Target="../slideLayouts/slideLayout274.xml"/><Relationship Id="rId17" Type="http://schemas.openxmlformats.org/officeDocument/2006/relationships/slideLayout" Target="../slideLayouts/slideLayout279.xml"/><Relationship Id="rId2" Type="http://schemas.openxmlformats.org/officeDocument/2006/relationships/slideLayout" Target="../slideLayouts/slideLayout264.xml"/><Relationship Id="rId16" Type="http://schemas.openxmlformats.org/officeDocument/2006/relationships/slideLayout" Target="../slideLayouts/slideLayout278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263.xml"/><Relationship Id="rId6" Type="http://schemas.openxmlformats.org/officeDocument/2006/relationships/slideLayout" Target="../slideLayouts/slideLayout268.xml"/><Relationship Id="rId11" Type="http://schemas.openxmlformats.org/officeDocument/2006/relationships/slideLayout" Target="../slideLayouts/slideLayout273.xml"/><Relationship Id="rId5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77.xml"/><Relationship Id="rId10" Type="http://schemas.openxmlformats.org/officeDocument/2006/relationships/slideLayout" Target="../slideLayouts/slideLayout272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66.xml"/><Relationship Id="rId9" Type="http://schemas.openxmlformats.org/officeDocument/2006/relationships/slideLayout" Target="../slideLayouts/slideLayout271.xml"/><Relationship Id="rId14" Type="http://schemas.openxmlformats.org/officeDocument/2006/relationships/slideLayout" Target="../slideLayouts/slideLayout2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ECB2BD-A2D9-1C90-6BB8-C1BDEBF4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46378F-0B8E-824F-7061-F0B8FDAA1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56720A-BF36-4CE8-125F-F918FAA2D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E1E2F-4D31-9B9B-7314-A236D0268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EBBFEC-4A6A-6824-5D2B-14170F466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602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742" r:id="rId19"/>
    <p:sldLayoutId id="2147483748" r:id="rId20"/>
    <p:sldLayoutId id="2147483749" r:id="rId21"/>
    <p:sldLayoutId id="2147483750" r:id="rId22"/>
    <p:sldLayoutId id="2147483751" r:id="rId23"/>
    <p:sldLayoutId id="2147483752" r:id="rId24"/>
    <p:sldLayoutId id="2147483753" r:id="rId25"/>
    <p:sldLayoutId id="2147483754" r:id="rId26"/>
    <p:sldLayoutId id="2147483755" r:id="rId27"/>
    <p:sldLayoutId id="2147483756" r:id="rId28"/>
    <p:sldLayoutId id="2147483757" r:id="rId29"/>
    <p:sldLayoutId id="2147483758" r:id="rId30"/>
    <p:sldLayoutId id="2147483759" r:id="rId31"/>
    <p:sldLayoutId id="2147483760" r:id="rId32"/>
    <p:sldLayoutId id="2147483761" r:id="rId33"/>
    <p:sldLayoutId id="2147483762" r:id="rId34"/>
    <p:sldLayoutId id="2147483763" r:id="rId35"/>
    <p:sldLayoutId id="2147483764" r:id="rId36"/>
    <p:sldLayoutId id="2147483765" r:id="rId37"/>
    <p:sldLayoutId id="2147483766" r:id="rId38"/>
    <p:sldLayoutId id="2147483767" r:id="rId39"/>
    <p:sldLayoutId id="2147483768" r:id="rId40"/>
    <p:sldLayoutId id="2147483769" r:id="rId41"/>
    <p:sldLayoutId id="2147483770" r:id="rId42"/>
    <p:sldLayoutId id="2147483771" r:id="rId43"/>
    <p:sldLayoutId id="2147483772" r:id="rId44"/>
    <p:sldLayoutId id="2147483773" r:id="rId45"/>
    <p:sldLayoutId id="2147483774" r:id="rId46"/>
    <p:sldLayoutId id="2147483775" r:id="rId47"/>
    <p:sldLayoutId id="2147483776" r:id="rId48"/>
    <p:sldLayoutId id="2147483777" r:id="rId49"/>
    <p:sldLayoutId id="2147483778" r:id="rId50"/>
    <p:sldLayoutId id="2147483779" r:id="rId51"/>
    <p:sldLayoutId id="2147483780" r:id="rId52"/>
    <p:sldLayoutId id="2147483781" r:id="rId53"/>
    <p:sldLayoutId id="2147483782" r:id="rId54"/>
    <p:sldLayoutId id="2147483783" r:id="rId55"/>
    <p:sldLayoutId id="2147483784" r:id="rId56"/>
    <p:sldLayoutId id="2147483785" r:id="rId57"/>
    <p:sldLayoutId id="2147483786" r:id="rId58"/>
    <p:sldLayoutId id="2147483787" r:id="rId59"/>
    <p:sldLayoutId id="2147483788" r:id="rId60"/>
    <p:sldLayoutId id="2147483789" r:id="rId61"/>
    <p:sldLayoutId id="2147483790" r:id="rId62"/>
    <p:sldLayoutId id="2147483791" r:id="rId63"/>
    <p:sldLayoutId id="2147483792" r:id="rId64"/>
    <p:sldLayoutId id="2147483793" r:id="rId65"/>
    <p:sldLayoutId id="2147483794" r:id="rId66"/>
    <p:sldLayoutId id="2147483795" r:id="rId67"/>
    <p:sldLayoutId id="2147483796" r:id="rId68"/>
    <p:sldLayoutId id="2147483797" r:id="rId69"/>
    <p:sldLayoutId id="2147483798" r:id="rId70"/>
    <p:sldLayoutId id="2147483799" r:id="rId71"/>
    <p:sldLayoutId id="2147483800" r:id="rId72"/>
    <p:sldLayoutId id="2147483801" r:id="rId73"/>
    <p:sldLayoutId id="2147483802" r:id="rId74"/>
    <p:sldLayoutId id="2147483803" r:id="rId75"/>
    <p:sldLayoutId id="2147483804" r:id="rId76"/>
    <p:sldLayoutId id="2147483805" r:id="rId77"/>
    <p:sldLayoutId id="2147483806" r:id="rId78"/>
    <p:sldLayoutId id="2147483807" r:id="rId79"/>
    <p:sldLayoutId id="2147483808" r:id="rId80"/>
    <p:sldLayoutId id="2147483809" r:id="rId81"/>
    <p:sldLayoutId id="2147483810" r:id="rId82"/>
    <p:sldLayoutId id="2147483811" r:id="rId83"/>
    <p:sldLayoutId id="2147483812" r:id="rId84"/>
    <p:sldLayoutId id="2147483813" r:id="rId85"/>
    <p:sldLayoutId id="2147483814" r:id="rId86"/>
    <p:sldLayoutId id="2147483815" r:id="rId87"/>
    <p:sldLayoutId id="2147483816" r:id="rId88"/>
    <p:sldLayoutId id="2147483817" r:id="rId89"/>
    <p:sldLayoutId id="2147483818" r:id="rId90"/>
    <p:sldLayoutId id="2147483819" r:id="rId91"/>
    <p:sldLayoutId id="2147483820" r:id="rId92"/>
    <p:sldLayoutId id="2147483821" r:id="rId93"/>
    <p:sldLayoutId id="2147483822" r:id="rId94"/>
    <p:sldLayoutId id="2147483823" r:id="rId95"/>
    <p:sldLayoutId id="2147483824" r:id="rId96"/>
    <p:sldLayoutId id="2147483825" r:id="rId97"/>
    <p:sldLayoutId id="2147483826" r:id="rId98"/>
    <p:sldLayoutId id="2147483827" r:id="rId99"/>
    <p:sldLayoutId id="2147483828" r:id="rId100"/>
    <p:sldLayoutId id="2147483829" r:id="rId101"/>
    <p:sldLayoutId id="2147483830" r:id="rId102"/>
    <p:sldLayoutId id="2147483831" r:id="rId103"/>
    <p:sldLayoutId id="2147483832" r:id="rId104"/>
    <p:sldLayoutId id="2147483833" r:id="rId105"/>
    <p:sldLayoutId id="2147483834" r:id="rId106"/>
    <p:sldLayoutId id="2147483835" r:id="rId107"/>
    <p:sldLayoutId id="2147483836" r:id="rId108"/>
    <p:sldLayoutId id="2147483837" r:id="rId109"/>
    <p:sldLayoutId id="2147483838" r:id="rId110"/>
    <p:sldLayoutId id="2147483839" r:id="rId111"/>
    <p:sldLayoutId id="2147483840" r:id="rId112"/>
    <p:sldLayoutId id="2147483841" r:id="rId113"/>
    <p:sldLayoutId id="2147483842" r:id="rId114"/>
    <p:sldLayoutId id="2147483843" r:id="rId115"/>
    <p:sldLayoutId id="2147483844" r:id="rId116"/>
    <p:sldLayoutId id="2147483845" r:id="rId117"/>
    <p:sldLayoutId id="2147483846" r:id="rId118"/>
    <p:sldLayoutId id="2147483847" r:id="rId119"/>
    <p:sldLayoutId id="2147483848" r:id="rId120"/>
    <p:sldLayoutId id="2147483849" r:id="rId121"/>
    <p:sldLayoutId id="2147483850" r:id="rId122"/>
    <p:sldLayoutId id="2147483851" r:id="rId123"/>
    <p:sldLayoutId id="2147483852" r:id="rId124"/>
    <p:sldLayoutId id="2147483853" r:id="rId125"/>
    <p:sldLayoutId id="2147483854" r:id="rId126"/>
    <p:sldLayoutId id="2147483855" r:id="rId127"/>
    <p:sldLayoutId id="2147483856" r:id="rId128"/>
    <p:sldLayoutId id="2147483857" r:id="rId129"/>
    <p:sldLayoutId id="2147483858" r:id="rId130"/>
    <p:sldLayoutId id="2147483859" r:id="rId131"/>
    <p:sldLayoutId id="2147483860" r:id="rId132"/>
    <p:sldLayoutId id="2147483861" r:id="rId133"/>
    <p:sldLayoutId id="2147483862" r:id="rId134"/>
    <p:sldLayoutId id="2147483863" r:id="rId135"/>
    <p:sldLayoutId id="2147483864" r:id="rId136"/>
    <p:sldLayoutId id="2147483865" r:id="rId137"/>
    <p:sldLayoutId id="2147483866" r:id="rId138"/>
    <p:sldLayoutId id="2147483867" r:id="rId139"/>
    <p:sldLayoutId id="2147483868" r:id="rId140"/>
    <p:sldLayoutId id="2147483869" r:id="rId141"/>
    <p:sldLayoutId id="2147483870" r:id="rId142"/>
    <p:sldLayoutId id="2147483871" r:id="rId143"/>
    <p:sldLayoutId id="2147483872" r:id="rId144"/>
    <p:sldLayoutId id="2147483873" r:id="rId145"/>
    <p:sldLayoutId id="2147483874" r:id="rId146"/>
    <p:sldLayoutId id="2147483875" r:id="rId147"/>
    <p:sldLayoutId id="2147483876" r:id="rId148"/>
    <p:sldLayoutId id="2147483877" r:id="rId149"/>
    <p:sldLayoutId id="2147483878" r:id="rId150"/>
    <p:sldLayoutId id="2147483879" r:id="rId151"/>
    <p:sldLayoutId id="2147483880" r:id="rId152"/>
    <p:sldLayoutId id="2147483881" r:id="rId153"/>
    <p:sldLayoutId id="2147483882" r:id="rId154"/>
    <p:sldLayoutId id="2147483883" r:id="rId155"/>
    <p:sldLayoutId id="2147483884" r:id="rId156"/>
    <p:sldLayoutId id="2147483885" r:id="rId157"/>
    <p:sldLayoutId id="2147483886" r:id="rId158"/>
    <p:sldLayoutId id="2147483887" r:id="rId159"/>
    <p:sldLayoutId id="2147483888" r:id="rId160"/>
    <p:sldLayoutId id="2147483889" r:id="rId161"/>
    <p:sldLayoutId id="2147483890" r:id="rId162"/>
    <p:sldLayoutId id="2147483891" r:id="rId163"/>
    <p:sldLayoutId id="2147483892" r:id="rId164"/>
    <p:sldLayoutId id="2147483893" r:id="rId165"/>
    <p:sldLayoutId id="2147483894" r:id="rId166"/>
    <p:sldLayoutId id="2147483895" r:id="rId167"/>
    <p:sldLayoutId id="2147483896" r:id="rId168"/>
    <p:sldLayoutId id="2147483897" r:id="rId169"/>
    <p:sldLayoutId id="2147483898" r:id="rId170"/>
    <p:sldLayoutId id="2147483899" r:id="rId171"/>
    <p:sldLayoutId id="2147483900" r:id="rId172"/>
    <p:sldLayoutId id="2147483901" r:id="rId173"/>
    <p:sldLayoutId id="2147483902" r:id="rId174"/>
    <p:sldLayoutId id="2147483903" r:id="rId175"/>
    <p:sldLayoutId id="2147483904" r:id="rId176"/>
    <p:sldLayoutId id="2147483905" r:id="rId177"/>
    <p:sldLayoutId id="2147483906" r:id="rId178"/>
    <p:sldLayoutId id="2147483907" r:id="rId179"/>
    <p:sldLayoutId id="2147483908" r:id="rId180"/>
    <p:sldLayoutId id="2147483909" r:id="rId181"/>
    <p:sldLayoutId id="2147483910" r:id="rId182"/>
    <p:sldLayoutId id="2147483911" r:id="rId183"/>
    <p:sldLayoutId id="2147483912" r:id="rId184"/>
    <p:sldLayoutId id="2147483913" r:id="rId185"/>
    <p:sldLayoutId id="2147483914" r:id="rId186"/>
    <p:sldLayoutId id="2147483915" r:id="rId187"/>
    <p:sldLayoutId id="2147483916" r:id="rId188"/>
    <p:sldLayoutId id="2147483917" r:id="rId189"/>
    <p:sldLayoutId id="2147483918" r:id="rId190"/>
    <p:sldLayoutId id="2147483919" r:id="rId191"/>
    <p:sldLayoutId id="2147483920" r:id="rId192"/>
    <p:sldLayoutId id="2147483921" r:id="rId193"/>
    <p:sldLayoutId id="2147483922" r:id="rId194"/>
    <p:sldLayoutId id="2147483927" r:id="rId195"/>
    <p:sldLayoutId id="2147483928" r:id="rId196"/>
    <p:sldLayoutId id="2147483929" r:id="rId197"/>
    <p:sldLayoutId id="2147483930" r:id="rId198"/>
    <p:sldLayoutId id="2147483931" r:id="rId199"/>
    <p:sldLayoutId id="2147483932" r:id="rId200"/>
    <p:sldLayoutId id="2147483933" r:id="rId201"/>
    <p:sldLayoutId id="2147483934" r:id="rId202"/>
    <p:sldLayoutId id="2147483935" r:id="rId203"/>
    <p:sldLayoutId id="2147483936" r:id="rId204"/>
    <p:sldLayoutId id="2147483937" r:id="rId205"/>
    <p:sldLayoutId id="2147483938" r:id="rId206"/>
    <p:sldLayoutId id="2147483939" r:id="rId207"/>
    <p:sldLayoutId id="2147483940" r:id="rId208"/>
    <p:sldLayoutId id="2147483941" r:id="rId209"/>
    <p:sldLayoutId id="2147483942" r:id="rId210"/>
    <p:sldLayoutId id="2147483943" r:id="rId211"/>
    <p:sldLayoutId id="2147483944" r:id="rId212"/>
    <p:sldLayoutId id="2147483945" r:id="rId213"/>
    <p:sldLayoutId id="2147483946" r:id="rId214"/>
    <p:sldLayoutId id="2147483947" r:id="rId215"/>
    <p:sldLayoutId id="2147483948" r:id="rId216"/>
    <p:sldLayoutId id="2147483949" r:id="rId217"/>
    <p:sldLayoutId id="2147483950" r:id="rId218"/>
    <p:sldLayoutId id="2147483951" r:id="rId219"/>
    <p:sldLayoutId id="2147483952" r:id="rId220"/>
    <p:sldLayoutId id="2147483953" r:id="rId221"/>
    <p:sldLayoutId id="2147483954" r:id="rId222"/>
    <p:sldLayoutId id="2147483955" r:id="rId223"/>
    <p:sldLayoutId id="2147483956" r:id="rId224"/>
    <p:sldLayoutId id="2147483957" r:id="rId225"/>
    <p:sldLayoutId id="2147483958" r:id="rId226"/>
    <p:sldLayoutId id="2147483959" r:id="rId227"/>
    <p:sldLayoutId id="2147483960" r:id="rId228"/>
    <p:sldLayoutId id="2147483961" r:id="rId229"/>
    <p:sldLayoutId id="2147483962" r:id="rId230"/>
    <p:sldLayoutId id="2147483963" r:id="rId231"/>
    <p:sldLayoutId id="2147483964" r:id="rId232"/>
    <p:sldLayoutId id="2147483965" r:id="rId233"/>
    <p:sldLayoutId id="2147483966" r:id="rId234"/>
    <p:sldLayoutId id="2147483967" r:id="rId235"/>
    <p:sldLayoutId id="2147483968" r:id="rId236"/>
    <p:sldLayoutId id="2147483969" r:id="rId237"/>
    <p:sldLayoutId id="2147484147" r:id="rId238"/>
    <p:sldLayoutId id="2147484168" r:id="rId239"/>
    <p:sldLayoutId id="2147484134" r:id="rId240"/>
    <p:sldLayoutId id="2147484135" r:id="rId241"/>
    <p:sldLayoutId id="2147484136" r:id="rId242"/>
    <p:sldLayoutId id="2147484137" r:id="rId243"/>
    <p:sldLayoutId id="2147484139" r:id="rId24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>
            <a:extLst>
              <a:ext uri="{FF2B5EF4-FFF2-40B4-BE49-F238E27FC236}">
                <a16:creationId xmlns:a16="http://schemas.microsoft.com/office/drawing/2014/main" id="{98BEC0BD-F41C-CBCF-5AFF-DE40A316C99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ECB2BD-A2D9-1C90-6BB8-C1BDEBF4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46378F-0B8E-824F-7061-F0B8FDAA1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56720A-BF36-4CE8-125F-F918FAA2D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E1E2F-4D31-9B9B-7314-A236D0268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EBBFEC-4A6A-6824-5D2B-14170F466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73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  <p:sldLayoutId id="2147483983" r:id="rId13"/>
    <p:sldLayoutId id="2147483984" r:id="rId14"/>
    <p:sldLayoutId id="2147483985" r:id="rId15"/>
    <p:sldLayoutId id="2147483986" r:id="rId16"/>
    <p:sldLayoutId id="2147483987" r:id="rId17"/>
    <p:sldLayoutId id="214748398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>
            <a:extLst>
              <a:ext uri="{FF2B5EF4-FFF2-40B4-BE49-F238E27FC236}">
                <a16:creationId xmlns:a16="http://schemas.microsoft.com/office/drawing/2014/main" id="{98BEC0BD-F41C-CBCF-5AFF-DE40A316C99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ECB2BD-A2D9-1C90-6BB8-C1BDEBF4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46378F-0B8E-824F-7061-F0B8FDAA1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56720A-BF36-4CE8-125F-F918FAA2D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2026/5/13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E1E2F-4D31-9B9B-7314-A236D0268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EBBFEC-4A6A-6824-5D2B-14170F466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1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  <p:sldLayoutId id="2147484020" r:id="rId12"/>
    <p:sldLayoutId id="2147484021" r:id="rId13"/>
    <p:sldLayoutId id="2147484022" r:id="rId14"/>
    <p:sldLayoutId id="2147484023" r:id="rId15"/>
    <p:sldLayoutId id="2147484024" r:id="rId16"/>
    <p:sldLayoutId id="2147484025" r:id="rId17"/>
    <p:sldLayoutId id="214748402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0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0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0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0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41" b="24374"/>
          <a:stretch/>
        </p:blipFill>
        <p:spPr>
          <a:xfrm>
            <a:off x="-1200" y="1"/>
            <a:ext cx="12192000" cy="384697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/>
        </p:blipFill>
        <p:spPr>
          <a:xfrm>
            <a:off x="10049247" y="4157509"/>
            <a:ext cx="1764257" cy="682452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52383340-19C7-181E-D97B-022C24FA2273}"/>
              </a:ext>
            </a:extLst>
          </p:cNvPr>
          <p:cNvSpPr/>
          <p:nvPr/>
        </p:nvSpPr>
        <p:spPr>
          <a:xfrm>
            <a:off x="-1200" y="1"/>
            <a:ext cx="12190800" cy="3821674"/>
          </a:xfrm>
          <a:prstGeom prst="rect">
            <a:avLst/>
          </a:prstGeom>
          <a:gradFill flip="none" rotWithShape="1">
            <a:gsLst>
              <a:gs pos="45000">
                <a:srgbClr val="441351">
                  <a:alpha val="0"/>
                </a:srgbClr>
              </a:gs>
              <a:gs pos="94000">
                <a:srgbClr val="441351">
                  <a:alpha val="72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6608" y="4199769"/>
            <a:ext cx="648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 b="1">
                <a:solidFill>
                  <a:srgbClr val="441351"/>
                </a:solidFill>
                <a:latin typeface="微软雅黑"/>
              </a:rPr>
              <a:t>清华大学经济管理学院 · MBA 学位论文答辩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59160" y="4601341"/>
            <a:ext cx="112543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 dirty="0" err="1">
                <a:solidFill>
                  <a:srgbClr val="000000"/>
                </a:solidFill>
                <a:latin typeface="微软雅黑"/>
              </a:rPr>
              <a:t>互联网公司研发管理面临的困境及应对策略研究</a:t>
            </a:r>
            <a:endParaRPr sz="4000" b="1" dirty="0">
              <a:solidFill>
                <a:srgbClr val="000000"/>
              </a:solidFill>
              <a:latin typeface="微软雅黑"/>
            </a:endParaRPr>
          </a:p>
          <a:p>
            <a:pPr algn="l"/>
            <a:r>
              <a:rPr sz="2600" b="0" dirty="0">
                <a:solidFill>
                  <a:srgbClr val="404040"/>
                </a:solidFill>
                <a:latin typeface="微软雅黑"/>
              </a:rPr>
              <a:t>——</a:t>
            </a:r>
            <a:r>
              <a:rPr sz="2600" b="0" dirty="0" err="1">
                <a:solidFill>
                  <a:srgbClr val="404040"/>
                </a:solidFill>
                <a:latin typeface="微软雅黑"/>
              </a:rPr>
              <a:t>以B公司为例</a:t>
            </a:r>
            <a:endParaRPr sz="26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86608" y="5795420"/>
            <a:ext cx="6718935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600" b="1">
                <a:solidFill>
                  <a:srgbClr val="404040"/>
                </a:solidFill>
                <a:latin typeface="微软雅黑"/>
              </a:rPr>
              <a:t>答辩人：李超    学号：2023211534</a:t>
            </a:r>
          </a:p>
          <a:p>
            <a:pPr algn="l"/>
            <a:r>
              <a:rPr sz="1600" b="1">
                <a:solidFill>
                  <a:srgbClr val="404040"/>
                </a:solidFill>
                <a:latin typeface="微软雅黑"/>
              </a:rPr>
              <a:t>指导教师：肖勇波 教授    日期：2026年5月13日</a:t>
            </a:r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670701" y="5724844"/>
            <a:ext cx="6000963" cy="0"/>
          </a:xfrm>
          <a:prstGeom prst="line">
            <a:avLst/>
          </a:prstGeom>
          <a:ln w="41275" cap="rnd">
            <a:solidFill>
              <a:srgbClr val="441351">
                <a:alpha val="79000"/>
              </a:srgb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55E907FF-ABAB-0EC1-5477-BF33E4133990}"/>
              </a:ext>
            </a:extLst>
          </p:cNvPr>
          <p:cNvSpPr/>
          <p:nvPr/>
        </p:nvSpPr>
        <p:spPr>
          <a:xfrm>
            <a:off x="-1200" y="6680863"/>
            <a:ext cx="12193200" cy="173033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6760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441351"/>
                </a:solidFill>
                <a:latin typeface="Heiti SC"/>
              </a:rPr>
              <a:t>开 场 · 一组数据 · 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 i="0">
                <a:solidFill>
                  <a:srgbClr val="441351"/>
                </a:solidFill>
                <a:latin typeface="Heiti SC"/>
              </a:rPr>
              <a:t>三家头部互联网公司 · 2019 年研发强度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  <a:latin typeface="Songti SC"/>
              </a:rPr>
              <a:t>研发投入占营收比重</a:t>
            </a:r>
          </a:p>
        </p:txBody>
      </p:sp>
      <p:pic>
        <p:nvPicPr>
          <p:cNvPr id="5" name="Picture 4" descr="hook-rd-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286000"/>
            <a:ext cx="7863840" cy="40094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63040" y="5532120"/>
            <a:ext cx="9235440" cy="777240"/>
          </a:xfrm>
          <a:prstGeom prst="rect">
            <a:avLst/>
          </a:prstGeom>
          <a:solidFill>
            <a:srgbClr val="F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5605272"/>
            <a:ext cx="9235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441351"/>
                </a:solidFill>
                <a:latin typeface="Heiti SC"/>
              </a:rPr>
              <a:t>研发投入最多的那家，会是营收增速最快的吗？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961888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C07A15"/>
                </a:solidFill>
                <a:latin typeface="Songti SC"/>
              </a:rPr>
              <a:t>▸ 下一页揭晓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Songti SC"/>
              </a:rPr>
              <a:t>互联网公司研发管理面临的困境及应对策略研究 · 李超 · 2026.05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Songti S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66666"/>
                </a:solidFill>
                <a:latin typeface="微软雅黑"/>
              </a:rPr>
              <a:t>开 场 之 问 · OPENING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86968"/>
            <a:ext cx="1097280" cy="4572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41351"/>
                </a:solidFill>
                <a:latin typeface="微软雅黑"/>
              </a:rPr>
              <a:t>最肯投入研发的公司，为什么不是增长最快的？</a:t>
            </a:r>
          </a:p>
        </p:txBody>
      </p:sp>
      <p:pic>
        <p:nvPicPr>
          <p:cNvPr id="7" name="Picture 6" descr="hook-bat-2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76" y="1874519"/>
            <a:ext cx="73152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742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222222"/>
                </a:solidFill>
                <a:latin typeface="微软雅黑"/>
              </a:rPr>
              <a:t>研发强度最高的百度，营收增速仅 5.1%；研发强度仅为其一半的阿里，营收增速达 50.6%。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996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>
                <a:solidFill>
                  <a:srgbClr val="222222"/>
                </a:solidFill>
                <a:latin typeface="微软雅黑"/>
              </a:rPr>
              <a:t>答案不在「投入多少</a:t>
            </a:r>
            <a:r>
              <a:rPr sz="1600" b="1" dirty="0">
                <a:solidFill>
                  <a:srgbClr val="222222"/>
                </a:solidFill>
                <a:latin typeface="微软雅黑"/>
              </a:rPr>
              <a:t>」，</a:t>
            </a:r>
            <a:r>
              <a:rPr sz="1600" b="1" dirty="0" err="1">
                <a:solidFill>
                  <a:srgbClr val="222222"/>
                </a:solidFill>
                <a:latin typeface="微软雅黑"/>
              </a:rPr>
              <a:t>而在「投入如何流动</a:t>
            </a:r>
            <a:r>
              <a:rPr sz="1600" b="1" dirty="0">
                <a:solidFill>
                  <a:srgbClr val="222222"/>
                </a:solidFill>
                <a:latin typeface="微软雅黑"/>
              </a:rPr>
              <a:t>」—— </a:t>
            </a:r>
            <a:r>
              <a:rPr sz="1600" b="1" i="1" dirty="0" err="1">
                <a:solidFill>
                  <a:srgbClr val="C07A15"/>
                </a:solidFill>
                <a:latin typeface="Cambria Math"/>
              </a:rPr>
              <a:t>η</a:t>
            </a:r>
            <a:r>
              <a:rPr sz="1300" b="1" baseline="-25000" dirty="0" err="1">
                <a:solidFill>
                  <a:srgbClr val="C07A15"/>
                </a:solidFill>
                <a:latin typeface="Cambria Math"/>
              </a:rPr>
              <a:t>TA</a:t>
            </a:r>
            <a:r>
              <a:rPr sz="1600" b="1" dirty="0">
                <a:solidFill>
                  <a:srgbClr val="C07A15"/>
                </a:solidFill>
                <a:latin typeface="微软雅黑"/>
              </a:rPr>
              <a:t>  </a:t>
            </a:r>
            <a:r>
              <a:rPr sz="1600" b="1" dirty="0" err="1">
                <a:solidFill>
                  <a:srgbClr val="C07A15"/>
                </a:solidFill>
                <a:latin typeface="微软雅黑"/>
              </a:rPr>
              <a:t>技术资产周转率</a:t>
            </a:r>
            <a:endParaRPr sz="1600" b="1" dirty="0">
              <a:solidFill>
                <a:srgbClr val="C07A15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66666"/>
                </a:solidFill>
                <a:latin typeface="微软雅黑"/>
              </a:rPr>
              <a:t>数据来源：百度/腾讯 2019 年报（自然年口径），阿里巴巴 FY2019 年报（截至 2019 年 3 月）</a:t>
            </a:r>
          </a:p>
        </p:txBody>
      </p:sp>
    </p:spTree>
    <p:extLst>
      <p:ext uri="{BB962C8B-B14F-4D97-AF65-F5344CB8AC3E}">
        <p14:creationId xmlns:p14="http://schemas.microsoft.com/office/powerpoint/2010/main" val="1570222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1729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441351"/>
              </a:gs>
              <a:gs pos="62000">
                <a:schemeClr val="accent1">
                  <a:alpha val="0"/>
                </a:schemeClr>
              </a:gs>
            </a:gsLst>
            <a:lin ang="17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" y="701040"/>
            <a:ext cx="12192000" cy="5434275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8346" y="1337809"/>
            <a:ext cx="187743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441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270319" y="1972681"/>
            <a:ext cx="24811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441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cxnSp>
        <p:nvCxnSpPr>
          <p:cNvPr id="13" name="直线连接符 16"/>
          <p:cNvCxnSpPr/>
          <p:nvPr/>
        </p:nvCxnSpPr>
        <p:spPr>
          <a:xfrm>
            <a:off x="931551" y="2672187"/>
            <a:ext cx="7692814" cy="0"/>
          </a:xfrm>
          <a:prstGeom prst="line">
            <a:avLst/>
          </a:prstGeom>
          <a:ln w="38100">
            <a:solidFill>
              <a:srgbClr val="441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359470" y="2886569"/>
            <a:ext cx="35157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lnSpc>
                <a:spcPct val="250000"/>
              </a:lnSpc>
            </a:pPr>
            <a:r>
              <a:rPr lang="en-US" altLang="zh-CN" sz="2400" b="1" dirty="0">
                <a:solidFill>
                  <a:srgbClr val="441351"/>
                </a:solidFill>
                <a:latin typeface="微软雅黑"/>
              </a:rPr>
              <a:t>01</a:t>
            </a:r>
            <a:r>
              <a:rPr lang="zh-CN" altLang="en-US" sz="2400" b="1" dirty="0">
                <a:solidFill>
                  <a:srgbClr val="441351"/>
                </a:solidFill>
                <a:latin typeface="微软雅黑"/>
              </a:rPr>
              <a:t>  </a:t>
            </a:r>
            <a:r>
              <a:rPr sz="2400" b="1" dirty="0" err="1">
                <a:solidFill>
                  <a:srgbClr val="441351"/>
                </a:solidFill>
                <a:latin typeface="微软雅黑"/>
              </a:rPr>
              <a:t>研究背景与问题</a:t>
            </a:r>
            <a:endParaRPr sz="2400" b="1" dirty="0">
              <a:solidFill>
                <a:srgbClr val="441351"/>
              </a:solidFill>
              <a:latin typeface="微软雅黑"/>
            </a:endParaRPr>
          </a:p>
          <a:p>
            <a:pPr algn="l"/>
            <a:endParaRPr sz="2400" b="1" dirty="0">
              <a:solidFill>
                <a:srgbClr val="441351"/>
              </a:solidFill>
              <a:latin typeface="微软雅黑"/>
            </a:endParaRPr>
          </a:p>
          <a:p>
            <a:pPr algn="l"/>
            <a:r>
              <a:rPr sz="2400" b="1" dirty="0">
                <a:solidFill>
                  <a:srgbClr val="441351"/>
                </a:solidFill>
                <a:latin typeface="微软雅黑"/>
              </a:rPr>
              <a:t>02  </a:t>
            </a:r>
            <a:r>
              <a:rPr sz="2400" b="1" dirty="0" err="1">
                <a:solidFill>
                  <a:srgbClr val="441351"/>
                </a:solidFill>
                <a:latin typeface="微软雅黑"/>
              </a:rPr>
              <a:t>理论框架与分析工具</a:t>
            </a:r>
            <a:endParaRPr sz="2400" b="1" dirty="0">
              <a:solidFill>
                <a:srgbClr val="441351"/>
              </a:solidFill>
              <a:latin typeface="微软雅黑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875980" y="2886569"/>
            <a:ext cx="320792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lnSpc>
                <a:spcPct val="250000"/>
              </a:lnSpc>
            </a:pPr>
            <a:r>
              <a:rPr sz="2400" b="1" dirty="0">
                <a:solidFill>
                  <a:srgbClr val="441351"/>
                </a:solidFill>
                <a:latin typeface="微软雅黑"/>
              </a:rPr>
              <a:t>03  </a:t>
            </a:r>
            <a:r>
              <a:rPr sz="2400" b="1" dirty="0" err="1">
                <a:solidFill>
                  <a:srgbClr val="441351"/>
                </a:solidFill>
                <a:latin typeface="微软雅黑"/>
              </a:rPr>
              <a:t>B公司案例分析</a:t>
            </a:r>
            <a:endParaRPr sz="2400" b="1" dirty="0">
              <a:solidFill>
                <a:srgbClr val="441351"/>
              </a:solidFill>
              <a:latin typeface="微软雅黑"/>
            </a:endParaRPr>
          </a:p>
          <a:p>
            <a:pPr algn="l"/>
            <a:endParaRPr sz="2400" b="1" dirty="0">
              <a:solidFill>
                <a:srgbClr val="441351"/>
              </a:solidFill>
              <a:latin typeface="微软雅黑"/>
            </a:endParaRPr>
          </a:p>
          <a:p>
            <a:pPr algn="l"/>
            <a:r>
              <a:rPr sz="2400" b="1" dirty="0">
                <a:solidFill>
                  <a:srgbClr val="441351"/>
                </a:solidFill>
                <a:latin typeface="微软雅黑"/>
              </a:rPr>
              <a:t>04  </a:t>
            </a:r>
            <a:r>
              <a:rPr sz="2400" b="1" dirty="0" err="1">
                <a:solidFill>
                  <a:srgbClr val="441351"/>
                </a:solidFill>
                <a:latin typeface="微软雅黑"/>
              </a:rPr>
              <a:t>诊断、对策与结论</a:t>
            </a:r>
            <a:endParaRPr sz="2400" b="1" dirty="0">
              <a:solidFill>
                <a:srgbClr val="441351"/>
              </a:solidFill>
              <a:latin typeface="微软雅黑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13576" y="3746611"/>
            <a:ext cx="3552276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10000"/>
              </a:lnSpc>
            </a:pPr>
            <a:r>
              <a:rPr sz="1300" b="0">
                <a:solidFill>
                  <a:srgbClr val="404040"/>
                </a:solidFill>
                <a:latin typeface="微软雅黑"/>
              </a:rPr>
              <a:t>行业拐点 · 研究问题三问 · 研究意义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858364" y="4633957"/>
            <a:ext cx="3480357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10000"/>
              </a:lnSpc>
            </a:pPr>
            <a:r>
              <a:rPr sz="1300" b="0" dirty="0">
                <a:solidFill>
                  <a:srgbClr val="404040"/>
                </a:solidFill>
                <a:latin typeface="微软雅黑"/>
              </a:rPr>
              <a:t>TA/TD · Team Topologies · DORA · Conway's Law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466656" y="3763732"/>
            <a:ext cx="3499470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10000"/>
              </a:lnSpc>
            </a:pPr>
            <a:r>
              <a:rPr sz="1300" b="0" dirty="0" err="1">
                <a:solidFill>
                  <a:srgbClr val="404040"/>
                </a:solidFill>
                <a:latin typeface="微软雅黑"/>
              </a:rPr>
              <a:t>组织演变 · TT 映射 · DORA · </a:t>
            </a:r>
            <a:r>
              <a:rPr sz="1300" b="0" i="1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1066" b="0" i="0" baseline="-25000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300" b="0" dirty="0" err="1">
                <a:solidFill>
                  <a:srgbClr val="404040"/>
                </a:solidFill>
                <a:latin typeface="微软雅黑"/>
              </a:rPr>
              <a:t> 指标</a:t>
            </a:r>
            <a:endParaRPr sz="13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39525" y="4637110"/>
            <a:ext cx="3822784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10000"/>
              </a:lnSpc>
            </a:pPr>
            <a:r>
              <a:rPr sz="1300" b="0" dirty="0" err="1">
                <a:solidFill>
                  <a:srgbClr val="404040"/>
                </a:solidFill>
                <a:latin typeface="微软雅黑"/>
              </a:rPr>
              <a:t>三重制度失效</a:t>
            </a:r>
            <a:r>
              <a:rPr sz="1300" b="0" dirty="0">
                <a:solidFill>
                  <a:srgbClr val="404040"/>
                </a:solidFill>
                <a:latin typeface="微软雅黑"/>
              </a:rPr>
              <a:t> · </a:t>
            </a:r>
            <a:r>
              <a:rPr sz="1300" b="0" dirty="0" err="1">
                <a:solidFill>
                  <a:srgbClr val="404040"/>
                </a:solidFill>
                <a:latin typeface="微软雅黑"/>
              </a:rPr>
              <a:t>错配成本</a:t>
            </a:r>
            <a:r>
              <a:rPr sz="1300" b="0" dirty="0">
                <a:solidFill>
                  <a:srgbClr val="404040"/>
                </a:solidFill>
                <a:latin typeface="微软雅黑"/>
              </a:rPr>
              <a:t> · </a:t>
            </a:r>
            <a:r>
              <a:rPr sz="1300" b="0" dirty="0" err="1">
                <a:solidFill>
                  <a:srgbClr val="404040"/>
                </a:solidFill>
                <a:latin typeface="微软雅黑"/>
              </a:rPr>
              <a:t>制度重构</a:t>
            </a:r>
            <a:r>
              <a:rPr sz="1300" b="0" dirty="0">
                <a:solidFill>
                  <a:srgbClr val="404040"/>
                </a:solidFill>
                <a:latin typeface="微软雅黑"/>
              </a:rPr>
              <a:t> · </a:t>
            </a:r>
            <a:r>
              <a:rPr sz="1300" b="0" dirty="0" err="1">
                <a:solidFill>
                  <a:srgbClr val="404040"/>
                </a:solidFill>
                <a:latin typeface="微软雅黑"/>
              </a:rPr>
              <a:t>结论展望</a:t>
            </a:r>
            <a:endParaRPr sz="1300" b="0" dirty="0">
              <a:solidFill>
                <a:srgbClr val="404040"/>
              </a:solidFill>
              <a:latin typeface="微软雅黑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5904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96B6-EA28-3B48-2698-0CA8CEAA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/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6" name="小李PPT13">
            <a:extLst>
              <a:ext uri="{FF2B5EF4-FFF2-40B4-BE49-F238E27FC236}">
                <a16:creationId xmlns:a16="http://schemas.microsoft.com/office/drawing/2014/main" id="{A5238570-DEB2-D0A8-AF3D-29C5259EC032}"/>
              </a:ext>
            </a:extLst>
          </p:cNvPr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581969"/>
                </a:solidFill>
                <a:latin typeface="微软雅黑"/>
              </a:rPr>
              <a:t>研究背景与问题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6C4D00-9D23-8E0B-229E-7065F1473922}"/>
              </a:ext>
            </a:extLst>
          </p:cNvPr>
          <p:cNvSpPr txBox="1"/>
          <p:nvPr/>
        </p:nvSpPr>
        <p:spPr>
          <a:xfrm>
            <a:off x="588431" y="4639544"/>
            <a:ext cx="4076164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spcAft>
                <a:spcPts val="1000"/>
              </a:spcAft>
              <a:defRPr/>
            </a:pPr>
            <a:r>
              <a:rPr sz="1500" b="0" dirty="0" err="1">
                <a:solidFill>
                  <a:srgbClr val="000000"/>
                </a:solidFill>
                <a:latin typeface="微软雅黑"/>
              </a:rPr>
              <a:t>互联网研发从增量红利走入存量调整期，职能型架构在高协作、低响应、技术负债三条线上暴露结构性缺陷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7FB1AC7-9BE2-2A16-D3D4-81887C4A4DD4}"/>
              </a:ext>
            </a:extLst>
          </p:cNvPr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0" b="1">
                <a:solidFill>
                  <a:srgbClr val="581969"/>
                </a:solidFill>
                <a:latin typeface="微软雅黑"/>
              </a:rPr>
              <a:t>01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581969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6C8E0C02-67E7-75AE-D52B-E131DD8FB6E0}"/>
              </a:ext>
            </a:extLst>
          </p:cNvPr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581969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64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01  研究背景与问题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行业拐点与三条研究主线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6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703320" cy="1691640"/>
          </a:xfrm>
          <a:prstGeom prst="roundRect">
            <a:avLst/>
          </a:prstGeom>
          <a:solidFill>
            <a:srgbClr val="F5F0F8"/>
          </a:solidFill>
          <a:ln w="6350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● 增长拐点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99" y="2331720"/>
            <a:ext cx="2940627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 err="1">
                <a:solidFill>
                  <a:srgbClr val="404040"/>
                </a:solidFill>
                <a:latin typeface="微软雅黑"/>
              </a:rPr>
              <a:t>中国互联网流量红利见顶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
网民增速：12% → 2%
</a:t>
            </a:r>
            <a:r>
              <a:rPr sz="1600" b="0" dirty="0" err="1">
                <a:solidFill>
                  <a:srgbClr val="404040"/>
                </a:solidFill>
                <a:latin typeface="微软雅黑"/>
              </a:rPr>
              <a:t>存量博弈取代增量扩张</a:t>
            </a:r>
            <a:endParaRPr sz="16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703320" cy="1691640"/>
          </a:xfrm>
          <a:prstGeom prst="roundRect">
            <a:avLst/>
          </a:prstGeom>
          <a:solidFill>
            <a:srgbClr val="F5F0F8"/>
          </a:solidFill>
          <a:ln w="6350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● 技术冲击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31720"/>
            <a:ext cx="237328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 err="1">
                <a:solidFill>
                  <a:srgbClr val="404040"/>
                </a:solidFill>
                <a:latin typeface="微软雅黑"/>
              </a:rPr>
              <a:t>生成式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 AI </a:t>
            </a:r>
            <a:r>
              <a:rPr sz="1600" b="0" dirty="0" err="1">
                <a:solidFill>
                  <a:srgbClr val="404040"/>
                </a:solidFill>
                <a:latin typeface="微软雅黑"/>
              </a:rPr>
              <a:t>重构研发范式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
</a:t>
            </a:r>
            <a:r>
              <a:rPr sz="1600" b="0" dirty="0" err="1">
                <a:solidFill>
                  <a:srgbClr val="404040"/>
                </a:solidFill>
                <a:latin typeface="微软雅黑"/>
              </a:rPr>
              <a:t>代码生产效率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 +</a:t>
            </a:r>
            <a:r>
              <a:rPr lang="en-US" altLang="zh-CN" sz="1600" b="0" dirty="0">
                <a:solidFill>
                  <a:srgbClr val="404040"/>
                </a:solidFill>
                <a:latin typeface="微软雅黑"/>
              </a:rPr>
              <a:t>10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0%
AI </a:t>
            </a:r>
            <a:r>
              <a:rPr sz="1600" b="0" dirty="0" err="1">
                <a:solidFill>
                  <a:srgbClr val="404040"/>
                </a:solidFill>
                <a:latin typeface="微软雅黑"/>
              </a:rPr>
              <a:t>原生产品形态涌现</a:t>
            </a:r>
            <a:endParaRPr sz="16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83880" y="1783080"/>
            <a:ext cx="3703320" cy="1691640"/>
          </a:xfrm>
          <a:prstGeom prst="roundRect">
            <a:avLst/>
          </a:prstGeom>
          <a:solidFill>
            <a:srgbClr val="F5F0F8"/>
          </a:solidFill>
          <a:ln w="6350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● 组织缺陷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31720"/>
            <a:ext cx="313944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 err="1">
                <a:solidFill>
                  <a:srgbClr val="404040"/>
                </a:solidFill>
                <a:latin typeface="微软雅黑"/>
              </a:rPr>
              <a:t>职能型架构暴露结构性缺陷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
</a:t>
            </a:r>
            <a:r>
              <a:rPr sz="1600" b="0" dirty="0" err="1">
                <a:solidFill>
                  <a:srgbClr val="404040"/>
                </a:solidFill>
                <a:latin typeface="微软雅黑"/>
              </a:rPr>
              <a:t>协作成本爆炸、响应迟缓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
</a:t>
            </a:r>
            <a:r>
              <a:rPr sz="1600" b="0" dirty="0" err="1">
                <a:solidFill>
                  <a:srgbClr val="404040"/>
                </a:solidFill>
                <a:latin typeface="微软雅黑"/>
              </a:rPr>
              <a:t>技术负债累积</a:t>
            </a:r>
            <a:endParaRPr sz="16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3794760"/>
            <a:ext cx="11155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441351"/>
                </a:solidFill>
                <a:latin typeface="微软雅黑"/>
              </a:rPr>
              <a:t>▸ 面向中国互联网大厂研发管理转型，本研究提出三条递进式研究问题：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297680"/>
            <a:ext cx="502920" cy="502920"/>
          </a:xfrm>
          <a:prstGeom prst="ellipse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Q1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9768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581969"/>
                </a:solidFill>
                <a:latin typeface="微软雅黑"/>
              </a:rPr>
              <a:t>组织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709160"/>
            <a:ext cx="2971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微软雅黑"/>
              </a:rPr>
              <a:t>如何从职能型架构演进到面向业务流的产品型组织？</a:t>
            </a:r>
          </a:p>
        </p:txBody>
      </p:sp>
      <p:sp>
        <p:nvSpPr>
          <p:cNvPr id="23" name="Oval 22"/>
          <p:cNvSpPr/>
          <p:nvPr/>
        </p:nvSpPr>
        <p:spPr>
          <a:xfrm>
            <a:off x="4343400" y="4297680"/>
            <a:ext cx="502920" cy="502920"/>
          </a:xfrm>
          <a:prstGeom prst="ellipse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429768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Q2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29768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581969"/>
                </a:solidFill>
                <a:latin typeface="微软雅黑"/>
              </a:rPr>
              <a:t>效能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709160"/>
            <a:ext cx="2971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微软雅黑"/>
              </a:rPr>
              <a:t>如何用可观测指标量化组织转型的真实成效？</a:t>
            </a:r>
          </a:p>
        </p:txBody>
      </p:sp>
      <p:sp>
        <p:nvSpPr>
          <p:cNvPr id="27" name="Oval 26"/>
          <p:cNvSpPr/>
          <p:nvPr/>
        </p:nvSpPr>
        <p:spPr>
          <a:xfrm>
            <a:off x="8183880" y="4297680"/>
            <a:ext cx="502920" cy="502920"/>
          </a:xfrm>
          <a:prstGeom prst="ellipse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83880" y="429768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Q3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29768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581969"/>
                </a:solidFill>
                <a:latin typeface="微软雅黑"/>
              </a:rPr>
              <a:t>资产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709160"/>
            <a:ext cx="2971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微软雅黑"/>
              </a:rPr>
              <a:t>如何让技术资产从组织的沉没成本转变为可复用价值？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研究意义：将工程实践领域的产品型组织理论引入管理学研究框架，为中国互联网企业研发转型提供理论指导与实践参考。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96B6-EA28-3B48-2698-0CA8CEAA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/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F66C4D00-9D23-8E0B-229E-7065F1473922}"/>
              </a:ext>
            </a:extLst>
          </p:cNvPr>
          <p:cNvSpPr txBox="1"/>
          <p:nvPr/>
        </p:nvSpPr>
        <p:spPr>
          <a:xfrm>
            <a:off x="588431" y="4639544"/>
            <a:ext cx="7287878" cy="872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 dirty="0" err="1">
                <a:solidFill>
                  <a:srgbClr val="000000"/>
                </a:solidFill>
                <a:latin typeface="微软雅黑"/>
              </a:rPr>
              <a:t>整合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TA/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TD、Team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Topologies、DORA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四指标、Conway's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Law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四组分析工具</a:t>
            </a:r>
            <a:r>
              <a:rPr lang="zh-CN" altLang="en-US" sz="1500" b="0" dirty="0">
                <a:solidFill>
                  <a:srgbClr val="000000"/>
                </a:solidFill>
                <a:latin typeface="微软雅黑"/>
              </a:rPr>
              <a:t>。</a:t>
            </a:r>
            <a:endParaRPr lang="en-US" altLang="zh-CN" sz="1500" b="0" dirty="0">
              <a:solidFill>
                <a:srgbClr val="000000"/>
              </a:solidFill>
              <a:latin typeface="微软雅黑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 dirty="0" err="1">
                <a:solidFill>
                  <a:srgbClr val="000000"/>
                </a:solidFill>
                <a:latin typeface="微软雅黑"/>
              </a:rPr>
              <a:t>构建"组织拓扑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—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效能度量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—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技术资产治理"三位一体框架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sp>
        <p:nvSpPr>
          <p:cNvPr id="22" name="小李PPT13">
            <a:extLst>
              <a:ext uri="{FF2B5EF4-FFF2-40B4-BE49-F238E27FC236}">
                <a16:creationId xmlns:a16="http://schemas.microsoft.com/office/drawing/2014/main" id="{A5238570-DEB2-D0A8-AF3D-29C5259EC032}"/>
              </a:ext>
            </a:extLst>
          </p:cNvPr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581969"/>
                </a:solidFill>
                <a:latin typeface="微软雅黑"/>
              </a:rPr>
              <a:t>理论框架与分析工具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FB1AC7-9BE2-2A16-D3D4-81887C4A4DD4}"/>
              </a:ext>
            </a:extLst>
          </p:cNvPr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0" b="1">
                <a:solidFill>
                  <a:srgbClr val="581969"/>
                </a:solidFill>
                <a:latin typeface="微软雅黑"/>
              </a:rPr>
              <a:t>02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形状 5">
            <a:extLst>
              <a:ext uri="{FF2B5EF4-FFF2-40B4-BE49-F238E27FC236}">
                <a16:creationId xmlns:a16="http://schemas.microsoft.com/office/drawing/2014/main" id="{6C8E0C02-67E7-75AE-D52B-E131DD8FB6E0}"/>
              </a:ext>
            </a:extLst>
          </p:cNvPr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912C8D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6816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02  理论框架与分析工具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四组分析工具 + 三位一体研究框架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8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697480" cy="1828800"/>
          </a:xfrm>
          <a:prstGeom prst="rect">
            <a:avLst/>
          </a:prstGeom>
          <a:solidFill>
            <a:srgbClr val="FAF5FC"/>
          </a:solidFill>
          <a:ln w="952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92807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① TA / 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514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微软雅黑"/>
              </a:rPr>
              <a:t>技术资产与技术负债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514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Cunningham 1993
Kruchten et al. 2012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64408"/>
            <a:ext cx="457200" cy="27432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25146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81969"/>
                </a:solidFill>
                <a:latin typeface="微软雅黑"/>
              </a:rPr>
              <a:t>价值存量视角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1783080"/>
            <a:ext cx="2697480" cy="1828800"/>
          </a:xfrm>
          <a:prstGeom prst="rect">
            <a:avLst/>
          </a:prstGeom>
          <a:solidFill>
            <a:srgbClr val="FAF5FC"/>
          </a:solidFill>
          <a:ln w="952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47288" y="1892807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② Team Topologies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286000"/>
            <a:ext cx="2514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微软雅黑"/>
              </a:rPr>
              <a:t>四类团队拓扑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651760"/>
            <a:ext cx="2514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Skelton &amp; Pais 2019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7288" y="3264408"/>
            <a:ext cx="457200" cy="27432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3447288" y="3310128"/>
            <a:ext cx="25146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81969"/>
                </a:solidFill>
                <a:latin typeface="微软雅黑"/>
              </a:rPr>
              <a:t>组织设计视角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17336" y="1783080"/>
            <a:ext cx="2697480" cy="1828800"/>
          </a:xfrm>
          <a:prstGeom prst="rect">
            <a:avLst/>
          </a:prstGeom>
          <a:solidFill>
            <a:srgbClr val="FAF5FC"/>
          </a:solidFill>
          <a:ln w="952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54496" y="1892807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③ DORA 四指标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2286000"/>
            <a:ext cx="2514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微软雅黑"/>
              </a:rPr>
              <a:t>DevOps 效能度量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2651760"/>
            <a:ext cx="2514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Forsgren et al. 2018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3264408"/>
            <a:ext cx="457200" cy="27432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6254496" y="3310128"/>
            <a:ext cx="25146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81969"/>
                </a:solidFill>
                <a:latin typeface="微软雅黑"/>
              </a:rPr>
              <a:t>效能度量视角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24544" y="1783080"/>
            <a:ext cx="2697480" cy="1828800"/>
          </a:xfrm>
          <a:prstGeom prst="rect">
            <a:avLst/>
          </a:prstGeom>
          <a:solidFill>
            <a:srgbClr val="FAF5FC"/>
          </a:solidFill>
          <a:ln w="952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1704" y="1892807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④ Conway's Law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4" y="2286000"/>
            <a:ext cx="2514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微软雅黑"/>
              </a:rPr>
              <a:t>反向康威定律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1704" y="2651760"/>
            <a:ext cx="2514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Conway 1968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61704" y="3264408"/>
            <a:ext cx="457200" cy="27432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9061704" y="3310128"/>
            <a:ext cx="25146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81969"/>
                </a:solidFill>
                <a:latin typeface="微软雅黑"/>
              </a:rPr>
              <a:t>组织—架构同构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977639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441351"/>
                </a:solidFill>
                <a:latin typeface="微软雅黑"/>
              </a:rPr>
              <a:t>▸ 三位一体研究框架：组织拓扑 → 效能度量 → 资产治理（构成闭环）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5" y="4480559"/>
            <a:ext cx="3291840" cy="1234440"/>
          </a:xfrm>
          <a:prstGeom prst="round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955" y="4645151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组织拓扑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5" y="5166359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Team Topologies + Conway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110228" y="4983479"/>
            <a:ext cx="310896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448555" y="4480559"/>
            <a:ext cx="3291840" cy="1234440"/>
          </a:xfrm>
          <a:prstGeom prst="roundRect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48555" y="4645151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效能度量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8555" y="5166359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DORA 四指标 + </a:t>
            </a:r>
            <a:r>
              <a:rPr sz="1300" b="0" i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1066" b="0" i="0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TA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767827" y="4983479"/>
            <a:ext cx="310896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106156" y="4480559"/>
            <a:ext cx="3291840" cy="1234440"/>
          </a:xfrm>
          <a:prstGeom prst="roundRect">
            <a:avLst/>
          </a:prstGeom>
          <a:solidFill>
            <a:srgbClr val="C9A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06156" y="4645151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资产治理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6156" y="5166359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TA/TD 价值核算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852159"/>
            <a:ext cx="1115568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808080"/>
                </a:solidFill>
                <a:latin typeface="微软雅黑"/>
              </a:rPr>
              <a:t>互馈闭环：组织重构↔效能反馈↔资产沉淀——任一环节断裂，转型即失速。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96B6-EA28-3B48-2698-0CA8CEAA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/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8" name="矩形 27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小李PPT13">
            <a:extLst>
              <a:ext uri="{FF2B5EF4-FFF2-40B4-BE49-F238E27FC236}">
                <a16:creationId xmlns:a16="http://schemas.microsoft.com/office/drawing/2014/main" id="{A5238570-DEB2-D0A8-AF3D-29C5259EC032}"/>
              </a:ext>
            </a:extLst>
          </p:cNvPr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581969"/>
                </a:solidFill>
                <a:latin typeface="微软雅黑"/>
              </a:rPr>
              <a:t>B公司案例分析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6C4D00-9D23-8E0B-229E-7065F1473922}"/>
              </a:ext>
            </a:extLst>
          </p:cNvPr>
          <p:cNvSpPr txBox="1"/>
          <p:nvPr/>
        </p:nvSpPr>
        <p:spPr>
          <a:xfrm>
            <a:off x="588430" y="4639544"/>
            <a:ext cx="5625333" cy="748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spcAft>
                <a:spcPts val="1000"/>
              </a:spcAft>
              <a:defRPr/>
            </a:pPr>
            <a:r>
              <a:rPr sz="1500" b="0" dirty="0" err="1">
                <a:solidFill>
                  <a:srgbClr val="000000"/>
                </a:solidFill>
                <a:latin typeface="微软雅黑"/>
              </a:rPr>
              <a:t>从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TPG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阶段职能型结构出发，经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BMU+AMU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双BU架构完成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Team Topologies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映射，以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DORA + </a:t>
            </a:r>
            <a:r>
              <a:rPr sz="1500" b="0" i="1" dirty="0" err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1230" b="0" i="0" baseline="-25000" dirty="0" err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指标量化转型成效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7FB1AC7-9BE2-2A16-D3D4-81887C4A4DD4}"/>
              </a:ext>
            </a:extLst>
          </p:cNvPr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0" b="1">
                <a:solidFill>
                  <a:srgbClr val="581969"/>
                </a:solidFill>
                <a:latin typeface="微软雅黑"/>
              </a:rPr>
              <a:t>03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6A69B6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6C8E0C02-67E7-75AE-D52B-E131DD8FB6E0}"/>
              </a:ext>
            </a:extLst>
          </p:cNvPr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6A69B6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1798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03  B公司案例分析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B公司研发组织关键演变节点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10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222"/>
                </a:solidFill>
                <a:latin typeface="微软雅黑"/>
              </a:rPr>
              <a:t>关键组织决策节点及其后果：汇报线变动触发"资源分配逻辑"的根本性转变。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3474720"/>
            <a:ext cx="11183112" cy="0"/>
          </a:xfrm>
          <a:prstGeom prst="line">
            <a:avLst/>
          </a:prstGeom>
          <a:ln w="19050">
            <a:solidFill>
              <a:srgbClr val="441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0916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7A3E"/>
                </a:solidFill>
                <a:latin typeface="微软雅黑"/>
              </a:rPr>
              <a:t>2013 前后</a:t>
            </a:r>
          </a:p>
          <a:p>
            <a:pPr algn="ctr"/>
            <a:r>
              <a:rPr sz="1200" b="1">
                <a:solidFill>
                  <a:srgbClr val="1F7A3E"/>
                </a:solidFill>
                <a:latin typeface="微软雅黑"/>
              </a:rPr>
              <a:t>Apollo 事业部成立</a:t>
            </a:r>
          </a:p>
        </p:txBody>
      </p:sp>
      <p:sp>
        <p:nvSpPr>
          <p:cNvPr id="12" name="Oval 11"/>
          <p:cNvSpPr/>
          <p:nvPr/>
        </p:nvSpPr>
        <p:spPr>
          <a:xfrm>
            <a:off x="1751076" y="3383280"/>
            <a:ext cx="182880" cy="182880"/>
          </a:xfrm>
          <a:prstGeom prst="ellipse">
            <a:avLst/>
          </a:prstGeom>
          <a:solidFill>
            <a:srgbClr val="1F7A3E"/>
          </a:solidFill>
          <a:ln>
            <a:solidFill>
              <a:srgbClr val="1F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0916" y="3749039"/>
            <a:ext cx="2743200" cy="1554480"/>
          </a:xfrm>
          <a:prstGeom prst="roundRect">
            <a:avLst/>
          </a:prstGeom>
          <a:solidFill>
            <a:srgbClr val="F5F0F5"/>
          </a:solidFill>
          <a:ln w="19050">
            <a:solidFill>
              <a:srgbClr val="1F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28016" rIns="137160" bIns="91440" rtlCol="0" anchor="ctr"/>
          <a:lstStyle/>
          <a:p>
            <a:pPr algn="l"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微软雅黑"/>
              </a:rPr>
              <a:t>▸ 直属集团 IDG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微软雅黑"/>
              </a:rPr>
              <a:t>▸ （技术序列汇报）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微软雅黑"/>
              </a:rPr>
              <a:t>▸ 行业第一的无人车团队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5556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07A15"/>
                </a:solidFill>
                <a:latin typeface="微软雅黑"/>
              </a:rPr>
              <a:t>此后</a:t>
            </a:r>
          </a:p>
          <a:p>
            <a:pPr algn="ctr"/>
            <a:r>
              <a:rPr sz="1200" b="1">
                <a:solidFill>
                  <a:srgbClr val="C07A15"/>
                </a:solidFill>
                <a:latin typeface="微软雅黑"/>
              </a:rPr>
              <a:t>汇报线调整</a:t>
            </a:r>
          </a:p>
        </p:txBody>
      </p:sp>
      <p:sp>
        <p:nvSpPr>
          <p:cNvPr id="15" name="Oval 14"/>
          <p:cNvSpPr/>
          <p:nvPr/>
        </p:nvSpPr>
        <p:spPr>
          <a:xfrm>
            <a:off x="4585716" y="3383280"/>
            <a:ext cx="182880" cy="182880"/>
          </a:xfrm>
          <a:prstGeom prst="ellipse">
            <a:avLst/>
          </a:prstGeom>
          <a:solidFill>
            <a:srgbClr val="C07A15"/>
          </a:solidFill>
          <a:ln>
            <a:solidFill>
              <a:srgbClr val="C07A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05556" y="3749039"/>
            <a:ext cx="2743200" cy="1554480"/>
          </a:xfrm>
          <a:prstGeom prst="roundRect">
            <a:avLst/>
          </a:prstGeom>
          <a:solidFill>
            <a:srgbClr val="F5F0F5"/>
          </a:solidFill>
          <a:ln w="19050">
            <a:solidFill>
              <a:srgbClr val="C07A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28016" rIns="137160" bIns="91440" rtlCol="0" anchor="ctr"/>
          <a:lstStyle/>
          <a:p>
            <a:pPr algn="l">
              <a:spcBef>
                <a:spcPts val="200"/>
              </a:spcBef>
            </a:pPr>
            <a:r>
              <a:rPr sz="1400" dirty="0">
                <a:solidFill>
                  <a:srgbClr val="222222"/>
                </a:solidFill>
                <a:latin typeface="微软雅黑"/>
              </a:rPr>
              <a:t>▸ </a:t>
            </a:r>
            <a:r>
              <a:rPr sz="1400" dirty="0" err="1">
                <a:solidFill>
                  <a:srgbClr val="222222"/>
                </a:solidFill>
                <a:latin typeface="微软雅黑"/>
              </a:rPr>
              <a:t>技术序列</a:t>
            </a:r>
            <a:r>
              <a:rPr sz="1400" dirty="0">
                <a:solidFill>
                  <a:srgbClr val="222222"/>
                </a:solidFill>
                <a:latin typeface="微软雅黑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微软雅黑"/>
              </a:rPr>
              <a:t>业务序列</a:t>
            </a:r>
            <a:endParaRPr sz="1400" dirty="0">
              <a:solidFill>
                <a:srgbClr val="222222"/>
              </a:solidFill>
              <a:latin typeface="微软雅黑"/>
            </a:endParaRPr>
          </a:p>
          <a:p>
            <a:pPr algn="l">
              <a:spcBef>
                <a:spcPts val="200"/>
              </a:spcBef>
            </a:pPr>
            <a:r>
              <a:rPr sz="1400" dirty="0">
                <a:solidFill>
                  <a:srgbClr val="222222"/>
                </a:solidFill>
                <a:latin typeface="微软雅黑"/>
              </a:rPr>
              <a:t>▸ </a:t>
            </a:r>
            <a:r>
              <a:rPr sz="1400" dirty="0" err="1">
                <a:solidFill>
                  <a:srgbClr val="222222"/>
                </a:solidFill>
                <a:latin typeface="微软雅黑"/>
              </a:rPr>
              <a:t>资源分配逻辑根本转变</a:t>
            </a:r>
            <a:endParaRPr sz="1400" dirty="0">
              <a:solidFill>
                <a:srgbClr val="222222"/>
              </a:solidFill>
              <a:latin typeface="微软雅黑"/>
            </a:endParaRPr>
          </a:p>
          <a:p>
            <a:pPr algn="l">
              <a:spcBef>
                <a:spcPts val="200"/>
              </a:spcBef>
            </a:pPr>
            <a:r>
              <a:rPr sz="1400" dirty="0">
                <a:solidFill>
                  <a:srgbClr val="222222"/>
                </a:solidFill>
                <a:latin typeface="微软雅黑"/>
              </a:rPr>
              <a:t>▸ </a:t>
            </a:r>
            <a:r>
              <a:rPr sz="1400" dirty="0" err="1">
                <a:solidFill>
                  <a:srgbClr val="222222"/>
                </a:solidFill>
                <a:latin typeface="微软雅黑"/>
              </a:rPr>
              <a:t>看似汇报线变动，实为范式切换</a:t>
            </a:r>
            <a:endParaRPr sz="1400" dirty="0">
              <a:solidFill>
                <a:srgbClr val="222222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40196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A2E25"/>
                </a:solidFill>
                <a:latin typeface="微软雅黑"/>
              </a:rPr>
              <a:t>2015 年起</a:t>
            </a:r>
          </a:p>
          <a:p>
            <a:pPr algn="ctr"/>
            <a:r>
              <a:rPr sz="1200" b="1">
                <a:solidFill>
                  <a:srgbClr val="AA2E25"/>
                </a:solidFill>
                <a:latin typeface="微软雅黑"/>
              </a:rPr>
              <a:t>人才出走浪潮</a:t>
            </a:r>
          </a:p>
        </p:txBody>
      </p:sp>
      <p:sp>
        <p:nvSpPr>
          <p:cNvPr id="18" name="Oval 17"/>
          <p:cNvSpPr/>
          <p:nvPr/>
        </p:nvSpPr>
        <p:spPr>
          <a:xfrm>
            <a:off x="7420356" y="3383280"/>
            <a:ext cx="182880" cy="182880"/>
          </a:xfrm>
          <a:prstGeom prst="ellipse">
            <a:avLst/>
          </a:prstGeom>
          <a:solidFill>
            <a:srgbClr val="AA2E25"/>
          </a:solidFill>
          <a:ln>
            <a:solidFill>
              <a:srgbClr val="AA2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40196" y="3749039"/>
            <a:ext cx="2743200" cy="1554480"/>
          </a:xfrm>
          <a:prstGeom prst="roundRect">
            <a:avLst/>
          </a:prstGeom>
          <a:solidFill>
            <a:srgbClr val="F5F0F5"/>
          </a:solidFill>
          <a:ln w="19050">
            <a:solidFill>
              <a:srgbClr val="AA2E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28016" rIns="137160" bIns="91440" rtlCol="0" anchor="ctr"/>
          <a:lstStyle/>
          <a:p>
            <a:pPr algn="l"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微软雅黑"/>
              </a:rPr>
              <a:t>▸ 余凯 → 地平线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微软雅黑"/>
              </a:rPr>
              <a:t>▸ 彭军、楼天城 → 小马智行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微软雅黑"/>
              </a:rPr>
              <a:t>▸ 制度性压力下的理性选择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4836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41351"/>
                </a:solidFill>
                <a:latin typeface="微软雅黑"/>
              </a:rPr>
              <a:t>近年</a:t>
            </a:r>
          </a:p>
          <a:p>
            <a:pPr algn="ctr"/>
            <a:r>
              <a:rPr sz="1200" b="1">
                <a:solidFill>
                  <a:srgbClr val="441351"/>
                </a:solidFill>
                <a:latin typeface="微软雅黑"/>
              </a:rPr>
              <a:t>TPG → BMU/AMU 双BU</a:t>
            </a:r>
          </a:p>
        </p:txBody>
      </p:sp>
      <p:sp>
        <p:nvSpPr>
          <p:cNvPr id="21" name="Oval 20"/>
          <p:cNvSpPr/>
          <p:nvPr/>
        </p:nvSpPr>
        <p:spPr>
          <a:xfrm>
            <a:off x="10254996" y="3383280"/>
            <a:ext cx="182880" cy="182880"/>
          </a:xfrm>
          <a:prstGeom prst="ellipse">
            <a:avLst/>
          </a:prstGeom>
          <a:solidFill>
            <a:srgbClr val="441351"/>
          </a:solidFill>
          <a:ln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74836" y="3749039"/>
            <a:ext cx="2743200" cy="1554480"/>
          </a:xfrm>
          <a:prstGeom prst="roundRect">
            <a:avLst/>
          </a:prstGeom>
          <a:solidFill>
            <a:srgbClr val="F5F0F5"/>
          </a:solidFill>
          <a:ln w="19050">
            <a:solidFill>
              <a:srgbClr val="4413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28016" rIns="137160" bIns="91440" rtlCol="0" anchor="ctr"/>
          <a:lstStyle/>
          <a:p>
            <a:pPr algn="l">
              <a:spcBef>
                <a:spcPts val="200"/>
              </a:spcBef>
            </a:pPr>
            <a:r>
              <a:rPr sz="1400" dirty="0">
                <a:solidFill>
                  <a:srgbClr val="222222"/>
                </a:solidFill>
                <a:latin typeface="微软雅黑"/>
              </a:rPr>
              <a:t>▸ </a:t>
            </a:r>
            <a:r>
              <a:rPr sz="1400" dirty="0" err="1">
                <a:solidFill>
                  <a:srgbClr val="222222"/>
                </a:solidFill>
                <a:latin typeface="微软雅黑"/>
              </a:rPr>
              <a:t>反向康威的主动实践</a:t>
            </a:r>
            <a:endParaRPr sz="1400" dirty="0">
              <a:solidFill>
                <a:srgbClr val="222222"/>
              </a:solidFill>
              <a:latin typeface="微软雅黑"/>
            </a:endParaRPr>
          </a:p>
          <a:p>
            <a:pPr algn="l">
              <a:spcBef>
                <a:spcPts val="200"/>
              </a:spcBef>
            </a:pPr>
            <a:r>
              <a:rPr sz="1400" dirty="0">
                <a:solidFill>
                  <a:srgbClr val="222222"/>
                </a:solidFill>
                <a:latin typeface="微软雅黑"/>
              </a:rPr>
              <a:t>▸ BMU </a:t>
            </a:r>
            <a:r>
              <a:rPr sz="1400" dirty="0" err="1">
                <a:solidFill>
                  <a:srgbClr val="222222"/>
                </a:solidFill>
                <a:latin typeface="微软雅黑"/>
              </a:rPr>
              <a:t>平台</a:t>
            </a:r>
            <a:r>
              <a:rPr sz="1400" dirty="0">
                <a:solidFill>
                  <a:srgbClr val="222222"/>
                </a:solidFill>
                <a:latin typeface="微软雅黑"/>
              </a:rPr>
              <a:t> + AMU </a:t>
            </a:r>
            <a:r>
              <a:rPr sz="1400" dirty="0" err="1">
                <a:solidFill>
                  <a:srgbClr val="222222"/>
                </a:solidFill>
                <a:latin typeface="微软雅黑"/>
              </a:rPr>
              <a:t>流对齐</a:t>
            </a:r>
            <a:endParaRPr sz="1400" dirty="0">
              <a:solidFill>
                <a:srgbClr val="222222"/>
              </a:solidFill>
              <a:latin typeface="微软雅黑"/>
            </a:endParaRPr>
          </a:p>
          <a:p>
            <a:pPr algn="l">
              <a:spcBef>
                <a:spcPts val="200"/>
              </a:spcBef>
            </a:pPr>
            <a:r>
              <a:rPr sz="1400" dirty="0">
                <a:solidFill>
                  <a:srgbClr val="222222"/>
                </a:solidFill>
                <a:latin typeface="微软雅黑"/>
              </a:rPr>
              <a:t>▸ </a:t>
            </a:r>
            <a:r>
              <a:rPr sz="1400" dirty="0" err="1">
                <a:solidFill>
                  <a:srgbClr val="222222"/>
                </a:solidFill>
                <a:latin typeface="微软雅黑"/>
              </a:rPr>
              <a:t>技术委员会承担赋能团队角色</a:t>
            </a:r>
            <a:endParaRPr sz="1400" dirty="0">
              <a:solidFill>
                <a:srgbClr val="222222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55778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41351"/>
                </a:solidFill>
                <a:latin typeface="微软雅黑"/>
              </a:rPr>
              <a:t>核心洞察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微软雅黑"/>
              </a:rPr>
              <a:t>组织拓扑的每一次调整都是"反向康威"的主动或被动实践——汇报线的变动直接决定了技术资产的生产与流动机制。2013 年 Apollo 的高位启动与此后下沉业务线的对照，是这一机制最鲜明的案例。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03  B公司案例分析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Team Topologies 映射 · 反向康威定律的主动实践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11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▸ B公司双BU架构 = Team Topologies 四类团队的同构映射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11155680" cy="36576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30551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B公司组织单元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30551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Topologies 原型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130551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中文对照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30551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核心职能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79"/>
            <a:ext cx="11155680" cy="457200"/>
          </a:xfrm>
          <a:prstGeom prst="rect">
            <a:avLst/>
          </a:prstGeom>
          <a:solidFill>
            <a:srgbClr val="F8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542032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441351"/>
                </a:solidFill>
                <a:latin typeface="微软雅黑"/>
              </a:rPr>
              <a:t>BMU（基础模型与理解）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542032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Platform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542032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平台团队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542032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技术资产集中生产与标准化输出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26079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2999232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441351"/>
                </a:solidFill>
                <a:latin typeface="微软雅黑"/>
              </a:rPr>
              <a:t>AMU（应用与多模态）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999232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Stream-aligned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999232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流对齐团队集合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999232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业务价值流直接交付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83279"/>
            <a:ext cx="11155680" cy="457200"/>
          </a:xfrm>
          <a:prstGeom prst="rect">
            <a:avLst/>
          </a:prstGeom>
          <a:solidFill>
            <a:srgbClr val="F8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456432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441351"/>
                </a:solidFill>
                <a:latin typeface="微软雅黑"/>
              </a:rPr>
              <a:t>技术委员会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456432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Enabling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456432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赋能团队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456432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跨BU技术标准与实践传递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840479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3913631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441351"/>
                </a:solidFill>
                <a:latin typeface="微软雅黑"/>
              </a:rPr>
              <a:t>底层基础设施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913631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Complicated-subsystem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913631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复杂子系统团队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913631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高专业门槛隔离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663440"/>
            <a:ext cx="109728" cy="1371600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6634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441351"/>
                </a:solidFill>
                <a:latin typeface="微软雅黑"/>
              </a:rPr>
              <a:t>反向康威定律：组织架构先行，系统架构跟随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120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微软雅黑"/>
              </a:rPr>
              <a:t>传统 Conway：系统架构 = 组织沟通结构的被动映射；组织不变 → 架构难动。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50468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581969"/>
                </a:solidFill>
                <a:latin typeface="微软雅黑"/>
              </a:rPr>
              <a:t>Inverse Conway Maneuver：先设计期望的系统边界 → 按此重构团队拓扑 → 技术架构自然收敛。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87044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41351"/>
                </a:solidFill>
                <a:latin typeface="微软雅黑"/>
              </a:rPr>
              <a:t>▸ B公司 TPG → 双BU 的重构，本质上是反向康威的一次主动实践，重塑 TA 的生产与流动机制。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03  B公司案例分析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DORA 四指标：转型成效的量化评估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12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微软雅黑"/>
              </a:rPr>
              <a:t>基于 Forsgren 等《Accelerate》对 B公司 TPG 至双BU 转型进行行业基准对标（量级估计，非严格前后对照）。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2697480" cy="54864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697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部署频率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微软雅黑"/>
              </a:rPr>
              <a:t>Deployment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4612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20439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404040"/>
                </a:solidFill>
                <a:latin typeface="微软雅黑"/>
              </a:rPr>
              <a:t>月/季度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7763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441351"/>
                </a:solidFill>
                <a:latin typeface="微软雅黑"/>
              </a:rP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9767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72000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441351"/>
                </a:solidFill>
                <a:latin typeface="微软雅黑"/>
              </a:rPr>
              <a:t>日级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047488"/>
            <a:ext cx="1965960" cy="18288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084064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441351"/>
                </a:solidFill>
                <a:latin typeface="微软雅黑"/>
              </a:rPr>
              <a:t>×8–30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21945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10128" y="2194560"/>
            <a:ext cx="2697480" cy="548640"/>
          </a:xfrm>
          <a:prstGeom prst="rect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10128" y="2286000"/>
            <a:ext cx="2697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变更前置时间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288036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微软雅黑"/>
              </a:rPr>
              <a:t>Lead Time for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324612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3520439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404040"/>
                </a:solidFill>
                <a:latin typeface="微软雅黑"/>
              </a:rPr>
              <a:t>数周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397763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581969"/>
                </a:solidFill>
                <a:latin typeface="微软雅黑"/>
              </a:rP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429767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4572000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581969"/>
                </a:solidFill>
                <a:latin typeface="微软雅黑"/>
              </a:rPr>
              <a:t>3–7 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8" y="5047488"/>
            <a:ext cx="1965960" cy="18288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01568" y="5084064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81969"/>
                </a:solidFill>
                <a:latin typeface="微软雅黑"/>
              </a:rPr>
              <a:t>↓ 70%+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17336" y="21945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17336" y="2194560"/>
            <a:ext cx="2697480" cy="548640"/>
          </a:xfrm>
          <a:prstGeom prst="rect">
            <a:avLst/>
          </a:prstGeom>
          <a:solidFill>
            <a:srgbClr val="C9A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17336" y="2286000"/>
            <a:ext cx="2697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平均故障恢复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88036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微软雅黑"/>
              </a:rPr>
              <a:t>MTTR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8776" y="324612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8776" y="3520439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404040"/>
                </a:solidFill>
                <a:latin typeface="微软雅黑"/>
              </a:rPr>
              <a:t>小时级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8776" y="397763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C9A551"/>
                </a:solidFill>
                <a:latin typeface="微软雅黑"/>
              </a:rP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8776" y="429767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8776" y="4572000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C9A551"/>
                </a:solidFill>
                <a:latin typeface="微软雅黑"/>
              </a:rPr>
              <a:t>分钟级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83096" y="5047488"/>
            <a:ext cx="1965960" cy="18288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08776" y="5084064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C9A551"/>
                </a:solidFill>
                <a:latin typeface="微软雅黑"/>
              </a:rPr>
              <a:t>↓ 10×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24544" y="21945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924544" y="2194560"/>
            <a:ext cx="2697480" cy="54864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24544" y="2286000"/>
            <a:ext cx="2697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变更失败率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15984" y="288036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微软雅黑"/>
              </a:rPr>
              <a:t>Change Failure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324612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5984" y="3520439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404040"/>
                </a:solidFill>
                <a:latin typeface="微软雅黑"/>
              </a:rPr>
              <a:t>15–25%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5984" y="397763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441351"/>
                </a:solidFill>
                <a:latin typeface="微软雅黑"/>
              </a:rPr>
              <a:t>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15984" y="429767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15984" y="4572000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441351"/>
                </a:solidFill>
                <a:latin typeface="微软雅黑"/>
              </a:rPr>
              <a:t>&lt; 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90304" y="5047488"/>
            <a:ext cx="1965960" cy="18288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015984" y="5084064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441351"/>
                </a:solidFill>
                <a:latin typeface="微软雅黑"/>
              </a:rPr>
              <a:t>↓ 4×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41351"/>
                </a:solidFill>
                <a:latin typeface="微软雅黑"/>
              </a:rPr>
              <a:t>▸ 四指标同步改善 → 说明双BU结构调整真正穿透到"交付层面"，而非仅停留在组织图层面。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注：DORA 改善幅度为基于行业公开基准的量级估计，详见论文 §4.5《估算方法的局限与稳健性说明》。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03  B公司案例分析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dirty="0" err="1">
                <a:solidFill>
                  <a:srgbClr val="441351"/>
                </a:solidFill>
                <a:latin typeface="微软雅黑"/>
              </a:rPr>
              <a:t>原创贡献：ηTA</a:t>
            </a:r>
            <a:r>
              <a:rPr sz="2600" b="1" dirty="0">
                <a:solidFill>
                  <a:srgbClr val="441351"/>
                </a:solidFill>
                <a:latin typeface="微软雅黑"/>
              </a:rPr>
              <a:t> </a:t>
            </a:r>
            <a:r>
              <a:rPr sz="2600" b="1" dirty="0" err="1">
                <a:solidFill>
                  <a:srgbClr val="4413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技术资产</a:t>
            </a:r>
            <a:r>
              <a:rPr lang="zh-CN" altLang="en-US" sz="2600" b="1" dirty="0">
                <a:solidFill>
                  <a:srgbClr val="4413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周转</a:t>
            </a:r>
            <a:r>
              <a:rPr sz="2600" b="1" dirty="0" err="1">
                <a:solidFill>
                  <a:srgbClr val="4413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率指标</a:t>
            </a:r>
            <a:endParaRPr sz="2600" b="1" dirty="0">
              <a:solidFill>
                <a:srgbClr val="44135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13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5760720" cy="3108960"/>
          </a:xfrm>
          <a:prstGeom prst="rect">
            <a:avLst/>
          </a:prstGeom>
          <a:solidFill>
            <a:srgbClr val="F5F0F8"/>
          </a:solidFill>
          <a:ln w="12700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394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441351"/>
                </a:solidFill>
                <a:latin typeface="微软雅黑"/>
              </a:rPr>
              <a:t>指标定义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3520439"/>
            <a:ext cx="4389120" cy="27432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3657600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资产被下游业务调用/引用的累计次数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023360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单次复用对业务的量化价值 (0–1)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389120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资产的生产与维护综合成本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737360"/>
            <a:ext cx="5212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1920240"/>
            <a:ext cx="4846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581969"/>
                </a:solidFill>
                <a:latin typeface="微软雅黑"/>
              </a:rPr>
              <a:t>B公司应用场景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46888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▸ 季度评估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46888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BMU 平台团队按季度评估 </a:t>
            </a:r>
            <a:r>
              <a:rPr sz="1100" b="0" i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902" b="0" i="0" baseline="-25000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100" b="0">
                <a:solidFill>
                  <a:srgbClr val="404040"/>
                </a:solidFill>
                <a:latin typeface="微软雅黑"/>
              </a:rPr>
              <a:t> 分布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7180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▸ 投入决策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9718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低 </a:t>
            </a:r>
            <a:r>
              <a:rPr sz="1100" b="0" i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902" b="0" i="0" baseline="-25000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100" b="0">
                <a:solidFill>
                  <a:srgbClr val="404040"/>
                </a:solidFill>
                <a:latin typeface="微软雅黑"/>
              </a:rPr>
              <a:t> 组件停止追加投入或下架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47472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▸ 绩效校准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4747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高 </a:t>
            </a:r>
            <a:r>
              <a:rPr sz="1100" b="0" i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902" b="0" i="0" baseline="-25000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100" b="0">
                <a:solidFill>
                  <a:srgbClr val="404040"/>
                </a:solidFill>
                <a:latin typeface="微软雅黑"/>
              </a:rPr>
              <a:t> 资产的贡献者在 OKR 中加权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97764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▸ 预算分配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97764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中台预算流向 </a:t>
            </a:r>
            <a:r>
              <a:rPr sz="1100" b="0" i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902" b="0" i="0" baseline="-25000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100" b="0">
                <a:solidFill>
                  <a:srgbClr val="404040"/>
                </a:solidFill>
                <a:latin typeface="微软雅黑"/>
              </a:rPr>
              <a:t> 持续提升的领域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74920"/>
            <a:ext cx="109728" cy="1188720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0749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441351"/>
                </a:solidFill>
                <a:latin typeface="微软雅黑"/>
              </a:rPr>
              <a:t>为什么重要：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440680"/>
            <a:ext cx="109728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solidFill>
                  <a:srgbClr val="404040"/>
                </a:solidFill>
                <a:latin typeface="微软雅黑"/>
              </a:rPr>
              <a:t>传统研发度量聚焦"</a:t>
            </a:r>
            <a:r>
              <a:rPr sz="1400" b="0" dirty="0" err="1">
                <a:solidFill>
                  <a:srgbClr val="404040"/>
                </a:solidFill>
                <a:latin typeface="微软雅黑"/>
              </a:rPr>
              <a:t>生产侧</a:t>
            </a:r>
            <a:r>
              <a:rPr sz="1400" b="0" dirty="0">
                <a:solidFill>
                  <a:srgbClr val="404040"/>
                </a:solidFill>
                <a:latin typeface="微软雅黑"/>
              </a:rPr>
              <a:t>"（</a:t>
            </a:r>
            <a:r>
              <a:rPr sz="1400" b="0" dirty="0" err="1">
                <a:solidFill>
                  <a:srgbClr val="404040"/>
                </a:solidFill>
                <a:latin typeface="微软雅黑"/>
              </a:rPr>
              <a:t>代码行、功能点、成本</a:t>
            </a:r>
            <a:r>
              <a:rPr sz="1400" b="0" dirty="0">
                <a:solidFill>
                  <a:srgbClr val="404040"/>
                </a:solidFill>
                <a:latin typeface="微软雅黑"/>
              </a:rPr>
              <a:t>），</a:t>
            </a:r>
            <a:endParaRPr lang="en-US" sz="1400" b="0" dirty="0">
              <a:solidFill>
                <a:srgbClr val="404040"/>
              </a:solidFill>
              <a:latin typeface="微软雅黑"/>
            </a:endParaRPr>
          </a:p>
          <a:p>
            <a:pPr algn="l"/>
            <a:r>
              <a:rPr sz="1400" b="0" dirty="0" err="1">
                <a:solidFill>
                  <a:srgbClr val="404040"/>
                </a:solidFill>
                <a:latin typeface="微软雅黑"/>
              </a:rPr>
              <a:t>忽视"流动侧</a:t>
            </a:r>
            <a:r>
              <a:rPr sz="1400" b="0" dirty="0">
                <a:solidFill>
                  <a:srgbClr val="404040"/>
                </a:solidFill>
                <a:latin typeface="微软雅黑"/>
              </a:rPr>
              <a:t>"——</a:t>
            </a:r>
            <a:r>
              <a:rPr sz="1400" b="0" dirty="0" err="1">
                <a:solidFill>
                  <a:srgbClr val="404040"/>
                </a:solidFill>
                <a:latin typeface="微软雅黑"/>
              </a:rPr>
              <a:t>资产生产出来后是否被复用、复用创造了多少价值</a:t>
            </a:r>
            <a:r>
              <a:rPr sz="1400" b="0" dirty="0">
                <a:solidFill>
                  <a:srgbClr val="404040"/>
                </a:solidFill>
                <a:latin typeface="微软雅黑"/>
              </a:rPr>
              <a:t>。</a:t>
            </a:r>
          </a:p>
        </p:txBody>
      </p:sp>
      <p:pic>
        <p:nvPicPr>
          <p:cNvPr id="33" name="Picture 32" descr="eta_ta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155" y="2350008"/>
            <a:ext cx="2662151" cy="1051560"/>
          </a:xfrm>
          <a:prstGeom prst="rect">
            <a:avLst/>
          </a:prstGeom>
        </p:spPr>
      </p:pic>
      <p:pic>
        <p:nvPicPr>
          <p:cNvPr id="34" name="Picture 33" descr="eta_ta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536" y="5440680"/>
            <a:ext cx="1522476" cy="692035"/>
          </a:xfrm>
          <a:prstGeom prst="rect">
            <a:avLst/>
          </a:prstGeom>
        </p:spPr>
      </p:pic>
      <p:pic>
        <p:nvPicPr>
          <p:cNvPr id="35" name="Picture 34" descr="eta_var_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57600"/>
            <a:ext cx="822960" cy="2926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91640" y="3657600"/>
            <a:ext cx="1097280" cy="32004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pPr algn="l"/>
            <a:r>
              <a:rPr sz="1200" b="1">
                <a:solidFill>
                  <a:srgbClr val="581969"/>
                </a:solidFill>
                <a:latin typeface="微软雅黑"/>
              </a:rPr>
              <a:t>复用次数</a:t>
            </a:r>
          </a:p>
        </p:txBody>
      </p:sp>
      <p:pic>
        <p:nvPicPr>
          <p:cNvPr id="37" name="Picture 36" descr="eta_var_V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23360"/>
            <a:ext cx="822960" cy="2926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91640" y="4023360"/>
            <a:ext cx="1097280" cy="32004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pPr algn="l"/>
            <a:r>
              <a:rPr sz="1200" b="1">
                <a:solidFill>
                  <a:srgbClr val="581969"/>
                </a:solidFill>
                <a:latin typeface="微软雅黑"/>
              </a:rPr>
              <a:t>价值系数</a:t>
            </a:r>
          </a:p>
        </p:txBody>
      </p:sp>
      <p:pic>
        <p:nvPicPr>
          <p:cNvPr id="39" name="Picture 38" descr="eta_var_Cprodu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89120"/>
            <a:ext cx="739833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441351"/>
                </a:solidFill>
                <a:latin typeface="Heiti SC"/>
              </a:rPr>
              <a:t>03  B公司案例分析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441351"/>
                </a:solidFill>
                <a:latin typeface="Heiti SC"/>
              </a:rPr>
              <a:t>技术资产周转率行业对标 · </a:t>
            </a:r>
            <a:r>
              <a:rPr sz="2600" b="1" i="1">
                <a:solidFill>
                  <a:srgbClr val="441351"/>
                </a:solidFill>
                <a:latin typeface="Cambria Math"/>
              </a:rPr>
              <a:t>η</a:t>
            </a:r>
            <a:r>
              <a:rPr sz="2210" b="1" i="0" baseline="-25000">
                <a:solidFill>
                  <a:srgbClr val="441351"/>
                </a:solidFill>
                <a:latin typeface="Cambria Math"/>
              </a:rPr>
              <a:t>TA</a:t>
            </a:r>
            <a:r>
              <a:rPr sz="2600" b="1" i="0">
                <a:solidFill>
                  <a:srgbClr val="441351"/>
                </a:solidFill>
                <a:latin typeface="Heiti SC"/>
              </a:rPr>
              <a:t> 实证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Songti SC"/>
              </a:rPr>
              <a:t>2019–2024 年七家上市互联网企业技术资产周转率（倍）：B公司长期 1.3× 附近，拼多多六年间由 1.75× 跃升至 8.25×。</a:t>
            </a:r>
          </a:p>
        </p:txBody>
      </p:sp>
      <p:pic>
        <p:nvPicPr>
          <p:cNvPr id="7" name="Picture 6" descr="devops-metrics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7132320" cy="3866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21782" y="2148840"/>
            <a:ext cx="3636818" cy="1051560"/>
          </a:xfrm>
          <a:prstGeom prst="rect">
            <a:avLst/>
          </a:prstGeom>
          <a:solidFill>
            <a:srgbClr val="F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8175567" y="2212848"/>
            <a:ext cx="334587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>
                <a:solidFill>
                  <a:srgbClr val="441351"/>
                </a:solidFill>
                <a:latin typeface="Heiti SC"/>
              </a:rPr>
              <a:t>B公司 · 六年持续下滑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5567" y="2487168"/>
            <a:ext cx="3345873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ongti SC"/>
              </a:rPr>
              <a:t>1.31× (2019) → 1.12× (2024)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Songti SC"/>
              </a:rPr>
              <a:t>研发强度行业最高，TA 流动效率却低于阿里、京东、拼多多。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1782" y="3291840"/>
            <a:ext cx="3636818" cy="1463040"/>
          </a:xfrm>
          <a:prstGeom prst="rect">
            <a:avLst/>
          </a:prstGeom>
          <a:solidFill>
            <a:srgbClr val="FA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8175567" y="3364992"/>
            <a:ext cx="334587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>
                <a:solidFill>
                  <a:srgbClr val="C07A15"/>
                </a:solidFill>
                <a:latin typeface="Heiti SC"/>
              </a:rPr>
              <a:t>行业标杆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5567" y="3639312"/>
            <a:ext cx="3345873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ongti SC"/>
              </a:rPr>
              <a:t>京东   ≈13–14×（稳态高位）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Songti SC"/>
              </a:rPr>
              <a:t>拼多多 1.75× → 8.25× (+4.7×)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Songti SC"/>
              </a:rPr>
              <a:t>阿里   2.8× → 4.3× (+1.5×)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Songti SC"/>
              </a:rPr>
              <a:t>哔哩哔哩 / 网易 / 携程 均 ≥1.6×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1782" y="4846320"/>
            <a:ext cx="3636818" cy="1645920"/>
          </a:xfrm>
          <a:prstGeom prst="rect">
            <a:avLst/>
          </a:prstGeom>
          <a:solidFill>
            <a:srgbClr val="EE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8175567" y="4919472"/>
            <a:ext cx="334587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>
                <a:solidFill>
                  <a:srgbClr val="441351"/>
                </a:solidFill>
                <a:latin typeface="Heiti SC"/>
              </a:rPr>
              <a:t>核心判读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5567" y="5193792"/>
            <a:ext cx="3483033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rgbClr val="333333"/>
                </a:solidFill>
                <a:latin typeface="Songti SC"/>
              </a:rPr>
              <a:t>▸ </a:t>
            </a:r>
            <a:r>
              <a:rPr sz="1200" b="0" i="0" dirty="0" err="1">
                <a:solidFill>
                  <a:srgbClr val="333333"/>
                </a:solidFill>
                <a:latin typeface="Songti SC"/>
              </a:rPr>
              <a:t>研发强度</a:t>
            </a:r>
            <a:r>
              <a:rPr sz="1200" b="0" i="0" dirty="0">
                <a:solidFill>
                  <a:srgbClr val="333333"/>
                </a:solidFill>
                <a:latin typeface="Songti SC"/>
              </a:rPr>
              <a:t> ≠ </a:t>
            </a:r>
            <a:r>
              <a:rPr sz="1200" b="0" i="0" dirty="0" err="1">
                <a:solidFill>
                  <a:srgbClr val="333333"/>
                </a:solidFill>
                <a:latin typeface="Songti SC"/>
              </a:rPr>
              <a:t>研发效率</a:t>
            </a:r>
            <a:endParaRPr sz="1200" b="0" i="0" dirty="0">
              <a:solidFill>
                <a:srgbClr val="333333"/>
              </a:solidFill>
              <a:latin typeface="Songti SC"/>
            </a:endParaRPr>
          </a:p>
          <a:p>
            <a:pPr algn="l"/>
            <a:r>
              <a:rPr sz="1200" b="0" i="0" dirty="0">
                <a:solidFill>
                  <a:srgbClr val="333333"/>
                </a:solidFill>
                <a:latin typeface="Songti SC"/>
              </a:rPr>
              <a:t>▸ </a:t>
            </a:r>
            <a:r>
              <a:rPr sz="1200" b="0" i="0" dirty="0" err="1">
                <a:solidFill>
                  <a:srgbClr val="333333"/>
                </a:solidFill>
                <a:latin typeface="Songti SC"/>
              </a:rPr>
              <a:t>高</a:t>
            </a:r>
            <a:r>
              <a:rPr sz="1200" b="0" i="0" dirty="0">
                <a:solidFill>
                  <a:srgbClr val="333333"/>
                </a:solidFill>
                <a:latin typeface="Songti SC"/>
              </a:rPr>
              <a:t> TA </a:t>
            </a:r>
            <a:r>
              <a:rPr sz="1200" b="0" i="0" dirty="0" err="1">
                <a:solidFill>
                  <a:srgbClr val="333333"/>
                </a:solidFill>
                <a:latin typeface="Songti SC"/>
              </a:rPr>
              <a:t>存量未必高</a:t>
            </a:r>
            <a:r>
              <a:rPr sz="1200" b="0" i="0" dirty="0">
                <a:solidFill>
                  <a:srgbClr val="333333"/>
                </a:solidFill>
                <a:latin typeface="Songti SC"/>
              </a:rPr>
              <a:t> TA </a:t>
            </a:r>
            <a:r>
              <a:rPr sz="1200" b="0" i="0" dirty="0" err="1">
                <a:solidFill>
                  <a:srgbClr val="333333"/>
                </a:solidFill>
                <a:latin typeface="Songti SC"/>
              </a:rPr>
              <a:t>流动</a:t>
            </a:r>
            <a:endParaRPr sz="1200" b="0" i="0" dirty="0">
              <a:solidFill>
                <a:srgbClr val="333333"/>
              </a:solidFill>
              <a:latin typeface="Songti SC"/>
            </a:endParaRPr>
          </a:p>
          <a:p>
            <a:pPr algn="l"/>
            <a:r>
              <a:rPr sz="1200" b="0" i="0" dirty="0">
                <a:solidFill>
                  <a:srgbClr val="333333"/>
                </a:solidFill>
                <a:latin typeface="Songti SC"/>
              </a:rPr>
              <a:t>▸ </a:t>
            </a:r>
            <a:r>
              <a:rPr sz="1200" b="0" i="1" dirty="0" err="1">
                <a:solidFill>
                  <a:srgbClr val="333333"/>
                </a:solidFill>
                <a:latin typeface="Cambria Math"/>
              </a:rPr>
              <a:t>η</a:t>
            </a:r>
            <a:r>
              <a:rPr sz="1050" b="0" i="0" baseline="-25000" dirty="0" err="1">
                <a:solidFill>
                  <a:srgbClr val="333333"/>
                </a:solidFill>
                <a:latin typeface="Cambria Math"/>
              </a:rPr>
              <a:t>TA</a:t>
            </a:r>
            <a:r>
              <a:rPr sz="1200" b="0" i="0" dirty="0">
                <a:solidFill>
                  <a:srgbClr val="333333"/>
                </a:solidFill>
                <a:latin typeface="Songti SC"/>
              </a:rPr>
              <a:t> 揭示：问题不在"</a:t>
            </a:r>
            <a:r>
              <a:rPr sz="1200" b="0" i="0" dirty="0" err="1">
                <a:solidFill>
                  <a:srgbClr val="333333"/>
                </a:solidFill>
                <a:latin typeface="Songti SC"/>
              </a:rPr>
              <a:t>投入不足</a:t>
            </a:r>
            <a:r>
              <a:rPr sz="1200" b="0" i="0" dirty="0">
                <a:solidFill>
                  <a:srgbClr val="333333"/>
                </a:solidFill>
                <a:latin typeface="Songti SC"/>
              </a:rPr>
              <a:t>"，</a:t>
            </a:r>
            <a:r>
              <a:rPr sz="1200" b="0" i="0" dirty="0" err="1">
                <a:solidFill>
                  <a:srgbClr val="333333"/>
                </a:solidFill>
                <a:latin typeface="Songti SC"/>
              </a:rPr>
              <a:t>而在"流动不畅</a:t>
            </a:r>
            <a:r>
              <a:rPr sz="1200" b="0" i="0" dirty="0">
                <a:solidFill>
                  <a:srgbClr val="333333"/>
                </a:solidFill>
                <a:latin typeface="Songti SC"/>
              </a:rPr>
              <a:t>"</a:t>
            </a:r>
          </a:p>
          <a:p>
            <a:pPr algn="l"/>
            <a:r>
              <a:rPr sz="1200" b="0" i="0" dirty="0">
                <a:solidFill>
                  <a:srgbClr val="333333"/>
                </a:solidFill>
                <a:latin typeface="Songti SC"/>
              </a:rPr>
              <a:t>▸ </a:t>
            </a:r>
            <a:r>
              <a:rPr sz="1200" b="0" i="0" dirty="0" err="1">
                <a:solidFill>
                  <a:srgbClr val="333333"/>
                </a:solidFill>
                <a:latin typeface="Songti SC"/>
              </a:rPr>
              <a:t>对应章节</a:t>
            </a:r>
            <a:r>
              <a:rPr sz="1200" b="0" i="0" dirty="0">
                <a:solidFill>
                  <a:srgbClr val="333333"/>
                </a:solidFill>
                <a:latin typeface="Songti SC"/>
              </a:rPr>
              <a:t> §4.3 </a:t>
            </a:r>
            <a:r>
              <a:rPr sz="1200" b="0" i="0" dirty="0" err="1">
                <a:solidFill>
                  <a:srgbClr val="333333"/>
                </a:solidFill>
                <a:latin typeface="Songti SC"/>
              </a:rPr>
              <a:t>诊断</a:t>
            </a:r>
            <a:r>
              <a:rPr sz="1200" b="0" i="0" dirty="0">
                <a:solidFill>
                  <a:srgbClr val="333333"/>
                </a:solidFill>
                <a:latin typeface="Songti SC"/>
              </a:rPr>
              <a:t>、§5 </a:t>
            </a:r>
            <a:r>
              <a:rPr sz="1200" b="0" i="0" dirty="0" err="1">
                <a:solidFill>
                  <a:srgbClr val="333333"/>
                </a:solidFill>
                <a:latin typeface="Songti SC"/>
              </a:rPr>
              <a:t>对策</a:t>
            </a:r>
            <a:endParaRPr sz="1200" b="0" i="0" dirty="0">
              <a:solidFill>
                <a:srgbClr val="333333"/>
              </a:solidFill>
              <a:latin typeface="Songti S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Songti SC"/>
              </a:rPr>
              <a:t>互联网公司研发管理面临的困境及应对策略研究 · 李超 · 2026.05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Songti S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96B6-EA28-3B48-2698-0CA8CEAA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/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33" name="矩形 32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6" name="小李PPT13">
            <a:extLst>
              <a:ext uri="{FF2B5EF4-FFF2-40B4-BE49-F238E27FC236}">
                <a16:creationId xmlns:a16="http://schemas.microsoft.com/office/drawing/2014/main" id="{A5238570-DEB2-D0A8-AF3D-29C5259EC032}"/>
              </a:ext>
            </a:extLst>
          </p:cNvPr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581969"/>
                </a:solidFill>
                <a:latin typeface="微软雅黑"/>
              </a:rPr>
              <a:t>诊断、对策与结论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6C4D00-9D23-8E0B-229E-7065F1473922}"/>
              </a:ext>
            </a:extLst>
          </p:cNvPr>
          <p:cNvSpPr txBox="1"/>
          <p:nvPr/>
        </p:nvSpPr>
        <p:spPr>
          <a:xfrm>
            <a:off x="588431" y="4639544"/>
            <a:ext cx="40761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spcAft>
                <a:spcPts val="1000"/>
              </a:spcAft>
              <a:defRPr/>
            </a:pPr>
            <a:r>
              <a:rPr sz="1500" b="0">
                <a:solidFill>
                  <a:srgbClr val="000000"/>
                </a:solidFill>
                <a:latin typeface="微软雅黑"/>
              </a:rPr>
              <a:t>三重制度失效的深层诊断，错配成本三档情景测算，以及从"成本转移"到"价值管理"的制度重构路径。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7FB1AC7-9BE2-2A16-D3D4-81887C4A4DD4}"/>
              </a:ext>
            </a:extLst>
          </p:cNvPr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0" b="1">
                <a:solidFill>
                  <a:srgbClr val="581969"/>
                </a:solidFill>
                <a:latin typeface="微软雅黑"/>
              </a:rPr>
              <a:t>04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6C8E0C02-67E7-75AE-D52B-E131DD8FB6E0}"/>
              </a:ext>
            </a:extLst>
          </p:cNvPr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68A4C6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827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04  诊断、对策与结论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深层诊断：三重制度失效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16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微软雅黑"/>
              </a:rPr>
              <a:t>组织图调整未能自动带来机制重构——问题从"结构层"转入"制度层"。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3703320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3703320" cy="64008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3429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❶ 运动式研发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34290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581969"/>
                </a:solidFill>
                <a:latin typeface="微软雅黑"/>
              </a:rPr>
              <a:t>人力资产错配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34290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微软雅黑"/>
              </a:rPr>
              <a:t>高价值工程师被动员从事低水平工作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3429000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• 高级工程师降级使用
• TA 积累停滞
• 人才激励受损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394960"/>
            <a:ext cx="3703320" cy="777240"/>
          </a:xfrm>
          <a:prstGeom prst="rect">
            <a:avLst/>
          </a:prstGeom>
          <a:solidFill>
            <a:srgbClr val="F5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3429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微软雅黑"/>
              </a:rPr>
              <a:t>量化影响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dirty="0" err="1">
                <a:solidFill>
                  <a:srgbClr val="441351"/>
                </a:solidFill>
                <a:latin typeface="微软雅黑"/>
              </a:rPr>
              <a:t>年度直接成本</a:t>
            </a:r>
            <a:r>
              <a:rPr sz="1200" b="1" dirty="0">
                <a:solidFill>
                  <a:srgbClr val="441351"/>
                </a:solidFill>
                <a:latin typeface="微软雅黑"/>
              </a:rPr>
              <a:t>
10.8–14.4 </a:t>
            </a:r>
            <a:r>
              <a:rPr sz="1200" b="1" dirty="0" err="1">
                <a:solidFill>
                  <a:srgbClr val="441351"/>
                </a:solidFill>
                <a:latin typeface="微软雅黑"/>
              </a:rPr>
              <a:t>亿</a:t>
            </a:r>
            <a:endParaRPr sz="1200" b="1" dirty="0">
              <a:solidFill>
                <a:srgbClr val="441351"/>
              </a:solidFill>
              <a:latin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43400" y="2148840"/>
            <a:ext cx="3703320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2148840"/>
            <a:ext cx="3703320" cy="64008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2240280"/>
            <a:ext cx="3429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❷ 应结尽结机制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926080"/>
            <a:ext cx="34290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581969"/>
                </a:solidFill>
                <a:latin typeface="微软雅黑"/>
              </a:rPr>
              <a:t>制度异化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46120"/>
            <a:ext cx="34290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微软雅黑"/>
              </a:rPr>
              <a:t>成本分摊 ≠ 价值定价，内生压制 TA 周转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77639"/>
            <a:ext cx="3429000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• 以成本为锚点
• 依赖行政博弈
• 预算双轨扭曲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5394960"/>
            <a:ext cx="3703320" cy="777240"/>
          </a:xfrm>
          <a:prstGeom prst="rect">
            <a:avLst/>
          </a:prstGeom>
          <a:solidFill>
            <a:srgbClr val="F5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5486400"/>
            <a:ext cx="3429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微软雅黑"/>
              </a:rPr>
              <a:t>量化影响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76072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41351"/>
                </a:solidFill>
                <a:latin typeface="微软雅黑"/>
              </a:rPr>
              <a:t>TA 周转率被
制度性压制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2148840"/>
            <a:ext cx="3703320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80" y="2148840"/>
            <a:ext cx="3703320" cy="64008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2240280"/>
            <a:ext cx="3429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❸ 人才流失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926080"/>
            <a:ext cx="34290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581969"/>
                </a:solidFill>
                <a:latin typeface="微软雅黑"/>
              </a:rPr>
              <a:t>制度失效的外部映射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46120"/>
            <a:ext cx="34290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微软雅黑"/>
              </a:rPr>
              <a:t>汇报线调整 → 委托代理失效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977639"/>
            <a:ext cx="3429000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• 短期收入 vs 长期技术
• 话语权重塑
• 核心人才外溢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5394960"/>
            <a:ext cx="3703320" cy="777240"/>
          </a:xfrm>
          <a:prstGeom prst="rect">
            <a:avLst/>
          </a:prstGeom>
          <a:solidFill>
            <a:srgbClr val="F5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5486400"/>
            <a:ext cx="3429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微软雅黑"/>
              </a:rPr>
              <a:t>量化影响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76072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41351"/>
                </a:solidFill>
                <a:latin typeface="微软雅黑"/>
              </a:rPr>
              <a:t>自动驾驶领域
人才雪崩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04  诊断、对策与结论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错配成本三档情景：稳健性分析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17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115568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dirty="0">
                <a:solidFill>
                  <a:srgbClr val="441351"/>
                </a:solidFill>
                <a:latin typeface="微软雅黑"/>
              </a:rPr>
              <a:t>▸ </a:t>
            </a:r>
            <a:r>
              <a:rPr sz="1400" b="1" dirty="0" err="1">
                <a:solidFill>
                  <a:srgbClr val="441351"/>
                </a:solidFill>
                <a:latin typeface="微软雅黑"/>
              </a:rPr>
              <a:t>以三档情景覆盖合理参数空间，验证结论稳健性</a:t>
            </a:r>
            <a:r>
              <a:rPr sz="1400" b="1" dirty="0">
                <a:solidFill>
                  <a:srgbClr val="441351"/>
                </a:solidFill>
                <a:latin typeface="微软雅黑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11155680" cy="45720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76272" y="228600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情景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2737" y="228600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错配比例 </a:t>
            </a:r>
            <a:r>
              <a:rPr sz="1300" b="1" i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6987" y="228600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错配人数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8123" y="228600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年度直接成本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51760"/>
            <a:ext cx="11155680" cy="566928"/>
          </a:xfrm>
          <a:prstGeom prst="rect">
            <a:avLst/>
          </a:prstGeom>
          <a:solidFill>
            <a:srgbClr val="F0F9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76272" y="27889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保守情景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2737" y="27889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6987" y="27889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约 600 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8123" y="27889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约 7.2 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18688"/>
            <a:ext cx="11155680" cy="566928"/>
          </a:xfrm>
          <a:prstGeom prst="rect">
            <a:avLst/>
          </a:prstGeom>
          <a:solidFill>
            <a:srgbClr val="F5F0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76272" y="335584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基准情景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2737" y="335584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15%–20%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6987" y="335584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900–1200 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8123" y="335584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约 10.8–14.4 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85615"/>
            <a:ext cx="11155680" cy="566928"/>
          </a:xfrm>
          <a:prstGeom prst="rect">
            <a:avLst/>
          </a:prstGeom>
          <a:solidFill>
            <a:srgbClr val="FEF0F0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76272" y="3922776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激进情景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2737" y="3922776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6987" y="3922776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约 1500 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8123" y="3922776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约 18.0 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297680"/>
            <a:ext cx="11155680" cy="1097280"/>
          </a:xfrm>
          <a:prstGeom prst="roundRect">
            <a:avLst/>
          </a:prstGeom>
          <a:solidFill>
            <a:srgbClr val="FAF5FC"/>
          </a:solidFill>
          <a:ln w="9525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43891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敏感性分析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548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微软雅黑"/>
              </a:rPr>
              <a:t>错配比例 </a:t>
            </a:r>
            <a:r>
              <a:rPr sz="1200" b="0" i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1200" b="0">
                <a:solidFill>
                  <a:srgbClr val="404040"/>
                </a:solidFill>
                <a:latin typeface="微软雅黑"/>
              </a:rPr>
              <a:t> 每变动 ±5 个百分点 → 年度损失相应变动 ±3.6 亿元（温和线性敏感）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07492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581969"/>
                </a:solidFill>
                <a:latin typeface="微软雅黑"/>
              </a:rPr>
              <a:t>即便最保守情景（</a:t>
            </a:r>
            <a:r>
              <a:rPr sz="1200" b="1" i="1">
                <a:solidFill>
                  <a:srgbClr val="581969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1200" b="1">
                <a:solidFill>
                  <a:srgbClr val="581969"/>
                </a:solidFill>
                <a:latin typeface="微软雅黑"/>
              </a:rPr>
              <a:t>=10%），年度损失仍 ≥ 7 亿元 → "运动式研发具有显著经济代价"的核心结论稳健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532120"/>
            <a:ext cx="11155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关键参数来源：T7+占比 30%（拉勾/智联公开基准） · T7年成本200万/T5年成本80万（智联薪酬白皮书×1.4–1.6加成） · 错配比例（参与观察+三档验证）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852159"/>
            <a:ext cx="11155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详细方法论边界见论文 §4.5《估算方法的局限与稳健性说明》。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04  诊断、对策与结论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改进策略：从成本转移到价值管理 · 研究结论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18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441351"/>
                </a:solidFill>
                <a:latin typeface="微软雅黑"/>
              </a:rPr>
              <a:t>▸ 制度重构四项建议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03120"/>
            <a:ext cx="457200" cy="457200"/>
          </a:xfrm>
          <a:prstGeom prst="ellipse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0312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建立 TA 价值核算体系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87168"/>
            <a:ext cx="49377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dirty="0" err="1">
                <a:solidFill>
                  <a:srgbClr val="404040"/>
                </a:solidFill>
                <a:latin typeface="微软雅黑"/>
              </a:rPr>
              <a:t>从"成本会计"升级为"资产管理"范式</a:t>
            </a:r>
            <a:endParaRPr sz="11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1752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TA 周转率纳入核心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401568"/>
            <a:ext cx="493776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dirty="0" err="1">
                <a:solidFill>
                  <a:srgbClr val="404040"/>
                </a:solidFill>
                <a:latin typeface="微软雅黑"/>
              </a:rPr>
              <a:t>让</a:t>
            </a:r>
            <a:r>
              <a:rPr sz="1200" b="0" dirty="0">
                <a:solidFill>
                  <a:srgbClr val="404040"/>
                </a:solidFill>
                <a:latin typeface="微软雅黑"/>
              </a:rPr>
              <a:t> </a:t>
            </a:r>
            <a:r>
              <a:rPr sz="1200" b="0" i="1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1050" b="0" i="0" baseline="-25000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200" b="0" dirty="0">
                <a:solidFill>
                  <a:srgbClr val="404040"/>
                </a:solidFill>
                <a:latin typeface="微软雅黑"/>
              </a:rPr>
              <a:t> </a:t>
            </a:r>
            <a:r>
              <a:rPr sz="1200" b="0" dirty="0" err="1">
                <a:solidFill>
                  <a:srgbClr val="404040"/>
                </a:solidFill>
                <a:latin typeface="微软雅黑"/>
              </a:rPr>
              <a:t>与</a:t>
            </a:r>
            <a:r>
              <a:rPr sz="1200" b="0" dirty="0">
                <a:solidFill>
                  <a:srgbClr val="404040"/>
                </a:solidFill>
                <a:latin typeface="微软雅黑"/>
              </a:rPr>
              <a:t> DORA </a:t>
            </a:r>
            <a:r>
              <a:rPr sz="1200" b="0" dirty="0" err="1">
                <a:solidFill>
                  <a:srgbClr val="404040"/>
                </a:solidFill>
                <a:latin typeface="微软雅黑"/>
              </a:rPr>
              <a:t>进入季度述职</a:t>
            </a:r>
            <a:endParaRPr sz="12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2920" y="3931920"/>
            <a:ext cx="457200" cy="457200"/>
          </a:xfrm>
          <a:prstGeom prst="ellipse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93192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"运动式研发"资源配置约束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15968"/>
            <a:ext cx="49377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dirty="0" err="1">
                <a:solidFill>
                  <a:srgbClr val="404040"/>
                </a:solidFill>
                <a:latin typeface="微软雅黑"/>
              </a:rPr>
              <a:t>高级工程师降级使用需触发审批</a:t>
            </a:r>
            <a:endParaRPr sz="11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02920" y="4846320"/>
            <a:ext cx="457200" cy="457200"/>
          </a:xfrm>
          <a:prstGeom prst="ellipse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84632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4632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自由预算引入 TA 输出率考核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230368"/>
            <a:ext cx="49377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避免"无外部压力则自娱自乐"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691640"/>
            <a:ext cx="27432" cy="4389120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441351"/>
                </a:solidFill>
                <a:latin typeface="微软雅黑"/>
              </a:rPr>
              <a:t>▸ 研究结论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103120"/>
            <a:ext cx="600595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441351"/>
                </a:solidFill>
                <a:latin typeface="微软雅黑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176272"/>
            <a:ext cx="484632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 err="1">
                <a:solidFill>
                  <a:srgbClr val="000000"/>
                </a:solidFill>
                <a:latin typeface="微软雅黑"/>
              </a:rPr>
              <a:t>组织重构是效能提升的结构性前提，而非可选项</a:t>
            </a:r>
            <a:endParaRPr sz="1400" b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9360" y="3017520"/>
            <a:ext cx="50292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441351"/>
                </a:solidFill>
                <a:latin typeface="微软雅黑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090672"/>
            <a:ext cx="484632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以 DORA 为基准的常态化效能度量，提供组织转型客观评估依据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931920"/>
            <a:ext cx="573162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dirty="0">
                <a:solidFill>
                  <a:srgbClr val="441351"/>
                </a:solidFill>
                <a:latin typeface="微软雅黑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005072"/>
            <a:ext cx="484632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TA 管理上升为战略级议题，是提升研发 ROI 的根本路径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846320"/>
            <a:ext cx="50292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dirty="0">
                <a:solidFill>
                  <a:srgbClr val="441351"/>
                </a:solidFill>
                <a:latin typeface="微软雅黑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919472"/>
            <a:ext cx="484632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激励机制改革须与产品型组织形态匹配，否则相互抵消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989320"/>
            <a:ext cx="11155680" cy="27432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6062472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41351"/>
                </a:solidFill>
                <a:latin typeface="微软雅黑"/>
              </a:rPr>
              <a:t>▸ 核心命题：组织图可以一夜重画，但激励机制、资源流转规则、成本核算逻辑的重构需要系统性的制度再设计。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04  诊断、对策与结论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理论贡献 · 实践启示 · 研究局限与展望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19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3703320" cy="50292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理论贡献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3703320" cy="4206240"/>
          </a:xfrm>
          <a:prstGeom prst="rect">
            <a:avLst/>
          </a:prstGeom>
          <a:solidFill>
            <a:srgbClr val="FAFAFC"/>
          </a:solidFill>
          <a:ln w="6350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4290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① Team Topologies + 反向康威 + TA/TD 三重理论整合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34290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② 提出 </a:t>
            </a:r>
            <a:r>
              <a:rPr sz="1400" b="0" i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1050" b="0" i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400" b="0">
                <a:solidFill>
                  <a:srgbClr val="000000"/>
                </a:solidFill>
                <a:latin typeface="微软雅黑"/>
              </a:rPr>
              <a:t> 原创指标，填补研发价值"流动侧"度量空白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34290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③ 提出"运动式研发"与"应结尽结"两个分析范畴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34290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④ 将产品型组织理论引入管理学研究框架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737360"/>
            <a:ext cx="3703320" cy="502920"/>
          </a:xfrm>
          <a:prstGeom prst="rect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810512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实践启示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240280"/>
            <a:ext cx="3703320" cy="4206240"/>
          </a:xfrm>
          <a:prstGeom prst="rect">
            <a:avLst/>
          </a:prstGeom>
          <a:solidFill>
            <a:srgbClr val="FAFAFC"/>
          </a:solidFill>
          <a:ln w="6350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4480560" y="2423160"/>
            <a:ext cx="34290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① 为中国互联网大厂研发转型提供可落地参考路径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83280"/>
            <a:ext cx="34290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solidFill>
                  <a:srgbClr val="000000"/>
                </a:solidFill>
                <a:latin typeface="微软雅黑"/>
              </a:rPr>
              <a:t>② CTO </a:t>
            </a:r>
            <a:r>
              <a:rPr sz="1400" b="0" dirty="0" err="1">
                <a:solidFill>
                  <a:srgbClr val="000000"/>
                </a:solidFill>
                <a:latin typeface="微软雅黑"/>
              </a:rPr>
              <a:t>层</a:t>
            </a:r>
            <a:r>
              <a:rPr lang="zh-CN" altLang="en-US" sz="1400" b="0" dirty="0">
                <a:solidFill>
                  <a:srgbClr val="000000"/>
                </a:solidFill>
                <a:latin typeface="微软雅黑"/>
              </a:rPr>
              <a:t>七条</a:t>
            </a:r>
            <a:r>
              <a:rPr sz="1400" b="0" dirty="0" err="1">
                <a:solidFill>
                  <a:srgbClr val="000000"/>
                </a:solidFill>
                <a:latin typeface="微软雅黑"/>
              </a:rPr>
              <a:t>制度重构建议：组织</a:t>
            </a:r>
            <a:r>
              <a:rPr sz="1400" b="0" dirty="0">
                <a:solidFill>
                  <a:srgbClr val="000000"/>
                </a:solidFill>
                <a:latin typeface="微软雅黑"/>
              </a:rPr>
              <a:t>/</a:t>
            </a:r>
            <a:r>
              <a:rPr sz="1400" b="0" dirty="0" err="1">
                <a:solidFill>
                  <a:srgbClr val="000000"/>
                </a:solidFill>
                <a:latin typeface="微软雅黑"/>
              </a:rPr>
              <a:t>效能</a:t>
            </a:r>
            <a:r>
              <a:rPr sz="1400" b="0" dirty="0">
                <a:solidFill>
                  <a:srgbClr val="000000"/>
                </a:solidFill>
                <a:latin typeface="微软雅黑"/>
              </a:rPr>
              <a:t>/</a:t>
            </a:r>
            <a:r>
              <a:rPr sz="1400" b="0" dirty="0" err="1">
                <a:solidFill>
                  <a:srgbClr val="000000"/>
                </a:solidFill>
                <a:latin typeface="微软雅黑"/>
              </a:rPr>
              <a:t>资产</a:t>
            </a:r>
            <a:r>
              <a:rPr sz="1400" b="0" dirty="0">
                <a:solidFill>
                  <a:srgbClr val="000000"/>
                </a:solidFill>
                <a:latin typeface="微软雅黑"/>
              </a:rPr>
              <a:t>/</a:t>
            </a:r>
            <a:r>
              <a:rPr sz="1400" b="0" dirty="0" err="1">
                <a:solidFill>
                  <a:srgbClr val="000000"/>
                </a:solidFill>
                <a:latin typeface="微软雅黑"/>
              </a:rPr>
              <a:t>激励联动</a:t>
            </a:r>
            <a:endParaRPr sz="1400" b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80560" y="4343400"/>
            <a:ext cx="34290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solidFill>
                  <a:srgbClr val="000000"/>
                </a:solidFill>
                <a:latin typeface="微软雅黑"/>
              </a:rPr>
              <a:t>③ </a:t>
            </a:r>
            <a:r>
              <a:rPr sz="1400" b="0" dirty="0" err="1">
                <a:solidFill>
                  <a:srgbClr val="000000"/>
                </a:solidFill>
                <a:latin typeface="微软雅黑"/>
              </a:rPr>
              <a:t>引入"高密度超级</a:t>
            </a:r>
            <a:r>
              <a:rPr sz="1400" b="0" dirty="0">
                <a:solidFill>
                  <a:srgbClr val="000000"/>
                </a:solidFill>
                <a:latin typeface="微软雅黑"/>
              </a:rPr>
              <a:t> </a:t>
            </a:r>
            <a:r>
              <a:rPr sz="1400" b="0" dirty="0" err="1">
                <a:solidFill>
                  <a:srgbClr val="000000"/>
                </a:solidFill>
                <a:latin typeface="微软雅黑"/>
              </a:rPr>
              <a:t>IC"模式，向</a:t>
            </a:r>
            <a:r>
              <a:rPr sz="1400" b="0" dirty="0">
                <a:solidFill>
                  <a:srgbClr val="000000"/>
                </a:solidFill>
                <a:latin typeface="微软雅黑"/>
              </a:rPr>
              <a:t> 5–15 </a:t>
            </a:r>
            <a:r>
              <a:rPr sz="1400" b="0" dirty="0" err="1">
                <a:solidFill>
                  <a:srgbClr val="000000"/>
                </a:solidFill>
                <a:latin typeface="微软雅黑"/>
              </a:rPr>
              <a:t>人精英突击队转型</a:t>
            </a:r>
            <a:endParaRPr sz="1400" b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80560" y="5303520"/>
            <a:ext cx="34290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④ 建立 TA 全生命周期管理机制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1737360"/>
            <a:ext cx="3703320" cy="502920"/>
          </a:xfrm>
          <a:prstGeom prst="rect">
            <a:avLst/>
          </a:prstGeom>
          <a:solidFill>
            <a:srgbClr val="C9A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1810512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研究局限与展望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2240280"/>
            <a:ext cx="3703320" cy="4206240"/>
          </a:xfrm>
          <a:prstGeom prst="rect">
            <a:avLst/>
          </a:prstGeom>
          <a:solidFill>
            <a:srgbClr val="FAFAFC"/>
          </a:solidFill>
          <a:ln w="6350">
            <a:solidFill>
              <a:srgbClr val="C9A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8321040" y="2423160"/>
            <a:ext cx="34290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① 单案例研究：外推仅适用规模/业态相近的互联网大厂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383280"/>
            <a:ext cx="34290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② DORA 指标为量级估计，非严格前后对照统计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43400"/>
            <a:ext cx="34290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③ 生成式 AI 对研发组织的长期影响待后续追踪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03520"/>
            <a:ext cx="34290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微软雅黑"/>
              </a:rPr>
              <a:t>④ 未来可引入多案例与定量验证扩展稳健性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35040"/>
            <a:ext cx="1115568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441351"/>
                </a:solidFill>
                <a:latin typeface="微软雅黑"/>
              </a:rPr>
              <a:t>▸ 本研究的核心价值：为中国互联网企业研发管理转型提供"理论—实证—对策"的完整链条。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/>
        </p:blipFill>
        <p:spPr>
          <a:xfrm>
            <a:off x="9892354" y="266980"/>
            <a:ext cx="1840032" cy="71176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/>
        </p:blipFill>
        <p:spPr>
          <a:xfrm>
            <a:off x="9892354" y="266980"/>
            <a:ext cx="1840032" cy="71176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C1ADDA3-DAAC-7660-9A52-E4C19C0201FE}"/>
              </a:ext>
            </a:extLst>
          </p:cNvPr>
          <p:cNvSpPr txBox="1"/>
          <p:nvPr/>
        </p:nvSpPr>
        <p:spPr>
          <a:xfrm>
            <a:off x="7103964" y="4400129"/>
            <a:ext cx="1912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 b="1" dirty="0" err="1">
                <a:solidFill>
                  <a:srgbClr val="FFFFFF"/>
                </a:solidFill>
                <a:latin typeface="微软雅黑"/>
              </a:rPr>
              <a:t>答辩人：李超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/>
            <a:r>
              <a:rPr sz="1400" b="0" dirty="0">
                <a:solidFill>
                  <a:srgbClr val="FFFFFF"/>
                </a:solidFill>
                <a:latin typeface="微软雅黑"/>
              </a:rPr>
              <a:t>学号：2023211534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9DE96D-E298-6D8E-C42A-08BDD6D86952}"/>
              </a:ext>
            </a:extLst>
          </p:cNvPr>
          <p:cNvSpPr txBox="1"/>
          <p:nvPr/>
        </p:nvSpPr>
        <p:spPr>
          <a:xfrm>
            <a:off x="9332856" y="4400129"/>
            <a:ext cx="25439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 b="1" dirty="0" err="1">
                <a:solidFill>
                  <a:srgbClr val="FFFFFF"/>
                </a:solidFill>
                <a:latin typeface="微软雅黑"/>
              </a:rPr>
              <a:t>指导教师：肖勇波</a:t>
            </a:r>
            <a:r>
              <a:rPr sz="1800" b="1" dirty="0">
                <a:solidFill>
                  <a:srgbClr val="FFFFFF"/>
                </a:solidFill>
                <a:latin typeface="微软雅黑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微软雅黑"/>
              </a:rPr>
              <a:t>教授</a:t>
            </a:r>
            <a:endParaRPr sz="1800" b="1" dirty="0">
              <a:solidFill>
                <a:srgbClr val="FFFFFF"/>
              </a:solidFill>
              <a:latin typeface="微软雅黑"/>
            </a:endParaRPr>
          </a:p>
          <a:p>
            <a:pPr algn="l"/>
            <a:r>
              <a:rPr sz="1400" b="0" dirty="0">
                <a:solidFill>
                  <a:srgbClr val="FFFFFF"/>
                </a:solidFill>
                <a:latin typeface="微软雅黑"/>
              </a:rPr>
              <a:t>日期：2026年5月13日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476F4E7-76BC-0694-FA8C-CD83E1E39F88}"/>
              </a:ext>
            </a:extLst>
          </p:cNvPr>
          <p:cNvSpPr txBox="1"/>
          <p:nvPr/>
        </p:nvSpPr>
        <p:spPr>
          <a:xfrm>
            <a:off x="5562665" y="1624376"/>
            <a:ext cx="6132202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谢谢各位评委老师！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4400" b="1">
                <a:solidFill>
                  <a:srgbClr val="FFFFFF"/>
                </a:solidFill>
                <a:latin typeface="微软雅黑"/>
              </a:rPr>
              <a:t>敬请批评指正。</a:t>
            </a: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7333293" y="3957075"/>
            <a:ext cx="3868606" cy="0"/>
          </a:xfrm>
          <a:prstGeom prst="line">
            <a:avLst/>
          </a:prstGeom>
          <a:ln w="19050" cap="rnd">
            <a:solidFill>
              <a:schemeClr val="bg1">
                <a:alpha val="79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0783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4922"/>
</p:tagLst>
</file>

<file path=ppt/theme/theme1.xml><?xml version="1.0" encoding="utf-8"?>
<a:theme xmlns:a="http://schemas.openxmlformats.org/drawingml/2006/main" name="1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6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7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2445</Words>
  <Application>Microsoft Macintosh PowerPoint</Application>
  <PresentationFormat>宽屏</PresentationFormat>
  <Paragraphs>453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等线</vt:lpstr>
      <vt:lpstr>等线 Light</vt:lpstr>
      <vt:lpstr>微软雅黑</vt:lpstr>
      <vt:lpstr>微软雅黑</vt:lpstr>
      <vt:lpstr>微软雅黑 Light</vt:lpstr>
      <vt:lpstr>Alibaba PuHuiTi</vt:lpstr>
      <vt:lpstr>Heiti SC</vt:lpstr>
      <vt:lpstr>Songti SC</vt:lpstr>
      <vt:lpstr>Arial</vt:lpstr>
      <vt:lpstr>Arial Black</vt:lpstr>
      <vt:lpstr>Calibri</vt:lpstr>
      <vt:lpstr>Cambria Math</vt:lpstr>
      <vt:lpstr>Montserrat</vt:lpstr>
      <vt:lpstr>Montserrat Medium</vt:lpstr>
      <vt:lpstr>Open Sans</vt:lpstr>
      <vt:lpstr>Open Sans Light</vt:lpstr>
      <vt:lpstr>1_Office 主题​​</vt:lpstr>
      <vt:lpstr>6_Office 主题​​</vt:lpstr>
      <vt:lpstr>7_Office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吴琪瑶</dc:creator>
  <cp:lastModifiedBy>lichao21</cp:lastModifiedBy>
  <cp:revision>201</cp:revision>
  <dcterms:created xsi:type="dcterms:W3CDTF">2025-02-28T09:31:35Z</dcterms:created>
  <dcterms:modified xsi:type="dcterms:W3CDTF">2026-05-12T18:02:43Z</dcterms:modified>
</cp:coreProperties>
</file>